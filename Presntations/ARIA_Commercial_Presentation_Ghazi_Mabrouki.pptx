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notesMasterIdLst>
    <p:notesMasterId r:id="rId8"/>
  </p:notesMaster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&lt;!--pageType:cover--&gt;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&lt;!--pageType:table_of_contents--&gt;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business impact: slower response, missed threats, analyst burnout. Use the alert volume visual to show how disconnected tools create chaos.</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executive summary diagram. Keep it clean and simple — emphasize transformation from scattered alerts to unified operations.</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10-step lifecycle emphasizing the transformation: raw alerts enter, closed cases exit. Business language throughout.</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"one dashboard" message. All data sources feed into a single unified view — no more tool switching.</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dramatic transformation: from chaos to clarity. The before/after contrast should be stark and visually clear.</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correlated incident is created, ARIA's AI engine produces four outputs: investigation summary, attack narrative, risk assessment, and recommended playbook. These outputs support multiple AI providers (Ollama for privacy, Google Gemini, OpenRouter, NVIDIA NIM). Crucially, every AI output is reviewed by a human analyst before any action is taken — AI augments human judgment, never replaces it.</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 provides three approval levels for automation: Manual (analyst decides), Auto-approved (low-risk routine), and Blocked (critical/high-risk). Every remediation follows a staged process: Preview the playbook, Verify connectivity, Execute with logging, Verify the fix worked, then Archive. The complete audit trail records who approved, what ran, what changed, and whether it worked.</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scenario demonstrates ARIA's real-world value: a multi-stage attack (SSH brute-force, port scan, unexpected shell) is detected, correlated, analyzed, and remediated in under 15 minutes. What traditionally takes hours of manual investigation now takes minutes with AI-assisted analysis and approval-gated automation.</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operational benefits demonstrate ARIA's business value: faster triage through correlation, reduced operational load via AI analysis, better detection through multi-source correlation, consistent responses via playbooks, complete audit readiness, and a scalable modular foundation.</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ARIA's architecture is designed for growth: new data sources through configuration, new Sigma rules for detection, expanding AI capabilities, and horizontal scaling via Elasticsearch clustering and containerized deployment. Integration points include ticketing systems, threat intel feeds, and external SOAR platforms.</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ARIA's six key differentiators: a single platform replacing multiple tools, LLM-powered analysis beyond rules, context-rich correlation with GeoIP and MITRE mapping, human-centered automation with approval gates, cloud-native containerized foundation, and open extensible architecture without vendor lock-in.</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ARIA's phased implementation approach minimizes risk: start with assessment, connect data sources progressively, configure detection rules, pilot with a small group, expand to full infrastructure, and continuously optimize. Each phase builds confidence and validates value before the next investment.</a:t>
            </a:r>
          </a:p>
          <a:p/>
          <a:p/>
          <a:p/>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&lt;!--pageType:final--&gt;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l="129" r="129"/>
          <a:stretch>
            <a:fillRect/>
          </a:stretch>
        </a:blipFill>
      </p:bgPr>
    </p:bg>
    <p:spTree>
      <p:nvGrpSpPr>
        <p:cNvPr id="1" name=""/>
        <p:cNvGrpSpPr/>
        <p:nvPr/>
      </p:nvGrpSpPr>
      <p:grpSpPr/>
      <p:sp>
        <p:nvSpPr>
          <p:cNvPr id="2" name="dsl_mask_overlay"/>
          <p:cNvSpPr/>
          <p:nvPr/>
        </p:nvSpPr>
        <p:spPr>
          <a:xfrm>
            <a:off x="0" y="0"/>
            <a:ext cx="12192000" cy="6858000"/>
          </a:xfrm>
          <a:prstGeom prst="rect">
            <a:avLst/>
          </a:prstGeom>
          <a:gradFill rotWithShape="1">
            <a:gsLst>
              <a:gs pos="0">
                <a:srgbClr val="1A3C3C"/>
              </a:gs>
              <a:gs pos="60000">
                <a:srgbClr val="2D6A6A"/>
              </a:gs>
              <a:gs pos="100000">
                <a:srgbClr val="2D6A6A">
                  <a:alpha val="0"/>
                </a:srgbClr>
              </a:gs>
            </a:gsLst>
            <a:lin scaled="1"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gradient-overlay"/>
          <p:cNvSpPr/>
          <p:nvPr/>
        </p:nvSpPr>
        <p:spPr>
          <a:xfrm>
            <a:off x="0" y="0"/>
            <a:ext cx="12192000" cy="6858000"/>
          </a:xfrm>
          <a:prstGeom prst="rect">
            <a:avLst/>
          </a:prstGeom>
          <a:gradFill rotWithShape="1">
            <a:gsLst>
              <a:gs pos="0">
                <a:srgbClr val="2D6A6A">
                  <a:alpha val="90196"/>
                </a:srgbClr>
              </a:gs>
              <a:gs pos="50000">
                <a:srgbClr val="2D6A6A">
                  <a:alpha val="69019"/>
                </a:srgbClr>
              </a:gs>
              <a:gs pos="75000">
                <a:srgbClr val="2D6A6A">
                  <a:alpha val="37647"/>
                </a:srgbClr>
              </a:gs>
              <a:gs pos="100000">
                <a:srgbClr val="2D6A6A">
                  <a:alpha val="0"/>
                </a:srgbClr>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accent-line"/>
          <p:cNvSpPr/>
          <p:nvPr/>
        </p:nvSpPr>
        <p:spPr>
          <a:xfrm>
            <a:off x="762000" y="2667000"/>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title|s=$title"/>
          <p:cNvSpPr txBox="1"/>
          <p:nvPr/>
        </p:nvSpPr>
        <p:spPr>
          <a:xfrm>
            <a:off x="762000" y="1809750"/>
            <a:ext cx="4762500" cy="762000"/>
          </a:xfrm>
          <a:prstGeom prst="rect">
            <a:avLst/>
          </a:prstGeom>
          <a:noFill/>
        </p:spPr>
        <p:txBody>
          <a:bodyPr wrap="none" anchor="t">
            <a:noAutofit/>
          </a:bodyPr>
          <a:lstStyle/>
          <a:p>
            <a:pPr algn="l">
              <a:lnSpc>
                <a:spcPct val="120000"/>
              </a:lnSpc>
            </a:pPr>
            <a:r>
              <a:rPr b="1" sz="5400" noProof="1">
                <a:solidFill>
                  <a:srgbClr val="FFFFFF"/>
                </a:solidFill>
                <a:latin typeface="Liter"/>
                <a:ea typeface="Liter"/>
              </a:rPr>
              <a:t>ARIA</a:t>
            </a:r>
          </a:p>
        </p:txBody>
      </p:sp>
      <p:sp>
        <p:nvSpPr>
          <p:cNvPr id="6" name="dsl:subtitle"/>
          <p:cNvSpPr txBox="1"/>
          <p:nvPr/>
        </p:nvSpPr>
        <p:spPr>
          <a:xfrm>
            <a:off x="762000" y="2952750"/>
            <a:ext cx="6191250" cy="952500"/>
          </a:xfrm>
          <a:prstGeom prst="rect">
            <a:avLst/>
          </a:prstGeom>
          <a:noFill/>
        </p:spPr>
        <p:txBody>
          <a:bodyPr wrap="square" anchor="t">
            <a:noAutofit/>
          </a:bodyPr>
          <a:lstStyle/>
          <a:p>
            <a:pPr algn="l">
              <a:lnSpc>
                <a:spcPct val="150000"/>
              </a:lnSpc>
            </a:pPr>
            <a:r>
              <a:rPr sz="1650" noProof="1">
                <a:solidFill>
                  <a:srgbClr val="FFFFFF">
                    <a:alpha val="86666"/>
                  </a:srgbClr>
                </a:solidFill>
                <a:latin typeface="QuattrocentoSans"/>
                <a:ea typeface="QuattrocentoSans"/>
              </a:rPr>
              <a:t>Adaptive Response Intelligence Automation</a:t>
            </a:r>
          </a:p>
          <a:p>
            <a:pPr algn="l">
              <a:lnSpc>
                <a:spcPct val="150000"/>
              </a:lnSpc>
            </a:pPr>
            <a:r>
              <a:rPr sz="1650" noProof="1">
                <a:solidFill>
                  <a:srgbClr val="FFFFFF">
                    <a:alpha val="86666"/>
                  </a:srgbClr>
                </a:solidFill>
                <a:latin typeface="QuattrocentoSans"/>
                <a:ea typeface="QuattrocentoSans"/>
              </a:rPr>
              <a:t>Transform Security Events into Actionful Intelligence</a:t>
            </a:r>
          </a:p>
        </p:txBody>
      </p:sp>
      <p:sp>
        <p:nvSpPr>
          <p:cNvPr id="7" name="dsl:author"/>
          <p:cNvSpPr txBox="1"/>
          <p:nvPr/>
        </p:nvSpPr>
        <p:spPr>
          <a:xfrm>
            <a:off x="762000" y="5905500"/>
            <a:ext cx="5238750" cy="285750"/>
          </a:xfrm>
          <a:prstGeom prst="rect">
            <a:avLst/>
          </a:prstGeom>
          <a:noFill/>
        </p:spPr>
        <p:txBody>
          <a:bodyPr wrap="none" anchor="t">
            <a:noAutofit/>
          </a:bodyPr>
          <a:lstStyle/>
          <a:p>
            <a:pPr algn="l"/>
            <a:r>
              <a:rPr sz="1050" noProof="1">
                <a:solidFill>
                  <a:srgbClr val="FFFFFF">
                    <a:alpha val="66666"/>
                  </a:srgbClr>
                </a:solidFill>
                <a:latin typeface="QuattrocentoSans"/>
                <a:ea typeface="QuattrocentoSans"/>
              </a:rPr>
              <a:t>Ghazi Mabrouki  |  AI-Assisted SOC/SOAR Platform  |  2026</a:t>
            </a:r>
          </a:p>
        </p:txBody>
      </p:sp>
      <p:sp>
        <p:nvSpPr>
          <p:cNvPr id="8" name="dsl:right-accent"/>
          <p:cNvSpPr/>
          <p:nvPr/>
        </p:nvSpPr>
        <p:spPr>
          <a:xfrm>
            <a:off x="12153900" y="0"/>
            <a:ext cx="38100" cy="68580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title|s=$heading"/>
          <p:cNvSpPr txBox="1"/>
          <p:nvPr/>
        </p:nvSpPr>
        <p:spPr>
          <a:xfrm>
            <a:off x="571500" y="428625"/>
            <a:ext cx="3810000" cy="476250"/>
          </a:xfrm>
          <a:prstGeom prst="rect">
            <a:avLst/>
          </a:prstGeom>
          <a:noFill/>
        </p:spPr>
        <p:txBody>
          <a:bodyPr wrap="none" anchor="t">
            <a:noAutofit/>
          </a:bodyPr>
          <a:lstStyle/>
          <a:p>
            <a:pPr algn="l">
              <a:lnSpc>
                <a:spcPct val="130000"/>
              </a:lnSpc>
            </a:pPr>
            <a:r>
              <a:rPr sz="2250" noProof="1">
                <a:solidFill>
                  <a:srgbClr val="2D6A6A"/>
                </a:solidFill>
                <a:latin typeface="Liter"/>
                <a:ea typeface="Liter"/>
              </a:rPr>
              <a:t>OVERVIEW</a:t>
            </a:r>
          </a:p>
        </p:txBody>
      </p:sp>
      <p:sp>
        <p:nvSpPr>
          <p:cNvPr id="3" name="dsl:title-line"/>
          <p:cNvSpPr/>
          <p:nvPr/>
        </p:nvSpPr>
        <p:spPr>
          <a:xfrm>
            <a:off x="571500" y="904875"/>
            <a:ext cx="5715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card1-bg"/>
          <p:cNvSpPr/>
          <p:nvPr/>
        </p:nvSpPr>
        <p:spPr>
          <a:xfrm>
            <a:off x="571500" y="1428750"/>
            <a:ext cx="3429000" cy="2190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ard1-bar"/>
          <p:cNvSpPr/>
          <p:nvPr/>
        </p:nvSpPr>
        <p:spPr>
          <a:xfrm>
            <a:off x="571500" y="1428750"/>
            <a:ext cx="38100" cy="21907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card1-num"/>
          <p:cNvSpPr txBox="1"/>
          <p:nvPr/>
        </p:nvSpPr>
        <p:spPr>
          <a:xfrm>
            <a:off x="800100" y="1571625"/>
            <a:ext cx="762000" cy="476250"/>
          </a:xfrm>
          <a:prstGeom prst="rect">
            <a:avLst/>
          </a:prstGeom>
          <a:noFill/>
        </p:spPr>
        <p:txBody>
          <a:bodyPr wrap="none" anchor="t">
            <a:noAutofit/>
          </a:bodyPr>
          <a:lstStyle/>
          <a:p>
            <a:pPr algn="l"/>
            <a:r>
              <a:rPr b="1" sz="2700" noProof="1">
                <a:solidFill>
                  <a:srgbClr val="D4A373"/>
                </a:solidFill>
                <a:latin typeface="Liter"/>
                <a:ea typeface="Liter"/>
              </a:rPr>
              <a:t>01</a:t>
            </a:r>
          </a:p>
        </p:txBody>
      </p:sp>
      <p:sp>
        <p:nvSpPr>
          <p:cNvPr id="7" name="dsl:card1-title"/>
          <p:cNvSpPr txBox="1"/>
          <p:nvPr/>
        </p:nvSpPr>
        <p:spPr>
          <a:xfrm>
            <a:off x="800100" y="2047875"/>
            <a:ext cx="2952750" cy="285750"/>
          </a:xfrm>
          <a:prstGeom prst="rect">
            <a:avLst/>
          </a:prstGeom>
          <a:noFill/>
        </p:spPr>
        <p:txBody>
          <a:bodyPr wrap="none" anchor="t">
            <a:noAutofit/>
          </a:bodyPr>
          <a:lstStyle/>
          <a:p>
            <a:pPr algn="l"/>
            <a:r>
              <a:rPr b="1" sz="1500" noProof="1">
                <a:solidFill>
                  <a:srgbClr val="2D6A6A"/>
                </a:solidFill>
                <a:latin typeface="Liter"/>
                <a:ea typeface="Liter"/>
              </a:rPr>
              <a:t>The Business Problem</a:t>
            </a:r>
          </a:p>
        </p:txBody>
      </p:sp>
      <p:sp>
        <p:nvSpPr>
          <p:cNvPr id="8" name="dsl:card1-desc"/>
          <p:cNvSpPr txBox="1"/>
          <p:nvPr/>
        </p:nvSpPr>
        <p:spPr>
          <a:xfrm>
            <a:off x="800100" y="2381250"/>
            <a:ext cx="29527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Security operations are overwhelmed by alerts, disconnected tools, and manual processes</a:t>
            </a:r>
          </a:p>
        </p:txBody>
      </p:sp>
      <p:sp>
        <p:nvSpPr>
          <p:cNvPr id="9" name="dsl:card2-bg"/>
          <p:cNvSpPr/>
          <p:nvPr/>
        </p:nvSpPr>
        <p:spPr>
          <a:xfrm>
            <a:off x="4381500" y="1428750"/>
            <a:ext cx="3429000" cy="2190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l:card2-bar"/>
          <p:cNvSpPr/>
          <p:nvPr/>
        </p:nvSpPr>
        <p:spPr>
          <a:xfrm>
            <a:off x="4381500" y="1428750"/>
            <a:ext cx="38100" cy="21907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ard2-num"/>
          <p:cNvSpPr txBox="1"/>
          <p:nvPr/>
        </p:nvSpPr>
        <p:spPr>
          <a:xfrm>
            <a:off x="4610100" y="1571625"/>
            <a:ext cx="762000" cy="476250"/>
          </a:xfrm>
          <a:prstGeom prst="rect">
            <a:avLst/>
          </a:prstGeom>
          <a:noFill/>
        </p:spPr>
        <p:txBody>
          <a:bodyPr wrap="none" anchor="t">
            <a:noAutofit/>
          </a:bodyPr>
          <a:lstStyle/>
          <a:p>
            <a:pPr algn="l"/>
            <a:r>
              <a:rPr b="1" sz="2700" noProof="1">
                <a:solidFill>
                  <a:srgbClr val="D4A373"/>
                </a:solidFill>
                <a:latin typeface="Liter"/>
                <a:ea typeface="Liter"/>
              </a:rPr>
              <a:t>02</a:t>
            </a:r>
          </a:p>
        </p:txBody>
      </p:sp>
      <p:sp>
        <p:nvSpPr>
          <p:cNvPr id="12" name="dsl:card2-title"/>
          <p:cNvSpPr txBox="1"/>
          <p:nvPr/>
        </p:nvSpPr>
        <p:spPr>
          <a:xfrm>
            <a:off x="4610100" y="2047875"/>
            <a:ext cx="2952750" cy="285750"/>
          </a:xfrm>
          <a:prstGeom prst="rect">
            <a:avLst/>
          </a:prstGeom>
          <a:noFill/>
        </p:spPr>
        <p:txBody>
          <a:bodyPr wrap="none" anchor="t">
            <a:noAutofit/>
          </a:bodyPr>
          <a:lstStyle/>
          <a:p>
            <a:pPr algn="l"/>
            <a:r>
              <a:rPr b="1" sz="1500" noProof="1">
                <a:solidFill>
                  <a:srgbClr val="2D6A6A"/>
                </a:solidFill>
                <a:latin typeface="Liter"/>
                <a:ea typeface="Liter"/>
              </a:rPr>
              <a:t>Introducing ARIA</a:t>
            </a:r>
          </a:p>
        </p:txBody>
      </p:sp>
      <p:sp>
        <p:nvSpPr>
          <p:cNvPr id="13" name="dsl:card2-desc"/>
          <p:cNvSpPr txBox="1"/>
          <p:nvPr/>
        </p:nvSpPr>
        <p:spPr>
          <a:xfrm>
            <a:off x="4610100" y="2381250"/>
            <a:ext cx="29527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Centralize, enrich, correlate, and respond with AI-assisted security operations</a:t>
            </a:r>
          </a:p>
        </p:txBody>
      </p:sp>
      <p:sp>
        <p:nvSpPr>
          <p:cNvPr id="14" name="dsl:card3-bg"/>
          <p:cNvSpPr/>
          <p:nvPr/>
        </p:nvSpPr>
        <p:spPr>
          <a:xfrm>
            <a:off x="8191500" y="1428750"/>
            <a:ext cx="3429000" cy="2190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ard3-bar"/>
          <p:cNvSpPr/>
          <p:nvPr/>
        </p:nvSpPr>
        <p:spPr>
          <a:xfrm>
            <a:off x="8191500" y="1428750"/>
            <a:ext cx="38100" cy="21907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ard3-num"/>
          <p:cNvSpPr txBox="1"/>
          <p:nvPr/>
        </p:nvSpPr>
        <p:spPr>
          <a:xfrm>
            <a:off x="8420100" y="1571625"/>
            <a:ext cx="762000" cy="476250"/>
          </a:xfrm>
          <a:prstGeom prst="rect">
            <a:avLst/>
          </a:prstGeom>
          <a:noFill/>
        </p:spPr>
        <p:txBody>
          <a:bodyPr wrap="none" anchor="t">
            <a:noAutofit/>
          </a:bodyPr>
          <a:lstStyle/>
          <a:p>
            <a:pPr algn="l"/>
            <a:r>
              <a:rPr b="1" sz="2700" noProof="1">
                <a:solidFill>
                  <a:srgbClr val="D4A373"/>
                </a:solidFill>
                <a:latin typeface="Liter"/>
                <a:ea typeface="Liter"/>
              </a:rPr>
              <a:t>03</a:t>
            </a:r>
          </a:p>
        </p:txBody>
      </p:sp>
      <p:sp>
        <p:nvSpPr>
          <p:cNvPr id="17" name="dsl:card3-title"/>
          <p:cNvSpPr txBox="1"/>
          <p:nvPr/>
        </p:nvSpPr>
        <p:spPr>
          <a:xfrm>
            <a:off x="8420100" y="2047875"/>
            <a:ext cx="2952750" cy="285750"/>
          </a:xfrm>
          <a:prstGeom prst="rect">
            <a:avLst/>
          </a:prstGeom>
          <a:noFill/>
        </p:spPr>
        <p:txBody>
          <a:bodyPr wrap="none" anchor="t">
            <a:noAutofit/>
          </a:bodyPr>
          <a:lstStyle/>
          <a:p>
            <a:pPr algn="l"/>
            <a:r>
              <a:rPr b="1" sz="1500" noProof="1">
                <a:solidFill>
                  <a:srgbClr val="2D6A6A"/>
                </a:solidFill>
                <a:latin typeface="Liter"/>
                <a:ea typeface="Liter"/>
              </a:rPr>
              <a:t>How ARIA Works</a:t>
            </a:r>
          </a:p>
        </p:txBody>
      </p:sp>
      <p:sp>
        <p:nvSpPr>
          <p:cNvPr id="18" name="dsl:card3-desc"/>
          <p:cNvSpPr txBox="1"/>
          <p:nvPr/>
        </p:nvSpPr>
        <p:spPr>
          <a:xfrm>
            <a:off x="8420100" y="2381250"/>
            <a:ext cx="29527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From raw alerts to closed cases — the complete incident lifecycle</a:t>
            </a:r>
          </a:p>
        </p:txBody>
      </p:sp>
      <p:sp>
        <p:nvSpPr>
          <p:cNvPr id="19" name="dsl:card4-bg"/>
          <p:cNvSpPr/>
          <p:nvPr/>
        </p:nvSpPr>
        <p:spPr>
          <a:xfrm>
            <a:off x="571500" y="3905250"/>
            <a:ext cx="3429000" cy="2190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card4-bar"/>
          <p:cNvSpPr/>
          <p:nvPr/>
        </p:nvSpPr>
        <p:spPr>
          <a:xfrm>
            <a:off x="571500" y="3905250"/>
            <a:ext cx="38100" cy="21907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card4-num"/>
          <p:cNvSpPr txBox="1"/>
          <p:nvPr/>
        </p:nvSpPr>
        <p:spPr>
          <a:xfrm>
            <a:off x="800100" y="4048125"/>
            <a:ext cx="762000" cy="476250"/>
          </a:xfrm>
          <a:prstGeom prst="rect">
            <a:avLst/>
          </a:prstGeom>
          <a:noFill/>
        </p:spPr>
        <p:txBody>
          <a:bodyPr wrap="none" anchor="t">
            <a:noAutofit/>
          </a:bodyPr>
          <a:lstStyle/>
          <a:p>
            <a:pPr algn="l"/>
            <a:r>
              <a:rPr b="1" sz="2700" noProof="1">
                <a:solidFill>
                  <a:srgbClr val="D4A373"/>
                </a:solidFill>
                <a:latin typeface="Liter"/>
                <a:ea typeface="Liter"/>
              </a:rPr>
              <a:t>04</a:t>
            </a:r>
          </a:p>
        </p:txBody>
      </p:sp>
      <p:sp>
        <p:nvSpPr>
          <p:cNvPr id="22" name="dsl:card4-title"/>
          <p:cNvSpPr txBox="1"/>
          <p:nvPr/>
        </p:nvSpPr>
        <p:spPr>
          <a:xfrm>
            <a:off x="800100" y="4524375"/>
            <a:ext cx="3143250" cy="285750"/>
          </a:xfrm>
          <a:prstGeom prst="rect">
            <a:avLst/>
          </a:prstGeom>
          <a:noFill/>
        </p:spPr>
        <p:txBody>
          <a:bodyPr wrap="none" anchor="t">
            <a:noAutofit/>
          </a:bodyPr>
          <a:lstStyle/>
          <a:p>
            <a:pPr algn="l"/>
            <a:r>
              <a:rPr b="1" sz="1500" noProof="1">
                <a:solidFill>
                  <a:srgbClr val="2D6A6A"/>
                </a:solidFill>
                <a:latin typeface="Liter"/>
                <a:ea typeface="Liter"/>
              </a:rPr>
              <a:t>AI That Helps Teams Work Smarter</a:t>
            </a:r>
          </a:p>
        </p:txBody>
      </p:sp>
      <p:sp>
        <p:nvSpPr>
          <p:cNvPr id="23" name="dsl:card4-desc"/>
          <p:cNvSpPr txBox="1"/>
          <p:nvPr/>
        </p:nvSpPr>
        <p:spPr>
          <a:xfrm>
            <a:off x="800100" y="4857750"/>
            <a:ext cx="29527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AI accelerates decisions while keeping analysts in full control</a:t>
            </a:r>
          </a:p>
        </p:txBody>
      </p:sp>
      <p:sp>
        <p:nvSpPr>
          <p:cNvPr id="24" name="dsl:card5-bg"/>
          <p:cNvSpPr/>
          <p:nvPr/>
        </p:nvSpPr>
        <p:spPr>
          <a:xfrm>
            <a:off x="4381500" y="3905250"/>
            <a:ext cx="3429000" cy="2190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card5-bar"/>
          <p:cNvSpPr/>
          <p:nvPr/>
        </p:nvSpPr>
        <p:spPr>
          <a:xfrm>
            <a:off x="4381500" y="3905250"/>
            <a:ext cx="38100" cy="21907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ard5-num"/>
          <p:cNvSpPr txBox="1"/>
          <p:nvPr/>
        </p:nvSpPr>
        <p:spPr>
          <a:xfrm>
            <a:off x="4610100" y="4048125"/>
            <a:ext cx="762000" cy="476250"/>
          </a:xfrm>
          <a:prstGeom prst="rect">
            <a:avLst/>
          </a:prstGeom>
          <a:noFill/>
        </p:spPr>
        <p:txBody>
          <a:bodyPr wrap="none" anchor="t">
            <a:noAutofit/>
          </a:bodyPr>
          <a:lstStyle/>
          <a:p>
            <a:pPr algn="l"/>
            <a:r>
              <a:rPr b="1" sz="2700" noProof="1">
                <a:solidFill>
                  <a:srgbClr val="D4A373"/>
                </a:solidFill>
                <a:latin typeface="Liter"/>
                <a:ea typeface="Liter"/>
              </a:rPr>
              <a:t>05</a:t>
            </a:r>
          </a:p>
        </p:txBody>
      </p:sp>
      <p:sp>
        <p:nvSpPr>
          <p:cNvPr id="27" name="dsl:card5-title"/>
          <p:cNvSpPr txBox="1"/>
          <p:nvPr/>
        </p:nvSpPr>
        <p:spPr>
          <a:xfrm>
            <a:off x="4610100" y="4524375"/>
            <a:ext cx="2952750" cy="285750"/>
          </a:xfrm>
          <a:prstGeom prst="rect">
            <a:avLst/>
          </a:prstGeom>
          <a:noFill/>
        </p:spPr>
        <p:txBody>
          <a:bodyPr wrap="none" anchor="t">
            <a:noAutofit/>
          </a:bodyPr>
          <a:lstStyle/>
          <a:p>
            <a:pPr algn="l"/>
            <a:r>
              <a:rPr b="1" sz="1500" noProof="1">
                <a:solidFill>
                  <a:srgbClr val="2D6A6A"/>
                </a:solidFill>
                <a:latin typeface="Liter"/>
                <a:ea typeface="Liter"/>
              </a:rPr>
              <a:t>Business Impact</a:t>
            </a:r>
          </a:p>
        </p:txBody>
      </p:sp>
      <p:sp>
        <p:nvSpPr>
          <p:cNvPr id="28" name="dsl:card5-desc"/>
          <p:cNvSpPr txBox="1"/>
          <p:nvPr/>
        </p:nvSpPr>
        <p:spPr>
          <a:xfrm>
            <a:off x="4610100" y="4857750"/>
            <a:ext cx="29527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Measurable improvements for security operations and ROI</a:t>
            </a:r>
          </a:p>
        </p:txBody>
      </p:sp>
      <p:sp>
        <p:nvSpPr>
          <p:cNvPr id="29" name="dsl:card6-bg"/>
          <p:cNvSpPr/>
          <p:nvPr/>
        </p:nvSpPr>
        <p:spPr>
          <a:xfrm>
            <a:off x="8191500" y="3905250"/>
            <a:ext cx="3429000" cy="21907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6-bar"/>
          <p:cNvSpPr/>
          <p:nvPr/>
        </p:nvSpPr>
        <p:spPr>
          <a:xfrm>
            <a:off x="8191500" y="3905250"/>
            <a:ext cx="38100" cy="21907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card6-num"/>
          <p:cNvSpPr txBox="1"/>
          <p:nvPr/>
        </p:nvSpPr>
        <p:spPr>
          <a:xfrm>
            <a:off x="8420100" y="4048125"/>
            <a:ext cx="762000" cy="476250"/>
          </a:xfrm>
          <a:prstGeom prst="rect">
            <a:avLst/>
          </a:prstGeom>
          <a:noFill/>
        </p:spPr>
        <p:txBody>
          <a:bodyPr wrap="none" anchor="t">
            <a:noAutofit/>
          </a:bodyPr>
          <a:lstStyle/>
          <a:p>
            <a:pPr algn="l"/>
            <a:r>
              <a:rPr b="1" sz="2700" noProof="1">
                <a:solidFill>
                  <a:srgbClr val="D4A373"/>
                </a:solidFill>
                <a:latin typeface="Liter"/>
                <a:ea typeface="Liter"/>
              </a:rPr>
              <a:t>06</a:t>
            </a:r>
          </a:p>
        </p:txBody>
      </p:sp>
      <p:sp>
        <p:nvSpPr>
          <p:cNvPr id="32" name="dsl:card6-title"/>
          <p:cNvSpPr txBox="1"/>
          <p:nvPr/>
        </p:nvSpPr>
        <p:spPr>
          <a:xfrm>
            <a:off x="8420100" y="4524375"/>
            <a:ext cx="2952750" cy="285750"/>
          </a:xfrm>
          <a:prstGeom prst="rect">
            <a:avLst/>
          </a:prstGeom>
          <a:noFill/>
        </p:spPr>
        <p:txBody>
          <a:bodyPr wrap="none" anchor="t">
            <a:noAutofit/>
          </a:bodyPr>
          <a:lstStyle/>
          <a:p>
            <a:pPr algn="l"/>
            <a:r>
              <a:rPr b="1" sz="1500" noProof="1">
                <a:solidFill>
                  <a:srgbClr val="2D6A6A"/>
                </a:solidFill>
                <a:latin typeface="Liter"/>
                <a:ea typeface="Liter"/>
              </a:rPr>
              <a:t>Why ARIA</a:t>
            </a:r>
          </a:p>
        </p:txBody>
      </p:sp>
      <p:sp>
        <p:nvSpPr>
          <p:cNvPr id="33" name="dsl:card6-desc"/>
          <p:cNvSpPr txBox="1"/>
          <p:nvPr/>
        </p:nvSpPr>
        <p:spPr>
          <a:xfrm>
            <a:off x="8420100" y="4857750"/>
            <a:ext cx="29527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Clear differentiators in a crowded security market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big-number"/>
          <p:cNvSpPr txBox="1"/>
          <p:nvPr/>
        </p:nvSpPr>
        <p:spPr>
          <a:xfrm>
            <a:off x="571500" y="476250"/>
            <a:ext cx="3810000" cy="1905000"/>
          </a:xfrm>
          <a:prstGeom prst="rect">
            <a:avLst/>
          </a:prstGeom>
          <a:noFill/>
        </p:spPr>
        <p:txBody>
          <a:bodyPr wrap="none" anchor="t">
            <a:noAutofit/>
          </a:bodyPr>
          <a:lstStyle/>
          <a:p>
            <a:pPr algn="l"/>
            <a:r>
              <a:rPr b="1" sz="12000" noProof="1">
                <a:solidFill>
                  <a:srgbClr val="2D6A6A"/>
                </a:solidFill>
                <a:latin typeface="Liter"/>
                <a:ea typeface="Liter"/>
              </a:rPr>
              <a:t>01</a:t>
            </a:r>
          </a:p>
        </p:txBody>
      </p:sp>
      <p:sp>
        <p:nvSpPr>
          <p:cNvPr id="3" name="dsl:label"/>
          <p:cNvSpPr txBox="1"/>
          <p:nvPr/>
        </p:nvSpPr>
        <p:spPr>
          <a:xfrm>
            <a:off x="762000" y="2571750"/>
            <a:ext cx="2857500" cy="285750"/>
          </a:xfrm>
          <a:prstGeom prst="rect">
            <a:avLst/>
          </a:prstGeom>
          <a:noFill/>
        </p:spPr>
        <p:txBody>
          <a:bodyPr wrap="none" anchor="t">
            <a:noAutofit/>
          </a:bodyPr>
          <a:lstStyle/>
          <a:p>
            <a:pPr algn="l"/>
            <a:r>
              <a:rPr b="1" sz="1050" noProof="1" spc="225">
                <a:solidFill>
                  <a:srgbClr val="D4A373"/>
                </a:solidFill>
                <a:latin typeface="Liter"/>
                <a:ea typeface="Liter"/>
              </a:rPr>
              <a:t>CHAPTER ONE</a:t>
            </a:r>
          </a:p>
        </p:txBody>
      </p:sp>
      <p:sp>
        <p:nvSpPr>
          <p:cNvPr id="4" name="dsl:title|s=$heading"/>
          <p:cNvSpPr txBox="1"/>
          <p:nvPr/>
        </p:nvSpPr>
        <p:spPr>
          <a:xfrm>
            <a:off x="762000" y="2952750"/>
            <a:ext cx="6667500" cy="523875"/>
          </a:xfrm>
          <a:prstGeom prst="rect">
            <a:avLst/>
          </a:prstGeom>
          <a:noFill/>
        </p:spPr>
        <p:txBody>
          <a:bodyPr wrap="none" anchor="t">
            <a:noAutofit/>
          </a:bodyPr>
          <a:lstStyle/>
          <a:p>
            <a:pPr algn="l">
              <a:lnSpc>
                <a:spcPct val="130000"/>
              </a:lnSpc>
            </a:pPr>
            <a:r>
              <a:rPr b="1" sz="2700" noProof="1">
                <a:solidFill>
                  <a:srgbClr val="2D6A6A"/>
                </a:solidFill>
                <a:latin typeface="Liter"/>
                <a:ea typeface="Liter"/>
              </a:rPr>
              <a:t>The Business Problem</a:t>
            </a:r>
          </a:p>
        </p:txBody>
      </p:sp>
      <p:sp>
        <p:nvSpPr>
          <p:cNvPr id="5" name="dsl:title-line"/>
          <p:cNvSpPr/>
          <p:nvPr/>
        </p:nvSpPr>
        <p:spPr>
          <a:xfrm>
            <a:off x="762000" y="3571875"/>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subtitle|s=$subtitle"/>
          <p:cNvSpPr txBox="1"/>
          <p:nvPr/>
        </p:nvSpPr>
        <p:spPr>
          <a:xfrm>
            <a:off x="762000" y="3810000"/>
            <a:ext cx="5715000" cy="381000"/>
          </a:xfrm>
          <a:prstGeom prst="rect">
            <a:avLst/>
          </a:prstGeom>
          <a:noFill/>
        </p:spPr>
        <p:txBody>
          <a:bodyPr wrap="none" anchor="t">
            <a:noAutofit/>
          </a:bodyPr>
          <a:lstStyle/>
          <a:p>
            <a:pPr algn="l">
              <a:lnSpc>
                <a:spcPct val="140000"/>
              </a:lnSpc>
            </a:pPr>
            <a:r>
              <a:rPr sz="1650" noProof="1">
                <a:solidFill>
                  <a:srgbClr val="5C6B73"/>
                </a:solidFill>
                <a:latin typeface="QuattrocentoSans"/>
                <a:ea typeface="QuattrocentoSans"/>
              </a:rPr>
              <a:t>Security operations are overwhelmed</a:t>
            </a:r>
          </a:p>
        </p:txBody>
      </p:sp>
      <p:sp>
        <p:nvSpPr>
          <p:cNvPr id="7" name="dsl:deco-shape"/>
          <p:cNvSpPr/>
          <p:nvPr/>
        </p:nvSpPr>
        <p:spPr>
          <a:xfrm>
            <a:off x="10477500" y="1905000"/>
            <a:ext cx="1143000" cy="304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deco-line"/>
          <p:cNvSpPr/>
          <p:nvPr/>
        </p:nvSpPr>
        <p:spPr>
          <a:xfrm>
            <a:off x="10477500" y="1905000"/>
            <a:ext cx="1143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01  THE BUSINESS PROBLEM</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76200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Security Teams Face an Alert Crisis</a:t>
            </a:r>
          </a:p>
        </p:txBody>
      </p:sp>
      <p:sp>
        <p:nvSpPr>
          <p:cNvPr id="5" name="dsl:problem-text|s=$body"/>
          <p:cNvSpPr txBox="1"/>
          <p:nvPr/>
        </p:nvSpPr>
        <p:spPr>
          <a:xfrm>
            <a:off x="571500" y="1143000"/>
            <a:ext cx="5143500" cy="1381125"/>
          </a:xfrm>
          <a:prstGeom prst="rect">
            <a:avLst/>
          </a:prstGeom>
          <a:noFill/>
        </p:spPr>
        <p:txBody>
          <a:bodyPr wrap="square" anchor="t">
            <a:noAutofit/>
          </a:bodyPr>
          <a:lstStyle/>
          <a:p>
            <a:pPr algn="l">
              <a:lnSpc>
                <a:spcPct val="160000"/>
              </a:lnSpc>
            </a:pPr>
            <a:r>
              <a:rPr sz="1200" noProof="1">
                <a:solidFill>
                  <a:srgbClr val="2B2D2F"/>
                </a:solidFill>
                <a:latin typeface="QuattrocentoSans"/>
                <a:ea typeface="QuattrocentoSans"/>
              </a:rPr>
              <a:t>SOC teams receive </a:t>
            </a:r>
            <a:r>
              <a:rPr b="1" sz="1200" noProof="1">
                <a:solidFill>
                  <a:srgbClr val="2B2D2F"/>
                </a:solidFill>
                <a:latin typeface="QuattrocentoSans"/>
                <a:ea typeface="QuattrocentoSans"/>
              </a:rPr>
              <a:t>thousands of alerts daily</a:t>
            </a:r>
            <a:r>
              <a:rPr sz="1200" noProof="1">
                <a:solidFill>
                  <a:srgbClr val="2B2D2F"/>
                </a:solidFill>
                <a:latin typeface="QuattrocentoSans"/>
                <a:ea typeface="QuattrocentoSans"/>
              </a:rPr>
              <a:t> from disconnected tools — each speaking its own language. Analysts waste hours switching consoles, manually connecting events, and deciding what matters.</a:t>
            </a:r>
          </a:p>
          <a:p>
            <a:pPr algn="l">
              <a:lnSpc>
                <a:spcPct val="160000"/>
              </a:lnSpc>
              <a:spcBef>
                <a:spcPts val="600"/>
              </a:spcBef>
            </a:pPr>
            <a:r>
              <a:rPr sz="1200" noProof="1">
                <a:solidFill>
                  <a:srgbClr val="2B2D2F"/>
                </a:solidFill>
                <a:latin typeface="QuattrocentoSans"/>
                <a:ea typeface="QuattrocentoSans"/>
              </a:rPr>
              <a:t>The result: slower response, missed threats, and analyst burnout.</a:t>
            </a:r>
          </a:p>
        </p:txBody>
      </p:sp>
      <p:sp>
        <p:nvSpPr>
          <p:cNvPr id="6" name="dsl:pp1-bar"/>
          <p:cNvSpPr/>
          <p:nvPr/>
        </p:nvSpPr>
        <p:spPr>
          <a:xfrm>
            <a:off x="571500" y="2619375"/>
            <a:ext cx="38100" cy="419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pp1-text"/>
          <p:cNvSpPr txBox="1"/>
          <p:nvPr/>
        </p:nvSpPr>
        <p:spPr>
          <a:xfrm>
            <a:off x="723900" y="2619375"/>
            <a:ext cx="4667250" cy="41910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Disconnected Tools</a:t>
            </a:r>
            <a:r>
              <a:rPr sz="1050" noProof="1">
                <a:solidFill>
                  <a:srgbClr val="2B2D2F"/>
                </a:solidFill>
                <a:latin typeface="QuattrocentoSans"/>
                <a:ea typeface="QuattrocentoSans"/>
              </a:rPr>
              <a:t> — Separate dashboards with no unified view</a:t>
            </a:r>
          </a:p>
        </p:txBody>
      </p:sp>
      <p:sp>
        <p:nvSpPr>
          <p:cNvPr id="8" name="dsl:pp2-bar"/>
          <p:cNvSpPr/>
          <p:nvPr/>
        </p:nvSpPr>
        <p:spPr>
          <a:xfrm>
            <a:off x="571500" y="3133725"/>
            <a:ext cx="38100" cy="419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p2-text"/>
          <p:cNvSpPr txBox="1"/>
          <p:nvPr/>
        </p:nvSpPr>
        <p:spPr>
          <a:xfrm>
            <a:off x="723900" y="3133725"/>
            <a:ext cx="4667250" cy="41910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Manual Correlation</a:t>
            </a:r>
            <a:r>
              <a:rPr sz="1050" noProof="1">
                <a:solidFill>
                  <a:srgbClr val="2B2D2F"/>
                </a:solidFill>
                <a:latin typeface="QuattrocentoSans"/>
                <a:ea typeface="QuattrocentoSans"/>
              </a:rPr>
              <a:t> — Analysts connect events by hand</a:t>
            </a:r>
          </a:p>
        </p:txBody>
      </p:sp>
      <p:sp>
        <p:nvSpPr>
          <p:cNvPr id="10" name="dsl:pp3-bar"/>
          <p:cNvSpPr/>
          <p:nvPr/>
        </p:nvSpPr>
        <p:spPr>
          <a:xfrm>
            <a:off x="571500" y="3648075"/>
            <a:ext cx="38100" cy="419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pp3-text"/>
          <p:cNvSpPr txBox="1"/>
          <p:nvPr/>
        </p:nvSpPr>
        <p:spPr>
          <a:xfrm>
            <a:off x="723900" y="3648075"/>
            <a:ext cx="4667250" cy="41910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Alert Fatigue</a:t>
            </a:r>
            <a:r>
              <a:rPr sz="1050" noProof="1">
                <a:solidFill>
                  <a:srgbClr val="2B2D2F"/>
                </a:solidFill>
                <a:latin typeface="QuattrocentoSans"/>
                <a:ea typeface="QuattrocentoSans"/>
              </a:rPr>
              <a:t> — Critical signals buried in noise</a:t>
            </a:r>
          </a:p>
        </p:txBody>
      </p:sp>
      <p:sp>
        <p:nvSpPr>
          <p:cNvPr id="12" name="dsl:pp4-bar"/>
          <p:cNvSpPr/>
          <p:nvPr/>
        </p:nvSpPr>
        <p:spPr>
          <a:xfrm>
            <a:off x="571500" y="4162425"/>
            <a:ext cx="38100" cy="419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pp4-text"/>
          <p:cNvSpPr txBox="1"/>
          <p:nvPr/>
        </p:nvSpPr>
        <p:spPr>
          <a:xfrm>
            <a:off x="723900" y="4162425"/>
            <a:ext cx="4667250" cy="41910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Expert Dependency</a:t>
            </a:r>
            <a:r>
              <a:rPr sz="1050" noProof="1">
                <a:solidFill>
                  <a:srgbClr val="2B2D2F"/>
                </a:solidFill>
                <a:latin typeface="QuattrocentoSans"/>
                <a:ea typeface="QuattrocentoSans"/>
              </a:rPr>
              <a:t> — Response quality varies by analyst</a:t>
            </a:r>
          </a:p>
        </p:txBody>
      </p:sp>
      <p:sp>
        <p:nvSpPr>
          <p:cNvPr id="14" name="dsl:pp5-bar"/>
          <p:cNvSpPr/>
          <p:nvPr/>
        </p:nvSpPr>
        <p:spPr>
          <a:xfrm>
            <a:off x="571500" y="4676775"/>
            <a:ext cx="38100" cy="419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pp5-text"/>
          <p:cNvSpPr txBox="1"/>
          <p:nvPr/>
        </p:nvSpPr>
        <p:spPr>
          <a:xfrm>
            <a:off x="723900" y="4676775"/>
            <a:ext cx="4667250" cy="419100"/>
          </a:xfrm>
          <a:prstGeom prst="rect">
            <a:avLst/>
          </a:prstGeom>
          <a:noFill/>
        </p:spPr>
        <p:txBody>
          <a:bodyPr wrap="square" anchor="t">
            <a:noAutofit/>
          </a:bodyPr>
          <a:lstStyle/>
          <a:p>
            <a:pPr algn="l">
              <a:lnSpc>
                <a:spcPct val="140000"/>
              </a:lnSpc>
            </a:pPr>
            <a:r>
              <a:rPr b="1" sz="1050" noProof="1">
                <a:solidFill>
                  <a:srgbClr val="2B2D2F"/>
                </a:solidFill>
                <a:latin typeface="QuattrocentoSans"/>
                <a:ea typeface="QuattrocentoSans"/>
              </a:rPr>
              <a:t>Slow Response</a:t>
            </a:r>
            <a:r>
              <a:rPr sz="1050" noProof="1">
                <a:solidFill>
                  <a:srgbClr val="2B2D2F"/>
                </a:solidFill>
                <a:latin typeface="QuattrocentoSans"/>
                <a:ea typeface="QuattrocentoSans"/>
              </a:rPr>
              <a:t> — Hours lost to repetitive triage work</a:t>
            </a:r>
          </a:p>
        </p:txBody>
      </p:sp>
      <p:sp>
        <p:nvSpPr>
          <p:cNvPr id="16" name="dsl:viz-bg"/>
          <p:cNvSpPr/>
          <p:nvPr/>
        </p:nvSpPr>
        <p:spPr>
          <a:xfrm>
            <a:off x="6096000" y="1143000"/>
            <a:ext cx="5524500" cy="4000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viz-title"/>
          <p:cNvSpPr txBox="1"/>
          <p:nvPr/>
        </p:nvSpPr>
        <p:spPr>
          <a:xfrm>
            <a:off x="6381750" y="1285875"/>
            <a:ext cx="2381250" cy="247650"/>
          </a:xfrm>
          <a:prstGeom prst="rect">
            <a:avLst/>
          </a:prstGeom>
          <a:noFill/>
        </p:spPr>
        <p:txBody>
          <a:bodyPr wrap="none" anchor="t">
            <a:noAutofit/>
          </a:bodyPr>
          <a:lstStyle/>
          <a:p>
            <a:pPr algn="l"/>
            <a:r>
              <a:rPr b="1" sz="1050" noProof="1" spc="75">
                <a:solidFill>
                  <a:srgbClr val="2D6A6A"/>
                </a:solidFill>
                <a:latin typeface="Liter"/>
                <a:ea typeface="Liter"/>
              </a:rPr>
              <a:t>ALERT VOLUME</a:t>
            </a:r>
          </a:p>
        </p:txBody>
      </p:sp>
      <p:sp>
        <p:nvSpPr>
          <p:cNvPr id="18" name="dsl:a1"/>
          <p:cNvSpPr/>
          <p:nvPr/>
        </p:nvSpPr>
        <p:spPr>
          <a:xfrm>
            <a:off x="6381750" y="16668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a2"/>
          <p:cNvSpPr/>
          <p:nvPr/>
        </p:nvSpPr>
        <p:spPr>
          <a:xfrm>
            <a:off x="7124700" y="16668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a3"/>
          <p:cNvSpPr/>
          <p:nvPr/>
        </p:nvSpPr>
        <p:spPr>
          <a:xfrm>
            <a:off x="7867650" y="1666875"/>
            <a:ext cx="647700" cy="3810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a4"/>
          <p:cNvSpPr/>
          <p:nvPr/>
        </p:nvSpPr>
        <p:spPr>
          <a:xfrm>
            <a:off x="8610600" y="16668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a5"/>
          <p:cNvSpPr/>
          <p:nvPr/>
        </p:nvSpPr>
        <p:spPr>
          <a:xfrm>
            <a:off x="9353550" y="16668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a6"/>
          <p:cNvSpPr/>
          <p:nvPr/>
        </p:nvSpPr>
        <p:spPr>
          <a:xfrm>
            <a:off x="10096500" y="16668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a7"/>
          <p:cNvSpPr/>
          <p:nvPr/>
        </p:nvSpPr>
        <p:spPr>
          <a:xfrm>
            <a:off x="10839450" y="1666875"/>
            <a:ext cx="647700" cy="381000"/>
          </a:xfrm>
          <a:prstGeom prst="rect">
            <a:avLst/>
          </a:prstGeom>
          <a:solidFill>
            <a:srgbClr val="E8C9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a8"/>
          <p:cNvSpPr/>
          <p:nvPr/>
        </p:nvSpPr>
        <p:spPr>
          <a:xfrm>
            <a:off x="6381750" y="2143125"/>
            <a:ext cx="647700" cy="381000"/>
          </a:xfrm>
          <a:prstGeom prst="rect">
            <a:avLst/>
          </a:prstGeom>
          <a:solidFill>
            <a:srgbClr val="E8C9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a9"/>
          <p:cNvSpPr/>
          <p:nvPr/>
        </p:nvSpPr>
        <p:spPr>
          <a:xfrm>
            <a:off x="7124700" y="214312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a10"/>
          <p:cNvSpPr/>
          <p:nvPr/>
        </p:nvSpPr>
        <p:spPr>
          <a:xfrm>
            <a:off x="7867650" y="214312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a11"/>
          <p:cNvSpPr/>
          <p:nvPr/>
        </p:nvSpPr>
        <p:spPr>
          <a:xfrm>
            <a:off x="8610600" y="214312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l:a12"/>
          <p:cNvSpPr/>
          <p:nvPr/>
        </p:nvSpPr>
        <p:spPr>
          <a:xfrm>
            <a:off x="9353550" y="2143125"/>
            <a:ext cx="647700" cy="3810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a13"/>
          <p:cNvSpPr/>
          <p:nvPr/>
        </p:nvSpPr>
        <p:spPr>
          <a:xfrm>
            <a:off x="10096500" y="214312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a14"/>
          <p:cNvSpPr/>
          <p:nvPr/>
        </p:nvSpPr>
        <p:spPr>
          <a:xfrm>
            <a:off x="10839450" y="214312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a15"/>
          <p:cNvSpPr/>
          <p:nvPr/>
        </p:nvSpPr>
        <p:spPr>
          <a:xfrm>
            <a:off x="6381750" y="26193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a16"/>
          <p:cNvSpPr/>
          <p:nvPr/>
        </p:nvSpPr>
        <p:spPr>
          <a:xfrm>
            <a:off x="7124700" y="2619375"/>
            <a:ext cx="647700" cy="381000"/>
          </a:xfrm>
          <a:prstGeom prst="rect">
            <a:avLst/>
          </a:prstGeom>
          <a:solidFill>
            <a:srgbClr val="E8C9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a17"/>
          <p:cNvSpPr/>
          <p:nvPr/>
        </p:nvSpPr>
        <p:spPr>
          <a:xfrm>
            <a:off x="7867650" y="26193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a18"/>
          <p:cNvSpPr/>
          <p:nvPr/>
        </p:nvSpPr>
        <p:spPr>
          <a:xfrm>
            <a:off x="8610600" y="26193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sl:a19"/>
          <p:cNvSpPr/>
          <p:nvPr/>
        </p:nvSpPr>
        <p:spPr>
          <a:xfrm>
            <a:off x="9353550" y="26193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l:a20"/>
          <p:cNvSpPr/>
          <p:nvPr/>
        </p:nvSpPr>
        <p:spPr>
          <a:xfrm>
            <a:off x="10096500" y="2619375"/>
            <a:ext cx="647700" cy="381000"/>
          </a:xfrm>
          <a:prstGeom prst="rect">
            <a:avLst/>
          </a:prstGeom>
          <a:solidFill>
            <a:srgbClr val="E8C9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sl:a21"/>
          <p:cNvSpPr/>
          <p:nvPr/>
        </p:nvSpPr>
        <p:spPr>
          <a:xfrm>
            <a:off x="10839450" y="2619375"/>
            <a:ext cx="647700" cy="3810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dsl:down-arrow"/>
          <p:cNvCxnSpPr/>
          <p:nvPr/>
        </p:nvCxnSpPr>
        <p:spPr>
          <a:xfrm>
            <a:off x="8763000" y="3095625"/>
            <a:ext cx="0" cy="476250"/>
          </a:xfrm>
          <a:prstGeom prst="straightConnector1">
            <a:avLst/>
          </a:prstGeom>
          <a:ln w="25400">
            <a:solidFill>
              <a:srgbClr val="5C6B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40" name="dsl:analyst-icon|i=fas:user-shield"/>
          <p:cNvSpPr/>
          <p:nvPr/>
        </p:nvSpPr>
        <p:spPr>
          <a:xfrm>
            <a:off x="8496300" y="3720465"/>
            <a:ext cx="533400" cy="426720"/>
          </a:xfrm>
          <a:custGeom>
            <a:avLst/>
            <a:gdLst/>
            <a:ahLst/>
            <a:cxnLst/>
            <a:rect l="l" t="t" r="r" b="b"/>
            <a:pathLst>
              <a:path w="533400" h="426720">
                <a:moveTo>
                  <a:pt x="186690" y="213360"/>
                </a:moveTo>
                <a:cubicBezTo>
                  <a:pt x="245212" y="213360"/>
                  <a:pt x="293370" y="165202"/>
                  <a:pt x="293370" y="106680"/>
                </a:cubicBezTo>
                <a:cubicBezTo>
                  <a:pt x="293370" y="48157"/>
                  <a:pt x="245212" y="0"/>
                  <a:pt x="186690" y="0"/>
                </a:cubicBezTo>
                <a:cubicBezTo>
                  <a:pt x="128167" y="0"/>
                  <a:pt x="80010" y="48157"/>
                  <a:pt x="80010" y="106679"/>
                </a:cubicBezTo>
                <a:cubicBezTo>
                  <a:pt x="80010" y="165202"/>
                  <a:pt x="128167" y="213360"/>
                  <a:pt x="186689" y="213360"/>
                </a:cubicBezTo>
                <a:close/>
                <a:moveTo>
                  <a:pt x="148601" y="253365"/>
                </a:moveTo>
                <a:cubicBezTo>
                  <a:pt x="66508" y="253365"/>
                  <a:pt x="0" y="319873"/>
                  <a:pt x="0" y="401966"/>
                </a:cubicBezTo>
                <a:cubicBezTo>
                  <a:pt x="0" y="415635"/>
                  <a:pt x="11084" y="426720"/>
                  <a:pt x="24753" y="426720"/>
                </a:cubicBezTo>
                <a:lnTo>
                  <a:pt x="348626" y="426720"/>
                </a:lnTo>
                <a:cubicBezTo>
                  <a:pt x="350127" y="426720"/>
                  <a:pt x="351543" y="428386"/>
                  <a:pt x="353044" y="430887"/>
                </a:cubicBezTo>
                <a:cubicBezTo>
                  <a:pt x="289452" y="384964"/>
                  <a:pt x="269867" y="313372"/>
                  <a:pt x="267116" y="264033"/>
                </a:cubicBezTo>
                <a:cubicBezTo>
                  <a:pt x="253698" y="260032"/>
                  <a:pt x="239529" y="257948"/>
                  <a:pt x="224861" y="257948"/>
                </a:cubicBezTo>
                <a:lnTo>
                  <a:pt x="148601" y="257948"/>
                </a:lnTo>
                <a:close/>
                <a:moveTo>
                  <a:pt x="405967" y="188106"/>
                </a:moveTo>
                <a:lnTo>
                  <a:pt x="305954" y="228111"/>
                </a:lnTo>
                <a:cubicBezTo>
                  <a:pt x="298370" y="231195"/>
                  <a:pt x="293370" y="238529"/>
                  <a:pt x="293370" y="246697"/>
                </a:cubicBezTo>
                <a:cubicBezTo>
                  <a:pt x="293370" y="299454"/>
                  <a:pt x="314956" y="387381"/>
                  <a:pt x="405717" y="425219"/>
                </a:cubicBezTo>
                <a:cubicBezTo>
                  <a:pt x="410634" y="427303"/>
                  <a:pt x="416218" y="427303"/>
                  <a:pt x="421135" y="425219"/>
                </a:cubicBezTo>
                <a:cubicBezTo>
                  <a:pt x="511813" y="387381"/>
                  <a:pt x="533400" y="299454"/>
                  <a:pt x="533400" y="246697"/>
                </a:cubicBezTo>
                <a:cubicBezTo>
                  <a:pt x="533400" y="238529"/>
                  <a:pt x="528399" y="231195"/>
                  <a:pt x="520815" y="228111"/>
                </a:cubicBezTo>
                <a:lnTo>
                  <a:pt x="420802" y="188106"/>
                </a:lnTo>
                <a:cubicBezTo>
                  <a:pt x="416052" y="186189"/>
                  <a:pt x="410717" y="186189"/>
                  <a:pt x="405967" y="188106"/>
                </a:cubicBezTo>
                <a:close/>
                <a:moveTo>
                  <a:pt x="492894" y="260032"/>
                </a:moveTo>
                <a:cubicBezTo>
                  <a:pt x="489644" y="302287"/>
                  <a:pt x="470225" y="357294"/>
                  <a:pt x="413385" y="384798"/>
                </a:cubicBezTo>
                <a:lnTo>
                  <a:pt x="413385" y="228195"/>
                </a:lnTo>
                <a:lnTo>
                  <a:pt x="492894" y="260032"/>
                </a:lnTo>
                <a:close/>
              </a:path>
            </a:pathLst>
          </a:custGeom>
          <a:solidFill>
            <a:srgbClr val="2D6A6A"/>
          </a:solidFill>
          <a:ln>
            <a:noFill/>
          </a:ln>
          <a:effectLst/>
        </p:spPr>
      </p:sp>
      <p:sp>
        <p:nvSpPr>
          <p:cNvPr id="41" name="dsl:analyst-label"/>
          <p:cNvSpPr txBox="1"/>
          <p:nvPr/>
        </p:nvSpPr>
        <p:spPr>
          <a:xfrm>
            <a:off x="8191500" y="4238625"/>
            <a:ext cx="1143000" cy="209550"/>
          </a:xfrm>
          <a:prstGeom prst="rect">
            <a:avLst/>
          </a:prstGeom>
          <a:noFill/>
        </p:spPr>
        <p:txBody>
          <a:bodyPr wrap="none" anchor="t">
            <a:noAutofit/>
          </a:bodyPr>
          <a:lstStyle/>
          <a:p>
            <a:pPr algn="ctr"/>
            <a:r>
              <a:rPr sz="900" noProof="1">
                <a:solidFill>
                  <a:srgbClr val="5C6B73"/>
                </a:solidFill>
                <a:latin typeface="QuattrocentoSans"/>
                <a:ea typeface="QuattrocentoSans"/>
              </a:rPr>
              <a:t>1 Analyst</a:t>
            </a:r>
          </a:p>
        </p:txBody>
      </p:sp>
      <p:sp>
        <p:nvSpPr>
          <p:cNvPr id="42" name="dsl:stat-number"/>
          <p:cNvSpPr txBox="1"/>
          <p:nvPr/>
        </p:nvSpPr>
        <p:spPr>
          <a:xfrm>
            <a:off x="6477000" y="5286375"/>
            <a:ext cx="4572000" cy="476250"/>
          </a:xfrm>
          <a:prstGeom prst="rect">
            <a:avLst/>
          </a:prstGeom>
          <a:noFill/>
        </p:spPr>
        <p:txBody>
          <a:bodyPr wrap="none" anchor="ctr">
            <a:noAutofit/>
          </a:bodyPr>
          <a:lstStyle/>
          <a:p>
            <a:pPr algn="ctr"/>
            <a:r>
              <a:rPr b="1" sz="2700" noProof="1">
                <a:solidFill>
                  <a:srgbClr val="D4A373"/>
                </a:solidFill>
                <a:latin typeface="Liter"/>
                <a:ea typeface="Liter"/>
              </a:rPr>
              <a:t>10,000+</a:t>
            </a:r>
          </a:p>
        </p:txBody>
      </p:sp>
      <p:sp>
        <p:nvSpPr>
          <p:cNvPr id="43" name="dsl:stat-label"/>
          <p:cNvSpPr txBox="1"/>
          <p:nvPr/>
        </p:nvSpPr>
        <p:spPr>
          <a:xfrm>
            <a:off x="6477000" y="5829300"/>
            <a:ext cx="4572000" cy="228600"/>
          </a:xfrm>
          <a:prstGeom prst="rect">
            <a:avLst/>
          </a:prstGeom>
          <a:noFill/>
        </p:spPr>
        <p:txBody>
          <a:bodyPr wrap="none" anchor="t">
            <a:noAutofit/>
          </a:bodyPr>
          <a:lstStyle/>
          <a:p>
            <a:pPr algn="ctr"/>
            <a:r>
              <a:rPr sz="975" noProof="1">
                <a:solidFill>
                  <a:srgbClr val="5C6B73"/>
                </a:solidFill>
                <a:latin typeface="QuattrocentoSans"/>
                <a:ea typeface="QuattrocentoSans"/>
              </a:rPr>
              <a:t>alerts per day — from dozens of tools</a:t>
            </a:r>
          </a:p>
        </p:txBody>
      </p:sp>
      <p:sp>
        <p:nvSpPr>
          <p:cNvPr id="44"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45"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01  THE BUSINESS PROBLEM</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85725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Why Traditional SOC Operations Struggle</a:t>
            </a:r>
          </a:p>
        </p:txBody>
      </p:sp>
      <p:sp>
        <p:nvSpPr>
          <p:cNvPr id="5" name="dsl:c1-bg"/>
          <p:cNvSpPr/>
          <p:nvPr/>
        </p:nvSpPr>
        <p:spPr>
          <a:xfrm>
            <a:off x="571500" y="1238250"/>
            <a:ext cx="205740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c1-icon|i=fas:puzzle-piece"/>
          <p:cNvSpPr/>
          <p:nvPr/>
        </p:nvSpPr>
        <p:spPr>
          <a:xfrm>
            <a:off x="800100" y="1476375"/>
            <a:ext cx="342900" cy="342900"/>
          </a:xfrm>
          <a:custGeom>
            <a:avLst/>
            <a:gdLst/>
            <a:ahLst/>
            <a:cxnLst/>
            <a:rect l="l" t="t" r="r" b="b"/>
            <a:pathLst>
              <a:path w="342900" h="342900">
                <a:moveTo>
                  <a:pt x="128587" y="70187"/>
                </a:moveTo>
                <a:cubicBezTo>
                  <a:pt x="128587" y="64025"/>
                  <a:pt x="124703" y="58601"/>
                  <a:pt x="119747" y="54917"/>
                </a:cubicBezTo>
                <a:cubicBezTo>
                  <a:pt x="111978" y="49090"/>
                  <a:pt x="107156" y="41054"/>
                  <a:pt x="107156" y="32146"/>
                </a:cubicBezTo>
                <a:cubicBezTo>
                  <a:pt x="107156" y="14399"/>
                  <a:pt x="126377" y="0"/>
                  <a:pt x="150018" y="0"/>
                </a:cubicBezTo>
                <a:cubicBezTo>
                  <a:pt x="173660" y="0"/>
                  <a:pt x="192881" y="14399"/>
                  <a:pt x="192881" y="32146"/>
                </a:cubicBezTo>
                <a:cubicBezTo>
                  <a:pt x="192881" y="41054"/>
                  <a:pt x="188059" y="49090"/>
                  <a:pt x="180290" y="54917"/>
                </a:cubicBezTo>
                <a:cubicBezTo>
                  <a:pt x="175334" y="58601"/>
                  <a:pt x="171450" y="64025"/>
                  <a:pt x="171450" y="70187"/>
                </a:cubicBezTo>
                <a:cubicBezTo>
                  <a:pt x="171450" y="78759"/>
                  <a:pt x="178415" y="85725"/>
                  <a:pt x="186987" y="85725"/>
                </a:cubicBezTo>
                <a:lnTo>
                  <a:pt x="225028" y="85725"/>
                </a:lnTo>
                <a:cubicBezTo>
                  <a:pt x="242775" y="85725"/>
                  <a:pt x="257175" y="100124"/>
                  <a:pt x="257175" y="117871"/>
                </a:cubicBezTo>
                <a:lnTo>
                  <a:pt x="257175" y="155912"/>
                </a:lnTo>
                <a:cubicBezTo>
                  <a:pt x="257175" y="164484"/>
                  <a:pt x="264140" y="171450"/>
                  <a:pt x="272712" y="171450"/>
                </a:cubicBezTo>
                <a:cubicBezTo>
                  <a:pt x="278874" y="171450"/>
                  <a:pt x="284298" y="167565"/>
                  <a:pt x="287982" y="162609"/>
                </a:cubicBezTo>
                <a:cubicBezTo>
                  <a:pt x="293809" y="154840"/>
                  <a:pt x="301845" y="150018"/>
                  <a:pt x="310753" y="150018"/>
                </a:cubicBezTo>
                <a:cubicBezTo>
                  <a:pt x="328500" y="150018"/>
                  <a:pt x="342900" y="169239"/>
                  <a:pt x="342900" y="192881"/>
                </a:cubicBezTo>
                <a:cubicBezTo>
                  <a:pt x="342900" y="216522"/>
                  <a:pt x="328500" y="235743"/>
                  <a:pt x="310753" y="235743"/>
                </a:cubicBezTo>
                <a:cubicBezTo>
                  <a:pt x="301845" y="235743"/>
                  <a:pt x="293809" y="230921"/>
                  <a:pt x="287982" y="223152"/>
                </a:cubicBezTo>
                <a:cubicBezTo>
                  <a:pt x="284298" y="218196"/>
                  <a:pt x="278874" y="214312"/>
                  <a:pt x="272712" y="214312"/>
                </a:cubicBezTo>
                <a:cubicBezTo>
                  <a:pt x="264140" y="214312"/>
                  <a:pt x="257175" y="221277"/>
                  <a:pt x="257175" y="229850"/>
                </a:cubicBezTo>
                <a:lnTo>
                  <a:pt x="257175" y="310753"/>
                </a:lnTo>
                <a:cubicBezTo>
                  <a:pt x="257175" y="328500"/>
                  <a:pt x="242775" y="342900"/>
                  <a:pt x="225028" y="342900"/>
                </a:cubicBezTo>
                <a:lnTo>
                  <a:pt x="186987" y="342900"/>
                </a:lnTo>
                <a:cubicBezTo>
                  <a:pt x="178415" y="342900"/>
                  <a:pt x="171450" y="335934"/>
                  <a:pt x="171450" y="327362"/>
                </a:cubicBezTo>
                <a:cubicBezTo>
                  <a:pt x="171450" y="321200"/>
                  <a:pt x="175334" y="315776"/>
                  <a:pt x="180290" y="312092"/>
                </a:cubicBezTo>
                <a:cubicBezTo>
                  <a:pt x="188059" y="306265"/>
                  <a:pt x="192881" y="298229"/>
                  <a:pt x="192881" y="289321"/>
                </a:cubicBezTo>
                <a:cubicBezTo>
                  <a:pt x="192881" y="271574"/>
                  <a:pt x="173660" y="257175"/>
                  <a:pt x="150018" y="257175"/>
                </a:cubicBezTo>
                <a:cubicBezTo>
                  <a:pt x="126377" y="257175"/>
                  <a:pt x="107156" y="271574"/>
                  <a:pt x="107156" y="289321"/>
                </a:cubicBezTo>
                <a:cubicBezTo>
                  <a:pt x="107156" y="298229"/>
                  <a:pt x="111978" y="306265"/>
                  <a:pt x="119747" y="312092"/>
                </a:cubicBezTo>
                <a:cubicBezTo>
                  <a:pt x="124703" y="315776"/>
                  <a:pt x="128587" y="321200"/>
                  <a:pt x="128587" y="327362"/>
                </a:cubicBezTo>
                <a:cubicBezTo>
                  <a:pt x="128587" y="335934"/>
                  <a:pt x="121622" y="342900"/>
                  <a:pt x="113049" y="342900"/>
                </a:cubicBezTo>
                <a:lnTo>
                  <a:pt x="32146" y="342900"/>
                </a:lnTo>
                <a:cubicBezTo>
                  <a:pt x="14399" y="342900"/>
                  <a:pt x="0" y="328500"/>
                  <a:pt x="0" y="310753"/>
                </a:cubicBezTo>
                <a:lnTo>
                  <a:pt x="0" y="229850"/>
                </a:lnTo>
                <a:cubicBezTo>
                  <a:pt x="0" y="221277"/>
                  <a:pt x="6965" y="214312"/>
                  <a:pt x="15537" y="214312"/>
                </a:cubicBezTo>
                <a:cubicBezTo>
                  <a:pt x="21699" y="214312"/>
                  <a:pt x="27123" y="218196"/>
                  <a:pt x="30807" y="223152"/>
                </a:cubicBezTo>
                <a:cubicBezTo>
                  <a:pt x="36634" y="230921"/>
                  <a:pt x="44670" y="235743"/>
                  <a:pt x="53578" y="235743"/>
                </a:cubicBezTo>
                <a:cubicBezTo>
                  <a:pt x="71325" y="235743"/>
                  <a:pt x="85725" y="216522"/>
                  <a:pt x="85725" y="192881"/>
                </a:cubicBezTo>
                <a:cubicBezTo>
                  <a:pt x="85725" y="169239"/>
                  <a:pt x="71325" y="150018"/>
                  <a:pt x="53578" y="150018"/>
                </a:cubicBezTo>
                <a:cubicBezTo>
                  <a:pt x="44670" y="150018"/>
                  <a:pt x="36634" y="154840"/>
                  <a:pt x="30807" y="162609"/>
                </a:cubicBezTo>
                <a:cubicBezTo>
                  <a:pt x="27123" y="167565"/>
                  <a:pt x="21699" y="171450"/>
                  <a:pt x="15537" y="171450"/>
                </a:cubicBezTo>
                <a:cubicBezTo>
                  <a:pt x="6965" y="171450"/>
                  <a:pt x="0" y="164484"/>
                  <a:pt x="0" y="155912"/>
                </a:cubicBezTo>
                <a:lnTo>
                  <a:pt x="0" y="117871"/>
                </a:lnTo>
                <a:cubicBezTo>
                  <a:pt x="0" y="100124"/>
                  <a:pt x="14399" y="85725"/>
                  <a:pt x="32146" y="85725"/>
                </a:cubicBezTo>
                <a:lnTo>
                  <a:pt x="113049" y="85725"/>
                </a:lnTo>
                <a:cubicBezTo>
                  <a:pt x="121622" y="85725"/>
                  <a:pt x="128587" y="78759"/>
                  <a:pt x="128587" y="70187"/>
                </a:cubicBezTo>
                <a:close/>
              </a:path>
            </a:pathLst>
          </a:custGeom>
          <a:solidFill>
            <a:srgbClr val="2D6A6A"/>
          </a:solidFill>
          <a:ln>
            <a:noFill/>
          </a:ln>
          <a:effectLst/>
        </p:spPr>
      </p:sp>
      <p:sp>
        <p:nvSpPr>
          <p:cNvPr id="7" name="dsl:c1-title"/>
          <p:cNvSpPr txBox="1"/>
          <p:nvPr/>
        </p:nvSpPr>
        <p:spPr>
          <a:xfrm>
            <a:off x="723900" y="2000250"/>
            <a:ext cx="1752600" cy="571500"/>
          </a:xfrm>
          <a:prstGeom prst="rect">
            <a:avLst/>
          </a:prstGeom>
          <a:noFill/>
        </p:spPr>
        <p:txBody>
          <a:bodyPr wrap="square" anchor="t">
            <a:noAutofit/>
          </a:bodyPr>
          <a:lstStyle/>
          <a:p>
            <a:pPr algn="l">
              <a:lnSpc>
                <a:spcPct val="130000"/>
              </a:lnSpc>
            </a:pPr>
            <a:r>
              <a:rPr b="1" sz="1350" noProof="1">
                <a:solidFill>
                  <a:srgbClr val="2D6A6A"/>
                </a:solidFill>
                <a:latin typeface="Liter"/>
                <a:ea typeface="Liter"/>
              </a:rPr>
              <a:t>Fragmented Tools</a:t>
            </a:r>
          </a:p>
        </p:txBody>
      </p:sp>
      <p:sp>
        <p:nvSpPr>
          <p:cNvPr id="8" name="dsl:c1-desc"/>
          <p:cNvSpPr txBox="1"/>
          <p:nvPr/>
        </p:nvSpPr>
        <p:spPr>
          <a:xfrm>
            <a:off x="723900" y="2619375"/>
            <a:ext cx="175260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Separate dashboards for Wazuh, Suricata, Falco — no unified view of the environment</a:t>
            </a:r>
          </a:p>
        </p:txBody>
      </p:sp>
      <p:sp>
        <p:nvSpPr>
          <p:cNvPr id="9" name="dsl:c1-accent"/>
          <p:cNvSpPr/>
          <p:nvPr/>
        </p:nvSpPr>
        <p:spPr>
          <a:xfrm>
            <a:off x="571500" y="1238250"/>
            <a:ext cx="20574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l:c2-bg"/>
          <p:cNvSpPr/>
          <p:nvPr/>
        </p:nvSpPr>
        <p:spPr>
          <a:xfrm>
            <a:off x="2819400" y="1238250"/>
            <a:ext cx="205740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2-icon|i=fas:bell"/>
          <p:cNvSpPr/>
          <p:nvPr/>
        </p:nvSpPr>
        <p:spPr>
          <a:xfrm>
            <a:off x="3069431" y="1476375"/>
            <a:ext cx="300037" cy="342900"/>
          </a:xfrm>
          <a:custGeom>
            <a:avLst/>
            <a:gdLst/>
            <a:ahLst/>
            <a:cxnLst/>
            <a:rect l="l" t="t" r="r" b="b"/>
            <a:pathLst>
              <a:path w="300037" h="342900">
                <a:moveTo>
                  <a:pt x="150018" y="0"/>
                </a:moveTo>
                <a:cubicBezTo>
                  <a:pt x="138164" y="0"/>
                  <a:pt x="128587" y="9577"/>
                  <a:pt x="128587" y="21431"/>
                </a:cubicBezTo>
                <a:lnTo>
                  <a:pt x="128587" y="34290"/>
                </a:lnTo>
                <a:cubicBezTo>
                  <a:pt x="79697" y="44201"/>
                  <a:pt x="42862" y="87466"/>
                  <a:pt x="42862" y="139303"/>
                </a:cubicBezTo>
                <a:lnTo>
                  <a:pt x="42862" y="151893"/>
                </a:lnTo>
                <a:cubicBezTo>
                  <a:pt x="42862" y="183371"/>
                  <a:pt x="31276" y="213776"/>
                  <a:pt x="10380" y="237351"/>
                </a:cubicBezTo>
                <a:lnTo>
                  <a:pt x="5424" y="242909"/>
                </a:lnTo>
                <a:cubicBezTo>
                  <a:pt x="-200" y="249205"/>
                  <a:pt x="-1540" y="258246"/>
                  <a:pt x="1875" y="265948"/>
                </a:cubicBezTo>
                <a:cubicBezTo>
                  <a:pt x="5290" y="273650"/>
                  <a:pt x="12992" y="278606"/>
                  <a:pt x="21431" y="278606"/>
                </a:cubicBezTo>
                <a:lnTo>
                  <a:pt x="278606" y="278606"/>
                </a:lnTo>
                <a:cubicBezTo>
                  <a:pt x="287044" y="278606"/>
                  <a:pt x="294679" y="273650"/>
                  <a:pt x="298162" y="265948"/>
                </a:cubicBezTo>
                <a:cubicBezTo>
                  <a:pt x="301644" y="258246"/>
                  <a:pt x="300238" y="249205"/>
                  <a:pt x="294612" y="242909"/>
                </a:cubicBezTo>
                <a:lnTo>
                  <a:pt x="289656" y="237351"/>
                </a:lnTo>
                <a:cubicBezTo>
                  <a:pt x="268761" y="213776"/>
                  <a:pt x="257175" y="183438"/>
                  <a:pt x="257175" y="151893"/>
                </a:cubicBezTo>
                <a:lnTo>
                  <a:pt x="257175" y="139303"/>
                </a:lnTo>
                <a:cubicBezTo>
                  <a:pt x="257175" y="87466"/>
                  <a:pt x="220340" y="44201"/>
                  <a:pt x="171450" y="34289"/>
                </a:cubicBezTo>
                <a:lnTo>
                  <a:pt x="171450" y="21431"/>
                </a:lnTo>
                <a:cubicBezTo>
                  <a:pt x="171450" y="9577"/>
                  <a:pt x="161872" y="0"/>
                  <a:pt x="150018" y="0"/>
                </a:cubicBezTo>
                <a:close/>
                <a:moveTo>
                  <a:pt x="180357" y="330376"/>
                </a:moveTo>
                <a:cubicBezTo>
                  <a:pt x="188394" y="322339"/>
                  <a:pt x="192881" y="311422"/>
                  <a:pt x="192881" y="300037"/>
                </a:cubicBezTo>
                <a:lnTo>
                  <a:pt x="150018" y="300037"/>
                </a:lnTo>
                <a:lnTo>
                  <a:pt x="107156" y="300037"/>
                </a:lnTo>
                <a:cubicBezTo>
                  <a:pt x="107156" y="311422"/>
                  <a:pt x="111643" y="322339"/>
                  <a:pt x="119680" y="330376"/>
                </a:cubicBezTo>
                <a:cubicBezTo>
                  <a:pt x="127716" y="338412"/>
                  <a:pt x="138633" y="342900"/>
                  <a:pt x="150018" y="342900"/>
                </a:cubicBezTo>
                <a:cubicBezTo>
                  <a:pt x="161404" y="342900"/>
                  <a:pt x="172320" y="338412"/>
                  <a:pt x="180357" y="330376"/>
                </a:cubicBezTo>
                <a:close/>
              </a:path>
            </a:pathLst>
          </a:custGeom>
          <a:solidFill>
            <a:srgbClr val="2D6A6A"/>
          </a:solidFill>
          <a:ln>
            <a:noFill/>
          </a:ln>
          <a:effectLst/>
        </p:spPr>
      </p:sp>
      <p:sp>
        <p:nvSpPr>
          <p:cNvPr id="12" name="dsl:c2-title"/>
          <p:cNvSpPr txBox="1"/>
          <p:nvPr/>
        </p:nvSpPr>
        <p:spPr>
          <a:xfrm>
            <a:off x="2971800" y="2000250"/>
            <a:ext cx="1752600" cy="571500"/>
          </a:xfrm>
          <a:prstGeom prst="rect">
            <a:avLst/>
          </a:prstGeom>
          <a:noFill/>
        </p:spPr>
        <p:txBody>
          <a:bodyPr wrap="square" anchor="t">
            <a:noAutofit/>
          </a:bodyPr>
          <a:lstStyle/>
          <a:p>
            <a:pPr algn="l">
              <a:lnSpc>
                <a:spcPct val="130000"/>
              </a:lnSpc>
            </a:pPr>
            <a:r>
              <a:rPr b="1" sz="1350" noProof="1">
                <a:solidFill>
                  <a:srgbClr val="2D6A6A"/>
                </a:solidFill>
                <a:latin typeface="Liter"/>
                <a:ea typeface="Liter"/>
              </a:rPr>
              <a:t>Alert Fatigue</a:t>
            </a:r>
          </a:p>
        </p:txBody>
      </p:sp>
      <p:sp>
        <p:nvSpPr>
          <p:cNvPr id="13" name="dsl:c2-desc"/>
          <p:cNvSpPr txBox="1"/>
          <p:nvPr/>
        </p:nvSpPr>
        <p:spPr>
          <a:xfrm>
            <a:off x="2971800" y="2619375"/>
            <a:ext cx="175260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Thousands of raw alerts daily — no deduplication or noise filtering</a:t>
            </a:r>
          </a:p>
        </p:txBody>
      </p:sp>
      <p:sp>
        <p:nvSpPr>
          <p:cNvPr id="14" name="dsl:c2-accent"/>
          <p:cNvSpPr/>
          <p:nvPr/>
        </p:nvSpPr>
        <p:spPr>
          <a:xfrm>
            <a:off x="2819400" y="1238250"/>
            <a:ext cx="20574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3-bg"/>
          <p:cNvSpPr/>
          <p:nvPr/>
        </p:nvSpPr>
        <p:spPr>
          <a:xfrm>
            <a:off x="5067300" y="1238250"/>
            <a:ext cx="205740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c3-icon|i=fas:eye-slash"/>
          <p:cNvSpPr/>
          <p:nvPr/>
        </p:nvSpPr>
        <p:spPr>
          <a:xfrm>
            <a:off x="5295900" y="1510665"/>
            <a:ext cx="342900" cy="274320"/>
          </a:xfrm>
          <a:custGeom>
            <a:avLst/>
            <a:gdLst/>
            <a:ahLst/>
            <a:cxnLst/>
            <a:rect l="l" t="t" r="r" b="b"/>
            <a:pathLst>
              <a:path w="342900" h="274320">
                <a:moveTo>
                  <a:pt x="20788" y="2732"/>
                </a:moveTo>
                <a:cubicBezTo>
                  <a:pt x="15216" y="-1660"/>
                  <a:pt x="7125" y="-642"/>
                  <a:pt x="2732" y="4929"/>
                </a:cubicBezTo>
                <a:cubicBezTo>
                  <a:pt x="-1660" y="10501"/>
                  <a:pt x="-642" y="18591"/>
                  <a:pt x="4929" y="22985"/>
                </a:cubicBezTo>
                <a:lnTo>
                  <a:pt x="322111" y="271587"/>
                </a:lnTo>
                <a:cubicBezTo>
                  <a:pt x="327683" y="275980"/>
                  <a:pt x="335774" y="274962"/>
                  <a:pt x="340167" y="269390"/>
                </a:cubicBezTo>
                <a:cubicBezTo>
                  <a:pt x="344560" y="263818"/>
                  <a:pt x="343542" y="255728"/>
                  <a:pt x="337970" y="251334"/>
                </a:cubicBezTo>
                <a:lnTo>
                  <a:pt x="281606" y="207186"/>
                </a:lnTo>
                <a:cubicBezTo>
                  <a:pt x="302823" y="185433"/>
                  <a:pt x="317182" y="161055"/>
                  <a:pt x="324415" y="143750"/>
                </a:cubicBezTo>
                <a:cubicBezTo>
                  <a:pt x="326183" y="139517"/>
                  <a:pt x="326183" y="134802"/>
                  <a:pt x="324415" y="130569"/>
                </a:cubicBezTo>
                <a:cubicBezTo>
                  <a:pt x="316432" y="111442"/>
                  <a:pt x="299662" y="83581"/>
                  <a:pt x="274587" y="60328"/>
                </a:cubicBezTo>
                <a:cubicBezTo>
                  <a:pt x="249406" y="36861"/>
                  <a:pt x="214741" y="17145"/>
                  <a:pt x="171450" y="17145"/>
                </a:cubicBezTo>
                <a:cubicBezTo>
                  <a:pt x="134909" y="17145"/>
                  <a:pt x="104477" y="31236"/>
                  <a:pt x="80742" y="49720"/>
                </a:cubicBezTo>
                <a:lnTo>
                  <a:pt x="20788" y="2732"/>
                </a:lnTo>
                <a:close/>
                <a:moveTo>
                  <a:pt x="101691" y="66115"/>
                </a:moveTo>
                <a:cubicBezTo>
                  <a:pt x="121086" y="52345"/>
                  <a:pt x="144393" y="42862"/>
                  <a:pt x="171450" y="42862"/>
                </a:cubicBezTo>
                <a:cubicBezTo>
                  <a:pt x="206382" y="42862"/>
                  <a:pt x="235100" y="58721"/>
                  <a:pt x="257121" y="79134"/>
                </a:cubicBezTo>
                <a:cubicBezTo>
                  <a:pt x="277749" y="98315"/>
                  <a:pt x="292000" y="121086"/>
                  <a:pt x="299287" y="137160"/>
                </a:cubicBezTo>
                <a:cubicBezTo>
                  <a:pt x="292536" y="152161"/>
                  <a:pt x="279677" y="172950"/>
                  <a:pt x="261300" y="191220"/>
                </a:cubicBezTo>
                <a:lnTo>
                  <a:pt x="232475" y="168610"/>
                </a:lnTo>
                <a:cubicBezTo>
                  <a:pt x="237351" y="159180"/>
                  <a:pt x="240083" y="148518"/>
                  <a:pt x="240083" y="137160"/>
                </a:cubicBezTo>
                <a:cubicBezTo>
                  <a:pt x="240083" y="99280"/>
                  <a:pt x="209383" y="68580"/>
                  <a:pt x="171503" y="68580"/>
                </a:cubicBezTo>
                <a:cubicBezTo>
                  <a:pt x="154251" y="68580"/>
                  <a:pt x="138445" y="74955"/>
                  <a:pt x="126390" y="85457"/>
                </a:cubicBezTo>
                <a:lnTo>
                  <a:pt x="101691" y="66115"/>
                </a:lnTo>
                <a:close/>
                <a:moveTo>
                  <a:pt x="211580" y="152269"/>
                </a:moveTo>
                <a:lnTo>
                  <a:pt x="167913" y="118032"/>
                </a:lnTo>
                <a:cubicBezTo>
                  <a:pt x="170164" y="113478"/>
                  <a:pt x="171450" y="108281"/>
                  <a:pt x="171450" y="102869"/>
                </a:cubicBezTo>
                <a:cubicBezTo>
                  <a:pt x="171450" y="99923"/>
                  <a:pt x="175200" y="97029"/>
                  <a:pt x="170378" y="94297"/>
                </a:cubicBezTo>
                <a:cubicBezTo>
                  <a:pt x="174128" y="94297"/>
                  <a:pt x="171074" y="94297"/>
                  <a:pt x="171450" y="94297"/>
                </a:cubicBezTo>
                <a:cubicBezTo>
                  <a:pt x="195131" y="94297"/>
                  <a:pt x="214312" y="113478"/>
                  <a:pt x="214312" y="137159"/>
                </a:cubicBezTo>
                <a:cubicBezTo>
                  <a:pt x="214312" y="142464"/>
                  <a:pt x="213348" y="147554"/>
                  <a:pt x="211580" y="152269"/>
                </a:cubicBezTo>
                <a:close/>
                <a:moveTo>
                  <a:pt x="239065" y="239762"/>
                </a:moveTo>
                <a:lnTo>
                  <a:pt x="216616" y="222081"/>
                </a:lnTo>
                <a:cubicBezTo>
                  <a:pt x="202953" y="227921"/>
                  <a:pt x="187898" y="231457"/>
                  <a:pt x="171450" y="231457"/>
                </a:cubicBezTo>
                <a:cubicBezTo>
                  <a:pt x="136517" y="231457"/>
                  <a:pt x="107799" y="215598"/>
                  <a:pt x="85778" y="195185"/>
                </a:cubicBezTo>
                <a:cubicBezTo>
                  <a:pt x="65151" y="176004"/>
                  <a:pt x="50899" y="153233"/>
                  <a:pt x="43612" y="137160"/>
                </a:cubicBezTo>
                <a:cubicBezTo>
                  <a:pt x="48059" y="127301"/>
                  <a:pt x="55131" y="114925"/>
                  <a:pt x="64722" y="102441"/>
                </a:cubicBezTo>
                <a:lnTo>
                  <a:pt x="44523" y="86528"/>
                </a:lnTo>
                <a:cubicBezTo>
                  <a:pt x="32307" y="102441"/>
                  <a:pt x="23574" y="118300"/>
                  <a:pt x="18484" y="130569"/>
                </a:cubicBezTo>
                <a:cubicBezTo>
                  <a:pt x="16716" y="134802"/>
                  <a:pt x="16716" y="139517"/>
                  <a:pt x="18484" y="143750"/>
                </a:cubicBezTo>
                <a:cubicBezTo>
                  <a:pt x="26467" y="162877"/>
                  <a:pt x="43237" y="190738"/>
                  <a:pt x="68312" y="213991"/>
                </a:cubicBezTo>
                <a:cubicBezTo>
                  <a:pt x="93493" y="237458"/>
                  <a:pt x="128158" y="257175"/>
                  <a:pt x="171450" y="257175"/>
                </a:cubicBezTo>
                <a:cubicBezTo>
                  <a:pt x="197060" y="257175"/>
                  <a:pt x="219616" y="250263"/>
                  <a:pt x="239065" y="239762"/>
                </a:cubicBezTo>
                <a:close/>
                <a:moveTo>
                  <a:pt x="191916" y="202632"/>
                </a:moveTo>
                <a:lnTo>
                  <a:pt x="161805" y="178950"/>
                </a:lnTo>
                <a:cubicBezTo>
                  <a:pt x="149215" y="176057"/>
                  <a:pt x="138713" y="167592"/>
                  <a:pt x="133034" y="156287"/>
                </a:cubicBezTo>
                <a:lnTo>
                  <a:pt x="102977" y="132605"/>
                </a:lnTo>
                <a:cubicBezTo>
                  <a:pt x="104048" y="134106"/>
                  <a:pt x="104584" y="135606"/>
                  <a:pt x="104584" y="137160"/>
                </a:cubicBezTo>
                <a:cubicBezTo>
                  <a:pt x="104584" y="175039"/>
                  <a:pt x="135284" y="205740"/>
                  <a:pt x="173164" y="205740"/>
                </a:cubicBezTo>
                <a:cubicBezTo>
                  <a:pt x="180290" y="205740"/>
                  <a:pt x="187148" y="204668"/>
                  <a:pt x="193631" y="202632"/>
                </a:cubicBezTo>
                <a:close/>
              </a:path>
            </a:pathLst>
          </a:custGeom>
          <a:solidFill>
            <a:srgbClr val="2D6A6A"/>
          </a:solidFill>
          <a:ln>
            <a:noFill/>
          </a:ln>
          <a:effectLst/>
        </p:spPr>
      </p:sp>
      <p:sp>
        <p:nvSpPr>
          <p:cNvPr id="17" name="dsl:c3-title"/>
          <p:cNvSpPr txBox="1"/>
          <p:nvPr/>
        </p:nvSpPr>
        <p:spPr>
          <a:xfrm>
            <a:off x="5219700" y="2000250"/>
            <a:ext cx="1752600" cy="571500"/>
          </a:xfrm>
          <a:prstGeom prst="rect">
            <a:avLst/>
          </a:prstGeom>
          <a:noFill/>
        </p:spPr>
        <p:txBody>
          <a:bodyPr wrap="square" anchor="t">
            <a:noAutofit/>
          </a:bodyPr>
          <a:lstStyle/>
          <a:p>
            <a:pPr algn="l">
              <a:lnSpc>
                <a:spcPct val="130000"/>
              </a:lnSpc>
            </a:pPr>
            <a:r>
              <a:rPr b="1" sz="1350" noProof="1">
                <a:solidFill>
                  <a:srgbClr val="2D6A6A"/>
                </a:solidFill>
                <a:latin typeface="Liter"/>
                <a:ea typeface="Liter"/>
              </a:rPr>
              <a:t>No Context</a:t>
            </a:r>
          </a:p>
        </p:txBody>
      </p:sp>
      <p:sp>
        <p:nvSpPr>
          <p:cNvPr id="18" name="dsl:c3-desc"/>
          <p:cNvSpPr txBox="1"/>
          <p:nvPr/>
        </p:nvSpPr>
        <p:spPr>
          <a:xfrm>
            <a:off x="5219700" y="2619375"/>
            <a:ext cx="175260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Technical alerts without GeoIP, MITRE mapping, or asset context</a:t>
            </a:r>
          </a:p>
        </p:txBody>
      </p:sp>
      <p:sp>
        <p:nvSpPr>
          <p:cNvPr id="19" name="dsl:c3-accent"/>
          <p:cNvSpPr/>
          <p:nvPr/>
        </p:nvSpPr>
        <p:spPr>
          <a:xfrm>
            <a:off x="5067300" y="1238250"/>
            <a:ext cx="20574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c4-bg"/>
          <p:cNvSpPr/>
          <p:nvPr/>
        </p:nvSpPr>
        <p:spPr>
          <a:xfrm>
            <a:off x="7315200" y="1238250"/>
            <a:ext cx="205740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c4-icon|i=fas:hand-pointer"/>
          <p:cNvSpPr/>
          <p:nvPr/>
        </p:nvSpPr>
        <p:spPr>
          <a:xfrm>
            <a:off x="7565231" y="1476375"/>
            <a:ext cx="300037" cy="342900"/>
          </a:xfrm>
          <a:custGeom>
            <a:avLst/>
            <a:gdLst/>
            <a:ahLst/>
            <a:cxnLst/>
            <a:rect l="l" t="t" r="r" b="b"/>
            <a:pathLst>
              <a:path w="300037" h="342900">
                <a:moveTo>
                  <a:pt x="85725" y="26789"/>
                </a:moveTo>
                <a:cubicBezTo>
                  <a:pt x="85725" y="11988"/>
                  <a:pt x="97713" y="0"/>
                  <a:pt x="112514" y="0"/>
                </a:cubicBezTo>
                <a:cubicBezTo>
                  <a:pt x="127315" y="0"/>
                  <a:pt x="139303" y="11988"/>
                  <a:pt x="139303" y="26789"/>
                </a:cubicBezTo>
                <a:lnTo>
                  <a:pt x="139303" y="126042"/>
                </a:lnTo>
                <a:cubicBezTo>
                  <a:pt x="144995" y="120952"/>
                  <a:pt x="152496" y="117871"/>
                  <a:pt x="160734" y="117871"/>
                </a:cubicBezTo>
                <a:cubicBezTo>
                  <a:pt x="174530" y="117871"/>
                  <a:pt x="186317" y="126578"/>
                  <a:pt x="190872" y="138767"/>
                </a:cubicBezTo>
                <a:cubicBezTo>
                  <a:pt x="196765" y="132538"/>
                  <a:pt x="205070" y="128587"/>
                  <a:pt x="214312" y="128587"/>
                </a:cubicBezTo>
                <a:cubicBezTo>
                  <a:pt x="231256" y="128587"/>
                  <a:pt x="245119" y="141647"/>
                  <a:pt x="246392" y="158256"/>
                </a:cubicBezTo>
                <a:cubicBezTo>
                  <a:pt x="252085" y="153099"/>
                  <a:pt x="259652" y="150018"/>
                  <a:pt x="267890" y="150018"/>
                </a:cubicBezTo>
                <a:cubicBezTo>
                  <a:pt x="285638" y="150018"/>
                  <a:pt x="300037" y="164417"/>
                  <a:pt x="300037" y="182165"/>
                </a:cubicBezTo>
                <a:lnTo>
                  <a:pt x="300037" y="214312"/>
                </a:lnTo>
                <a:lnTo>
                  <a:pt x="300037" y="225028"/>
                </a:lnTo>
                <a:lnTo>
                  <a:pt x="300037" y="257175"/>
                </a:lnTo>
                <a:cubicBezTo>
                  <a:pt x="300037" y="304524"/>
                  <a:pt x="261662" y="342900"/>
                  <a:pt x="214312" y="342900"/>
                </a:cubicBezTo>
                <a:lnTo>
                  <a:pt x="203596" y="342900"/>
                </a:lnTo>
                <a:lnTo>
                  <a:pt x="160734" y="342900"/>
                </a:lnTo>
                <a:lnTo>
                  <a:pt x="161404" y="342900"/>
                </a:lnTo>
                <a:lnTo>
                  <a:pt x="157921" y="342900"/>
                </a:lnTo>
                <a:cubicBezTo>
                  <a:pt x="154572" y="342900"/>
                  <a:pt x="151291" y="344909"/>
                  <a:pt x="148076" y="342230"/>
                </a:cubicBezTo>
                <a:cubicBezTo>
                  <a:pt x="111040" y="338479"/>
                  <a:pt x="76951" y="319459"/>
                  <a:pt x="54314" y="289321"/>
                </a:cubicBezTo>
                <a:lnTo>
                  <a:pt x="5357" y="225028"/>
                </a:lnTo>
                <a:cubicBezTo>
                  <a:pt x="-3549" y="213173"/>
                  <a:pt x="-1138" y="196430"/>
                  <a:pt x="10715" y="187523"/>
                </a:cubicBezTo>
                <a:cubicBezTo>
                  <a:pt x="22569" y="178616"/>
                  <a:pt x="39312" y="181027"/>
                  <a:pt x="48220" y="192881"/>
                </a:cubicBezTo>
                <a:lnTo>
                  <a:pt x="85725" y="242909"/>
                </a:lnTo>
                <a:lnTo>
                  <a:pt x="85725" y="26789"/>
                </a:lnTo>
                <a:close/>
                <a:moveTo>
                  <a:pt x="160734" y="203596"/>
                </a:moveTo>
                <a:cubicBezTo>
                  <a:pt x="160734" y="197703"/>
                  <a:pt x="155912" y="192881"/>
                  <a:pt x="150018" y="192881"/>
                </a:cubicBezTo>
                <a:cubicBezTo>
                  <a:pt x="144125" y="192881"/>
                  <a:pt x="139303" y="197703"/>
                  <a:pt x="139303" y="203596"/>
                </a:cubicBezTo>
                <a:lnTo>
                  <a:pt x="139303" y="267890"/>
                </a:lnTo>
                <a:cubicBezTo>
                  <a:pt x="139303" y="273784"/>
                  <a:pt x="144125" y="278606"/>
                  <a:pt x="150018" y="278606"/>
                </a:cubicBezTo>
                <a:cubicBezTo>
                  <a:pt x="155912" y="278606"/>
                  <a:pt x="160734" y="273784"/>
                  <a:pt x="160734" y="267890"/>
                </a:cubicBezTo>
                <a:lnTo>
                  <a:pt x="160734" y="203596"/>
                </a:lnTo>
                <a:close/>
                <a:moveTo>
                  <a:pt x="192881" y="192881"/>
                </a:moveTo>
                <a:cubicBezTo>
                  <a:pt x="186987" y="192881"/>
                  <a:pt x="182165" y="197703"/>
                  <a:pt x="182165" y="203596"/>
                </a:cubicBezTo>
                <a:lnTo>
                  <a:pt x="182165" y="267890"/>
                </a:lnTo>
                <a:cubicBezTo>
                  <a:pt x="182165" y="273784"/>
                  <a:pt x="186987" y="278606"/>
                  <a:pt x="192881" y="278606"/>
                </a:cubicBezTo>
                <a:cubicBezTo>
                  <a:pt x="198774" y="278606"/>
                  <a:pt x="203596" y="273784"/>
                  <a:pt x="203596" y="267890"/>
                </a:cubicBezTo>
                <a:lnTo>
                  <a:pt x="203596" y="203596"/>
                </a:lnTo>
                <a:cubicBezTo>
                  <a:pt x="203596" y="197703"/>
                  <a:pt x="198774" y="192881"/>
                  <a:pt x="192881" y="192881"/>
                </a:cubicBezTo>
                <a:close/>
                <a:moveTo>
                  <a:pt x="246459" y="203596"/>
                </a:moveTo>
                <a:cubicBezTo>
                  <a:pt x="246459" y="197703"/>
                  <a:pt x="241637" y="192881"/>
                  <a:pt x="235743" y="192881"/>
                </a:cubicBezTo>
                <a:cubicBezTo>
                  <a:pt x="229850" y="192881"/>
                  <a:pt x="225028" y="197703"/>
                  <a:pt x="225028" y="203596"/>
                </a:cubicBezTo>
                <a:lnTo>
                  <a:pt x="225028" y="267890"/>
                </a:lnTo>
                <a:cubicBezTo>
                  <a:pt x="225028" y="273784"/>
                  <a:pt x="229850" y="278606"/>
                  <a:pt x="235743" y="278606"/>
                </a:cubicBezTo>
                <a:cubicBezTo>
                  <a:pt x="241637" y="278606"/>
                  <a:pt x="246459" y="273784"/>
                  <a:pt x="246459" y="267890"/>
                </a:cubicBezTo>
                <a:lnTo>
                  <a:pt x="246459" y="203596"/>
                </a:lnTo>
                <a:close/>
              </a:path>
            </a:pathLst>
          </a:custGeom>
          <a:solidFill>
            <a:srgbClr val="2D6A6A"/>
          </a:solidFill>
          <a:ln>
            <a:noFill/>
          </a:ln>
          <a:effectLst/>
        </p:spPr>
      </p:sp>
      <p:sp>
        <p:nvSpPr>
          <p:cNvPr id="22" name="dsl:c4-title"/>
          <p:cNvSpPr txBox="1"/>
          <p:nvPr/>
        </p:nvSpPr>
        <p:spPr>
          <a:xfrm>
            <a:off x="7467600" y="2000250"/>
            <a:ext cx="1752600" cy="571500"/>
          </a:xfrm>
          <a:prstGeom prst="rect">
            <a:avLst/>
          </a:prstGeom>
          <a:noFill/>
        </p:spPr>
        <p:txBody>
          <a:bodyPr wrap="square" anchor="t">
            <a:noAutofit/>
          </a:bodyPr>
          <a:lstStyle/>
          <a:p>
            <a:pPr algn="l">
              <a:lnSpc>
                <a:spcPct val="130000"/>
              </a:lnSpc>
            </a:pPr>
            <a:r>
              <a:rPr b="1" sz="1350" noProof="1">
                <a:solidFill>
                  <a:srgbClr val="2D6A6A"/>
                </a:solidFill>
                <a:latin typeface="Liter"/>
                <a:ea typeface="Liter"/>
              </a:rPr>
              <a:t>Manual Processes</a:t>
            </a:r>
          </a:p>
        </p:txBody>
      </p:sp>
      <p:sp>
        <p:nvSpPr>
          <p:cNvPr id="23" name="dsl:c4-desc"/>
          <p:cNvSpPr txBox="1"/>
          <p:nvPr/>
        </p:nvSpPr>
        <p:spPr>
          <a:xfrm>
            <a:off x="7467600" y="2619375"/>
            <a:ext cx="175260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Expert-dependent correlation, investigation, and remediation</a:t>
            </a:r>
          </a:p>
        </p:txBody>
      </p:sp>
      <p:sp>
        <p:nvSpPr>
          <p:cNvPr id="24" name="dsl:c4-accent"/>
          <p:cNvSpPr/>
          <p:nvPr/>
        </p:nvSpPr>
        <p:spPr>
          <a:xfrm>
            <a:off x="7315200" y="1238250"/>
            <a:ext cx="20574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c5-bg"/>
          <p:cNvSpPr/>
          <p:nvPr/>
        </p:nvSpPr>
        <p:spPr>
          <a:xfrm>
            <a:off x="9563100" y="1238250"/>
            <a:ext cx="205740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5-icon|i=fas:circle-question"/>
          <p:cNvSpPr/>
          <p:nvPr/>
        </p:nvSpPr>
        <p:spPr>
          <a:xfrm>
            <a:off x="9791700" y="1476375"/>
            <a:ext cx="342900" cy="342900"/>
          </a:xfrm>
          <a:custGeom>
            <a:avLst/>
            <a:gdLst/>
            <a:ahLst/>
            <a:cxnLst/>
            <a:rect l="l" t="t" r="r" b="b"/>
            <a:pathLst>
              <a:path w="342900" h="342900">
                <a:moveTo>
                  <a:pt x="171450" y="342900"/>
                </a:moveTo>
                <a:cubicBezTo>
                  <a:pt x="265504" y="342900"/>
                  <a:pt x="342900" y="265504"/>
                  <a:pt x="342900" y="171450"/>
                </a:cubicBezTo>
                <a:cubicBezTo>
                  <a:pt x="342900" y="77395"/>
                  <a:pt x="265504" y="0"/>
                  <a:pt x="171450" y="0"/>
                </a:cubicBezTo>
                <a:cubicBezTo>
                  <a:pt x="77395" y="0"/>
                  <a:pt x="0" y="77395"/>
                  <a:pt x="0" y="171449"/>
                </a:cubicBezTo>
                <a:cubicBezTo>
                  <a:pt x="0" y="265504"/>
                  <a:pt x="77395" y="342900"/>
                  <a:pt x="171449" y="342900"/>
                </a:cubicBezTo>
                <a:close/>
                <a:moveTo>
                  <a:pt x="113719" y="110705"/>
                </a:moveTo>
                <a:cubicBezTo>
                  <a:pt x="119010" y="95770"/>
                  <a:pt x="133208" y="85725"/>
                  <a:pt x="149081" y="85725"/>
                </a:cubicBezTo>
                <a:lnTo>
                  <a:pt x="188126" y="85725"/>
                </a:lnTo>
                <a:cubicBezTo>
                  <a:pt x="211499" y="85725"/>
                  <a:pt x="230385" y="104678"/>
                  <a:pt x="230385" y="127984"/>
                </a:cubicBezTo>
                <a:cubicBezTo>
                  <a:pt x="230385" y="143120"/>
                  <a:pt x="222282" y="157117"/>
                  <a:pt x="209155" y="164685"/>
                </a:cubicBezTo>
                <a:lnTo>
                  <a:pt x="187523" y="177075"/>
                </a:lnTo>
                <a:cubicBezTo>
                  <a:pt x="188862" y="185782"/>
                  <a:pt x="180223" y="192881"/>
                  <a:pt x="171450" y="192881"/>
                </a:cubicBezTo>
                <a:cubicBezTo>
                  <a:pt x="162542" y="192881"/>
                  <a:pt x="155376" y="185715"/>
                  <a:pt x="155376" y="176807"/>
                </a:cubicBezTo>
                <a:lnTo>
                  <a:pt x="155376" y="167766"/>
                </a:lnTo>
                <a:cubicBezTo>
                  <a:pt x="155376" y="162006"/>
                  <a:pt x="158457" y="156716"/>
                  <a:pt x="163480" y="153836"/>
                </a:cubicBezTo>
                <a:lnTo>
                  <a:pt x="193149" y="136825"/>
                </a:lnTo>
                <a:cubicBezTo>
                  <a:pt x="196296" y="135016"/>
                  <a:pt x="198239" y="131668"/>
                  <a:pt x="198239" y="128051"/>
                </a:cubicBezTo>
                <a:cubicBezTo>
                  <a:pt x="198239" y="122426"/>
                  <a:pt x="193684" y="117938"/>
                  <a:pt x="188126" y="117938"/>
                </a:cubicBezTo>
                <a:lnTo>
                  <a:pt x="149081" y="117938"/>
                </a:lnTo>
                <a:cubicBezTo>
                  <a:pt x="146804" y="117938"/>
                  <a:pt x="144794" y="119345"/>
                  <a:pt x="144058" y="121488"/>
                </a:cubicBezTo>
                <a:lnTo>
                  <a:pt x="146737" y="122292"/>
                </a:lnTo>
                <a:cubicBezTo>
                  <a:pt x="143790" y="130663"/>
                  <a:pt x="134548" y="135016"/>
                  <a:pt x="126243" y="132070"/>
                </a:cubicBezTo>
                <a:cubicBezTo>
                  <a:pt x="117938" y="129123"/>
                  <a:pt x="113518" y="119881"/>
                  <a:pt x="116465" y="111576"/>
                </a:cubicBezTo>
                <a:lnTo>
                  <a:pt x="119144" y="110772"/>
                </a:lnTo>
                <a:close/>
                <a:moveTo>
                  <a:pt x="150018" y="235743"/>
                </a:moveTo>
                <a:cubicBezTo>
                  <a:pt x="150018" y="223986"/>
                  <a:pt x="159693" y="214312"/>
                  <a:pt x="171450" y="214312"/>
                </a:cubicBezTo>
                <a:cubicBezTo>
                  <a:pt x="183206" y="214312"/>
                  <a:pt x="192881" y="223986"/>
                  <a:pt x="192881" y="235743"/>
                </a:cubicBezTo>
                <a:cubicBezTo>
                  <a:pt x="192881" y="247500"/>
                  <a:pt x="183206" y="257175"/>
                  <a:pt x="171450" y="257175"/>
                </a:cubicBezTo>
                <a:cubicBezTo>
                  <a:pt x="159693" y="257175"/>
                  <a:pt x="150018" y="247500"/>
                  <a:pt x="150018" y="235743"/>
                </a:cubicBezTo>
                <a:close/>
              </a:path>
            </a:pathLst>
          </a:custGeom>
          <a:solidFill>
            <a:srgbClr val="2D6A6A"/>
          </a:solidFill>
          <a:ln>
            <a:noFill/>
          </a:ln>
          <a:effectLst/>
        </p:spPr>
      </p:sp>
      <p:sp>
        <p:nvSpPr>
          <p:cNvPr id="27" name="dsl:c5-title"/>
          <p:cNvSpPr txBox="1"/>
          <p:nvPr/>
        </p:nvSpPr>
        <p:spPr>
          <a:xfrm>
            <a:off x="9715500" y="2000250"/>
            <a:ext cx="1752600" cy="571500"/>
          </a:xfrm>
          <a:prstGeom prst="rect">
            <a:avLst/>
          </a:prstGeom>
          <a:noFill/>
        </p:spPr>
        <p:txBody>
          <a:bodyPr wrap="square" anchor="t">
            <a:noAutofit/>
          </a:bodyPr>
          <a:lstStyle/>
          <a:p>
            <a:pPr algn="l">
              <a:lnSpc>
                <a:spcPct val="130000"/>
              </a:lnSpc>
            </a:pPr>
            <a:r>
              <a:rPr b="1" sz="1350" noProof="1">
                <a:solidFill>
                  <a:srgbClr val="2D6A6A"/>
                </a:solidFill>
                <a:latin typeface="Liter"/>
                <a:ea typeface="Liter"/>
              </a:rPr>
              <a:t>No Verification</a:t>
            </a:r>
          </a:p>
        </p:txBody>
      </p:sp>
      <p:sp>
        <p:nvSpPr>
          <p:cNvPr id="28" name="dsl:c5-desc"/>
          <p:cNvSpPr txBox="1"/>
          <p:nvPr/>
        </p:nvSpPr>
        <p:spPr>
          <a:xfrm>
            <a:off x="9715500" y="2619375"/>
            <a:ext cx="175260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Fixes executed without confirmation — no audit trail</a:t>
            </a:r>
          </a:p>
        </p:txBody>
      </p:sp>
      <p:sp>
        <p:nvSpPr>
          <p:cNvPr id="29" name="dsl:c5-accent"/>
          <p:cNvSpPr/>
          <p:nvPr/>
        </p:nvSpPr>
        <p:spPr>
          <a:xfrm>
            <a:off x="9563100" y="1238250"/>
            <a:ext cx="20574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31"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big-number"/>
          <p:cNvSpPr txBox="1"/>
          <p:nvPr/>
        </p:nvSpPr>
        <p:spPr>
          <a:xfrm>
            <a:off x="571500" y="476250"/>
            <a:ext cx="3810000" cy="1905000"/>
          </a:xfrm>
          <a:prstGeom prst="rect">
            <a:avLst/>
          </a:prstGeom>
          <a:noFill/>
        </p:spPr>
        <p:txBody>
          <a:bodyPr wrap="none" anchor="t">
            <a:noAutofit/>
          </a:bodyPr>
          <a:lstStyle/>
          <a:p>
            <a:pPr algn="l"/>
            <a:r>
              <a:rPr b="1" sz="12000" noProof="1">
                <a:solidFill>
                  <a:srgbClr val="2D6A6A"/>
                </a:solidFill>
                <a:latin typeface="Liter"/>
                <a:ea typeface="Liter"/>
              </a:rPr>
              <a:t>02</a:t>
            </a:r>
          </a:p>
        </p:txBody>
      </p:sp>
      <p:sp>
        <p:nvSpPr>
          <p:cNvPr id="3" name="dsl:label"/>
          <p:cNvSpPr txBox="1"/>
          <p:nvPr/>
        </p:nvSpPr>
        <p:spPr>
          <a:xfrm>
            <a:off x="762000" y="2571750"/>
            <a:ext cx="2857500" cy="285750"/>
          </a:xfrm>
          <a:prstGeom prst="rect">
            <a:avLst/>
          </a:prstGeom>
          <a:noFill/>
        </p:spPr>
        <p:txBody>
          <a:bodyPr wrap="none" anchor="t">
            <a:noAutofit/>
          </a:bodyPr>
          <a:lstStyle/>
          <a:p>
            <a:pPr algn="l"/>
            <a:r>
              <a:rPr b="1" sz="1050" noProof="1" spc="225">
                <a:solidFill>
                  <a:srgbClr val="D4A373"/>
                </a:solidFill>
                <a:latin typeface="Liter"/>
                <a:ea typeface="Liter"/>
              </a:rPr>
              <a:t>CHAPTER TWO</a:t>
            </a:r>
          </a:p>
        </p:txBody>
      </p:sp>
      <p:sp>
        <p:nvSpPr>
          <p:cNvPr id="4" name="dsl:title|s=$heading"/>
          <p:cNvSpPr txBox="1"/>
          <p:nvPr/>
        </p:nvSpPr>
        <p:spPr>
          <a:xfrm>
            <a:off x="762000" y="2952750"/>
            <a:ext cx="6667500" cy="523875"/>
          </a:xfrm>
          <a:prstGeom prst="rect">
            <a:avLst/>
          </a:prstGeom>
          <a:noFill/>
        </p:spPr>
        <p:txBody>
          <a:bodyPr wrap="none" anchor="t">
            <a:noAutofit/>
          </a:bodyPr>
          <a:lstStyle/>
          <a:p>
            <a:pPr algn="l">
              <a:lnSpc>
                <a:spcPct val="130000"/>
              </a:lnSpc>
            </a:pPr>
            <a:r>
              <a:rPr b="1" sz="2700" noProof="1">
                <a:solidFill>
                  <a:srgbClr val="2D6A6A"/>
                </a:solidFill>
                <a:latin typeface="Liter"/>
                <a:ea typeface="Liter"/>
              </a:rPr>
              <a:t>Introducing ARIA</a:t>
            </a:r>
          </a:p>
        </p:txBody>
      </p:sp>
      <p:sp>
        <p:nvSpPr>
          <p:cNvPr id="5" name="dsl:title-line"/>
          <p:cNvSpPr/>
          <p:nvPr/>
        </p:nvSpPr>
        <p:spPr>
          <a:xfrm>
            <a:off x="762000" y="3571875"/>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subtitle|s=$subtitle"/>
          <p:cNvSpPr txBox="1"/>
          <p:nvPr/>
        </p:nvSpPr>
        <p:spPr>
          <a:xfrm>
            <a:off x="762000" y="3810000"/>
            <a:ext cx="6667500" cy="381000"/>
          </a:xfrm>
          <a:prstGeom prst="rect">
            <a:avLst/>
          </a:prstGeom>
          <a:noFill/>
        </p:spPr>
        <p:txBody>
          <a:bodyPr wrap="none" anchor="t">
            <a:noAutofit/>
          </a:bodyPr>
          <a:lstStyle/>
          <a:p>
            <a:pPr algn="l">
              <a:lnSpc>
                <a:spcPct val="140000"/>
              </a:lnSpc>
            </a:pPr>
            <a:r>
              <a:rPr sz="1650" noProof="1">
                <a:solidFill>
                  <a:srgbClr val="5C6B73"/>
                </a:solidFill>
                <a:latin typeface="QuattrocentoSans"/>
                <a:ea typeface="QuattrocentoSans"/>
              </a:rPr>
              <a:t>Centralize. Enrich. Correlate. Respond.</a:t>
            </a:r>
          </a:p>
        </p:txBody>
      </p:sp>
      <p:sp>
        <p:nvSpPr>
          <p:cNvPr id="7" name="dsl:deco-shape"/>
          <p:cNvSpPr/>
          <p:nvPr/>
        </p:nvSpPr>
        <p:spPr>
          <a:xfrm>
            <a:off x="10477500" y="1905000"/>
            <a:ext cx="1143000" cy="304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deco-line"/>
          <p:cNvSpPr/>
          <p:nvPr/>
        </p:nvSpPr>
        <p:spPr>
          <a:xfrm>
            <a:off x="10477500" y="1905000"/>
            <a:ext cx="1143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02  INTRODUCING ARIA</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57150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What ARIA Delivers</a:t>
            </a:r>
          </a:p>
        </p:txBody>
      </p:sp>
      <p:sp>
        <p:nvSpPr>
          <p:cNvPr id="5" name="dsl:p1-bg"/>
          <p:cNvSpPr/>
          <p:nvPr/>
        </p:nvSpPr>
        <p:spPr>
          <a:xfrm>
            <a:off x="571500" y="1238250"/>
            <a:ext cx="257175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p1-topbar"/>
          <p:cNvSpPr/>
          <p:nvPr/>
        </p:nvSpPr>
        <p:spPr>
          <a:xfrm>
            <a:off x="571500" y="1238250"/>
            <a:ext cx="2571750"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p1-letter"/>
          <p:cNvSpPr txBox="1"/>
          <p:nvPr/>
        </p:nvSpPr>
        <p:spPr>
          <a:xfrm>
            <a:off x="800100" y="1524000"/>
            <a:ext cx="2114550" cy="523875"/>
          </a:xfrm>
          <a:prstGeom prst="rect">
            <a:avLst/>
          </a:prstGeom>
          <a:noFill/>
        </p:spPr>
        <p:txBody>
          <a:bodyPr wrap="none" anchor="t">
            <a:noAutofit/>
          </a:bodyPr>
          <a:lstStyle/>
          <a:p>
            <a:pPr algn="l"/>
            <a:r>
              <a:rPr b="1" sz="3000" noProof="1">
                <a:solidFill>
                  <a:srgbClr val="2D6A6A"/>
                </a:solidFill>
                <a:latin typeface="Liter"/>
                <a:ea typeface="Liter"/>
              </a:rPr>
              <a:t>SEE</a:t>
            </a:r>
          </a:p>
        </p:txBody>
      </p:sp>
      <p:sp>
        <p:nvSpPr>
          <p:cNvPr id="8" name="dsl:p1-title"/>
          <p:cNvSpPr txBox="1"/>
          <p:nvPr/>
        </p:nvSpPr>
        <p:spPr>
          <a:xfrm>
            <a:off x="800100" y="2095500"/>
            <a:ext cx="2114550" cy="285750"/>
          </a:xfrm>
          <a:prstGeom prst="rect">
            <a:avLst/>
          </a:prstGeom>
          <a:noFill/>
        </p:spPr>
        <p:txBody>
          <a:bodyPr wrap="none" anchor="t">
            <a:noAutofit/>
          </a:bodyPr>
          <a:lstStyle/>
          <a:p>
            <a:pPr algn="l"/>
            <a:r>
              <a:rPr b="1" sz="1350" noProof="1">
                <a:solidFill>
                  <a:srgbClr val="2B2D2F"/>
                </a:solidFill>
                <a:latin typeface="Liter"/>
                <a:ea typeface="Liter"/>
              </a:rPr>
              <a:t>Unified Visibility</a:t>
            </a:r>
          </a:p>
        </p:txBody>
      </p:sp>
      <p:sp>
        <p:nvSpPr>
          <p:cNvPr id="9" name="dsl:p1-line"/>
          <p:cNvSpPr/>
          <p:nvPr/>
        </p:nvSpPr>
        <p:spPr>
          <a:xfrm>
            <a:off x="800100" y="2457450"/>
            <a:ext cx="3810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l:p1-desc"/>
          <p:cNvSpPr txBox="1"/>
          <p:nvPr/>
        </p:nvSpPr>
        <p:spPr>
          <a:xfrm>
            <a:off x="800100" y="2619375"/>
            <a:ext cx="211455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Network, host, runtime, and metrics — all in one place. No more switching between tools.</a:t>
            </a:r>
          </a:p>
        </p:txBody>
      </p:sp>
      <p:sp>
        <p:nvSpPr>
          <p:cNvPr id="11" name="dsl:p1-icon|i=fas:eye"/>
          <p:cNvSpPr/>
          <p:nvPr/>
        </p:nvSpPr>
        <p:spPr>
          <a:xfrm>
            <a:off x="800100" y="4207933"/>
            <a:ext cx="304800" cy="270933"/>
          </a:xfrm>
          <a:custGeom>
            <a:avLst/>
            <a:gdLst/>
            <a:ahLst/>
            <a:cxnLst/>
            <a:rect l="l" t="t" r="r" b="b"/>
            <a:pathLst>
              <a:path w="304800" h="270933">
                <a:moveTo>
                  <a:pt x="152400" y="42333"/>
                </a:moveTo>
                <a:cubicBezTo>
                  <a:pt x="117898" y="42333"/>
                  <a:pt x="89534" y="57996"/>
                  <a:pt x="67786" y="78157"/>
                </a:cubicBezTo>
                <a:cubicBezTo>
                  <a:pt x="47413" y="97102"/>
                  <a:pt x="33337" y="119591"/>
                  <a:pt x="26140" y="135466"/>
                </a:cubicBezTo>
                <a:cubicBezTo>
                  <a:pt x="33337" y="151341"/>
                  <a:pt x="47413" y="173831"/>
                  <a:pt x="67733" y="192775"/>
                </a:cubicBezTo>
                <a:cubicBezTo>
                  <a:pt x="89534" y="212936"/>
                  <a:pt x="117898" y="228599"/>
                  <a:pt x="152400" y="228599"/>
                </a:cubicBezTo>
                <a:cubicBezTo>
                  <a:pt x="186901" y="228599"/>
                  <a:pt x="215265" y="212936"/>
                  <a:pt x="237013" y="192775"/>
                </a:cubicBezTo>
                <a:cubicBezTo>
                  <a:pt x="257386" y="173831"/>
                  <a:pt x="271462" y="151341"/>
                  <a:pt x="278659" y="135466"/>
                </a:cubicBezTo>
                <a:cubicBezTo>
                  <a:pt x="271462" y="119591"/>
                  <a:pt x="257386" y="97102"/>
                  <a:pt x="237066" y="78157"/>
                </a:cubicBezTo>
                <a:cubicBezTo>
                  <a:pt x="215265" y="57996"/>
                  <a:pt x="186901" y="42333"/>
                  <a:pt x="152400" y="42333"/>
                </a:cubicBezTo>
                <a:close/>
                <a:moveTo>
                  <a:pt x="50482" y="59584"/>
                </a:moveTo>
                <a:cubicBezTo>
                  <a:pt x="75406" y="36406"/>
                  <a:pt x="109643" y="16933"/>
                  <a:pt x="152400" y="16933"/>
                </a:cubicBezTo>
                <a:cubicBezTo>
                  <a:pt x="195156" y="16933"/>
                  <a:pt x="229393" y="36406"/>
                  <a:pt x="254317" y="59584"/>
                </a:cubicBezTo>
                <a:cubicBezTo>
                  <a:pt x="279082" y="82602"/>
                  <a:pt x="295645" y="110066"/>
                  <a:pt x="303530" y="128957"/>
                </a:cubicBezTo>
                <a:cubicBezTo>
                  <a:pt x="305276" y="133138"/>
                  <a:pt x="305276" y="137794"/>
                  <a:pt x="303530" y="141975"/>
                </a:cubicBezTo>
                <a:cubicBezTo>
                  <a:pt x="295645" y="160866"/>
                  <a:pt x="279082" y="188383"/>
                  <a:pt x="254317" y="211349"/>
                </a:cubicBezTo>
                <a:cubicBezTo>
                  <a:pt x="229393" y="234526"/>
                  <a:pt x="195156" y="253999"/>
                  <a:pt x="152400" y="253999"/>
                </a:cubicBezTo>
                <a:cubicBezTo>
                  <a:pt x="109643" y="253999"/>
                  <a:pt x="75406" y="234526"/>
                  <a:pt x="50482" y="211349"/>
                </a:cubicBezTo>
                <a:cubicBezTo>
                  <a:pt x="25717" y="188383"/>
                  <a:pt x="9154" y="160866"/>
                  <a:pt x="1322" y="141975"/>
                </a:cubicBezTo>
                <a:cubicBezTo>
                  <a:pt x="-423" y="137795"/>
                  <a:pt x="-423" y="133138"/>
                  <a:pt x="1322" y="128957"/>
                </a:cubicBezTo>
                <a:cubicBezTo>
                  <a:pt x="9154" y="110066"/>
                  <a:pt x="25717" y="82550"/>
                  <a:pt x="50482" y="59584"/>
                </a:cubicBezTo>
                <a:close/>
                <a:moveTo>
                  <a:pt x="152400" y="177800"/>
                </a:moveTo>
                <a:cubicBezTo>
                  <a:pt x="175789" y="177800"/>
                  <a:pt x="194733" y="158855"/>
                  <a:pt x="194733" y="135466"/>
                </a:cubicBezTo>
                <a:cubicBezTo>
                  <a:pt x="194733" y="112077"/>
                  <a:pt x="175789" y="93133"/>
                  <a:pt x="152400" y="93133"/>
                </a:cubicBezTo>
                <a:cubicBezTo>
                  <a:pt x="156104" y="93133"/>
                  <a:pt x="151712" y="93133"/>
                  <a:pt x="151341" y="93133"/>
                </a:cubicBezTo>
                <a:cubicBezTo>
                  <a:pt x="152029" y="95832"/>
                  <a:pt x="152400" y="98689"/>
                  <a:pt x="152400" y="101600"/>
                </a:cubicBezTo>
                <a:cubicBezTo>
                  <a:pt x="152400" y="120279"/>
                  <a:pt x="137212" y="135466"/>
                  <a:pt x="118533" y="135466"/>
                </a:cubicBezTo>
                <a:cubicBezTo>
                  <a:pt x="115622" y="135466"/>
                  <a:pt x="112765" y="139170"/>
                  <a:pt x="110066" y="134408"/>
                </a:cubicBezTo>
                <a:cubicBezTo>
                  <a:pt x="110066" y="138112"/>
                  <a:pt x="110066" y="135096"/>
                  <a:pt x="110066" y="135466"/>
                </a:cubicBezTo>
                <a:cubicBezTo>
                  <a:pt x="110066" y="158855"/>
                  <a:pt x="129010" y="177800"/>
                  <a:pt x="152400" y="177800"/>
                </a:cubicBezTo>
                <a:close/>
                <a:moveTo>
                  <a:pt x="152400" y="67733"/>
                </a:moveTo>
                <a:cubicBezTo>
                  <a:pt x="189557" y="67733"/>
                  <a:pt x="220133" y="98309"/>
                  <a:pt x="220133" y="135466"/>
                </a:cubicBezTo>
                <a:cubicBezTo>
                  <a:pt x="220133" y="172624"/>
                  <a:pt x="189557" y="203200"/>
                  <a:pt x="152400" y="203200"/>
                </a:cubicBezTo>
                <a:cubicBezTo>
                  <a:pt x="115242" y="203200"/>
                  <a:pt x="84666" y="172624"/>
                  <a:pt x="84666" y="135466"/>
                </a:cubicBezTo>
                <a:cubicBezTo>
                  <a:pt x="84666" y="98309"/>
                  <a:pt x="115242" y="67733"/>
                  <a:pt x="152400" y="67733"/>
                </a:cubicBezTo>
                <a:close/>
              </a:path>
            </a:pathLst>
          </a:custGeom>
          <a:solidFill>
            <a:srgbClr val="8FB3B3"/>
          </a:solidFill>
          <a:ln>
            <a:noFill/>
          </a:ln>
          <a:effectLst/>
        </p:spPr>
      </p:sp>
      <p:sp>
        <p:nvSpPr>
          <p:cNvPr id="12" name="dsl:p2-bg"/>
          <p:cNvSpPr/>
          <p:nvPr/>
        </p:nvSpPr>
        <p:spPr>
          <a:xfrm>
            <a:off x="3333750" y="1238250"/>
            <a:ext cx="257175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p2-topbar"/>
          <p:cNvSpPr/>
          <p:nvPr/>
        </p:nvSpPr>
        <p:spPr>
          <a:xfrm>
            <a:off x="3333750" y="1238250"/>
            <a:ext cx="2571750" cy="47625"/>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p2-letter"/>
          <p:cNvSpPr txBox="1"/>
          <p:nvPr/>
        </p:nvSpPr>
        <p:spPr>
          <a:xfrm>
            <a:off x="3562350" y="1524000"/>
            <a:ext cx="2286000" cy="523875"/>
          </a:xfrm>
          <a:prstGeom prst="rect">
            <a:avLst/>
          </a:prstGeom>
          <a:noFill/>
        </p:spPr>
        <p:txBody>
          <a:bodyPr wrap="none" anchor="t">
            <a:noAutofit/>
          </a:bodyPr>
          <a:lstStyle/>
          <a:p>
            <a:pPr algn="l"/>
            <a:r>
              <a:rPr b="1" sz="2400" noProof="1">
                <a:solidFill>
                  <a:srgbClr val="2D6A6A"/>
                </a:solidFill>
                <a:latin typeface="Liter"/>
                <a:ea typeface="Liter"/>
              </a:rPr>
              <a:t>UNDERSTAND</a:t>
            </a:r>
          </a:p>
        </p:txBody>
      </p:sp>
      <p:sp>
        <p:nvSpPr>
          <p:cNvPr id="15" name="dsl:p2-title"/>
          <p:cNvSpPr txBox="1"/>
          <p:nvPr/>
        </p:nvSpPr>
        <p:spPr>
          <a:xfrm>
            <a:off x="3562350" y="2095500"/>
            <a:ext cx="2114550" cy="285750"/>
          </a:xfrm>
          <a:prstGeom prst="rect">
            <a:avLst/>
          </a:prstGeom>
          <a:noFill/>
        </p:spPr>
        <p:txBody>
          <a:bodyPr wrap="none" anchor="t">
            <a:noAutofit/>
          </a:bodyPr>
          <a:lstStyle/>
          <a:p>
            <a:pPr algn="l"/>
            <a:r>
              <a:rPr b="1" sz="1350" noProof="1">
                <a:solidFill>
                  <a:srgbClr val="2B2D2F"/>
                </a:solidFill>
                <a:latin typeface="Liter"/>
                <a:ea typeface="Liter"/>
              </a:rPr>
              <a:t>AI-Powered Analysis</a:t>
            </a:r>
          </a:p>
        </p:txBody>
      </p:sp>
      <p:sp>
        <p:nvSpPr>
          <p:cNvPr id="16" name="dsl:p2-line"/>
          <p:cNvSpPr/>
          <p:nvPr/>
        </p:nvSpPr>
        <p:spPr>
          <a:xfrm>
            <a:off x="3562350" y="2457450"/>
            <a:ext cx="3810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p2-desc"/>
          <p:cNvSpPr txBox="1"/>
          <p:nvPr/>
        </p:nvSpPr>
        <p:spPr>
          <a:xfrm>
            <a:off x="3562350" y="2619375"/>
            <a:ext cx="211455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AI-generated summaries, risk scores, and attack narratives in plain language.</a:t>
            </a:r>
          </a:p>
        </p:txBody>
      </p:sp>
      <p:sp>
        <p:nvSpPr>
          <p:cNvPr id="18" name="dsl:p2-icon|i=fas:brain"/>
          <p:cNvSpPr/>
          <p:nvPr/>
        </p:nvSpPr>
        <p:spPr>
          <a:xfrm>
            <a:off x="3562350" y="4191000"/>
            <a:ext cx="304800" cy="304800"/>
          </a:xfrm>
          <a:custGeom>
            <a:avLst/>
            <a:gdLst/>
            <a:ahLst/>
            <a:cxnLst/>
            <a:rect l="l" t="t" r="r" b="b"/>
            <a:pathLst>
              <a:path w="304800" h="304800">
                <a:moveTo>
                  <a:pt x="109537" y="0"/>
                </a:moveTo>
                <a:cubicBezTo>
                  <a:pt x="127932" y="0"/>
                  <a:pt x="142875" y="14942"/>
                  <a:pt x="142875" y="33337"/>
                </a:cubicBezTo>
                <a:lnTo>
                  <a:pt x="142875" y="271462"/>
                </a:lnTo>
                <a:cubicBezTo>
                  <a:pt x="142875" y="289857"/>
                  <a:pt x="127932" y="304800"/>
                  <a:pt x="109537" y="304800"/>
                </a:cubicBezTo>
                <a:cubicBezTo>
                  <a:pt x="92332" y="304800"/>
                  <a:pt x="78164" y="291762"/>
                  <a:pt x="76378" y="274974"/>
                </a:cubicBezTo>
                <a:cubicBezTo>
                  <a:pt x="73282" y="275808"/>
                  <a:pt x="70008" y="276225"/>
                  <a:pt x="66675" y="276225"/>
                </a:cubicBezTo>
                <a:cubicBezTo>
                  <a:pt x="45660" y="276225"/>
                  <a:pt x="28575" y="259139"/>
                  <a:pt x="28575" y="238125"/>
                </a:cubicBezTo>
                <a:cubicBezTo>
                  <a:pt x="28575" y="233719"/>
                  <a:pt x="29348" y="229433"/>
                  <a:pt x="30718" y="225504"/>
                </a:cubicBezTo>
                <a:cubicBezTo>
                  <a:pt x="12739" y="218717"/>
                  <a:pt x="0" y="201334"/>
                  <a:pt x="0" y="180975"/>
                </a:cubicBezTo>
                <a:cubicBezTo>
                  <a:pt x="0" y="161984"/>
                  <a:pt x="11132" y="145553"/>
                  <a:pt x="27265" y="137933"/>
                </a:cubicBezTo>
                <a:cubicBezTo>
                  <a:pt x="22086" y="131445"/>
                  <a:pt x="19050" y="123229"/>
                  <a:pt x="19050" y="114300"/>
                </a:cubicBezTo>
                <a:cubicBezTo>
                  <a:pt x="19050" y="96023"/>
                  <a:pt x="31908" y="80783"/>
                  <a:pt x="49053" y="77033"/>
                </a:cubicBezTo>
                <a:cubicBezTo>
                  <a:pt x="48101" y="73759"/>
                  <a:pt x="47625" y="70246"/>
                  <a:pt x="47625" y="66675"/>
                </a:cubicBezTo>
                <a:cubicBezTo>
                  <a:pt x="47625" y="48875"/>
                  <a:pt x="59888" y="33873"/>
                  <a:pt x="76378" y="29706"/>
                </a:cubicBezTo>
                <a:cubicBezTo>
                  <a:pt x="78164" y="13037"/>
                  <a:pt x="92332" y="0"/>
                  <a:pt x="109537" y="0"/>
                </a:cubicBezTo>
                <a:close/>
                <a:moveTo>
                  <a:pt x="195262" y="0"/>
                </a:moveTo>
                <a:cubicBezTo>
                  <a:pt x="212467" y="0"/>
                  <a:pt x="226575" y="13037"/>
                  <a:pt x="228421" y="29706"/>
                </a:cubicBezTo>
                <a:cubicBezTo>
                  <a:pt x="244971" y="33873"/>
                  <a:pt x="257175" y="48815"/>
                  <a:pt x="257175" y="66675"/>
                </a:cubicBezTo>
                <a:cubicBezTo>
                  <a:pt x="257175" y="70246"/>
                  <a:pt x="261937" y="73759"/>
                  <a:pt x="255746" y="77033"/>
                </a:cubicBezTo>
                <a:cubicBezTo>
                  <a:pt x="272891" y="80724"/>
                  <a:pt x="285750" y="96023"/>
                  <a:pt x="285750" y="114300"/>
                </a:cubicBezTo>
                <a:cubicBezTo>
                  <a:pt x="285750" y="123229"/>
                  <a:pt x="282713" y="131445"/>
                  <a:pt x="277534" y="137933"/>
                </a:cubicBezTo>
                <a:cubicBezTo>
                  <a:pt x="293667" y="145553"/>
                  <a:pt x="304800" y="161984"/>
                  <a:pt x="304800" y="180975"/>
                </a:cubicBezTo>
                <a:cubicBezTo>
                  <a:pt x="304800" y="201334"/>
                  <a:pt x="292060" y="218717"/>
                  <a:pt x="274081" y="225504"/>
                </a:cubicBezTo>
                <a:cubicBezTo>
                  <a:pt x="275451" y="229433"/>
                  <a:pt x="276225" y="233719"/>
                  <a:pt x="276225" y="238125"/>
                </a:cubicBezTo>
                <a:cubicBezTo>
                  <a:pt x="276225" y="259139"/>
                  <a:pt x="259139" y="276225"/>
                  <a:pt x="238125" y="276225"/>
                </a:cubicBezTo>
                <a:cubicBezTo>
                  <a:pt x="234791" y="276225"/>
                  <a:pt x="231517" y="280392"/>
                  <a:pt x="228421" y="274974"/>
                </a:cubicBezTo>
                <a:cubicBezTo>
                  <a:pt x="226635" y="291762"/>
                  <a:pt x="212467" y="304800"/>
                  <a:pt x="195262" y="304800"/>
                </a:cubicBezTo>
                <a:cubicBezTo>
                  <a:pt x="176867" y="304800"/>
                  <a:pt x="161925" y="289857"/>
                  <a:pt x="161925" y="271462"/>
                </a:cubicBezTo>
                <a:lnTo>
                  <a:pt x="161925" y="33337"/>
                </a:lnTo>
                <a:cubicBezTo>
                  <a:pt x="161925" y="14942"/>
                  <a:pt x="176867" y="0"/>
                  <a:pt x="195262" y="0"/>
                </a:cubicBezTo>
                <a:close/>
              </a:path>
            </a:pathLst>
          </a:custGeom>
          <a:solidFill>
            <a:srgbClr val="8FB3B3"/>
          </a:solidFill>
          <a:ln>
            <a:noFill/>
          </a:ln>
          <a:effectLst/>
        </p:spPr>
      </p:sp>
      <p:sp>
        <p:nvSpPr>
          <p:cNvPr id="19" name="dsl:p3-bg"/>
          <p:cNvSpPr/>
          <p:nvPr/>
        </p:nvSpPr>
        <p:spPr>
          <a:xfrm>
            <a:off x="6096000" y="1238250"/>
            <a:ext cx="257175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p3-topbar"/>
          <p:cNvSpPr/>
          <p:nvPr/>
        </p:nvSpPr>
        <p:spPr>
          <a:xfrm>
            <a:off x="6096000" y="1238250"/>
            <a:ext cx="2571750"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p3-letter"/>
          <p:cNvSpPr txBox="1"/>
          <p:nvPr/>
        </p:nvSpPr>
        <p:spPr>
          <a:xfrm>
            <a:off x="6324600" y="1524000"/>
            <a:ext cx="2114550" cy="523875"/>
          </a:xfrm>
          <a:prstGeom prst="rect">
            <a:avLst/>
          </a:prstGeom>
          <a:noFill/>
        </p:spPr>
        <p:txBody>
          <a:bodyPr wrap="none" anchor="t">
            <a:noAutofit/>
          </a:bodyPr>
          <a:lstStyle/>
          <a:p>
            <a:pPr algn="l"/>
            <a:r>
              <a:rPr b="1" sz="3000" noProof="1">
                <a:solidFill>
                  <a:srgbClr val="D4A373"/>
                </a:solidFill>
                <a:latin typeface="Liter"/>
                <a:ea typeface="Liter"/>
              </a:rPr>
              <a:t>DECIDE</a:t>
            </a:r>
          </a:p>
        </p:txBody>
      </p:sp>
      <p:sp>
        <p:nvSpPr>
          <p:cNvPr id="22" name="dsl:p3-title"/>
          <p:cNvSpPr txBox="1"/>
          <p:nvPr/>
        </p:nvSpPr>
        <p:spPr>
          <a:xfrm>
            <a:off x="6324600" y="2095500"/>
            <a:ext cx="2114550" cy="285750"/>
          </a:xfrm>
          <a:prstGeom prst="rect">
            <a:avLst/>
          </a:prstGeom>
          <a:noFill/>
        </p:spPr>
        <p:txBody>
          <a:bodyPr wrap="none" anchor="t">
            <a:noAutofit/>
          </a:bodyPr>
          <a:lstStyle/>
          <a:p>
            <a:pPr algn="l"/>
            <a:r>
              <a:rPr b="1" sz="1350" noProof="1">
                <a:solidFill>
                  <a:srgbClr val="2B2D2F"/>
                </a:solidFill>
                <a:latin typeface="Liter"/>
                <a:ea typeface="Liter"/>
              </a:rPr>
              <a:t>Correlated Incidents</a:t>
            </a:r>
          </a:p>
        </p:txBody>
      </p:sp>
      <p:sp>
        <p:nvSpPr>
          <p:cNvPr id="23" name="dsl:p3-line"/>
          <p:cNvSpPr/>
          <p:nvPr/>
        </p:nvSpPr>
        <p:spPr>
          <a:xfrm>
            <a:off x="6324600" y="2457450"/>
            <a:ext cx="3810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p3-desc"/>
          <p:cNvSpPr txBox="1"/>
          <p:nvPr/>
        </p:nvSpPr>
        <p:spPr>
          <a:xfrm>
            <a:off x="6324600" y="2619375"/>
            <a:ext cx="211455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Related alerts grouped into meaningful incidents with full context and confidence scores.</a:t>
            </a:r>
          </a:p>
        </p:txBody>
      </p:sp>
      <p:sp>
        <p:nvSpPr>
          <p:cNvPr id="25" name="dsl:p3-icon|i=fas:lightbulb"/>
          <p:cNvSpPr/>
          <p:nvPr/>
        </p:nvSpPr>
        <p:spPr>
          <a:xfrm>
            <a:off x="6362700" y="4191000"/>
            <a:ext cx="228600" cy="304800"/>
          </a:xfrm>
          <a:custGeom>
            <a:avLst/>
            <a:gdLst/>
            <a:ahLst/>
            <a:cxnLst/>
            <a:rect l="l" t="t" r="r" b="b"/>
            <a:pathLst>
              <a:path w="228600" h="304800">
                <a:moveTo>
                  <a:pt x="161925" y="228600"/>
                </a:moveTo>
                <a:cubicBezTo>
                  <a:pt x="167640" y="209609"/>
                  <a:pt x="179486" y="193417"/>
                  <a:pt x="191214" y="177284"/>
                </a:cubicBezTo>
                <a:lnTo>
                  <a:pt x="191214" y="177284"/>
                </a:lnTo>
                <a:cubicBezTo>
                  <a:pt x="194310" y="173057"/>
                  <a:pt x="197405" y="168830"/>
                  <a:pt x="200382" y="164544"/>
                </a:cubicBezTo>
                <a:cubicBezTo>
                  <a:pt x="212169" y="147577"/>
                  <a:pt x="219074" y="127039"/>
                  <a:pt x="219074" y="104834"/>
                </a:cubicBezTo>
                <a:cubicBezTo>
                  <a:pt x="219075" y="46910"/>
                  <a:pt x="172164" y="0"/>
                  <a:pt x="114300" y="0"/>
                </a:cubicBezTo>
                <a:cubicBezTo>
                  <a:pt x="56435" y="0"/>
                  <a:pt x="9525" y="46910"/>
                  <a:pt x="9525" y="104775"/>
                </a:cubicBezTo>
                <a:cubicBezTo>
                  <a:pt x="9525" y="126980"/>
                  <a:pt x="16430" y="147577"/>
                  <a:pt x="28217" y="164484"/>
                </a:cubicBezTo>
                <a:cubicBezTo>
                  <a:pt x="31194" y="168771"/>
                  <a:pt x="34290" y="172997"/>
                  <a:pt x="37385" y="177224"/>
                </a:cubicBezTo>
                <a:lnTo>
                  <a:pt x="37385" y="177224"/>
                </a:lnTo>
                <a:cubicBezTo>
                  <a:pt x="49172" y="193357"/>
                  <a:pt x="61019" y="209609"/>
                  <a:pt x="66675" y="228540"/>
                </a:cubicBezTo>
                <a:lnTo>
                  <a:pt x="161925" y="228540"/>
                </a:lnTo>
                <a:close/>
                <a:moveTo>
                  <a:pt x="114300" y="304800"/>
                </a:moveTo>
                <a:cubicBezTo>
                  <a:pt x="140612" y="304800"/>
                  <a:pt x="161925" y="283487"/>
                  <a:pt x="161925" y="257175"/>
                </a:cubicBezTo>
                <a:lnTo>
                  <a:pt x="161925" y="247650"/>
                </a:lnTo>
                <a:lnTo>
                  <a:pt x="66675" y="247650"/>
                </a:lnTo>
                <a:lnTo>
                  <a:pt x="66675" y="257175"/>
                </a:lnTo>
                <a:cubicBezTo>
                  <a:pt x="66675" y="283487"/>
                  <a:pt x="87987" y="304800"/>
                  <a:pt x="114300" y="304800"/>
                </a:cubicBezTo>
                <a:close/>
                <a:moveTo>
                  <a:pt x="66675" y="104775"/>
                </a:moveTo>
                <a:cubicBezTo>
                  <a:pt x="66675" y="110013"/>
                  <a:pt x="62388" y="114300"/>
                  <a:pt x="57150" y="114300"/>
                </a:cubicBezTo>
                <a:cubicBezTo>
                  <a:pt x="51911" y="114300"/>
                  <a:pt x="47625" y="110013"/>
                  <a:pt x="47625" y="104775"/>
                </a:cubicBezTo>
                <a:cubicBezTo>
                  <a:pt x="47625" y="67925"/>
                  <a:pt x="77450" y="38100"/>
                  <a:pt x="114300" y="38100"/>
                </a:cubicBezTo>
                <a:cubicBezTo>
                  <a:pt x="119538" y="38100"/>
                  <a:pt x="123825" y="42386"/>
                  <a:pt x="123825" y="47625"/>
                </a:cubicBezTo>
                <a:cubicBezTo>
                  <a:pt x="123825" y="52863"/>
                  <a:pt x="119538" y="57150"/>
                  <a:pt x="114300" y="57150"/>
                </a:cubicBezTo>
                <a:cubicBezTo>
                  <a:pt x="87987" y="57150"/>
                  <a:pt x="66675" y="78462"/>
                  <a:pt x="66675" y="104775"/>
                </a:cubicBezTo>
                <a:close/>
              </a:path>
            </a:pathLst>
          </a:custGeom>
          <a:solidFill>
            <a:srgbClr val="E8C99A"/>
          </a:solidFill>
          <a:ln>
            <a:noFill/>
          </a:ln>
          <a:effectLst/>
        </p:spPr>
      </p:sp>
      <p:sp>
        <p:nvSpPr>
          <p:cNvPr id="26" name="dsl:p4-bg"/>
          <p:cNvSpPr/>
          <p:nvPr/>
        </p:nvSpPr>
        <p:spPr>
          <a:xfrm>
            <a:off x="8858250" y="1238250"/>
            <a:ext cx="2571750" cy="4762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p4-topbar"/>
          <p:cNvSpPr/>
          <p:nvPr/>
        </p:nvSpPr>
        <p:spPr>
          <a:xfrm>
            <a:off x="8858250" y="1238250"/>
            <a:ext cx="2571750" cy="4762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p4-letter"/>
          <p:cNvSpPr txBox="1"/>
          <p:nvPr/>
        </p:nvSpPr>
        <p:spPr>
          <a:xfrm>
            <a:off x="9086850" y="1524000"/>
            <a:ext cx="2114550" cy="523875"/>
          </a:xfrm>
          <a:prstGeom prst="rect">
            <a:avLst/>
          </a:prstGeom>
          <a:noFill/>
        </p:spPr>
        <p:txBody>
          <a:bodyPr wrap="none" anchor="t">
            <a:noAutofit/>
          </a:bodyPr>
          <a:lstStyle/>
          <a:p>
            <a:pPr algn="l"/>
            <a:r>
              <a:rPr b="1" sz="3000" noProof="1">
                <a:solidFill>
                  <a:srgbClr val="D4A373"/>
                </a:solidFill>
                <a:latin typeface="Liter"/>
                <a:ea typeface="Liter"/>
              </a:rPr>
              <a:t>ACT</a:t>
            </a:r>
          </a:p>
        </p:txBody>
      </p:sp>
      <p:sp>
        <p:nvSpPr>
          <p:cNvPr id="29" name="dsl:p4-title"/>
          <p:cNvSpPr txBox="1"/>
          <p:nvPr/>
        </p:nvSpPr>
        <p:spPr>
          <a:xfrm>
            <a:off x="9086850" y="2095500"/>
            <a:ext cx="2114550" cy="285750"/>
          </a:xfrm>
          <a:prstGeom prst="rect">
            <a:avLst/>
          </a:prstGeom>
          <a:noFill/>
        </p:spPr>
        <p:txBody>
          <a:bodyPr wrap="none" anchor="t">
            <a:noAutofit/>
          </a:bodyPr>
          <a:lstStyle/>
          <a:p>
            <a:pPr algn="l"/>
            <a:r>
              <a:rPr b="1" sz="1350" noProof="1">
                <a:solidFill>
                  <a:srgbClr val="2B2D2F"/>
                </a:solidFill>
                <a:latin typeface="Liter"/>
                <a:ea typeface="Liter"/>
              </a:rPr>
              <a:t>Controlled Automation</a:t>
            </a:r>
          </a:p>
        </p:txBody>
      </p:sp>
      <p:sp>
        <p:nvSpPr>
          <p:cNvPr id="30" name="dsl:p4-line"/>
          <p:cNvSpPr/>
          <p:nvPr/>
        </p:nvSpPr>
        <p:spPr>
          <a:xfrm>
            <a:off x="9086850" y="2457450"/>
            <a:ext cx="3810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p4-desc"/>
          <p:cNvSpPr txBox="1"/>
          <p:nvPr/>
        </p:nvSpPr>
        <p:spPr>
          <a:xfrm>
            <a:off x="9086850" y="2619375"/>
            <a:ext cx="2114550" cy="1476375"/>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Approval-gated playbooks with verification and full audit trail. Trust through transparency.</a:t>
            </a:r>
          </a:p>
        </p:txBody>
      </p:sp>
      <p:sp>
        <p:nvSpPr>
          <p:cNvPr id="32" name="dsl:p4-icon|i=fas:bolt"/>
          <p:cNvSpPr/>
          <p:nvPr/>
        </p:nvSpPr>
        <p:spPr>
          <a:xfrm>
            <a:off x="9105900" y="4191000"/>
            <a:ext cx="266700" cy="304800"/>
          </a:xfrm>
          <a:custGeom>
            <a:avLst/>
            <a:gdLst/>
            <a:ahLst/>
            <a:cxnLst/>
            <a:rect l="l" t="t" r="r" b="b"/>
            <a:pathLst>
              <a:path w="266700" h="304800">
                <a:moveTo>
                  <a:pt x="208002" y="26550"/>
                </a:moveTo>
                <a:cubicBezTo>
                  <a:pt x="211514" y="18395"/>
                  <a:pt x="208895" y="8870"/>
                  <a:pt x="201691" y="3631"/>
                </a:cubicBezTo>
                <a:cubicBezTo>
                  <a:pt x="194488" y="-1607"/>
                  <a:pt x="184665" y="-1131"/>
                  <a:pt x="177938" y="4702"/>
                </a:cubicBezTo>
                <a:lnTo>
                  <a:pt x="25538" y="138052"/>
                </a:lnTo>
                <a:cubicBezTo>
                  <a:pt x="19585" y="143291"/>
                  <a:pt x="17442" y="151685"/>
                  <a:pt x="20240" y="159067"/>
                </a:cubicBezTo>
                <a:cubicBezTo>
                  <a:pt x="23038" y="166449"/>
                  <a:pt x="30182" y="171450"/>
                  <a:pt x="38100" y="171450"/>
                </a:cubicBezTo>
                <a:lnTo>
                  <a:pt x="104477" y="171450"/>
                </a:lnTo>
                <a:lnTo>
                  <a:pt x="58697" y="278249"/>
                </a:lnTo>
                <a:cubicBezTo>
                  <a:pt x="55185" y="286404"/>
                  <a:pt x="57804" y="295929"/>
                  <a:pt x="65008" y="301168"/>
                </a:cubicBezTo>
                <a:cubicBezTo>
                  <a:pt x="72211" y="306407"/>
                  <a:pt x="82034" y="305931"/>
                  <a:pt x="88761" y="300097"/>
                </a:cubicBezTo>
                <a:lnTo>
                  <a:pt x="241161" y="166747"/>
                </a:lnTo>
                <a:cubicBezTo>
                  <a:pt x="247114" y="161508"/>
                  <a:pt x="249257" y="153114"/>
                  <a:pt x="246459" y="145732"/>
                </a:cubicBezTo>
                <a:cubicBezTo>
                  <a:pt x="243661" y="138350"/>
                  <a:pt x="236577" y="133409"/>
                  <a:pt x="228600" y="133409"/>
                </a:cubicBezTo>
                <a:lnTo>
                  <a:pt x="162222" y="133409"/>
                </a:lnTo>
                <a:lnTo>
                  <a:pt x="208002" y="26550"/>
                </a:lnTo>
                <a:close/>
              </a:path>
            </a:pathLst>
          </a:custGeom>
          <a:solidFill>
            <a:srgbClr val="E8C99A"/>
          </a:solidFill>
          <a:ln>
            <a:noFill/>
          </a:ln>
          <a:effectLst/>
        </p:spPr>
      </p:sp>
      <p:sp>
        <p:nvSpPr>
          <p:cNvPr id="33"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34"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02  INTRODUCING ARIA</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57150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ARIA in One View</a:t>
            </a:r>
          </a:p>
        </p:txBody>
      </p:sp>
      <p:sp>
        <p:nvSpPr>
          <p:cNvPr id="5" name="dsl:col1-header"/>
          <p:cNvSpPr txBox="1"/>
          <p:nvPr/>
        </p:nvSpPr>
        <p:spPr>
          <a:xfrm>
            <a:off x="571500" y="1143000"/>
            <a:ext cx="2286000" cy="285750"/>
          </a:xfrm>
          <a:prstGeom prst="rect">
            <a:avLst/>
          </a:prstGeom>
          <a:noFill/>
        </p:spPr>
        <p:txBody>
          <a:bodyPr wrap="none" anchor="ctr">
            <a:noAutofit/>
          </a:bodyPr>
          <a:lstStyle/>
          <a:p>
            <a:pPr algn="ctr"/>
            <a:r>
              <a:rPr b="1" sz="1200" noProof="1">
                <a:solidFill>
                  <a:srgbClr val="2D6A6A"/>
                </a:solidFill>
                <a:latin typeface="Liter"/>
                <a:ea typeface="Liter"/>
              </a:rPr>
              <a:t>DATA SOURCES</a:t>
            </a:r>
          </a:p>
        </p:txBody>
      </p:sp>
      <p:sp>
        <p:nvSpPr>
          <p:cNvPr id="6" name="dsl:col1-box"/>
          <p:cNvSpPr/>
          <p:nvPr/>
        </p:nvSpPr>
        <p:spPr>
          <a:xfrm>
            <a:off x="571500" y="1524000"/>
            <a:ext cx="2286000" cy="3619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src1-icon|i=fas:cloud"/>
          <p:cNvSpPr/>
          <p:nvPr/>
        </p:nvSpPr>
        <p:spPr>
          <a:xfrm>
            <a:off x="800100" y="1784985"/>
            <a:ext cx="228600" cy="182880"/>
          </a:xfrm>
          <a:custGeom>
            <a:avLst/>
            <a:gdLst/>
            <a:ahLst/>
            <a:cxnLst/>
            <a:rect l="l" t="t" r="r" b="b"/>
            <a:pathLst>
              <a:path w="228600" h="182880">
                <a:moveTo>
                  <a:pt x="0" y="120015"/>
                </a:moveTo>
                <a:cubicBezTo>
                  <a:pt x="0" y="148411"/>
                  <a:pt x="23038" y="171450"/>
                  <a:pt x="51435" y="171450"/>
                </a:cubicBezTo>
                <a:lnTo>
                  <a:pt x="182880" y="171450"/>
                </a:lnTo>
                <a:cubicBezTo>
                  <a:pt x="208133" y="171450"/>
                  <a:pt x="228600" y="150983"/>
                  <a:pt x="228600" y="125730"/>
                </a:cubicBezTo>
                <a:cubicBezTo>
                  <a:pt x="228600" y="103620"/>
                  <a:pt x="212883" y="85153"/>
                  <a:pt x="192024" y="80938"/>
                </a:cubicBezTo>
                <a:cubicBezTo>
                  <a:pt x="193488" y="77116"/>
                  <a:pt x="194310" y="72937"/>
                  <a:pt x="194310" y="68580"/>
                </a:cubicBezTo>
                <a:cubicBezTo>
                  <a:pt x="194310" y="49649"/>
                  <a:pt x="178950" y="34290"/>
                  <a:pt x="160020" y="34290"/>
                </a:cubicBezTo>
                <a:cubicBezTo>
                  <a:pt x="152983" y="34290"/>
                  <a:pt x="146411" y="36433"/>
                  <a:pt x="140981" y="40076"/>
                </a:cubicBezTo>
                <a:cubicBezTo>
                  <a:pt x="131087" y="22931"/>
                  <a:pt x="112621" y="11430"/>
                  <a:pt x="91440" y="11430"/>
                </a:cubicBezTo>
                <a:cubicBezTo>
                  <a:pt x="59864" y="11430"/>
                  <a:pt x="34290" y="37004"/>
                  <a:pt x="34290" y="68580"/>
                </a:cubicBezTo>
                <a:cubicBezTo>
                  <a:pt x="34290" y="69544"/>
                  <a:pt x="34647" y="70508"/>
                  <a:pt x="35004" y="71473"/>
                </a:cubicBezTo>
                <a:cubicBezTo>
                  <a:pt x="14358" y="78509"/>
                  <a:pt x="0" y="97583"/>
                  <a:pt x="0" y="120015"/>
                </a:cubicBezTo>
                <a:close/>
              </a:path>
            </a:pathLst>
          </a:custGeom>
          <a:solidFill>
            <a:srgbClr val="2D6A6A"/>
          </a:solidFill>
          <a:ln>
            <a:noFill/>
          </a:ln>
          <a:effectLst/>
        </p:spPr>
      </p:sp>
      <p:sp>
        <p:nvSpPr>
          <p:cNvPr id="8" name="dsl:src1-text"/>
          <p:cNvSpPr txBox="1"/>
          <p:nvPr/>
        </p:nvSpPr>
        <p:spPr>
          <a:xfrm>
            <a:off x="1123950" y="1762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Cloud Infrastructure</a:t>
            </a:r>
          </a:p>
        </p:txBody>
      </p:sp>
      <p:sp>
        <p:nvSpPr>
          <p:cNvPr id="9" name="dsl:src2-icon|i=fas:server"/>
          <p:cNvSpPr/>
          <p:nvPr/>
        </p:nvSpPr>
        <p:spPr>
          <a:xfrm>
            <a:off x="800100" y="2143125"/>
            <a:ext cx="228600" cy="228600"/>
          </a:xfrm>
          <a:custGeom>
            <a:avLst/>
            <a:gdLst/>
            <a:ahLst/>
            <a:cxnLst/>
            <a:rect l="l" t="t" r="r" b="b"/>
            <a:pathLst>
              <a:path w="228600" h="228600">
                <a:moveTo>
                  <a:pt x="28575" y="14287"/>
                </a:moveTo>
                <a:cubicBezTo>
                  <a:pt x="12814" y="14287"/>
                  <a:pt x="0" y="27101"/>
                  <a:pt x="0" y="42862"/>
                </a:cubicBezTo>
                <a:lnTo>
                  <a:pt x="0" y="71437"/>
                </a:lnTo>
                <a:cubicBezTo>
                  <a:pt x="0" y="87198"/>
                  <a:pt x="12814" y="100012"/>
                  <a:pt x="28575" y="100012"/>
                </a:cubicBezTo>
                <a:lnTo>
                  <a:pt x="200025" y="100012"/>
                </a:lnTo>
                <a:cubicBezTo>
                  <a:pt x="215785" y="100012"/>
                  <a:pt x="228600" y="87198"/>
                  <a:pt x="228600" y="71437"/>
                </a:cubicBezTo>
                <a:lnTo>
                  <a:pt x="228600" y="42862"/>
                </a:lnTo>
                <a:cubicBezTo>
                  <a:pt x="228600" y="27101"/>
                  <a:pt x="215785" y="14287"/>
                  <a:pt x="200025" y="14287"/>
                </a:cubicBezTo>
                <a:lnTo>
                  <a:pt x="28575" y="14287"/>
                </a:lnTo>
                <a:close/>
                <a:moveTo>
                  <a:pt x="153590" y="46434"/>
                </a:moveTo>
                <a:cubicBezTo>
                  <a:pt x="159469" y="46434"/>
                  <a:pt x="164306" y="51271"/>
                  <a:pt x="164306" y="57150"/>
                </a:cubicBezTo>
                <a:cubicBezTo>
                  <a:pt x="164306" y="63028"/>
                  <a:pt x="159469" y="67865"/>
                  <a:pt x="153590" y="67865"/>
                </a:cubicBezTo>
                <a:cubicBezTo>
                  <a:pt x="147712" y="67865"/>
                  <a:pt x="142875" y="63028"/>
                  <a:pt x="142875" y="57150"/>
                </a:cubicBezTo>
                <a:cubicBezTo>
                  <a:pt x="142875" y="51271"/>
                  <a:pt x="147712" y="46434"/>
                  <a:pt x="153590" y="46434"/>
                </a:cubicBezTo>
                <a:close/>
                <a:moveTo>
                  <a:pt x="175021" y="57150"/>
                </a:moveTo>
                <a:cubicBezTo>
                  <a:pt x="175021" y="51271"/>
                  <a:pt x="179859" y="46434"/>
                  <a:pt x="185737" y="46434"/>
                </a:cubicBezTo>
                <a:cubicBezTo>
                  <a:pt x="191615" y="46434"/>
                  <a:pt x="196453" y="51271"/>
                  <a:pt x="196453" y="57150"/>
                </a:cubicBezTo>
                <a:cubicBezTo>
                  <a:pt x="196453" y="63028"/>
                  <a:pt x="191615" y="67865"/>
                  <a:pt x="185737" y="67865"/>
                </a:cubicBezTo>
                <a:cubicBezTo>
                  <a:pt x="179859" y="67865"/>
                  <a:pt x="175021" y="63028"/>
                  <a:pt x="175021" y="57150"/>
                </a:cubicBezTo>
                <a:close/>
                <a:moveTo>
                  <a:pt x="28575" y="128587"/>
                </a:moveTo>
                <a:cubicBezTo>
                  <a:pt x="12814" y="128587"/>
                  <a:pt x="0" y="141401"/>
                  <a:pt x="0" y="157162"/>
                </a:cubicBezTo>
                <a:lnTo>
                  <a:pt x="0" y="185737"/>
                </a:lnTo>
                <a:cubicBezTo>
                  <a:pt x="0" y="201498"/>
                  <a:pt x="12814" y="214312"/>
                  <a:pt x="28575" y="214312"/>
                </a:cubicBezTo>
                <a:lnTo>
                  <a:pt x="200025" y="214312"/>
                </a:lnTo>
                <a:cubicBezTo>
                  <a:pt x="215785" y="214312"/>
                  <a:pt x="228600" y="201498"/>
                  <a:pt x="228600" y="185737"/>
                </a:cubicBezTo>
                <a:lnTo>
                  <a:pt x="228600" y="157162"/>
                </a:lnTo>
                <a:cubicBezTo>
                  <a:pt x="228600" y="141401"/>
                  <a:pt x="215785" y="128587"/>
                  <a:pt x="200025" y="128587"/>
                </a:cubicBezTo>
                <a:lnTo>
                  <a:pt x="28575" y="128587"/>
                </a:lnTo>
                <a:close/>
                <a:moveTo>
                  <a:pt x="153590" y="160734"/>
                </a:moveTo>
                <a:cubicBezTo>
                  <a:pt x="159469" y="160734"/>
                  <a:pt x="164306" y="165571"/>
                  <a:pt x="164306" y="171450"/>
                </a:cubicBezTo>
                <a:cubicBezTo>
                  <a:pt x="164306" y="177328"/>
                  <a:pt x="159469" y="182165"/>
                  <a:pt x="153590" y="182165"/>
                </a:cubicBezTo>
                <a:cubicBezTo>
                  <a:pt x="147712" y="182165"/>
                  <a:pt x="142875" y="177328"/>
                  <a:pt x="142875" y="171450"/>
                </a:cubicBezTo>
                <a:cubicBezTo>
                  <a:pt x="142875" y="165571"/>
                  <a:pt x="147712" y="160734"/>
                  <a:pt x="153590" y="160734"/>
                </a:cubicBezTo>
                <a:close/>
                <a:moveTo>
                  <a:pt x="178593" y="171450"/>
                </a:moveTo>
                <a:cubicBezTo>
                  <a:pt x="178593" y="165571"/>
                  <a:pt x="183430" y="160734"/>
                  <a:pt x="189309" y="160734"/>
                </a:cubicBezTo>
                <a:cubicBezTo>
                  <a:pt x="195187" y="160734"/>
                  <a:pt x="200025" y="165571"/>
                  <a:pt x="200025" y="171450"/>
                </a:cubicBezTo>
                <a:cubicBezTo>
                  <a:pt x="200025" y="177328"/>
                  <a:pt x="195187" y="182165"/>
                  <a:pt x="189309" y="182165"/>
                </a:cubicBezTo>
                <a:cubicBezTo>
                  <a:pt x="183430" y="182165"/>
                  <a:pt x="178593" y="177328"/>
                  <a:pt x="178593" y="171450"/>
                </a:cubicBezTo>
                <a:close/>
              </a:path>
            </a:pathLst>
          </a:custGeom>
          <a:solidFill>
            <a:srgbClr val="2D6A6A"/>
          </a:solidFill>
          <a:ln>
            <a:noFill/>
          </a:ln>
          <a:effectLst/>
        </p:spPr>
      </p:sp>
      <p:sp>
        <p:nvSpPr>
          <p:cNvPr id="10" name="dsl:src2-text"/>
          <p:cNvSpPr txBox="1"/>
          <p:nvPr/>
        </p:nvSpPr>
        <p:spPr>
          <a:xfrm>
            <a:off x="1123950" y="2143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Hosts &amp; Endpoints</a:t>
            </a:r>
          </a:p>
        </p:txBody>
      </p:sp>
      <p:sp>
        <p:nvSpPr>
          <p:cNvPr id="11" name="dsl:src3-icon|i=fas:network-wired"/>
          <p:cNvSpPr/>
          <p:nvPr/>
        </p:nvSpPr>
        <p:spPr>
          <a:xfrm>
            <a:off x="800100" y="2546985"/>
            <a:ext cx="228600" cy="182880"/>
          </a:xfrm>
          <a:custGeom>
            <a:avLst/>
            <a:gdLst/>
            <a:ahLst/>
            <a:cxnLst/>
            <a:rect l="l" t="t" r="r" b="b"/>
            <a:pathLst>
              <a:path w="228600" h="182880">
                <a:moveTo>
                  <a:pt x="91440" y="22860"/>
                </a:moveTo>
                <a:lnTo>
                  <a:pt x="137160" y="22860"/>
                </a:lnTo>
                <a:lnTo>
                  <a:pt x="137160" y="45720"/>
                </a:lnTo>
                <a:lnTo>
                  <a:pt x="91440" y="45720"/>
                </a:lnTo>
                <a:lnTo>
                  <a:pt x="91440" y="22860"/>
                </a:lnTo>
                <a:close/>
                <a:moveTo>
                  <a:pt x="85725" y="0"/>
                </a:moveTo>
                <a:cubicBezTo>
                  <a:pt x="76259" y="0"/>
                  <a:pt x="68580" y="7679"/>
                  <a:pt x="68580" y="17145"/>
                </a:cubicBezTo>
                <a:lnTo>
                  <a:pt x="68580" y="51435"/>
                </a:lnTo>
                <a:cubicBezTo>
                  <a:pt x="68580" y="60900"/>
                  <a:pt x="76259" y="68580"/>
                  <a:pt x="85725" y="68580"/>
                </a:cubicBezTo>
                <a:lnTo>
                  <a:pt x="102870" y="68580"/>
                </a:lnTo>
                <a:lnTo>
                  <a:pt x="102870" y="80010"/>
                </a:lnTo>
                <a:lnTo>
                  <a:pt x="11430" y="80010"/>
                </a:lnTo>
                <a:cubicBezTo>
                  <a:pt x="5107" y="80010"/>
                  <a:pt x="0" y="85117"/>
                  <a:pt x="0" y="91440"/>
                </a:cubicBezTo>
                <a:cubicBezTo>
                  <a:pt x="0" y="97762"/>
                  <a:pt x="5107" y="102870"/>
                  <a:pt x="11430" y="102870"/>
                </a:cubicBezTo>
                <a:lnTo>
                  <a:pt x="45720" y="102870"/>
                </a:lnTo>
                <a:lnTo>
                  <a:pt x="45720" y="114300"/>
                </a:lnTo>
                <a:lnTo>
                  <a:pt x="28575" y="114300"/>
                </a:lnTo>
                <a:cubicBezTo>
                  <a:pt x="19109" y="114300"/>
                  <a:pt x="11430" y="121979"/>
                  <a:pt x="11430" y="131445"/>
                </a:cubicBezTo>
                <a:lnTo>
                  <a:pt x="11430" y="165735"/>
                </a:lnTo>
                <a:cubicBezTo>
                  <a:pt x="11430" y="175200"/>
                  <a:pt x="19109" y="182880"/>
                  <a:pt x="28575" y="182880"/>
                </a:cubicBezTo>
                <a:lnTo>
                  <a:pt x="85725" y="182880"/>
                </a:lnTo>
                <a:cubicBezTo>
                  <a:pt x="95190" y="182880"/>
                  <a:pt x="102870" y="175200"/>
                  <a:pt x="102870" y="165735"/>
                </a:cubicBezTo>
                <a:lnTo>
                  <a:pt x="102870" y="131445"/>
                </a:lnTo>
                <a:cubicBezTo>
                  <a:pt x="102870" y="121979"/>
                  <a:pt x="95190" y="114300"/>
                  <a:pt x="85725" y="114300"/>
                </a:cubicBezTo>
                <a:lnTo>
                  <a:pt x="68580" y="114300"/>
                </a:lnTo>
                <a:lnTo>
                  <a:pt x="68580" y="102870"/>
                </a:lnTo>
                <a:lnTo>
                  <a:pt x="160020" y="102870"/>
                </a:lnTo>
                <a:lnTo>
                  <a:pt x="160020" y="114300"/>
                </a:lnTo>
                <a:lnTo>
                  <a:pt x="142875" y="114300"/>
                </a:lnTo>
                <a:cubicBezTo>
                  <a:pt x="133409" y="114300"/>
                  <a:pt x="125730" y="121979"/>
                  <a:pt x="125730" y="131445"/>
                </a:cubicBezTo>
                <a:lnTo>
                  <a:pt x="125730" y="165735"/>
                </a:lnTo>
                <a:cubicBezTo>
                  <a:pt x="125730" y="175200"/>
                  <a:pt x="133409" y="182880"/>
                  <a:pt x="142875" y="182880"/>
                </a:cubicBezTo>
                <a:lnTo>
                  <a:pt x="200025" y="182880"/>
                </a:lnTo>
                <a:cubicBezTo>
                  <a:pt x="209490" y="182880"/>
                  <a:pt x="217170" y="175200"/>
                  <a:pt x="217170" y="165735"/>
                </a:cubicBezTo>
                <a:lnTo>
                  <a:pt x="217170" y="131445"/>
                </a:lnTo>
                <a:cubicBezTo>
                  <a:pt x="217170" y="121979"/>
                  <a:pt x="209490" y="114300"/>
                  <a:pt x="200025" y="114300"/>
                </a:cubicBezTo>
                <a:lnTo>
                  <a:pt x="182880" y="114300"/>
                </a:lnTo>
                <a:lnTo>
                  <a:pt x="182880" y="102870"/>
                </a:lnTo>
                <a:lnTo>
                  <a:pt x="217170" y="102870"/>
                </a:lnTo>
                <a:cubicBezTo>
                  <a:pt x="223492" y="102870"/>
                  <a:pt x="228600" y="97762"/>
                  <a:pt x="228600" y="91440"/>
                </a:cubicBezTo>
                <a:cubicBezTo>
                  <a:pt x="228600" y="85117"/>
                  <a:pt x="223492" y="80010"/>
                  <a:pt x="217170" y="80010"/>
                </a:cubicBezTo>
                <a:lnTo>
                  <a:pt x="125730" y="80010"/>
                </a:lnTo>
                <a:lnTo>
                  <a:pt x="125730" y="68580"/>
                </a:lnTo>
                <a:lnTo>
                  <a:pt x="142875" y="68580"/>
                </a:lnTo>
                <a:cubicBezTo>
                  <a:pt x="152340" y="68580"/>
                  <a:pt x="160020" y="60900"/>
                  <a:pt x="160020" y="51435"/>
                </a:cubicBezTo>
                <a:lnTo>
                  <a:pt x="160020" y="17145"/>
                </a:lnTo>
                <a:cubicBezTo>
                  <a:pt x="160020" y="7679"/>
                  <a:pt x="152340" y="0"/>
                  <a:pt x="142875" y="0"/>
                </a:cubicBezTo>
                <a:lnTo>
                  <a:pt x="85725" y="0"/>
                </a:lnTo>
                <a:close/>
                <a:moveTo>
                  <a:pt x="34290" y="160020"/>
                </a:moveTo>
                <a:lnTo>
                  <a:pt x="34290" y="137160"/>
                </a:lnTo>
                <a:lnTo>
                  <a:pt x="80010" y="137160"/>
                </a:lnTo>
                <a:lnTo>
                  <a:pt x="80010" y="160020"/>
                </a:lnTo>
                <a:lnTo>
                  <a:pt x="34290" y="160020"/>
                </a:lnTo>
                <a:close/>
                <a:moveTo>
                  <a:pt x="148590" y="137160"/>
                </a:moveTo>
                <a:lnTo>
                  <a:pt x="194310" y="137160"/>
                </a:lnTo>
                <a:lnTo>
                  <a:pt x="194310" y="160020"/>
                </a:lnTo>
                <a:lnTo>
                  <a:pt x="148590" y="160020"/>
                </a:lnTo>
                <a:lnTo>
                  <a:pt x="148590" y="137160"/>
                </a:lnTo>
                <a:close/>
              </a:path>
            </a:pathLst>
          </a:custGeom>
          <a:solidFill>
            <a:srgbClr val="2D6A6A"/>
          </a:solidFill>
          <a:ln>
            <a:noFill/>
          </a:ln>
          <a:effectLst/>
        </p:spPr>
      </p:sp>
      <p:sp>
        <p:nvSpPr>
          <p:cNvPr id="12" name="dsl:src3-text"/>
          <p:cNvSpPr txBox="1"/>
          <p:nvPr/>
        </p:nvSpPr>
        <p:spPr>
          <a:xfrm>
            <a:off x="1123950" y="2524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Network Traffic</a:t>
            </a:r>
          </a:p>
        </p:txBody>
      </p:sp>
      <p:sp>
        <p:nvSpPr>
          <p:cNvPr id="13" name="dsl:src4-icon|i=fas:box-open"/>
          <p:cNvSpPr/>
          <p:nvPr/>
        </p:nvSpPr>
        <p:spPr>
          <a:xfrm>
            <a:off x="800100" y="2927985"/>
            <a:ext cx="228600" cy="182880"/>
          </a:xfrm>
          <a:custGeom>
            <a:avLst/>
            <a:gdLst/>
            <a:ahLst/>
            <a:cxnLst/>
            <a:rect l="l" t="t" r="r" b="b"/>
            <a:pathLst>
              <a:path w="228600" h="182880">
                <a:moveTo>
                  <a:pt x="21038" y="15037"/>
                </a:moveTo>
                <a:cubicBezTo>
                  <a:pt x="22109" y="12858"/>
                  <a:pt x="24467" y="11608"/>
                  <a:pt x="26860" y="11930"/>
                </a:cubicBezTo>
                <a:lnTo>
                  <a:pt x="114300" y="22860"/>
                </a:lnTo>
                <a:lnTo>
                  <a:pt x="201739" y="11930"/>
                </a:lnTo>
                <a:cubicBezTo>
                  <a:pt x="204132" y="14787"/>
                  <a:pt x="206490" y="12894"/>
                  <a:pt x="207561" y="15037"/>
                </a:cubicBezTo>
                <a:lnTo>
                  <a:pt x="222456" y="44827"/>
                </a:lnTo>
                <a:cubicBezTo>
                  <a:pt x="225671" y="51220"/>
                  <a:pt x="224599" y="58971"/>
                  <a:pt x="215384" y="60936"/>
                </a:cubicBezTo>
                <a:lnTo>
                  <a:pt x="157019" y="77616"/>
                </a:lnTo>
                <a:cubicBezTo>
                  <a:pt x="152054" y="79045"/>
                  <a:pt x="146732" y="76938"/>
                  <a:pt x="144089" y="72509"/>
                </a:cubicBezTo>
                <a:lnTo>
                  <a:pt x="114300" y="22860"/>
                </a:lnTo>
                <a:lnTo>
                  <a:pt x="84510" y="72509"/>
                </a:lnTo>
                <a:cubicBezTo>
                  <a:pt x="81867" y="76938"/>
                  <a:pt x="76545" y="79045"/>
                  <a:pt x="71580" y="77616"/>
                </a:cubicBezTo>
                <a:lnTo>
                  <a:pt x="13251" y="60936"/>
                </a:lnTo>
                <a:cubicBezTo>
                  <a:pt x="6357" y="58971"/>
                  <a:pt x="2964" y="51220"/>
                  <a:pt x="6179" y="44827"/>
                </a:cubicBezTo>
                <a:lnTo>
                  <a:pt x="21038" y="15037"/>
                </a:lnTo>
                <a:close/>
                <a:moveTo>
                  <a:pt x="114692" y="45720"/>
                </a:moveTo>
                <a:lnTo>
                  <a:pt x="134302" y="78366"/>
                </a:lnTo>
                <a:cubicBezTo>
                  <a:pt x="139624" y="87225"/>
                  <a:pt x="150233" y="91440"/>
                  <a:pt x="160198" y="88582"/>
                </a:cubicBezTo>
                <a:lnTo>
                  <a:pt x="205740" y="75580"/>
                </a:lnTo>
                <a:lnTo>
                  <a:pt x="205740" y="135231"/>
                </a:lnTo>
                <a:cubicBezTo>
                  <a:pt x="205740" y="143089"/>
                  <a:pt x="200382" y="149947"/>
                  <a:pt x="192738" y="151876"/>
                </a:cubicBezTo>
                <a:lnTo>
                  <a:pt x="119836" y="170092"/>
                </a:lnTo>
                <a:cubicBezTo>
                  <a:pt x="116193" y="171021"/>
                  <a:pt x="112371" y="171021"/>
                  <a:pt x="108763" y="170092"/>
                </a:cubicBezTo>
                <a:lnTo>
                  <a:pt x="35861" y="151876"/>
                </a:lnTo>
                <a:cubicBezTo>
                  <a:pt x="28217" y="149911"/>
                  <a:pt x="22860" y="143053"/>
                  <a:pt x="22860" y="135195"/>
                </a:cubicBezTo>
                <a:lnTo>
                  <a:pt x="22860" y="75545"/>
                </a:lnTo>
                <a:lnTo>
                  <a:pt x="68437" y="88582"/>
                </a:lnTo>
                <a:cubicBezTo>
                  <a:pt x="78366" y="91440"/>
                  <a:pt x="89011" y="87225"/>
                  <a:pt x="94333" y="78366"/>
                </a:cubicBezTo>
                <a:lnTo>
                  <a:pt x="113907" y="45720"/>
                </a:lnTo>
                <a:lnTo>
                  <a:pt x="114692" y="45720"/>
                </a:lnTo>
                <a:close/>
              </a:path>
            </a:pathLst>
          </a:custGeom>
          <a:solidFill>
            <a:srgbClr val="2D6A6A"/>
          </a:solidFill>
          <a:ln>
            <a:noFill/>
          </a:ln>
          <a:effectLst/>
        </p:spPr>
      </p:sp>
      <p:sp>
        <p:nvSpPr>
          <p:cNvPr id="14" name="dsl:src4-text"/>
          <p:cNvSpPr txBox="1"/>
          <p:nvPr/>
        </p:nvSpPr>
        <p:spPr>
          <a:xfrm>
            <a:off x="1123950" y="2905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Containers</a:t>
            </a:r>
          </a:p>
        </p:txBody>
      </p:sp>
      <p:sp>
        <p:nvSpPr>
          <p:cNvPr id="15" name="dsl:src5-icon|i=fas:shield-halved"/>
          <p:cNvSpPr/>
          <p:nvPr/>
        </p:nvSpPr>
        <p:spPr>
          <a:xfrm>
            <a:off x="800100" y="3286125"/>
            <a:ext cx="228600" cy="228600"/>
          </a:xfrm>
          <a:custGeom>
            <a:avLst/>
            <a:gdLst/>
            <a:ahLst/>
            <a:cxnLst/>
            <a:rect l="l" t="t" r="r" b="b"/>
            <a:pathLst>
              <a:path w="228600" h="228600">
                <a:moveTo>
                  <a:pt x="114300" y="0"/>
                </a:moveTo>
                <a:cubicBezTo>
                  <a:pt x="116353" y="0"/>
                  <a:pt x="118407" y="446"/>
                  <a:pt x="120282" y="1294"/>
                </a:cubicBezTo>
                <a:lnTo>
                  <a:pt x="204355" y="36968"/>
                </a:lnTo>
                <a:cubicBezTo>
                  <a:pt x="214178" y="41121"/>
                  <a:pt x="221500" y="50809"/>
                  <a:pt x="221456" y="62507"/>
                </a:cubicBezTo>
                <a:cubicBezTo>
                  <a:pt x="223688" y="106799"/>
                  <a:pt x="203016" y="187835"/>
                  <a:pt x="126087" y="224670"/>
                </a:cubicBezTo>
                <a:cubicBezTo>
                  <a:pt x="118630" y="228242"/>
                  <a:pt x="109969" y="228242"/>
                  <a:pt x="102512" y="224670"/>
                </a:cubicBezTo>
                <a:cubicBezTo>
                  <a:pt x="25583" y="187835"/>
                  <a:pt x="7366" y="106799"/>
                  <a:pt x="7143" y="62507"/>
                </a:cubicBezTo>
                <a:cubicBezTo>
                  <a:pt x="7590" y="50809"/>
                  <a:pt x="14421" y="41121"/>
                  <a:pt x="24244" y="36968"/>
                </a:cubicBezTo>
                <a:lnTo>
                  <a:pt x="108361" y="1294"/>
                </a:lnTo>
                <a:cubicBezTo>
                  <a:pt x="110192" y="446"/>
                  <a:pt x="112246" y="0"/>
                  <a:pt x="114300" y="0"/>
                </a:cubicBezTo>
                <a:close/>
                <a:moveTo>
                  <a:pt x="114300" y="29825"/>
                </a:moveTo>
                <a:lnTo>
                  <a:pt x="114300" y="198596"/>
                </a:lnTo>
                <a:cubicBezTo>
                  <a:pt x="175914" y="168771"/>
                  <a:pt x="192479" y="102736"/>
                  <a:pt x="192881" y="63132"/>
                </a:cubicBezTo>
                <a:lnTo>
                  <a:pt x="114300" y="29825"/>
                </a:lnTo>
                <a:lnTo>
                  <a:pt x="114300" y="29825"/>
                </a:lnTo>
                <a:close/>
              </a:path>
            </a:pathLst>
          </a:custGeom>
          <a:solidFill>
            <a:srgbClr val="2D6A6A"/>
          </a:solidFill>
          <a:ln>
            <a:noFill/>
          </a:ln>
          <a:effectLst/>
        </p:spPr>
      </p:sp>
      <p:sp>
        <p:nvSpPr>
          <p:cNvPr id="16" name="dsl:src5-text"/>
          <p:cNvSpPr txBox="1"/>
          <p:nvPr/>
        </p:nvSpPr>
        <p:spPr>
          <a:xfrm>
            <a:off x="1123950" y="3286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Security Tools</a:t>
            </a:r>
          </a:p>
        </p:txBody>
      </p:sp>
      <p:sp>
        <p:nvSpPr>
          <p:cNvPr id="17" name="dsl:src6-icon|i=fas:chart-line"/>
          <p:cNvSpPr/>
          <p:nvPr/>
        </p:nvSpPr>
        <p:spPr>
          <a:xfrm>
            <a:off x="800100" y="3667125"/>
            <a:ext cx="228600" cy="228600"/>
          </a:xfrm>
          <a:custGeom>
            <a:avLst/>
            <a:gdLst/>
            <a:ahLst/>
            <a:cxnLst/>
            <a:rect l="l" t="t" r="r" b="b"/>
            <a:pathLst>
              <a:path w="228600" h="228600">
                <a:moveTo>
                  <a:pt x="28575" y="28575"/>
                </a:moveTo>
                <a:cubicBezTo>
                  <a:pt x="28575" y="20672"/>
                  <a:pt x="22190" y="14287"/>
                  <a:pt x="14287" y="14287"/>
                </a:cubicBezTo>
                <a:cubicBezTo>
                  <a:pt x="6384" y="14287"/>
                  <a:pt x="0" y="20672"/>
                  <a:pt x="0" y="28575"/>
                </a:cubicBezTo>
                <a:lnTo>
                  <a:pt x="0" y="178593"/>
                </a:lnTo>
                <a:cubicBezTo>
                  <a:pt x="0" y="198328"/>
                  <a:pt x="15984" y="214312"/>
                  <a:pt x="35718" y="214312"/>
                </a:cubicBezTo>
                <a:lnTo>
                  <a:pt x="214312" y="214312"/>
                </a:lnTo>
                <a:cubicBezTo>
                  <a:pt x="222215" y="214312"/>
                  <a:pt x="228600" y="207927"/>
                  <a:pt x="228600" y="200025"/>
                </a:cubicBezTo>
                <a:cubicBezTo>
                  <a:pt x="228600" y="192122"/>
                  <a:pt x="222215" y="185737"/>
                  <a:pt x="214312" y="185737"/>
                </a:cubicBezTo>
                <a:lnTo>
                  <a:pt x="35718" y="185737"/>
                </a:lnTo>
                <a:cubicBezTo>
                  <a:pt x="31789" y="185737"/>
                  <a:pt x="28575" y="182522"/>
                  <a:pt x="28575" y="178593"/>
                </a:cubicBezTo>
                <a:lnTo>
                  <a:pt x="28575" y="28575"/>
                </a:lnTo>
                <a:close/>
                <a:moveTo>
                  <a:pt x="210115" y="67240"/>
                </a:moveTo>
                <a:cubicBezTo>
                  <a:pt x="215696" y="61659"/>
                  <a:pt x="215696" y="52595"/>
                  <a:pt x="210115" y="47014"/>
                </a:cubicBezTo>
                <a:cubicBezTo>
                  <a:pt x="204534" y="41433"/>
                  <a:pt x="195470" y="41433"/>
                  <a:pt x="189889" y="47014"/>
                </a:cubicBezTo>
                <a:lnTo>
                  <a:pt x="142875" y="94074"/>
                </a:lnTo>
                <a:lnTo>
                  <a:pt x="117246" y="68446"/>
                </a:lnTo>
                <a:cubicBezTo>
                  <a:pt x="111665" y="62864"/>
                  <a:pt x="102602" y="62864"/>
                  <a:pt x="97021" y="68446"/>
                </a:cubicBezTo>
                <a:lnTo>
                  <a:pt x="47014" y="118452"/>
                </a:lnTo>
                <a:cubicBezTo>
                  <a:pt x="41433" y="124033"/>
                  <a:pt x="41433" y="133096"/>
                  <a:pt x="47014" y="138678"/>
                </a:cubicBezTo>
                <a:cubicBezTo>
                  <a:pt x="52595" y="144259"/>
                  <a:pt x="61659" y="144259"/>
                  <a:pt x="67240" y="138678"/>
                </a:cubicBezTo>
                <a:lnTo>
                  <a:pt x="107156" y="98806"/>
                </a:lnTo>
                <a:lnTo>
                  <a:pt x="132784" y="124435"/>
                </a:lnTo>
                <a:cubicBezTo>
                  <a:pt x="138365" y="130016"/>
                  <a:pt x="147429" y="130016"/>
                  <a:pt x="153010" y="124435"/>
                </a:cubicBezTo>
                <a:lnTo>
                  <a:pt x="210160" y="67285"/>
                </a:lnTo>
                <a:close/>
              </a:path>
            </a:pathLst>
          </a:custGeom>
          <a:solidFill>
            <a:srgbClr val="2D6A6A"/>
          </a:solidFill>
          <a:ln>
            <a:noFill/>
          </a:ln>
          <a:effectLst/>
        </p:spPr>
      </p:sp>
      <p:sp>
        <p:nvSpPr>
          <p:cNvPr id="18" name="dsl:src6-text"/>
          <p:cNvSpPr txBox="1"/>
          <p:nvPr/>
        </p:nvSpPr>
        <p:spPr>
          <a:xfrm>
            <a:off x="1123950" y="3667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Metrics &amp; Logs</a:t>
            </a:r>
          </a:p>
        </p:txBody>
      </p:sp>
      <p:cxnSp>
        <p:nvCxnSpPr>
          <p:cNvPr id="19" name="dsl:arrow1"/>
          <p:cNvCxnSpPr/>
          <p:nvPr/>
        </p:nvCxnSpPr>
        <p:spPr>
          <a:xfrm>
            <a:off x="2857500" y="3238500"/>
            <a:ext cx="571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0" name="dsl:col2-header"/>
          <p:cNvSpPr txBox="1"/>
          <p:nvPr/>
        </p:nvSpPr>
        <p:spPr>
          <a:xfrm>
            <a:off x="3429000" y="1143000"/>
            <a:ext cx="2667000" cy="285750"/>
          </a:xfrm>
          <a:prstGeom prst="rect">
            <a:avLst/>
          </a:prstGeom>
          <a:noFill/>
        </p:spPr>
        <p:txBody>
          <a:bodyPr wrap="none" anchor="ctr">
            <a:noAutofit/>
          </a:bodyPr>
          <a:lstStyle/>
          <a:p>
            <a:pPr algn="ctr"/>
            <a:r>
              <a:rPr b="1" sz="1200" noProof="1">
                <a:solidFill>
                  <a:srgbClr val="2D6A6A"/>
                </a:solidFill>
                <a:latin typeface="Liter"/>
                <a:ea typeface="Liter"/>
              </a:rPr>
              <a:t>ARIA INTELLIGENCE</a:t>
            </a:r>
          </a:p>
        </p:txBody>
      </p:sp>
      <p:sp>
        <p:nvSpPr>
          <p:cNvPr id="21" name="dsl:col2-box"/>
          <p:cNvSpPr/>
          <p:nvPr/>
        </p:nvSpPr>
        <p:spPr>
          <a:xfrm>
            <a:off x="3429000" y="1524000"/>
            <a:ext cx="2667000" cy="3619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aria1"/>
          <p:cNvSpPr txBox="1"/>
          <p:nvPr/>
        </p:nvSpPr>
        <p:spPr>
          <a:xfrm>
            <a:off x="3657600" y="1762125"/>
            <a:ext cx="2209800" cy="247650"/>
          </a:xfrm>
          <a:prstGeom prst="rect">
            <a:avLst/>
          </a:prstGeom>
          <a:noFill/>
        </p:spPr>
        <p:txBody>
          <a:bodyPr wrap="none" anchor="t">
            <a:noAutofit/>
          </a:bodyPr>
          <a:lstStyle/>
          <a:p>
            <a:pPr algn="l"/>
            <a:r>
              <a:rPr sz="1125" noProof="1">
                <a:solidFill>
                  <a:srgbClr val="FFFFFF"/>
                </a:solidFill>
                <a:latin typeface="QuattrocentoSans"/>
                <a:ea typeface="QuattrocentoSans"/>
              </a:rPr>
              <a:t>Ingest &amp; Normalize</a:t>
            </a:r>
          </a:p>
        </p:txBody>
      </p:sp>
      <p:sp>
        <p:nvSpPr>
          <p:cNvPr id="23" name="dsl:aria2"/>
          <p:cNvSpPr txBox="1"/>
          <p:nvPr/>
        </p:nvSpPr>
        <p:spPr>
          <a:xfrm>
            <a:off x="3657600" y="2143125"/>
            <a:ext cx="2209800" cy="247650"/>
          </a:xfrm>
          <a:prstGeom prst="rect">
            <a:avLst/>
          </a:prstGeom>
          <a:noFill/>
        </p:spPr>
        <p:txBody>
          <a:bodyPr wrap="none" anchor="t">
            <a:noAutofit/>
          </a:bodyPr>
          <a:lstStyle/>
          <a:p>
            <a:pPr algn="l"/>
            <a:r>
              <a:rPr sz="1125" noProof="1">
                <a:solidFill>
                  <a:srgbClr val="FFFFFF"/>
                </a:solidFill>
                <a:latin typeface="QuattrocentoSans"/>
                <a:ea typeface="QuattrocentoSans"/>
              </a:rPr>
              <a:t>Enrich with Context</a:t>
            </a:r>
          </a:p>
        </p:txBody>
      </p:sp>
      <p:sp>
        <p:nvSpPr>
          <p:cNvPr id="24" name="dsl:aria3"/>
          <p:cNvSpPr txBox="1"/>
          <p:nvPr/>
        </p:nvSpPr>
        <p:spPr>
          <a:xfrm>
            <a:off x="3657600" y="2524125"/>
            <a:ext cx="2209800" cy="247650"/>
          </a:xfrm>
          <a:prstGeom prst="rect">
            <a:avLst/>
          </a:prstGeom>
          <a:noFill/>
        </p:spPr>
        <p:txBody>
          <a:bodyPr wrap="none" anchor="t">
            <a:noAutofit/>
          </a:bodyPr>
          <a:lstStyle/>
          <a:p>
            <a:pPr algn="l"/>
            <a:r>
              <a:rPr sz="1125" noProof="1">
                <a:solidFill>
                  <a:srgbClr val="FFFFFF"/>
                </a:solidFill>
                <a:latin typeface="QuattrocentoSans"/>
                <a:ea typeface="QuattrocentoSans"/>
              </a:rPr>
              <a:t>Correlate Events</a:t>
            </a:r>
          </a:p>
        </p:txBody>
      </p:sp>
      <p:sp>
        <p:nvSpPr>
          <p:cNvPr id="25" name="dsl:aria4"/>
          <p:cNvSpPr txBox="1"/>
          <p:nvPr/>
        </p:nvSpPr>
        <p:spPr>
          <a:xfrm>
            <a:off x="3657600" y="2905125"/>
            <a:ext cx="2209800" cy="247650"/>
          </a:xfrm>
          <a:prstGeom prst="rect">
            <a:avLst/>
          </a:prstGeom>
          <a:noFill/>
        </p:spPr>
        <p:txBody>
          <a:bodyPr wrap="none" anchor="t">
            <a:noAutofit/>
          </a:bodyPr>
          <a:lstStyle/>
          <a:p>
            <a:pPr algn="l"/>
            <a:r>
              <a:rPr sz="1125" noProof="1">
                <a:solidFill>
                  <a:srgbClr val="FFFFFF"/>
                </a:solidFill>
                <a:latin typeface="QuattrocentoSans"/>
                <a:ea typeface="QuattrocentoSans"/>
              </a:rPr>
              <a:t>AI Analysis</a:t>
            </a:r>
          </a:p>
        </p:txBody>
      </p:sp>
      <p:sp>
        <p:nvSpPr>
          <p:cNvPr id="26" name="dsl:aria5"/>
          <p:cNvSpPr txBox="1"/>
          <p:nvPr/>
        </p:nvSpPr>
        <p:spPr>
          <a:xfrm>
            <a:off x="3657600" y="3286125"/>
            <a:ext cx="2209800" cy="247650"/>
          </a:xfrm>
          <a:prstGeom prst="rect">
            <a:avLst/>
          </a:prstGeom>
          <a:noFill/>
        </p:spPr>
        <p:txBody>
          <a:bodyPr wrap="none" anchor="t">
            <a:noAutofit/>
          </a:bodyPr>
          <a:lstStyle/>
          <a:p>
            <a:pPr algn="l"/>
            <a:r>
              <a:rPr sz="1125" noProof="1">
                <a:solidFill>
                  <a:srgbClr val="FFFFFF"/>
                </a:solidFill>
                <a:latin typeface="QuattrocentoSans"/>
                <a:ea typeface="QuattrocentoSans"/>
              </a:rPr>
              <a:t>Incident Prioritization</a:t>
            </a:r>
          </a:p>
        </p:txBody>
      </p:sp>
      <p:sp>
        <p:nvSpPr>
          <p:cNvPr id="27" name="dsl:aria6"/>
          <p:cNvSpPr txBox="1"/>
          <p:nvPr/>
        </p:nvSpPr>
        <p:spPr>
          <a:xfrm>
            <a:off x="3657600" y="3667125"/>
            <a:ext cx="2209800" cy="247650"/>
          </a:xfrm>
          <a:prstGeom prst="rect">
            <a:avLst/>
          </a:prstGeom>
          <a:noFill/>
        </p:spPr>
        <p:txBody>
          <a:bodyPr wrap="none" anchor="t">
            <a:noAutofit/>
          </a:bodyPr>
          <a:lstStyle/>
          <a:p>
            <a:pPr algn="l"/>
            <a:r>
              <a:rPr sz="1125" noProof="1">
                <a:solidFill>
                  <a:srgbClr val="FFFFFF"/>
                </a:solidFill>
                <a:latin typeface="QuattrocentoSans"/>
                <a:ea typeface="QuattrocentoSans"/>
              </a:rPr>
              <a:t>Automated Response</a:t>
            </a:r>
          </a:p>
        </p:txBody>
      </p:sp>
      <p:cxnSp>
        <p:nvCxnSpPr>
          <p:cNvPr id="28" name="dsl:arrow2"/>
          <p:cNvCxnSpPr/>
          <p:nvPr/>
        </p:nvCxnSpPr>
        <p:spPr>
          <a:xfrm>
            <a:off x="6096000" y="3238500"/>
            <a:ext cx="571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9" name="dsl:col3-header"/>
          <p:cNvSpPr txBox="1"/>
          <p:nvPr/>
        </p:nvSpPr>
        <p:spPr>
          <a:xfrm>
            <a:off x="6667500" y="1143000"/>
            <a:ext cx="2286000" cy="285750"/>
          </a:xfrm>
          <a:prstGeom prst="rect">
            <a:avLst/>
          </a:prstGeom>
          <a:noFill/>
        </p:spPr>
        <p:txBody>
          <a:bodyPr wrap="none" anchor="ctr">
            <a:noAutofit/>
          </a:bodyPr>
          <a:lstStyle/>
          <a:p>
            <a:pPr algn="ctr"/>
            <a:r>
              <a:rPr b="1" sz="1200" noProof="1">
                <a:solidFill>
                  <a:srgbClr val="2D6A6A"/>
                </a:solidFill>
                <a:latin typeface="Liter"/>
                <a:ea typeface="Liter"/>
              </a:rPr>
              <a:t>SOC TEAM</a:t>
            </a:r>
          </a:p>
        </p:txBody>
      </p:sp>
      <p:sp>
        <p:nvSpPr>
          <p:cNvPr id="30" name="dsl:col3-box"/>
          <p:cNvSpPr/>
          <p:nvPr/>
        </p:nvSpPr>
        <p:spPr>
          <a:xfrm>
            <a:off x="6667500" y="1524000"/>
            <a:ext cx="2286000" cy="3619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sl:team1-icon|i=fas:display"/>
          <p:cNvSpPr/>
          <p:nvPr/>
        </p:nvSpPr>
        <p:spPr>
          <a:xfrm>
            <a:off x="6896100" y="1774825"/>
            <a:ext cx="228600" cy="203200"/>
          </a:xfrm>
          <a:custGeom>
            <a:avLst/>
            <a:gdLst/>
            <a:ahLst/>
            <a:cxnLst/>
            <a:rect l="l" t="t" r="r" b="b"/>
            <a:pathLst>
              <a:path w="228600" h="203200">
                <a:moveTo>
                  <a:pt x="25400" y="0"/>
                </a:moveTo>
                <a:cubicBezTo>
                  <a:pt x="11390" y="0"/>
                  <a:pt x="0" y="11390"/>
                  <a:pt x="0" y="25400"/>
                </a:cubicBezTo>
                <a:lnTo>
                  <a:pt x="0" y="139700"/>
                </a:lnTo>
                <a:cubicBezTo>
                  <a:pt x="0" y="153709"/>
                  <a:pt x="11390" y="165100"/>
                  <a:pt x="25400" y="165100"/>
                </a:cubicBezTo>
                <a:lnTo>
                  <a:pt x="95250" y="165100"/>
                </a:lnTo>
                <a:lnTo>
                  <a:pt x="91003" y="177800"/>
                </a:lnTo>
                <a:lnTo>
                  <a:pt x="63500" y="177800"/>
                </a:lnTo>
                <a:cubicBezTo>
                  <a:pt x="56475" y="177800"/>
                  <a:pt x="50800" y="183475"/>
                  <a:pt x="50800" y="190500"/>
                </a:cubicBezTo>
                <a:cubicBezTo>
                  <a:pt x="50800" y="197524"/>
                  <a:pt x="56475" y="203200"/>
                  <a:pt x="63500" y="203200"/>
                </a:cubicBezTo>
                <a:lnTo>
                  <a:pt x="165100" y="203200"/>
                </a:lnTo>
                <a:cubicBezTo>
                  <a:pt x="172124" y="203200"/>
                  <a:pt x="177800" y="197524"/>
                  <a:pt x="177800" y="190500"/>
                </a:cubicBezTo>
                <a:cubicBezTo>
                  <a:pt x="177800" y="183475"/>
                  <a:pt x="172124" y="177800"/>
                  <a:pt x="165100" y="177800"/>
                </a:cubicBezTo>
                <a:lnTo>
                  <a:pt x="137596" y="177800"/>
                </a:lnTo>
                <a:lnTo>
                  <a:pt x="133350" y="165100"/>
                </a:lnTo>
                <a:lnTo>
                  <a:pt x="203200" y="165100"/>
                </a:lnTo>
                <a:cubicBezTo>
                  <a:pt x="217209" y="165100"/>
                  <a:pt x="228600" y="153709"/>
                  <a:pt x="228600" y="139700"/>
                </a:cubicBezTo>
                <a:lnTo>
                  <a:pt x="228600" y="25400"/>
                </a:lnTo>
                <a:cubicBezTo>
                  <a:pt x="228600" y="11390"/>
                  <a:pt x="217209" y="0"/>
                  <a:pt x="203200" y="0"/>
                </a:cubicBezTo>
                <a:lnTo>
                  <a:pt x="25400" y="0"/>
                </a:lnTo>
                <a:close/>
                <a:moveTo>
                  <a:pt x="203200" y="25400"/>
                </a:moveTo>
                <a:lnTo>
                  <a:pt x="203200" y="139700"/>
                </a:lnTo>
                <a:lnTo>
                  <a:pt x="25400" y="139700"/>
                </a:lnTo>
                <a:lnTo>
                  <a:pt x="25400" y="25400"/>
                </a:lnTo>
                <a:lnTo>
                  <a:pt x="203200" y="25400"/>
                </a:lnTo>
                <a:close/>
              </a:path>
            </a:pathLst>
          </a:custGeom>
          <a:solidFill>
            <a:srgbClr val="2D6A6A"/>
          </a:solidFill>
          <a:ln>
            <a:noFill/>
          </a:ln>
          <a:effectLst/>
        </p:spPr>
      </p:sp>
      <p:sp>
        <p:nvSpPr>
          <p:cNvPr id="32" name="dsl:team1-text"/>
          <p:cNvSpPr txBox="1"/>
          <p:nvPr/>
        </p:nvSpPr>
        <p:spPr>
          <a:xfrm>
            <a:off x="7219950" y="1762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Unified Dashboard</a:t>
            </a:r>
          </a:p>
        </p:txBody>
      </p:sp>
      <p:sp>
        <p:nvSpPr>
          <p:cNvPr id="33" name="dsl:team2-icon|i=fas:magnifying-glass"/>
          <p:cNvSpPr/>
          <p:nvPr/>
        </p:nvSpPr>
        <p:spPr>
          <a:xfrm>
            <a:off x="6896100" y="2143125"/>
            <a:ext cx="228600" cy="228600"/>
          </a:xfrm>
          <a:custGeom>
            <a:avLst/>
            <a:gdLst/>
            <a:ahLst/>
            <a:cxnLst/>
            <a:rect l="l" t="t" r="r" b="b"/>
            <a:pathLst>
              <a:path w="228600" h="228600">
                <a:moveTo>
                  <a:pt x="185737" y="92868"/>
                </a:moveTo>
                <a:cubicBezTo>
                  <a:pt x="185737" y="113362"/>
                  <a:pt x="179084" y="132293"/>
                  <a:pt x="167878" y="147652"/>
                </a:cubicBezTo>
                <a:lnTo>
                  <a:pt x="224403" y="204221"/>
                </a:lnTo>
                <a:cubicBezTo>
                  <a:pt x="229984" y="209803"/>
                  <a:pt x="229984" y="218866"/>
                  <a:pt x="224403" y="224447"/>
                </a:cubicBezTo>
                <a:cubicBezTo>
                  <a:pt x="218821" y="230028"/>
                  <a:pt x="209758" y="230028"/>
                  <a:pt x="204177" y="224447"/>
                </a:cubicBezTo>
                <a:lnTo>
                  <a:pt x="147652" y="167878"/>
                </a:lnTo>
                <a:cubicBezTo>
                  <a:pt x="132293" y="179129"/>
                  <a:pt x="113362" y="185737"/>
                  <a:pt x="92868" y="185737"/>
                </a:cubicBezTo>
                <a:cubicBezTo>
                  <a:pt x="41567" y="185737"/>
                  <a:pt x="0" y="144169"/>
                  <a:pt x="0" y="92868"/>
                </a:cubicBezTo>
                <a:cubicBezTo>
                  <a:pt x="0" y="41567"/>
                  <a:pt x="41567" y="0"/>
                  <a:pt x="92868" y="0"/>
                </a:cubicBezTo>
                <a:cubicBezTo>
                  <a:pt x="144169" y="0"/>
                  <a:pt x="185737" y="41567"/>
                  <a:pt x="185737" y="92868"/>
                </a:cubicBezTo>
                <a:close/>
                <a:moveTo>
                  <a:pt x="92868" y="157162"/>
                </a:moveTo>
                <a:cubicBezTo>
                  <a:pt x="128139" y="157162"/>
                  <a:pt x="157162" y="128139"/>
                  <a:pt x="157162" y="92868"/>
                </a:cubicBezTo>
                <a:cubicBezTo>
                  <a:pt x="157162" y="57598"/>
                  <a:pt x="128139" y="28575"/>
                  <a:pt x="92868" y="28575"/>
                </a:cubicBezTo>
                <a:cubicBezTo>
                  <a:pt x="57598" y="28575"/>
                  <a:pt x="28575" y="57598"/>
                  <a:pt x="28575" y="92868"/>
                </a:cubicBezTo>
                <a:cubicBezTo>
                  <a:pt x="28575" y="128139"/>
                  <a:pt x="57598" y="157162"/>
                  <a:pt x="92868" y="157162"/>
                </a:cubicBezTo>
                <a:close/>
              </a:path>
            </a:pathLst>
          </a:custGeom>
          <a:solidFill>
            <a:srgbClr val="2D6A6A"/>
          </a:solidFill>
          <a:ln>
            <a:noFill/>
          </a:ln>
          <a:effectLst/>
        </p:spPr>
      </p:sp>
      <p:sp>
        <p:nvSpPr>
          <p:cNvPr id="34" name="dsl:team2-text"/>
          <p:cNvSpPr txBox="1"/>
          <p:nvPr/>
        </p:nvSpPr>
        <p:spPr>
          <a:xfrm>
            <a:off x="7219950" y="2143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Incident Review</a:t>
            </a:r>
          </a:p>
        </p:txBody>
      </p:sp>
      <p:sp>
        <p:nvSpPr>
          <p:cNvPr id="35" name="dsl:team3-icon|i=fas:check-double"/>
          <p:cNvSpPr/>
          <p:nvPr/>
        </p:nvSpPr>
        <p:spPr>
          <a:xfrm>
            <a:off x="6910387" y="2524125"/>
            <a:ext cx="200025" cy="228600"/>
          </a:xfrm>
          <a:custGeom>
            <a:avLst/>
            <a:gdLst/>
            <a:ahLst/>
            <a:cxnLst/>
            <a:rect l="l" t="t" r="r" b="b"/>
            <a:pathLst>
              <a:path w="200025" h="228600">
                <a:moveTo>
                  <a:pt x="152965" y="38665"/>
                </a:moveTo>
                <a:cubicBezTo>
                  <a:pt x="158546" y="33084"/>
                  <a:pt x="158546" y="24020"/>
                  <a:pt x="152965" y="18439"/>
                </a:cubicBezTo>
                <a:cubicBezTo>
                  <a:pt x="147384" y="12858"/>
                  <a:pt x="138320" y="12858"/>
                  <a:pt x="132739" y="18439"/>
                </a:cubicBezTo>
                <a:lnTo>
                  <a:pt x="71437" y="79786"/>
                </a:lnTo>
                <a:lnTo>
                  <a:pt x="45809" y="54158"/>
                </a:lnTo>
                <a:cubicBezTo>
                  <a:pt x="40228" y="48577"/>
                  <a:pt x="31164" y="48577"/>
                  <a:pt x="25583" y="54158"/>
                </a:cubicBezTo>
                <a:cubicBezTo>
                  <a:pt x="20002" y="59739"/>
                  <a:pt x="20002" y="68803"/>
                  <a:pt x="25583" y="74384"/>
                </a:cubicBezTo>
                <a:lnTo>
                  <a:pt x="61302" y="110103"/>
                </a:lnTo>
                <a:cubicBezTo>
                  <a:pt x="66883" y="115684"/>
                  <a:pt x="75946" y="115684"/>
                  <a:pt x="81528" y="110103"/>
                </a:cubicBezTo>
                <a:lnTo>
                  <a:pt x="152965" y="38665"/>
                </a:lnTo>
                <a:close/>
                <a:moveTo>
                  <a:pt x="195828" y="95815"/>
                </a:moveTo>
                <a:cubicBezTo>
                  <a:pt x="201409" y="90234"/>
                  <a:pt x="201409" y="81170"/>
                  <a:pt x="195828" y="75589"/>
                </a:cubicBezTo>
                <a:cubicBezTo>
                  <a:pt x="190246" y="70008"/>
                  <a:pt x="181183" y="70008"/>
                  <a:pt x="175602" y="75589"/>
                </a:cubicBezTo>
                <a:lnTo>
                  <a:pt x="71437" y="179799"/>
                </a:lnTo>
                <a:lnTo>
                  <a:pt x="24378" y="132784"/>
                </a:lnTo>
                <a:cubicBezTo>
                  <a:pt x="18796" y="127203"/>
                  <a:pt x="9733" y="127203"/>
                  <a:pt x="4152" y="132784"/>
                </a:cubicBezTo>
                <a:cubicBezTo>
                  <a:pt x="-1428" y="138365"/>
                  <a:pt x="-1428" y="147429"/>
                  <a:pt x="4152" y="153010"/>
                </a:cubicBezTo>
                <a:lnTo>
                  <a:pt x="61302" y="210160"/>
                </a:lnTo>
                <a:cubicBezTo>
                  <a:pt x="66883" y="215741"/>
                  <a:pt x="75946" y="215741"/>
                  <a:pt x="81528" y="210160"/>
                </a:cubicBezTo>
                <a:lnTo>
                  <a:pt x="195828" y="95860"/>
                </a:lnTo>
                <a:close/>
              </a:path>
            </a:pathLst>
          </a:custGeom>
          <a:solidFill>
            <a:srgbClr val="2D6A6A"/>
          </a:solidFill>
          <a:ln>
            <a:noFill/>
          </a:ln>
          <a:effectLst/>
        </p:spPr>
      </p:sp>
      <p:sp>
        <p:nvSpPr>
          <p:cNvPr id="36" name="dsl:team3-text"/>
          <p:cNvSpPr txBox="1"/>
          <p:nvPr/>
        </p:nvSpPr>
        <p:spPr>
          <a:xfrm>
            <a:off x="7219950" y="2524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One-Click Response</a:t>
            </a:r>
          </a:p>
        </p:txBody>
      </p:sp>
      <p:sp>
        <p:nvSpPr>
          <p:cNvPr id="37" name="dsl:team4-icon|i=fas:clipboard-check"/>
          <p:cNvSpPr/>
          <p:nvPr/>
        </p:nvSpPr>
        <p:spPr>
          <a:xfrm>
            <a:off x="6924675" y="2905125"/>
            <a:ext cx="171450" cy="228600"/>
          </a:xfrm>
          <a:custGeom>
            <a:avLst/>
            <a:gdLst/>
            <a:ahLst/>
            <a:cxnLst/>
            <a:rect l="l" t="t" r="r" b="b"/>
            <a:pathLst>
              <a:path w="171450" h="228600">
                <a:moveTo>
                  <a:pt x="85725" y="0"/>
                </a:moveTo>
                <a:cubicBezTo>
                  <a:pt x="67061" y="0"/>
                  <a:pt x="51167" y="11921"/>
                  <a:pt x="45318" y="28575"/>
                </a:cubicBezTo>
                <a:lnTo>
                  <a:pt x="28575" y="28575"/>
                </a:lnTo>
                <a:cubicBezTo>
                  <a:pt x="12814" y="28575"/>
                  <a:pt x="0" y="41389"/>
                  <a:pt x="0" y="57150"/>
                </a:cubicBezTo>
                <a:lnTo>
                  <a:pt x="0" y="200025"/>
                </a:lnTo>
                <a:cubicBezTo>
                  <a:pt x="0" y="215785"/>
                  <a:pt x="12814" y="228600"/>
                  <a:pt x="28575" y="228600"/>
                </a:cubicBezTo>
                <a:lnTo>
                  <a:pt x="142875" y="228600"/>
                </a:lnTo>
                <a:cubicBezTo>
                  <a:pt x="158635" y="228600"/>
                  <a:pt x="171450" y="215785"/>
                  <a:pt x="171450" y="200025"/>
                </a:cubicBezTo>
                <a:lnTo>
                  <a:pt x="171450" y="57150"/>
                </a:lnTo>
                <a:cubicBezTo>
                  <a:pt x="171450" y="41389"/>
                  <a:pt x="158635" y="28575"/>
                  <a:pt x="142875" y="28575"/>
                </a:cubicBezTo>
                <a:lnTo>
                  <a:pt x="126131" y="28575"/>
                </a:lnTo>
                <a:cubicBezTo>
                  <a:pt x="120282" y="11921"/>
                  <a:pt x="104388" y="0"/>
                  <a:pt x="85725" y="0"/>
                </a:cubicBezTo>
                <a:close/>
                <a:moveTo>
                  <a:pt x="85725" y="28575"/>
                </a:moveTo>
                <a:cubicBezTo>
                  <a:pt x="93562" y="28575"/>
                  <a:pt x="100012" y="35024"/>
                  <a:pt x="100012" y="42862"/>
                </a:cubicBezTo>
                <a:cubicBezTo>
                  <a:pt x="100012" y="50700"/>
                  <a:pt x="93562" y="57150"/>
                  <a:pt x="85725" y="57150"/>
                </a:cubicBezTo>
                <a:cubicBezTo>
                  <a:pt x="77887" y="57150"/>
                  <a:pt x="71437" y="50700"/>
                  <a:pt x="71437" y="42862"/>
                </a:cubicBezTo>
                <a:cubicBezTo>
                  <a:pt x="71437" y="35024"/>
                  <a:pt x="77887" y="28575"/>
                  <a:pt x="85725" y="28575"/>
                </a:cubicBezTo>
                <a:close/>
                <a:moveTo>
                  <a:pt x="136177" y="121890"/>
                </a:moveTo>
                <a:lnTo>
                  <a:pt x="79027" y="179040"/>
                </a:lnTo>
                <a:cubicBezTo>
                  <a:pt x="74830" y="183237"/>
                  <a:pt x="68044" y="183237"/>
                  <a:pt x="63891" y="179040"/>
                </a:cubicBezTo>
                <a:lnTo>
                  <a:pt x="35272" y="150465"/>
                </a:lnTo>
                <a:cubicBezTo>
                  <a:pt x="31075" y="146268"/>
                  <a:pt x="31075" y="139481"/>
                  <a:pt x="35272" y="135329"/>
                </a:cubicBezTo>
                <a:cubicBezTo>
                  <a:pt x="39469" y="131177"/>
                  <a:pt x="46255" y="131132"/>
                  <a:pt x="50408" y="135329"/>
                </a:cubicBezTo>
                <a:lnTo>
                  <a:pt x="71392" y="156314"/>
                </a:lnTo>
                <a:lnTo>
                  <a:pt x="120997" y="106709"/>
                </a:lnTo>
                <a:cubicBezTo>
                  <a:pt x="125194" y="102512"/>
                  <a:pt x="131980" y="102512"/>
                  <a:pt x="136133" y="106709"/>
                </a:cubicBezTo>
                <a:cubicBezTo>
                  <a:pt x="140285" y="110906"/>
                  <a:pt x="140330" y="117693"/>
                  <a:pt x="136133" y="121845"/>
                </a:cubicBezTo>
                <a:close/>
              </a:path>
            </a:pathLst>
          </a:custGeom>
          <a:solidFill>
            <a:srgbClr val="2D6A6A"/>
          </a:solidFill>
          <a:ln>
            <a:noFill/>
          </a:ln>
          <a:effectLst/>
        </p:spPr>
      </p:sp>
      <p:sp>
        <p:nvSpPr>
          <p:cNvPr id="38" name="dsl:team4-text"/>
          <p:cNvSpPr txBox="1"/>
          <p:nvPr/>
        </p:nvSpPr>
        <p:spPr>
          <a:xfrm>
            <a:off x="7219950" y="2905125"/>
            <a:ext cx="1524000" cy="247650"/>
          </a:xfrm>
          <a:prstGeom prst="rect">
            <a:avLst/>
          </a:prstGeom>
          <a:noFill/>
        </p:spPr>
        <p:txBody>
          <a:bodyPr wrap="none" anchor="t">
            <a:noAutofit/>
          </a:bodyPr>
          <a:lstStyle/>
          <a:p>
            <a:pPr algn="l"/>
            <a:r>
              <a:rPr sz="1125" noProof="1">
                <a:solidFill>
                  <a:srgbClr val="2B2D2F"/>
                </a:solidFill>
                <a:latin typeface="QuattrocentoSans"/>
                <a:ea typeface="QuattrocentoSans"/>
              </a:rPr>
              <a:t>Audit Trail</a:t>
            </a:r>
          </a:p>
        </p:txBody>
      </p:sp>
      <p:cxnSp>
        <p:nvCxnSpPr>
          <p:cNvPr id="39" name="dsl:arrow3"/>
          <p:cNvCxnSpPr/>
          <p:nvPr/>
        </p:nvCxnSpPr>
        <p:spPr>
          <a:xfrm>
            <a:off x="8953500" y="3238500"/>
            <a:ext cx="571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40" name="dsl:col4-header"/>
          <p:cNvSpPr txBox="1"/>
          <p:nvPr/>
        </p:nvSpPr>
        <p:spPr>
          <a:xfrm>
            <a:off x="9525000" y="1143000"/>
            <a:ext cx="2095500" cy="285750"/>
          </a:xfrm>
          <a:prstGeom prst="rect">
            <a:avLst/>
          </a:prstGeom>
          <a:noFill/>
        </p:spPr>
        <p:txBody>
          <a:bodyPr wrap="none" anchor="ctr">
            <a:noAutofit/>
          </a:bodyPr>
          <a:lstStyle/>
          <a:p>
            <a:pPr algn="ctr"/>
            <a:r>
              <a:rPr b="1" sz="1200" noProof="1">
                <a:solidFill>
                  <a:srgbClr val="D4A373"/>
                </a:solidFill>
                <a:latin typeface="Liter"/>
                <a:ea typeface="Liter"/>
              </a:rPr>
              <a:t>OUTCOME</a:t>
            </a:r>
          </a:p>
        </p:txBody>
      </p:sp>
      <p:sp>
        <p:nvSpPr>
          <p:cNvPr id="41" name="dsl:col4-box"/>
          <p:cNvSpPr/>
          <p:nvPr/>
        </p:nvSpPr>
        <p:spPr>
          <a:xfrm>
            <a:off x="9525000" y="1524000"/>
            <a:ext cx="2095500" cy="3619500"/>
          </a:xfrm>
          <a:prstGeom prst="rect">
            <a:avLst/>
          </a:prstGeom>
          <a:solidFill>
            <a:srgbClr val="F5F5F2"/>
          </a:solidFill>
          <a:ln w="25400">
            <a:solidFill>
              <a:srgbClr val="D4A37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sl:outcome1"/>
          <p:cNvSpPr txBox="1"/>
          <p:nvPr/>
        </p:nvSpPr>
        <p:spPr>
          <a:xfrm>
            <a:off x="9715500" y="1905000"/>
            <a:ext cx="1714500" cy="571500"/>
          </a:xfrm>
          <a:prstGeom prst="rect">
            <a:avLst/>
          </a:prstGeom>
          <a:noFill/>
        </p:spPr>
        <p:txBody>
          <a:bodyPr wrap="square" anchor="t">
            <a:noAutofit/>
          </a:bodyPr>
          <a:lstStyle/>
          <a:p>
            <a:pPr algn="ctr">
              <a:lnSpc>
                <a:spcPct val="140000"/>
              </a:lnSpc>
            </a:pPr>
            <a:r>
              <a:rPr b="1" sz="1125" noProof="1">
                <a:solidFill>
                  <a:srgbClr val="2B2D2F"/>
                </a:solidFill>
                <a:latin typeface="QuattrocentoSans"/>
                <a:ea typeface="QuattrocentoSans"/>
              </a:rPr>
              <a:t>Faster</a:t>
            </a:r>
            <a:r>
              <a:rPr sz="1125" noProof="1">
                <a:solidFill>
                  <a:srgbClr val="2B2D2F"/>
                </a:solidFill>
                <a:latin typeface="QuattrocentoSans"/>
                <a:ea typeface="QuattrocentoSans"/>
              </a:rPr>
              <a:t> Response</a:t>
            </a:r>
          </a:p>
        </p:txBody>
      </p:sp>
      <p:sp>
        <p:nvSpPr>
          <p:cNvPr id="43" name="dsl:outcome2"/>
          <p:cNvSpPr txBox="1"/>
          <p:nvPr/>
        </p:nvSpPr>
        <p:spPr>
          <a:xfrm>
            <a:off x="9715500" y="2571750"/>
            <a:ext cx="1714500" cy="571500"/>
          </a:xfrm>
          <a:prstGeom prst="rect">
            <a:avLst/>
          </a:prstGeom>
          <a:noFill/>
        </p:spPr>
        <p:txBody>
          <a:bodyPr wrap="square" anchor="t">
            <a:noAutofit/>
          </a:bodyPr>
          <a:lstStyle/>
          <a:p>
            <a:pPr algn="ctr">
              <a:lnSpc>
                <a:spcPct val="140000"/>
              </a:lnSpc>
            </a:pPr>
            <a:r>
              <a:rPr b="1" sz="1125" noProof="1">
                <a:solidFill>
                  <a:srgbClr val="2B2D2F"/>
                </a:solidFill>
                <a:latin typeface="QuattrocentoSans"/>
                <a:ea typeface="QuattrocentoSans"/>
              </a:rPr>
              <a:t>Smarter</a:t>
            </a:r>
            <a:r>
              <a:rPr sz="1125" noProof="1">
                <a:solidFill>
                  <a:srgbClr val="2B2D2F"/>
                </a:solidFill>
                <a:latin typeface="QuattrocentoSans"/>
                <a:ea typeface="QuattrocentoSans"/>
              </a:rPr>
              <a:t> Decisions</a:t>
            </a:r>
          </a:p>
        </p:txBody>
      </p:sp>
      <p:sp>
        <p:nvSpPr>
          <p:cNvPr id="44" name="dsl:outcome3"/>
          <p:cNvSpPr txBox="1"/>
          <p:nvPr/>
        </p:nvSpPr>
        <p:spPr>
          <a:xfrm>
            <a:off x="9715500" y="3238500"/>
            <a:ext cx="1714500" cy="571500"/>
          </a:xfrm>
          <a:prstGeom prst="rect">
            <a:avLst/>
          </a:prstGeom>
          <a:noFill/>
        </p:spPr>
        <p:txBody>
          <a:bodyPr wrap="square" anchor="t">
            <a:noAutofit/>
          </a:bodyPr>
          <a:lstStyle/>
          <a:p>
            <a:pPr algn="ctr">
              <a:lnSpc>
                <a:spcPct val="140000"/>
              </a:lnSpc>
            </a:pPr>
            <a:r>
              <a:rPr b="1" sz="1125" noProof="1">
                <a:solidFill>
                  <a:srgbClr val="2B2D2F"/>
                </a:solidFill>
                <a:latin typeface="QuattrocentoSans"/>
                <a:ea typeface="QuattrocentoSans"/>
              </a:rPr>
              <a:t>Better</a:t>
            </a:r>
            <a:r>
              <a:rPr sz="1125" noProof="1">
                <a:solidFill>
                  <a:srgbClr val="2B2D2F"/>
                </a:solidFill>
                <a:latin typeface="QuattrocentoSans"/>
                <a:ea typeface="QuattrocentoSans"/>
              </a:rPr>
              <a:t> Detection</a:t>
            </a:r>
          </a:p>
        </p:txBody>
      </p:sp>
      <p:sp>
        <p:nvSpPr>
          <p:cNvPr id="45" name="dsl:outcome4"/>
          <p:cNvSpPr txBox="1"/>
          <p:nvPr/>
        </p:nvSpPr>
        <p:spPr>
          <a:xfrm>
            <a:off x="9715500" y="3905250"/>
            <a:ext cx="1714500" cy="571500"/>
          </a:xfrm>
          <a:prstGeom prst="rect">
            <a:avLst/>
          </a:prstGeom>
          <a:noFill/>
        </p:spPr>
        <p:txBody>
          <a:bodyPr wrap="square" anchor="t">
            <a:noAutofit/>
          </a:bodyPr>
          <a:lstStyle/>
          <a:p>
            <a:pPr algn="ctr">
              <a:lnSpc>
                <a:spcPct val="140000"/>
              </a:lnSpc>
            </a:pPr>
            <a:r>
              <a:rPr b="1" sz="1125" noProof="1">
                <a:solidFill>
                  <a:srgbClr val="2B2D2F"/>
                </a:solidFill>
                <a:latin typeface="QuattrocentoSans"/>
                <a:ea typeface="QuattrocentoSans"/>
              </a:rPr>
              <a:t>Stronger</a:t>
            </a:r>
            <a:r>
              <a:rPr sz="1125" noProof="1">
                <a:solidFill>
                  <a:srgbClr val="2B2D2F"/>
                </a:solidFill>
                <a:latin typeface="QuattrocentoSans"/>
                <a:ea typeface="QuattrocentoSans"/>
              </a:rPr>
              <a:t> Compliance</a:t>
            </a:r>
          </a:p>
        </p:txBody>
      </p:sp>
      <p:sp>
        <p:nvSpPr>
          <p:cNvPr id="46"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47"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big-number"/>
          <p:cNvSpPr txBox="1"/>
          <p:nvPr/>
        </p:nvSpPr>
        <p:spPr>
          <a:xfrm>
            <a:off x="571500" y="476250"/>
            <a:ext cx="3810000" cy="1905000"/>
          </a:xfrm>
          <a:prstGeom prst="rect">
            <a:avLst/>
          </a:prstGeom>
          <a:noFill/>
        </p:spPr>
        <p:txBody>
          <a:bodyPr wrap="none" anchor="t">
            <a:noAutofit/>
          </a:bodyPr>
          <a:lstStyle/>
          <a:p>
            <a:pPr algn="l"/>
            <a:r>
              <a:rPr b="1" sz="12000" noProof="1">
                <a:solidFill>
                  <a:srgbClr val="2D6A6A"/>
                </a:solidFill>
                <a:latin typeface="Liter"/>
                <a:ea typeface="Liter"/>
              </a:rPr>
              <a:t>03</a:t>
            </a:r>
          </a:p>
        </p:txBody>
      </p:sp>
      <p:sp>
        <p:nvSpPr>
          <p:cNvPr id="3" name="dsl:label"/>
          <p:cNvSpPr txBox="1"/>
          <p:nvPr/>
        </p:nvSpPr>
        <p:spPr>
          <a:xfrm>
            <a:off x="762000" y="2571750"/>
            <a:ext cx="2857500" cy="285750"/>
          </a:xfrm>
          <a:prstGeom prst="rect">
            <a:avLst/>
          </a:prstGeom>
          <a:noFill/>
        </p:spPr>
        <p:txBody>
          <a:bodyPr wrap="none" anchor="t">
            <a:noAutofit/>
          </a:bodyPr>
          <a:lstStyle/>
          <a:p>
            <a:pPr algn="l"/>
            <a:r>
              <a:rPr b="1" sz="1050" noProof="1" spc="225">
                <a:solidFill>
                  <a:srgbClr val="D4A373"/>
                </a:solidFill>
                <a:latin typeface="Liter"/>
                <a:ea typeface="Liter"/>
              </a:rPr>
              <a:t>CHAPTER THREE</a:t>
            </a:r>
          </a:p>
        </p:txBody>
      </p:sp>
      <p:sp>
        <p:nvSpPr>
          <p:cNvPr id="4" name="dsl:title|s=$heading"/>
          <p:cNvSpPr txBox="1"/>
          <p:nvPr/>
        </p:nvSpPr>
        <p:spPr>
          <a:xfrm>
            <a:off x="762000" y="2952750"/>
            <a:ext cx="6667500" cy="523875"/>
          </a:xfrm>
          <a:prstGeom prst="rect">
            <a:avLst/>
          </a:prstGeom>
          <a:noFill/>
        </p:spPr>
        <p:txBody>
          <a:bodyPr wrap="none" anchor="t">
            <a:noAutofit/>
          </a:bodyPr>
          <a:lstStyle/>
          <a:p>
            <a:pPr algn="l">
              <a:lnSpc>
                <a:spcPct val="130000"/>
              </a:lnSpc>
            </a:pPr>
            <a:r>
              <a:rPr b="1" sz="2700" noProof="1">
                <a:solidFill>
                  <a:srgbClr val="2D6A6A"/>
                </a:solidFill>
                <a:latin typeface="Liter"/>
                <a:ea typeface="Liter"/>
              </a:rPr>
              <a:t>How ARIA Works</a:t>
            </a:r>
          </a:p>
        </p:txBody>
      </p:sp>
      <p:sp>
        <p:nvSpPr>
          <p:cNvPr id="5" name="dsl:title-line"/>
          <p:cNvSpPr/>
          <p:nvPr/>
        </p:nvSpPr>
        <p:spPr>
          <a:xfrm>
            <a:off x="762000" y="3571875"/>
            <a:ext cx="762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subtitle|s=$subtitle"/>
          <p:cNvSpPr txBox="1"/>
          <p:nvPr/>
        </p:nvSpPr>
        <p:spPr>
          <a:xfrm>
            <a:off x="762000" y="3810000"/>
            <a:ext cx="5715000" cy="381000"/>
          </a:xfrm>
          <a:prstGeom prst="rect">
            <a:avLst/>
          </a:prstGeom>
          <a:noFill/>
        </p:spPr>
        <p:txBody>
          <a:bodyPr wrap="none" anchor="t">
            <a:noAutofit/>
          </a:bodyPr>
          <a:lstStyle/>
          <a:p>
            <a:pPr algn="l">
              <a:lnSpc>
                <a:spcPct val="140000"/>
              </a:lnSpc>
            </a:pPr>
            <a:r>
              <a:rPr sz="1650" noProof="1">
                <a:solidFill>
                  <a:srgbClr val="5C6B73"/>
                </a:solidFill>
                <a:latin typeface="QuattrocentoSans"/>
                <a:ea typeface="QuattrocentoSans"/>
              </a:rPr>
              <a:t>From raw alerts to closed cases</a:t>
            </a:r>
          </a:p>
        </p:txBody>
      </p:sp>
      <p:sp>
        <p:nvSpPr>
          <p:cNvPr id="7" name="dsl:deco-shape"/>
          <p:cNvSpPr/>
          <p:nvPr/>
        </p:nvSpPr>
        <p:spPr>
          <a:xfrm>
            <a:off x="10477500" y="1905000"/>
            <a:ext cx="1143000" cy="30480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deco-line"/>
          <p:cNvSpPr/>
          <p:nvPr/>
        </p:nvSpPr>
        <p:spPr>
          <a:xfrm>
            <a:off x="10477500" y="1905000"/>
            <a:ext cx="11430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03  HOW ARIA WORKS</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57150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The Incident Lifecycle</a:t>
            </a:r>
          </a:p>
        </p:txBody>
      </p:sp>
      <p:sp>
        <p:nvSpPr>
          <p:cNvPr id="5" name="dsl:s1-bg"/>
          <p:cNvSpPr/>
          <p:nvPr/>
        </p:nvSpPr>
        <p:spPr>
          <a:xfrm>
            <a:off x="571500" y="1619250"/>
            <a:ext cx="2057400" cy="666750"/>
          </a:xfrm>
          <a:prstGeom prst="chevron">
            <a:avLst>
              <a:gd name="adj" fmla="val 20000"/>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s1-num"/>
          <p:cNvSpPr txBox="1"/>
          <p:nvPr/>
        </p:nvSpPr>
        <p:spPr>
          <a:xfrm>
            <a:off x="666750" y="164782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01</a:t>
            </a:r>
          </a:p>
        </p:txBody>
      </p:sp>
      <p:sp>
        <p:nvSpPr>
          <p:cNvPr id="7" name="dsl:s1-text"/>
          <p:cNvSpPr txBox="1"/>
          <p:nvPr/>
        </p:nvSpPr>
        <p:spPr>
          <a:xfrm>
            <a:off x="666750" y="1838325"/>
            <a:ext cx="1524000" cy="381000"/>
          </a:xfrm>
          <a:prstGeom prst="rect">
            <a:avLst/>
          </a:prstGeom>
          <a:noFill/>
        </p:spPr>
        <p:txBody>
          <a:bodyPr wrap="none" anchor="ctr">
            <a:noAutofit/>
          </a:bodyPr>
          <a:lstStyle/>
          <a:p>
            <a:pPr algn="l"/>
            <a:r>
              <a:rPr b="1" sz="1200" noProof="1">
                <a:solidFill>
                  <a:srgbClr val="FFFFFF"/>
                </a:solidFill>
                <a:latin typeface="Liter"/>
                <a:ea typeface="Liter"/>
              </a:rPr>
              <a:t>COLLECT</a:t>
            </a:r>
          </a:p>
        </p:txBody>
      </p:sp>
      <p:cxnSp>
        <p:nvCxnSpPr>
          <p:cNvPr id="8" name="dsl:arr12"/>
          <p:cNvCxnSpPr/>
          <p:nvPr/>
        </p:nvCxnSpPr>
        <p:spPr>
          <a:xfrm>
            <a:off x="2628900" y="195262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9" name="dsl:s2-bg"/>
          <p:cNvSpPr/>
          <p:nvPr/>
        </p:nvSpPr>
        <p:spPr>
          <a:xfrm>
            <a:off x="2819400" y="1619250"/>
            <a:ext cx="2057400" cy="666750"/>
          </a:xfrm>
          <a:prstGeom prst="chevron">
            <a:avLst>
              <a:gd name="adj" fmla="val 20000"/>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l:s2-num"/>
          <p:cNvSpPr txBox="1"/>
          <p:nvPr/>
        </p:nvSpPr>
        <p:spPr>
          <a:xfrm>
            <a:off x="2914650" y="164782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02</a:t>
            </a:r>
          </a:p>
        </p:txBody>
      </p:sp>
      <p:sp>
        <p:nvSpPr>
          <p:cNvPr id="11" name="dsl:s2-text"/>
          <p:cNvSpPr txBox="1"/>
          <p:nvPr/>
        </p:nvSpPr>
        <p:spPr>
          <a:xfrm>
            <a:off x="2914650" y="1838325"/>
            <a:ext cx="1524000" cy="381000"/>
          </a:xfrm>
          <a:prstGeom prst="rect">
            <a:avLst/>
          </a:prstGeom>
          <a:noFill/>
        </p:spPr>
        <p:txBody>
          <a:bodyPr wrap="none" anchor="ctr">
            <a:noAutofit/>
          </a:bodyPr>
          <a:lstStyle/>
          <a:p>
            <a:pPr algn="l"/>
            <a:r>
              <a:rPr b="1" sz="1200" noProof="1">
                <a:solidFill>
                  <a:srgbClr val="FFFFFF"/>
                </a:solidFill>
                <a:latin typeface="Liter"/>
                <a:ea typeface="Liter"/>
              </a:rPr>
              <a:t>NORMALIZE</a:t>
            </a:r>
          </a:p>
        </p:txBody>
      </p:sp>
      <p:cxnSp>
        <p:nvCxnSpPr>
          <p:cNvPr id="12" name="dsl:arr23"/>
          <p:cNvCxnSpPr/>
          <p:nvPr/>
        </p:nvCxnSpPr>
        <p:spPr>
          <a:xfrm>
            <a:off x="4876800" y="195262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3" name="dsl:s3-bg"/>
          <p:cNvSpPr/>
          <p:nvPr/>
        </p:nvSpPr>
        <p:spPr>
          <a:xfrm>
            <a:off x="5067300" y="1619250"/>
            <a:ext cx="2057400" cy="666750"/>
          </a:xfrm>
          <a:prstGeom prst="chevron">
            <a:avLst>
              <a:gd name="adj" fmla="val 20000"/>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s3-num"/>
          <p:cNvSpPr txBox="1"/>
          <p:nvPr/>
        </p:nvSpPr>
        <p:spPr>
          <a:xfrm>
            <a:off x="5162550" y="164782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03</a:t>
            </a:r>
          </a:p>
        </p:txBody>
      </p:sp>
      <p:sp>
        <p:nvSpPr>
          <p:cNvPr id="15" name="dsl:s3-text"/>
          <p:cNvSpPr txBox="1"/>
          <p:nvPr/>
        </p:nvSpPr>
        <p:spPr>
          <a:xfrm>
            <a:off x="5162550" y="1838325"/>
            <a:ext cx="1524000" cy="381000"/>
          </a:xfrm>
          <a:prstGeom prst="rect">
            <a:avLst/>
          </a:prstGeom>
          <a:noFill/>
        </p:spPr>
        <p:txBody>
          <a:bodyPr wrap="none" anchor="ctr">
            <a:noAutofit/>
          </a:bodyPr>
          <a:lstStyle/>
          <a:p>
            <a:pPr algn="l"/>
            <a:r>
              <a:rPr b="1" sz="1200" noProof="1">
                <a:solidFill>
                  <a:srgbClr val="FFFFFF"/>
                </a:solidFill>
                <a:latin typeface="Liter"/>
                <a:ea typeface="Liter"/>
              </a:rPr>
              <a:t>ENRICH</a:t>
            </a:r>
          </a:p>
        </p:txBody>
      </p:sp>
      <p:cxnSp>
        <p:nvCxnSpPr>
          <p:cNvPr id="16" name="dsl:arr34"/>
          <p:cNvCxnSpPr/>
          <p:nvPr/>
        </p:nvCxnSpPr>
        <p:spPr>
          <a:xfrm>
            <a:off x="7124700" y="195262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7" name="dsl:s4-bg"/>
          <p:cNvSpPr/>
          <p:nvPr/>
        </p:nvSpPr>
        <p:spPr>
          <a:xfrm>
            <a:off x="7315200" y="1619250"/>
            <a:ext cx="2057400" cy="666750"/>
          </a:xfrm>
          <a:prstGeom prst="chevron">
            <a:avLst>
              <a:gd name="adj" fmla="val 20000"/>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l:s4-num"/>
          <p:cNvSpPr txBox="1"/>
          <p:nvPr/>
        </p:nvSpPr>
        <p:spPr>
          <a:xfrm>
            <a:off x="7410450" y="164782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04</a:t>
            </a:r>
          </a:p>
        </p:txBody>
      </p:sp>
      <p:sp>
        <p:nvSpPr>
          <p:cNvPr id="19" name="dsl:s4-text"/>
          <p:cNvSpPr txBox="1"/>
          <p:nvPr/>
        </p:nvSpPr>
        <p:spPr>
          <a:xfrm>
            <a:off x="7410450" y="1838325"/>
            <a:ext cx="1524000" cy="381000"/>
          </a:xfrm>
          <a:prstGeom prst="rect">
            <a:avLst/>
          </a:prstGeom>
          <a:noFill/>
        </p:spPr>
        <p:txBody>
          <a:bodyPr wrap="none" anchor="ctr">
            <a:noAutofit/>
          </a:bodyPr>
          <a:lstStyle/>
          <a:p>
            <a:pPr algn="l"/>
            <a:r>
              <a:rPr b="1" sz="1200" noProof="1">
                <a:solidFill>
                  <a:srgbClr val="FFFFFF"/>
                </a:solidFill>
                <a:latin typeface="Liter"/>
                <a:ea typeface="Liter"/>
              </a:rPr>
              <a:t>FILTER</a:t>
            </a:r>
          </a:p>
        </p:txBody>
      </p:sp>
      <p:cxnSp>
        <p:nvCxnSpPr>
          <p:cNvPr id="20" name="dsl:arr45"/>
          <p:cNvCxnSpPr/>
          <p:nvPr/>
        </p:nvCxnSpPr>
        <p:spPr>
          <a:xfrm>
            <a:off x="9372600" y="195262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1" name="dsl:s5-bg"/>
          <p:cNvSpPr/>
          <p:nvPr/>
        </p:nvSpPr>
        <p:spPr>
          <a:xfrm>
            <a:off x="9563100" y="1619250"/>
            <a:ext cx="2057400" cy="666750"/>
          </a:xfrm>
          <a:prstGeom prst="chevron">
            <a:avLst>
              <a:gd name="adj" fmla="val 20000"/>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s5-num"/>
          <p:cNvSpPr txBox="1"/>
          <p:nvPr/>
        </p:nvSpPr>
        <p:spPr>
          <a:xfrm>
            <a:off x="9658350" y="164782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05</a:t>
            </a:r>
          </a:p>
        </p:txBody>
      </p:sp>
      <p:sp>
        <p:nvSpPr>
          <p:cNvPr id="23" name="dsl:s5-text"/>
          <p:cNvSpPr txBox="1"/>
          <p:nvPr/>
        </p:nvSpPr>
        <p:spPr>
          <a:xfrm>
            <a:off x="9658350" y="1838325"/>
            <a:ext cx="1524000" cy="381000"/>
          </a:xfrm>
          <a:prstGeom prst="rect">
            <a:avLst/>
          </a:prstGeom>
          <a:noFill/>
        </p:spPr>
        <p:txBody>
          <a:bodyPr wrap="none" anchor="ctr">
            <a:noAutofit/>
          </a:bodyPr>
          <a:lstStyle/>
          <a:p>
            <a:pPr algn="l"/>
            <a:r>
              <a:rPr b="1" sz="1200" noProof="1">
                <a:solidFill>
                  <a:srgbClr val="FFFFFF"/>
                </a:solidFill>
                <a:latin typeface="Liter"/>
                <a:ea typeface="Liter"/>
              </a:rPr>
              <a:t>CORRELATE</a:t>
            </a:r>
          </a:p>
        </p:txBody>
      </p:sp>
      <p:cxnSp>
        <p:nvCxnSpPr>
          <p:cNvPr id="24" name="dsl:arr-down"/>
          <p:cNvCxnSpPr/>
          <p:nvPr/>
        </p:nvCxnSpPr>
        <p:spPr>
          <a:xfrm>
            <a:off x="8763000" y="2286000"/>
            <a:ext cx="0" cy="47625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5" name="dsl:s10-bg"/>
          <p:cNvSpPr/>
          <p:nvPr/>
        </p:nvSpPr>
        <p:spPr>
          <a:xfrm flipH="1">
            <a:off x="9563100" y="2857500"/>
            <a:ext cx="2057400" cy="666750"/>
          </a:xfrm>
          <a:prstGeom prst="chevron">
            <a:avLst>
              <a:gd name="adj" fmla="val 20000"/>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s10-num"/>
          <p:cNvSpPr txBox="1"/>
          <p:nvPr/>
        </p:nvSpPr>
        <p:spPr>
          <a:xfrm>
            <a:off x="10896600" y="288607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10</a:t>
            </a:r>
          </a:p>
        </p:txBody>
      </p:sp>
      <p:sp>
        <p:nvSpPr>
          <p:cNvPr id="27" name="dsl:s10-text"/>
          <p:cNvSpPr txBox="1"/>
          <p:nvPr/>
        </p:nvSpPr>
        <p:spPr>
          <a:xfrm>
            <a:off x="9753600" y="3076575"/>
            <a:ext cx="1524000" cy="381000"/>
          </a:xfrm>
          <a:prstGeom prst="rect">
            <a:avLst/>
          </a:prstGeom>
          <a:noFill/>
        </p:spPr>
        <p:txBody>
          <a:bodyPr wrap="none" anchor="ctr">
            <a:noAutofit/>
          </a:bodyPr>
          <a:lstStyle/>
          <a:p>
            <a:pPr algn="r"/>
            <a:r>
              <a:rPr b="1" sz="1200" noProof="1">
                <a:solidFill>
                  <a:srgbClr val="FFFFFF"/>
                </a:solidFill>
                <a:latin typeface="Liter"/>
                <a:ea typeface="Liter"/>
              </a:rPr>
              <a:t>ARCHIVE</a:t>
            </a:r>
          </a:p>
        </p:txBody>
      </p:sp>
      <p:cxnSp>
        <p:nvCxnSpPr>
          <p:cNvPr id="28" name="dsl:arr109"/>
          <p:cNvCxnSpPr/>
          <p:nvPr/>
        </p:nvCxnSpPr>
        <p:spPr>
          <a:xfrm flipH="1">
            <a:off x="9372600" y="319087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9" name="dsl:s9-bg"/>
          <p:cNvSpPr/>
          <p:nvPr/>
        </p:nvSpPr>
        <p:spPr>
          <a:xfrm flipH="1">
            <a:off x="7315200" y="2857500"/>
            <a:ext cx="2057400" cy="666750"/>
          </a:xfrm>
          <a:prstGeom prst="chevron">
            <a:avLst>
              <a:gd name="adj" fmla="val 20000"/>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s9-num"/>
          <p:cNvSpPr txBox="1"/>
          <p:nvPr/>
        </p:nvSpPr>
        <p:spPr>
          <a:xfrm>
            <a:off x="8648700" y="288607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09</a:t>
            </a:r>
          </a:p>
        </p:txBody>
      </p:sp>
      <p:sp>
        <p:nvSpPr>
          <p:cNvPr id="31" name="dsl:s9-text"/>
          <p:cNvSpPr txBox="1"/>
          <p:nvPr/>
        </p:nvSpPr>
        <p:spPr>
          <a:xfrm>
            <a:off x="7505700" y="3076575"/>
            <a:ext cx="1524000" cy="381000"/>
          </a:xfrm>
          <a:prstGeom prst="rect">
            <a:avLst/>
          </a:prstGeom>
          <a:noFill/>
        </p:spPr>
        <p:txBody>
          <a:bodyPr wrap="none" anchor="ctr">
            <a:noAutofit/>
          </a:bodyPr>
          <a:lstStyle/>
          <a:p>
            <a:pPr algn="r"/>
            <a:r>
              <a:rPr b="1" sz="1200" noProof="1">
                <a:solidFill>
                  <a:srgbClr val="FFFFFF"/>
                </a:solidFill>
                <a:latin typeface="Liter"/>
                <a:ea typeface="Liter"/>
              </a:rPr>
              <a:t>VERIFY</a:t>
            </a:r>
          </a:p>
        </p:txBody>
      </p:sp>
      <p:cxnSp>
        <p:nvCxnSpPr>
          <p:cNvPr id="32" name="dsl:arr98"/>
          <p:cNvCxnSpPr/>
          <p:nvPr/>
        </p:nvCxnSpPr>
        <p:spPr>
          <a:xfrm flipH="1">
            <a:off x="7124700" y="319087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3" name="dsl:s8-bg"/>
          <p:cNvSpPr/>
          <p:nvPr/>
        </p:nvSpPr>
        <p:spPr>
          <a:xfrm flipH="1">
            <a:off x="5067300" y="2857500"/>
            <a:ext cx="2057400" cy="666750"/>
          </a:xfrm>
          <a:prstGeom prst="chevron">
            <a:avLst>
              <a:gd name="adj" fmla="val 20000"/>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s8-num"/>
          <p:cNvSpPr txBox="1"/>
          <p:nvPr/>
        </p:nvSpPr>
        <p:spPr>
          <a:xfrm>
            <a:off x="6400800" y="288607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08</a:t>
            </a:r>
          </a:p>
        </p:txBody>
      </p:sp>
      <p:sp>
        <p:nvSpPr>
          <p:cNvPr id="35" name="dsl:s8-text"/>
          <p:cNvSpPr txBox="1"/>
          <p:nvPr/>
        </p:nvSpPr>
        <p:spPr>
          <a:xfrm>
            <a:off x="5257800" y="3076575"/>
            <a:ext cx="1524000" cy="381000"/>
          </a:xfrm>
          <a:prstGeom prst="rect">
            <a:avLst/>
          </a:prstGeom>
          <a:noFill/>
        </p:spPr>
        <p:txBody>
          <a:bodyPr wrap="none" anchor="ctr">
            <a:noAutofit/>
          </a:bodyPr>
          <a:lstStyle/>
          <a:p>
            <a:pPr algn="r"/>
            <a:r>
              <a:rPr b="1" sz="1200" noProof="1">
                <a:solidFill>
                  <a:srgbClr val="FFFFFF"/>
                </a:solidFill>
                <a:latin typeface="Liter"/>
                <a:ea typeface="Liter"/>
              </a:rPr>
              <a:t>RESPOND</a:t>
            </a:r>
          </a:p>
        </p:txBody>
      </p:sp>
      <p:cxnSp>
        <p:nvCxnSpPr>
          <p:cNvPr id="36" name="dsl:arr87"/>
          <p:cNvCxnSpPr/>
          <p:nvPr/>
        </p:nvCxnSpPr>
        <p:spPr>
          <a:xfrm flipH="1">
            <a:off x="4876800" y="319087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7" name="dsl:s7-bg"/>
          <p:cNvSpPr/>
          <p:nvPr/>
        </p:nvSpPr>
        <p:spPr>
          <a:xfrm flipH="1">
            <a:off x="2819400" y="2857500"/>
            <a:ext cx="2057400" cy="666750"/>
          </a:xfrm>
          <a:prstGeom prst="chevron">
            <a:avLst>
              <a:gd name="adj" fmla="val 20000"/>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sl:s7-num"/>
          <p:cNvSpPr txBox="1"/>
          <p:nvPr/>
        </p:nvSpPr>
        <p:spPr>
          <a:xfrm>
            <a:off x="4152900" y="288607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07</a:t>
            </a:r>
          </a:p>
        </p:txBody>
      </p:sp>
      <p:sp>
        <p:nvSpPr>
          <p:cNvPr id="39" name="dsl:s7-text"/>
          <p:cNvSpPr txBox="1"/>
          <p:nvPr/>
        </p:nvSpPr>
        <p:spPr>
          <a:xfrm>
            <a:off x="3009900" y="3076575"/>
            <a:ext cx="1524000" cy="381000"/>
          </a:xfrm>
          <a:prstGeom prst="rect">
            <a:avLst/>
          </a:prstGeom>
          <a:noFill/>
        </p:spPr>
        <p:txBody>
          <a:bodyPr wrap="none" anchor="ctr">
            <a:noAutofit/>
          </a:bodyPr>
          <a:lstStyle/>
          <a:p>
            <a:pPr algn="r"/>
            <a:r>
              <a:rPr b="1" sz="1200" noProof="1">
                <a:solidFill>
                  <a:srgbClr val="FFFFFF"/>
                </a:solidFill>
                <a:latin typeface="Liter"/>
                <a:ea typeface="Liter"/>
              </a:rPr>
              <a:t>REVIEW</a:t>
            </a:r>
          </a:p>
        </p:txBody>
      </p:sp>
      <p:cxnSp>
        <p:nvCxnSpPr>
          <p:cNvPr id="40" name="dsl:arr76"/>
          <p:cNvCxnSpPr/>
          <p:nvPr/>
        </p:nvCxnSpPr>
        <p:spPr>
          <a:xfrm flipH="1">
            <a:off x="2628900" y="3190875"/>
            <a:ext cx="19050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41" name="dsl:s6-bg"/>
          <p:cNvSpPr/>
          <p:nvPr/>
        </p:nvSpPr>
        <p:spPr>
          <a:xfrm flipH="1">
            <a:off x="571500" y="2857500"/>
            <a:ext cx="2057400" cy="666750"/>
          </a:xfrm>
          <a:prstGeom prst="chevron">
            <a:avLst>
              <a:gd name="adj" fmla="val 20000"/>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sl:s6-num"/>
          <p:cNvSpPr txBox="1"/>
          <p:nvPr/>
        </p:nvSpPr>
        <p:spPr>
          <a:xfrm>
            <a:off x="1905000" y="2886075"/>
            <a:ext cx="476250" cy="190500"/>
          </a:xfrm>
          <a:prstGeom prst="rect">
            <a:avLst/>
          </a:prstGeom>
          <a:noFill/>
        </p:spPr>
        <p:txBody>
          <a:bodyPr wrap="none" anchor="t">
            <a:noAutofit/>
          </a:bodyPr>
          <a:lstStyle/>
          <a:p>
            <a:pPr algn="l"/>
            <a:r>
              <a:rPr sz="825" noProof="1">
                <a:solidFill>
                  <a:srgbClr val="FFFFFF">
                    <a:alpha val="53333"/>
                  </a:srgbClr>
                </a:solidFill>
                <a:latin typeface="Liter"/>
                <a:ea typeface="Liter"/>
              </a:rPr>
              <a:t>06</a:t>
            </a:r>
          </a:p>
        </p:txBody>
      </p:sp>
      <p:sp>
        <p:nvSpPr>
          <p:cNvPr id="43" name="dsl:s6-text"/>
          <p:cNvSpPr txBox="1"/>
          <p:nvPr/>
        </p:nvSpPr>
        <p:spPr>
          <a:xfrm>
            <a:off x="762000" y="3076575"/>
            <a:ext cx="1524000" cy="381000"/>
          </a:xfrm>
          <a:prstGeom prst="rect">
            <a:avLst/>
          </a:prstGeom>
          <a:noFill/>
        </p:spPr>
        <p:txBody>
          <a:bodyPr wrap="none" anchor="ctr">
            <a:noAutofit/>
          </a:bodyPr>
          <a:lstStyle/>
          <a:p>
            <a:pPr algn="r"/>
            <a:r>
              <a:rPr b="1" sz="1200" noProof="1">
                <a:solidFill>
                  <a:srgbClr val="FFFFFF"/>
                </a:solidFill>
                <a:latin typeface="Liter"/>
                <a:ea typeface="Liter"/>
              </a:rPr>
              <a:t>ANALYZE</a:t>
            </a:r>
          </a:p>
        </p:txBody>
      </p:sp>
      <p:sp>
        <p:nvSpPr>
          <p:cNvPr id="44" name="dsl:desc1"/>
          <p:cNvSpPr txBox="1"/>
          <p:nvPr/>
        </p:nvSpPr>
        <p:spPr>
          <a:xfrm>
            <a:off x="571500" y="2333625"/>
            <a:ext cx="2057400" cy="266700"/>
          </a:xfrm>
          <a:prstGeom prst="rect">
            <a:avLst/>
          </a:prstGeom>
          <a:noFill/>
        </p:spPr>
        <p:txBody>
          <a:bodyPr wrap="none" anchor="t">
            <a:noAutofit/>
          </a:bodyPr>
          <a:lstStyle/>
          <a:p>
            <a:pPr algn="ctr"/>
            <a:r>
              <a:rPr sz="825" noProof="1">
                <a:solidFill>
                  <a:srgbClr val="5C6B73"/>
                </a:solidFill>
                <a:latin typeface="QuattrocentoSans"/>
                <a:ea typeface="QuattrocentoSans"/>
              </a:rPr>
              <a:t>Events from all layers</a:t>
            </a:r>
          </a:p>
        </p:txBody>
      </p:sp>
      <p:sp>
        <p:nvSpPr>
          <p:cNvPr id="45" name="dsl:desc3"/>
          <p:cNvSpPr txBox="1"/>
          <p:nvPr/>
        </p:nvSpPr>
        <p:spPr>
          <a:xfrm>
            <a:off x="5067300" y="2333625"/>
            <a:ext cx="2057400" cy="266700"/>
          </a:xfrm>
          <a:prstGeom prst="rect">
            <a:avLst/>
          </a:prstGeom>
          <a:noFill/>
        </p:spPr>
        <p:txBody>
          <a:bodyPr wrap="none" anchor="t">
            <a:noAutofit/>
          </a:bodyPr>
          <a:lstStyle/>
          <a:p>
            <a:pPr algn="ctr"/>
            <a:r>
              <a:rPr sz="825" noProof="1">
                <a:solidFill>
                  <a:srgbClr val="5C6B73"/>
                </a:solidFill>
                <a:latin typeface="QuattrocentoSans"/>
                <a:ea typeface="QuattrocentoSans"/>
              </a:rPr>
              <a:t>Context &amp; threat intel</a:t>
            </a:r>
          </a:p>
        </p:txBody>
      </p:sp>
      <p:sp>
        <p:nvSpPr>
          <p:cNvPr id="46" name="dsl:desc5"/>
          <p:cNvSpPr txBox="1"/>
          <p:nvPr/>
        </p:nvSpPr>
        <p:spPr>
          <a:xfrm>
            <a:off x="9563100" y="2333625"/>
            <a:ext cx="2057400" cy="266700"/>
          </a:xfrm>
          <a:prstGeom prst="rect">
            <a:avLst/>
          </a:prstGeom>
          <a:noFill/>
        </p:spPr>
        <p:txBody>
          <a:bodyPr wrap="none" anchor="t">
            <a:noAutofit/>
          </a:bodyPr>
          <a:lstStyle/>
          <a:p>
            <a:pPr algn="ctr"/>
            <a:r>
              <a:rPr sz="825" noProof="1">
                <a:solidFill>
                  <a:srgbClr val="5C6B73"/>
                </a:solidFill>
                <a:latin typeface="QuattrocentoSans"/>
                <a:ea typeface="QuattrocentoSans"/>
              </a:rPr>
              <a:t>Group related alerts</a:t>
            </a:r>
          </a:p>
        </p:txBody>
      </p:sp>
      <p:sp>
        <p:nvSpPr>
          <p:cNvPr id="47" name="dsl:desc6"/>
          <p:cNvSpPr txBox="1"/>
          <p:nvPr/>
        </p:nvSpPr>
        <p:spPr>
          <a:xfrm>
            <a:off x="571500" y="3571875"/>
            <a:ext cx="2057400" cy="266700"/>
          </a:xfrm>
          <a:prstGeom prst="rect">
            <a:avLst/>
          </a:prstGeom>
          <a:noFill/>
        </p:spPr>
        <p:txBody>
          <a:bodyPr wrap="none" anchor="t">
            <a:noAutofit/>
          </a:bodyPr>
          <a:lstStyle/>
          <a:p>
            <a:pPr algn="ctr"/>
            <a:r>
              <a:rPr sz="825" noProof="1">
                <a:solidFill>
                  <a:srgbClr val="5C6B73"/>
                </a:solidFill>
                <a:latin typeface="QuattrocentoSans"/>
                <a:ea typeface="QuattrocentoSans"/>
              </a:rPr>
              <a:t>AI summary &amp; risk score</a:t>
            </a:r>
          </a:p>
        </p:txBody>
      </p:sp>
      <p:sp>
        <p:nvSpPr>
          <p:cNvPr id="48" name="dsl:desc8"/>
          <p:cNvSpPr txBox="1"/>
          <p:nvPr/>
        </p:nvSpPr>
        <p:spPr>
          <a:xfrm>
            <a:off x="5067300" y="3571875"/>
            <a:ext cx="2057400" cy="266700"/>
          </a:xfrm>
          <a:prstGeom prst="rect">
            <a:avLst/>
          </a:prstGeom>
          <a:noFill/>
        </p:spPr>
        <p:txBody>
          <a:bodyPr wrap="none" anchor="t">
            <a:noAutofit/>
          </a:bodyPr>
          <a:lstStyle/>
          <a:p>
            <a:pPr algn="ctr"/>
            <a:r>
              <a:rPr sz="825" noProof="1">
                <a:solidFill>
                  <a:srgbClr val="5C6B73"/>
                </a:solidFill>
                <a:latin typeface="QuattrocentoSans"/>
                <a:ea typeface="QuattrocentoSans"/>
              </a:rPr>
              <a:t>Execute playbooks</a:t>
            </a:r>
          </a:p>
        </p:txBody>
      </p:sp>
      <p:sp>
        <p:nvSpPr>
          <p:cNvPr id="49" name="dsl:desc10"/>
          <p:cNvSpPr txBox="1"/>
          <p:nvPr/>
        </p:nvSpPr>
        <p:spPr>
          <a:xfrm>
            <a:off x="9563100" y="3571875"/>
            <a:ext cx="2057400" cy="266700"/>
          </a:xfrm>
          <a:prstGeom prst="rect">
            <a:avLst/>
          </a:prstGeom>
          <a:noFill/>
        </p:spPr>
        <p:txBody>
          <a:bodyPr wrap="none" anchor="t">
            <a:noAutofit/>
          </a:bodyPr>
          <a:lstStyle/>
          <a:p>
            <a:pPr algn="ctr"/>
            <a:r>
              <a:rPr sz="825" noProof="1">
                <a:solidFill>
                  <a:srgbClr val="5C6B73"/>
                </a:solidFill>
                <a:latin typeface="QuattrocentoSans"/>
                <a:ea typeface="QuattrocentoSans"/>
              </a:rPr>
              <a:t>Full audit trail</a:t>
            </a:r>
          </a:p>
        </p:txBody>
      </p:sp>
      <p:sp>
        <p:nvSpPr>
          <p:cNvPr id="50" name="dsl:label-ingest"/>
          <p:cNvSpPr txBox="1"/>
          <p:nvPr/>
        </p:nvSpPr>
        <p:spPr>
          <a:xfrm>
            <a:off x="571500" y="4000500"/>
            <a:ext cx="5143500" cy="266700"/>
          </a:xfrm>
          <a:prstGeom prst="rect">
            <a:avLst/>
          </a:prstGeom>
          <a:noFill/>
        </p:spPr>
        <p:txBody>
          <a:bodyPr wrap="none" anchor="ctr">
            <a:noAutofit/>
          </a:bodyPr>
          <a:lstStyle/>
          <a:p>
            <a:pPr algn="ctr"/>
            <a:r>
              <a:rPr b="1" sz="975" noProof="1" spc="75">
                <a:solidFill>
                  <a:srgbClr val="2D6A6A"/>
                </a:solidFill>
                <a:latin typeface="Liter"/>
                <a:ea typeface="Liter"/>
              </a:rPr>
              <a:t>INGESTION &amp; PROCESSING</a:t>
            </a:r>
          </a:p>
        </p:txBody>
      </p:sp>
      <p:sp>
        <p:nvSpPr>
          <p:cNvPr id="51" name="dsl:label-action"/>
          <p:cNvSpPr txBox="1"/>
          <p:nvPr/>
        </p:nvSpPr>
        <p:spPr>
          <a:xfrm>
            <a:off x="6477000" y="4000500"/>
            <a:ext cx="5143500" cy="266700"/>
          </a:xfrm>
          <a:prstGeom prst="rect">
            <a:avLst/>
          </a:prstGeom>
          <a:noFill/>
        </p:spPr>
        <p:txBody>
          <a:bodyPr wrap="none" anchor="ctr">
            <a:noAutofit/>
          </a:bodyPr>
          <a:lstStyle/>
          <a:p>
            <a:pPr algn="ctr"/>
            <a:r>
              <a:rPr b="1" sz="975" noProof="1" spc="75">
                <a:solidFill>
                  <a:srgbClr val="D4A373"/>
                </a:solidFill>
                <a:latin typeface="Liter"/>
                <a:ea typeface="Liter"/>
              </a:rPr>
              <a:t>ANALYSIS &amp; RESPONSE</a:t>
            </a:r>
          </a:p>
        </p:txBody>
      </p:sp>
      <p:sp>
        <p:nvSpPr>
          <p:cNvPr id="52" name="dsl:summary"/>
          <p:cNvSpPr txBox="1"/>
          <p:nvPr/>
        </p:nvSpPr>
        <p:spPr>
          <a:xfrm>
            <a:off x="1905000" y="4476750"/>
            <a:ext cx="8382000" cy="762000"/>
          </a:xfrm>
          <a:prstGeom prst="rect">
            <a:avLst/>
          </a:prstGeom>
          <a:noFill/>
        </p:spPr>
        <p:txBody>
          <a:bodyPr wrap="square" anchor="t">
            <a:noAutofit/>
          </a:bodyPr>
          <a:lstStyle/>
          <a:p>
            <a:pPr algn="ctr">
              <a:lnSpc>
                <a:spcPct val="150000"/>
              </a:lnSpc>
            </a:pPr>
            <a:r>
              <a:rPr b="1" sz="1200" noProof="1">
                <a:solidFill>
                  <a:srgbClr val="2B2D2F"/>
                </a:solidFill>
                <a:latin typeface="QuattrocentoSans"/>
                <a:ea typeface="QuattrocentoSans"/>
              </a:rPr>
              <a:t>Raw alerts enter.</a:t>
            </a:r>
            <a:r>
              <a:rPr sz="1200" noProof="1">
                <a:solidFill>
                  <a:srgbClr val="2B2D2F"/>
                </a:solidFill>
                <a:latin typeface="QuattrocentoSans"/>
                <a:ea typeface="QuattrocentoSans"/>
              </a:rPr>
              <a:t> Through enrichment, correlation, and AI analysis, </a:t>
            </a:r>
            <a:r>
              <a:rPr b="1" sz="1200" noProof="1">
                <a:solidFill>
                  <a:srgbClr val="2B2D2F"/>
                </a:solidFill>
                <a:latin typeface="QuattrocentoSans"/>
                <a:ea typeface="QuattrocentoSans"/>
              </a:rPr>
              <a:t>closed cases exit.</a:t>
            </a:r>
          </a:p>
          <a:p>
            <a:pPr algn="ctr">
              <a:lnSpc>
                <a:spcPct val="150000"/>
              </a:lnSpc>
            </a:pPr>
            <a:r>
              <a:rPr sz="1200" noProof="1">
                <a:solidFill>
                  <a:srgbClr val="2B2D2F"/>
                </a:solidFill>
                <a:latin typeface="QuattrocentoSans"/>
                <a:ea typeface="QuattrocentoSans"/>
              </a:rPr>
              <a:t>Every step is tracked. Every action is verified. Every case is auditable.</a:t>
            </a:r>
          </a:p>
        </p:txBody>
      </p:sp>
      <p:sp>
        <p:nvSpPr>
          <p:cNvPr id="53"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54"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03  HOW ARIA WORKS</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57150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Unified Security Visibility</a:t>
            </a:r>
          </a:p>
        </p:txBody>
      </p:sp>
      <p:sp>
        <p:nvSpPr>
          <p:cNvPr id="5" name="dsl:ds1-bg"/>
          <p:cNvSpPr/>
          <p:nvPr/>
        </p:nvSpPr>
        <p:spPr>
          <a:xfrm>
            <a:off x="571500" y="1238250"/>
            <a:ext cx="25717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ds1-topbar"/>
          <p:cNvSpPr/>
          <p:nvPr/>
        </p:nvSpPr>
        <p:spPr>
          <a:xfrm>
            <a:off x="571500" y="1238250"/>
            <a:ext cx="257175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ds1-icon|i=fas:cloud"/>
          <p:cNvSpPr/>
          <p:nvPr/>
        </p:nvSpPr>
        <p:spPr>
          <a:xfrm>
            <a:off x="800100" y="1558290"/>
            <a:ext cx="342900" cy="274320"/>
          </a:xfrm>
          <a:custGeom>
            <a:avLst/>
            <a:gdLst/>
            <a:ahLst/>
            <a:cxnLst/>
            <a:rect l="l" t="t" r="r" b="b"/>
            <a:pathLst>
              <a:path w="342900" h="274320">
                <a:moveTo>
                  <a:pt x="0" y="180022"/>
                </a:moveTo>
                <a:cubicBezTo>
                  <a:pt x="0" y="222617"/>
                  <a:pt x="34557" y="257175"/>
                  <a:pt x="77152" y="257175"/>
                </a:cubicBezTo>
                <a:lnTo>
                  <a:pt x="274320" y="257175"/>
                </a:lnTo>
                <a:cubicBezTo>
                  <a:pt x="312199" y="257175"/>
                  <a:pt x="342900" y="226474"/>
                  <a:pt x="342900" y="188595"/>
                </a:cubicBezTo>
                <a:cubicBezTo>
                  <a:pt x="342900" y="155430"/>
                  <a:pt x="319325" y="127730"/>
                  <a:pt x="288036" y="121408"/>
                </a:cubicBezTo>
                <a:cubicBezTo>
                  <a:pt x="290232" y="115675"/>
                  <a:pt x="291465" y="109406"/>
                  <a:pt x="291465" y="102870"/>
                </a:cubicBezTo>
                <a:cubicBezTo>
                  <a:pt x="291465" y="74473"/>
                  <a:pt x="268426" y="51435"/>
                  <a:pt x="240030" y="51435"/>
                </a:cubicBezTo>
                <a:cubicBezTo>
                  <a:pt x="229475" y="51435"/>
                  <a:pt x="219616" y="54649"/>
                  <a:pt x="211472" y="60114"/>
                </a:cubicBezTo>
                <a:cubicBezTo>
                  <a:pt x="196631" y="34397"/>
                  <a:pt x="168931" y="17145"/>
                  <a:pt x="137160" y="17145"/>
                </a:cubicBezTo>
                <a:cubicBezTo>
                  <a:pt x="89796" y="17145"/>
                  <a:pt x="51435" y="55506"/>
                  <a:pt x="51435" y="102870"/>
                </a:cubicBezTo>
                <a:cubicBezTo>
                  <a:pt x="51435" y="104316"/>
                  <a:pt x="51970" y="105763"/>
                  <a:pt x="52506" y="107209"/>
                </a:cubicBezTo>
                <a:cubicBezTo>
                  <a:pt x="21538" y="117764"/>
                  <a:pt x="0" y="146375"/>
                  <a:pt x="0" y="180022"/>
                </a:cubicBezTo>
                <a:close/>
              </a:path>
            </a:pathLst>
          </a:custGeom>
          <a:solidFill>
            <a:srgbClr val="2D6A6A"/>
          </a:solidFill>
          <a:ln>
            <a:noFill/>
          </a:ln>
          <a:effectLst/>
        </p:spPr>
      </p:sp>
      <p:sp>
        <p:nvSpPr>
          <p:cNvPr id="8" name="dsl:ds1-title"/>
          <p:cNvSpPr txBox="1"/>
          <p:nvPr/>
        </p:nvSpPr>
        <p:spPr>
          <a:xfrm>
            <a:off x="800100" y="2000250"/>
            <a:ext cx="2114550" cy="266700"/>
          </a:xfrm>
          <a:prstGeom prst="rect">
            <a:avLst/>
          </a:prstGeom>
          <a:noFill/>
        </p:spPr>
        <p:txBody>
          <a:bodyPr wrap="none" anchor="t">
            <a:noAutofit/>
          </a:bodyPr>
          <a:lstStyle/>
          <a:p>
            <a:pPr algn="l"/>
            <a:r>
              <a:rPr b="1" sz="1350" noProof="1">
                <a:solidFill>
                  <a:srgbClr val="2D6A6A"/>
                </a:solidFill>
                <a:latin typeface="Liter"/>
                <a:ea typeface="Liter"/>
              </a:rPr>
              <a:t>Cloud &amp; Infrastructure</a:t>
            </a:r>
          </a:p>
        </p:txBody>
      </p:sp>
      <p:sp>
        <p:nvSpPr>
          <p:cNvPr id="9" name="dsl:ds1-desc"/>
          <p:cNvSpPr txBox="1"/>
          <p:nvPr/>
        </p:nvSpPr>
        <p:spPr>
          <a:xfrm>
            <a:off x="800100" y="2333625"/>
            <a:ext cx="21145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VPC, virtual machines, containers, and cloud resources — all monitored in one place</a:t>
            </a:r>
          </a:p>
        </p:txBody>
      </p:sp>
      <p:sp>
        <p:nvSpPr>
          <p:cNvPr id="10" name="dsl:ds2-bg"/>
          <p:cNvSpPr/>
          <p:nvPr/>
        </p:nvSpPr>
        <p:spPr>
          <a:xfrm>
            <a:off x="3333750" y="1238250"/>
            <a:ext cx="25717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ds2-topbar"/>
          <p:cNvSpPr/>
          <p:nvPr/>
        </p:nvSpPr>
        <p:spPr>
          <a:xfrm>
            <a:off x="3333750" y="1238250"/>
            <a:ext cx="257175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ds2-icon|i=fas:network-wired"/>
          <p:cNvSpPr/>
          <p:nvPr/>
        </p:nvSpPr>
        <p:spPr>
          <a:xfrm>
            <a:off x="3562350" y="1558290"/>
            <a:ext cx="342900" cy="274320"/>
          </a:xfrm>
          <a:custGeom>
            <a:avLst/>
            <a:gdLst/>
            <a:ahLst/>
            <a:cxnLst/>
            <a:rect l="l" t="t" r="r" b="b"/>
            <a:pathLst>
              <a:path w="342900" h="274320">
                <a:moveTo>
                  <a:pt x="137160" y="34290"/>
                </a:moveTo>
                <a:lnTo>
                  <a:pt x="205740" y="34290"/>
                </a:lnTo>
                <a:lnTo>
                  <a:pt x="205740" y="68580"/>
                </a:lnTo>
                <a:lnTo>
                  <a:pt x="137160" y="68580"/>
                </a:lnTo>
                <a:lnTo>
                  <a:pt x="137160" y="34290"/>
                </a:lnTo>
                <a:close/>
                <a:moveTo>
                  <a:pt x="128587" y="0"/>
                </a:moveTo>
                <a:cubicBezTo>
                  <a:pt x="114389" y="0"/>
                  <a:pt x="102870" y="11519"/>
                  <a:pt x="102870" y="25717"/>
                </a:cubicBezTo>
                <a:lnTo>
                  <a:pt x="102870" y="77152"/>
                </a:lnTo>
                <a:cubicBezTo>
                  <a:pt x="102870" y="91350"/>
                  <a:pt x="114389" y="102870"/>
                  <a:pt x="128587" y="102870"/>
                </a:cubicBezTo>
                <a:lnTo>
                  <a:pt x="154305" y="102870"/>
                </a:lnTo>
                <a:lnTo>
                  <a:pt x="154305" y="120015"/>
                </a:lnTo>
                <a:lnTo>
                  <a:pt x="17145" y="120015"/>
                </a:lnTo>
                <a:cubicBezTo>
                  <a:pt x="7661" y="120015"/>
                  <a:pt x="0" y="127676"/>
                  <a:pt x="0" y="137160"/>
                </a:cubicBezTo>
                <a:cubicBezTo>
                  <a:pt x="0" y="146643"/>
                  <a:pt x="7661" y="154305"/>
                  <a:pt x="17145" y="154305"/>
                </a:cubicBezTo>
                <a:lnTo>
                  <a:pt x="68580" y="154305"/>
                </a:lnTo>
                <a:lnTo>
                  <a:pt x="68580" y="171450"/>
                </a:lnTo>
                <a:lnTo>
                  <a:pt x="42862" y="171450"/>
                </a:lnTo>
                <a:cubicBezTo>
                  <a:pt x="28664" y="171450"/>
                  <a:pt x="17145" y="182969"/>
                  <a:pt x="17145" y="197167"/>
                </a:cubicBezTo>
                <a:lnTo>
                  <a:pt x="17145" y="248602"/>
                </a:lnTo>
                <a:cubicBezTo>
                  <a:pt x="17145" y="262800"/>
                  <a:pt x="28664" y="274320"/>
                  <a:pt x="42862" y="274320"/>
                </a:cubicBezTo>
                <a:lnTo>
                  <a:pt x="128587" y="274320"/>
                </a:lnTo>
                <a:cubicBezTo>
                  <a:pt x="142785" y="274320"/>
                  <a:pt x="154305" y="262800"/>
                  <a:pt x="154305" y="248602"/>
                </a:cubicBezTo>
                <a:lnTo>
                  <a:pt x="154305" y="197167"/>
                </a:lnTo>
                <a:cubicBezTo>
                  <a:pt x="154305" y="182969"/>
                  <a:pt x="142785" y="171450"/>
                  <a:pt x="128587" y="171450"/>
                </a:cubicBezTo>
                <a:lnTo>
                  <a:pt x="102870" y="171450"/>
                </a:lnTo>
                <a:lnTo>
                  <a:pt x="102870" y="154305"/>
                </a:lnTo>
                <a:lnTo>
                  <a:pt x="240030" y="154305"/>
                </a:lnTo>
                <a:lnTo>
                  <a:pt x="240030" y="171450"/>
                </a:lnTo>
                <a:lnTo>
                  <a:pt x="214312" y="171450"/>
                </a:lnTo>
                <a:cubicBezTo>
                  <a:pt x="200114" y="171450"/>
                  <a:pt x="188595" y="182969"/>
                  <a:pt x="188595" y="197167"/>
                </a:cubicBezTo>
                <a:lnTo>
                  <a:pt x="188595" y="248602"/>
                </a:lnTo>
                <a:cubicBezTo>
                  <a:pt x="188595" y="262800"/>
                  <a:pt x="200114" y="274320"/>
                  <a:pt x="214312" y="274320"/>
                </a:cubicBezTo>
                <a:lnTo>
                  <a:pt x="300037" y="274320"/>
                </a:lnTo>
                <a:cubicBezTo>
                  <a:pt x="314235" y="274320"/>
                  <a:pt x="325755" y="262800"/>
                  <a:pt x="325755" y="248602"/>
                </a:cubicBezTo>
                <a:lnTo>
                  <a:pt x="325755" y="197167"/>
                </a:lnTo>
                <a:cubicBezTo>
                  <a:pt x="325755" y="182969"/>
                  <a:pt x="314235" y="171450"/>
                  <a:pt x="300037" y="171450"/>
                </a:cubicBezTo>
                <a:lnTo>
                  <a:pt x="274320" y="171450"/>
                </a:lnTo>
                <a:lnTo>
                  <a:pt x="274320" y="154305"/>
                </a:lnTo>
                <a:lnTo>
                  <a:pt x="325755" y="154305"/>
                </a:lnTo>
                <a:cubicBezTo>
                  <a:pt x="335238" y="154305"/>
                  <a:pt x="342900" y="146643"/>
                  <a:pt x="342900" y="137160"/>
                </a:cubicBezTo>
                <a:cubicBezTo>
                  <a:pt x="342900" y="127676"/>
                  <a:pt x="335238" y="120015"/>
                  <a:pt x="325755" y="120015"/>
                </a:cubicBezTo>
                <a:lnTo>
                  <a:pt x="188595" y="120015"/>
                </a:lnTo>
                <a:lnTo>
                  <a:pt x="188595" y="102870"/>
                </a:lnTo>
                <a:lnTo>
                  <a:pt x="214312" y="102870"/>
                </a:lnTo>
                <a:cubicBezTo>
                  <a:pt x="228510" y="102870"/>
                  <a:pt x="240030" y="91350"/>
                  <a:pt x="240030" y="77152"/>
                </a:cubicBezTo>
                <a:lnTo>
                  <a:pt x="240030" y="25717"/>
                </a:lnTo>
                <a:cubicBezTo>
                  <a:pt x="240030" y="11519"/>
                  <a:pt x="228510" y="0"/>
                  <a:pt x="214312" y="0"/>
                </a:cubicBezTo>
                <a:lnTo>
                  <a:pt x="128587" y="0"/>
                </a:lnTo>
                <a:close/>
                <a:moveTo>
                  <a:pt x="51435" y="240030"/>
                </a:moveTo>
                <a:lnTo>
                  <a:pt x="51435" y="205740"/>
                </a:lnTo>
                <a:lnTo>
                  <a:pt x="120015" y="205740"/>
                </a:lnTo>
                <a:lnTo>
                  <a:pt x="120015" y="240030"/>
                </a:lnTo>
                <a:lnTo>
                  <a:pt x="51435" y="240030"/>
                </a:lnTo>
                <a:close/>
                <a:moveTo>
                  <a:pt x="222885" y="205740"/>
                </a:moveTo>
                <a:lnTo>
                  <a:pt x="291465" y="205740"/>
                </a:lnTo>
                <a:lnTo>
                  <a:pt x="291465" y="240030"/>
                </a:lnTo>
                <a:lnTo>
                  <a:pt x="222885" y="240030"/>
                </a:lnTo>
                <a:lnTo>
                  <a:pt x="222885" y="205740"/>
                </a:lnTo>
                <a:close/>
              </a:path>
            </a:pathLst>
          </a:custGeom>
          <a:solidFill>
            <a:srgbClr val="2D6A6A"/>
          </a:solidFill>
          <a:ln>
            <a:noFill/>
          </a:ln>
          <a:effectLst/>
        </p:spPr>
      </p:sp>
      <p:sp>
        <p:nvSpPr>
          <p:cNvPr id="13" name="dsl:ds2-title"/>
          <p:cNvSpPr txBox="1"/>
          <p:nvPr/>
        </p:nvSpPr>
        <p:spPr>
          <a:xfrm>
            <a:off x="3562350" y="2000250"/>
            <a:ext cx="2114550" cy="266700"/>
          </a:xfrm>
          <a:prstGeom prst="rect">
            <a:avLst/>
          </a:prstGeom>
          <a:noFill/>
        </p:spPr>
        <p:txBody>
          <a:bodyPr wrap="none" anchor="t">
            <a:noAutofit/>
          </a:bodyPr>
          <a:lstStyle/>
          <a:p>
            <a:pPr algn="l"/>
            <a:r>
              <a:rPr b="1" sz="1350" noProof="1">
                <a:solidFill>
                  <a:srgbClr val="2D6A6A"/>
                </a:solidFill>
                <a:latin typeface="Liter"/>
                <a:ea typeface="Liter"/>
              </a:rPr>
              <a:t>Network Traffic</a:t>
            </a:r>
          </a:p>
        </p:txBody>
      </p:sp>
      <p:sp>
        <p:nvSpPr>
          <p:cNvPr id="14" name="dsl:ds2-desc"/>
          <p:cNvSpPr txBox="1"/>
          <p:nvPr/>
        </p:nvSpPr>
        <p:spPr>
          <a:xfrm>
            <a:off x="3562350" y="2333625"/>
            <a:ext cx="21145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IDS monitoring protocols, threats, and anomalous connections across the network</a:t>
            </a:r>
          </a:p>
        </p:txBody>
      </p:sp>
      <p:sp>
        <p:nvSpPr>
          <p:cNvPr id="15" name="dsl:ds3-bg"/>
          <p:cNvSpPr/>
          <p:nvPr/>
        </p:nvSpPr>
        <p:spPr>
          <a:xfrm>
            <a:off x="6096000" y="1238250"/>
            <a:ext cx="25717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ds3-topbar"/>
          <p:cNvSpPr/>
          <p:nvPr/>
        </p:nvSpPr>
        <p:spPr>
          <a:xfrm>
            <a:off x="6096000" y="1238250"/>
            <a:ext cx="257175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ds3-icon|i=fas:server"/>
          <p:cNvSpPr/>
          <p:nvPr/>
        </p:nvSpPr>
        <p:spPr>
          <a:xfrm>
            <a:off x="6324600" y="1524000"/>
            <a:ext cx="342900" cy="342900"/>
          </a:xfrm>
          <a:custGeom>
            <a:avLst/>
            <a:gdLst/>
            <a:ahLst/>
            <a:cxnLst/>
            <a:rect l="l" t="t" r="r" b="b"/>
            <a:pathLst>
              <a:path w="342900" h="342900">
                <a:moveTo>
                  <a:pt x="42862" y="21431"/>
                </a:moveTo>
                <a:cubicBezTo>
                  <a:pt x="19221" y="21431"/>
                  <a:pt x="0" y="40652"/>
                  <a:pt x="0" y="64293"/>
                </a:cubicBezTo>
                <a:lnTo>
                  <a:pt x="0" y="107156"/>
                </a:lnTo>
                <a:cubicBezTo>
                  <a:pt x="0" y="130797"/>
                  <a:pt x="19221" y="150018"/>
                  <a:pt x="42862" y="150018"/>
                </a:cubicBezTo>
                <a:lnTo>
                  <a:pt x="300037" y="150018"/>
                </a:lnTo>
                <a:cubicBezTo>
                  <a:pt x="323678" y="150018"/>
                  <a:pt x="342900" y="130797"/>
                  <a:pt x="342900" y="107156"/>
                </a:cubicBezTo>
                <a:lnTo>
                  <a:pt x="342900" y="64293"/>
                </a:lnTo>
                <a:cubicBezTo>
                  <a:pt x="342900" y="40652"/>
                  <a:pt x="323678" y="21431"/>
                  <a:pt x="300037" y="21431"/>
                </a:cubicBezTo>
                <a:lnTo>
                  <a:pt x="42862" y="21431"/>
                </a:lnTo>
                <a:close/>
                <a:moveTo>
                  <a:pt x="230385" y="69651"/>
                </a:moveTo>
                <a:cubicBezTo>
                  <a:pt x="239203" y="69651"/>
                  <a:pt x="246459" y="76907"/>
                  <a:pt x="246459" y="85725"/>
                </a:cubicBezTo>
                <a:cubicBezTo>
                  <a:pt x="246459" y="94542"/>
                  <a:pt x="239203" y="101798"/>
                  <a:pt x="230385" y="101798"/>
                </a:cubicBezTo>
                <a:cubicBezTo>
                  <a:pt x="221568" y="101798"/>
                  <a:pt x="214312" y="94542"/>
                  <a:pt x="214312" y="85725"/>
                </a:cubicBezTo>
                <a:cubicBezTo>
                  <a:pt x="214312" y="76907"/>
                  <a:pt x="221568" y="69651"/>
                  <a:pt x="230385" y="69651"/>
                </a:cubicBezTo>
                <a:close/>
                <a:moveTo>
                  <a:pt x="262532" y="85725"/>
                </a:moveTo>
                <a:cubicBezTo>
                  <a:pt x="262532" y="76907"/>
                  <a:pt x="269788" y="69651"/>
                  <a:pt x="278606" y="69651"/>
                </a:cubicBezTo>
                <a:cubicBezTo>
                  <a:pt x="287423" y="69651"/>
                  <a:pt x="294679" y="76907"/>
                  <a:pt x="294679" y="85725"/>
                </a:cubicBezTo>
                <a:cubicBezTo>
                  <a:pt x="294679" y="94542"/>
                  <a:pt x="287423" y="101798"/>
                  <a:pt x="278606" y="101798"/>
                </a:cubicBezTo>
                <a:cubicBezTo>
                  <a:pt x="269788" y="101798"/>
                  <a:pt x="262532" y="94542"/>
                  <a:pt x="262532" y="85725"/>
                </a:cubicBezTo>
                <a:close/>
                <a:moveTo>
                  <a:pt x="42862" y="192881"/>
                </a:moveTo>
                <a:cubicBezTo>
                  <a:pt x="19221" y="192881"/>
                  <a:pt x="0" y="212102"/>
                  <a:pt x="0" y="235743"/>
                </a:cubicBezTo>
                <a:lnTo>
                  <a:pt x="0" y="278606"/>
                </a:lnTo>
                <a:cubicBezTo>
                  <a:pt x="0" y="302247"/>
                  <a:pt x="19221" y="321468"/>
                  <a:pt x="42862" y="321468"/>
                </a:cubicBezTo>
                <a:lnTo>
                  <a:pt x="300037" y="321468"/>
                </a:lnTo>
                <a:cubicBezTo>
                  <a:pt x="323678" y="321468"/>
                  <a:pt x="342900" y="302247"/>
                  <a:pt x="342900" y="278606"/>
                </a:cubicBezTo>
                <a:lnTo>
                  <a:pt x="342900" y="235743"/>
                </a:lnTo>
                <a:cubicBezTo>
                  <a:pt x="342900" y="212102"/>
                  <a:pt x="323678" y="192881"/>
                  <a:pt x="300037" y="192881"/>
                </a:cubicBezTo>
                <a:lnTo>
                  <a:pt x="42862" y="192881"/>
                </a:lnTo>
                <a:close/>
                <a:moveTo>
                  <a:pt x="230385" y="241101"/>
                </a:moveTo>
                <a:cubicBezTo>
                  <a:pt x="239203" y="241101"/>
                  <a:pt x="246459" y="248357"/>
                  <a:pt x="246459" y="257175"/>
                </a:cubicBezTo>
                <a:cubicBezTo>
                  <a:pt x="246459" y="265992"/>
                  <a:pt x="239203" y="273248"/>
                  <a:pt x="230385" y="273248"/>
                </a:cubicBezTo>
                <a:cubicBezTo>
                  <a:pt x="221568" y="273248"/>
                  <a:pt x="214312" y="265992"/>
                  <a:pt x="214312" y="257175"/>
                </a:cubicBezTo>
                <a:cubicBezTo>
                  <a:pt x="214312" y="248357"/>
                  <a:pt x="221568" y="241101"/>
                  <a:pt x="230385" y="241101"/>
                </a:cubicBezTo>
                <a:close/>
                <a:moveTo>
                  <a:pt x="267890" y="257175"/>
                </a:moveTo>
                <a:cubicBezTo>
                  <a:pt x="267890" y="248357"/>
                  <a:pt x="275146" y="241101"/>
                  <a:pt x="283964" y="241101"/>
                </a:cubicBezTo>
                <a:cubicBezTo>
                  <a:pt x="292781" y="241101"/>
                  <a:pt x="300037" y="248357"/>
                  <a:pt x="300037" y="257175"/>
                </a:cubicBezTo>
                <a:cubicBezTo>
                  <a:pt x="300037" y="265992"/>
                  <a:pt x="292781" y="273248"/>
                  <a:pt x="283964" y="273248"/>
                </a:cubicBezTo>
                <a:cubicBezTo>
                  <a:pt x="275146" y="273248"/>
                  <a:pt x="267890" y="265992"/>
                  <a:pt x="267890" y="257175"/>
                </a:cubicBezTo>
                <a:close/>
              </a:path>
            </a:pathLst>
          </a:custGeom>
          <a:solidFill>
            <a:srgbClr val="2D6A6A"/>
          </a:solidFill>
          <a:ln>
            <a:noFill/>
          </a:ln>
          <a:effectLst/>
        </p:spPr>
      </p:sp>
      <p:sp>
        <p:nvSpPr>
          <p:cNvPr id="18" name="dsl:ds3-title"/>
          <p:cNvSpPr txBox="1"/>
          <p:nvPr/>
        </p:nvSpPr>
        <p:spPr>
          <a:xfrm>
            <a:off x="6324600" y="2000250"/>
            <a:ext cx="2114550" cy="266700"/>
          </a:xfrm>
          <a:prstGeom prst="rect">
            <a:avLst/>
          </a:prstGeom>
          <a:noFill/>
        </p:spPr>
        <p:txBody>
          <a:bodyPr wrap="none" anchor="t">
            <a:noAutofit/>
          </a:bodyPr>
          <a:lstStyle/>
          <a:p>
            <a:pPr algn="l"/>
            <a:r>
              <a:rPr b="1" sz="1350" noProof="1">
                <a:solidFill>
                  <a:srgbClr val="2D6A6A"/>
                </a:solidFill>
                <a:latin typeface="Liter"/>
                <a:ea typeface="Liter"/>
              </a:rPr>
              <a:t>Host &amp; Endpoint</a:t>
            </a:r>
          </a:p>
        </p:txBody>
      </p:sp>
      <p:sp>
        <p:nvSpPr>
          <p:cNvPr id="19" name="dsl:ds3-desc"/>
          <p:cNvSpPr txBox="1"/>
          <p:nvPr/>
        </p:nvSpPr>
        <p:spPr>
          <a:xfrm>
            <a:off x="6324600" y="2333625"/>
            <a:ext cx="21145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Authentication events, file integrity, and system activity on every endpoint</a:t>
            </a:r>
          </a:p>
        </p:txBody>
      </p:sp>
      <p:sp>
        <p:nvSpPr>
          <p:cNvPr id="20" name="dsl:ds4-bg"/>
          <p:cNvSpPr/>
          <p:nvPr/>
        </p:nvSpPr>
        <p:spPr>
          <a:xfrm>
            <a:off x="8858250" y="1238250"/>
            <a:ext cx="2571750" cy="2476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ds4-topbar"/>
          <p:cNvSpPr/>
          <p:nvPr/>
        </p:nvSpPr>
        <p:spPr>
          <a:xfrm>
            <a:off x="8858250" y="1238250"/>
            <a:ext cx="257175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ds4-icon|i=fas:box-open"/>
          <p:cNvSpPr/>
          <p:nvPr/>
        </p:nvSpPr>
        <p:spPr>
          <a:xfrm>
            <a:off x="9086850" y="1558290"/>
            <a:ext cx="342900" cy="274320"/>
          </a:xfrm>
          <a:custGeom>
            <a:avLst/>
            <a:gdLst/>
            <a:ahLst/>
            <a:cxnLst/>
            <a:rect l="l" t="t" r="r" b="b"/>
            <a:pathLst>
              <a:path w="342900" h="274320">
                <a:moveTo>
                  <a:pt x="31557" y="22556"/>
                </a:moveTo>
                <a:cubicBezTo>
                  <a:pt x="33164" y="19288"/>
                  <a:pt x="36701" y="17412"/>
                  <a:pt x="40290" y="17895"/>
                </a:cubicBezTo>
                <a:lnTo>
                  <a:pt x="171450" y="34290"/>
                </a:lnTo>
                <a:lnTo>
                  <a:pt x="302609" y="17895"/>
                </a:lnTo>
                <a:cubicBezTo>
                  <a:pt x="306198" y="22181"/>
                  <a:pt x="309735" y="19341"/>
                  <a:pt x="311342" y="22556"/>
                </a:cubicBezTo>
                <a:lnTo>
                  <a:pt x="333684" y="67240"/>
                </a:lnTo>
                <a:cubicBezTo>
                  <a:pt x="338506" y="76831"/>
                  <a:pt x="336899" y="88457"/>
                  <a:pt x="323076" y="91404"/>
                </a:cubicBezTo>
                <a:lnTo>
                  <a:pt x="235529" y="116425"/>
                </a:lnTo>
                <a:cubicBezTo>
                  <a:pt x="228082" y="118568"/>
                  <a:pt x="220098" y="115407"/>
                  <a:pt x="216134" y="108763"/>
                </a:cubicBezTo>
                <a:lnTo>
                  <a:pt x="171450" y="34290"/>
                </a:lnTo>
                <a:lnTo>
                  <a:pt x="126765" y="108763"/>
                </a:lnTo>
                <a:cubicBezTo>
                  <a:pt x="122801" y="115407"/>
                  <a:pt x="114817" y="118568"/>
                  <a:pt x="107370" y="116425"/>
                </a:cubicBezTo>
                <a:lnTo>
                  <a:pt x="19877" y="91404"/>
                </a:lnTo>
                <a:cubicBezTo>
                  <a:pt x="9536" y="88457"/>
                  <a:pt x="4446" y="76831"/>
                  <a:pt x="9269" y="67240"/>
                </a:cubicBezTo>
                <a:lnTo>
                  <a:pt x="31557" y="22556"/>
                </a:lnTo>
                <a:close/>
                <a:moveTo>
                  <a:pt x="172039" y="68580"/>
                </a:moveTo>
                <a:lnTo>
                  <a:pt x="201453" y="117550"/>
                </a:lnTo>
                <a:cubicBezTo>
                  <a:pt x="209436" y="130837"/>
                  <a:pt x="225349" y="137160"/>
                  <a:pt x="240297" y="132873"/>
                </a:cubicBezTo>
                <a:lnTo>
                  <a:pt x="308610" y="113371"/>
                </a:lnTo>
                <a:lnTo>
                  <a:pt x="308610" y="202846"/>
                </a:lnTo>
                <a:cubicBezTo>
                  <a:pt x="308610" y="214633"/>
                  <a:pt x="300573" y="224920"/>
                  <a:pt x="289107" y="227814"/>
                </a:cubicBezTo>
                <a:lnTo>
                  <a:pt x="179754" y="255139"/>
                </a:lnTo>
                <a:cubicBezTo>
                  <a:pt x="174289" y="256532"/>
                  <a:pt x="168556" y="256532"/>
                  <a:pt x="163145" y="255139"/>
                </a:cubicBezTo>
                <a:lnTo>
                  <a:pt x="53792" y="227814"/>
                </a:lnTo>
                <a:cubicBezTo>
                  <a:pt x="42326" y="224867"/>
                  <a:pt x="34290" y="214580"/>
                  <a:pt x="34290" y="202793"/>
                </a:cubicBezTo>
                <a:lnTo>
                  <a:pt x="34290" y="113317"/>
                </a:lnTo>
                <a:lnTo>
                  <a:pt x="102655" y="132873"/>
                </a:lnTo>
                <a:cubicBezTo>
                  <a:pt x="117550" y="137160"/>
                  <a:pt x="133516" y="130837"/>
                  <a:pt x="141499" y="117550"/>
                </a:cubicBezTo>
                <a:lnTo>
                  <a:pt x="170860" y="68580"/>
                </a:lnTo>
                <a:lnTo>
                  <a:pt x="172039" y="68580"/>
                </a:lnTo>
                <a:close/>
              </a:path>
            </a:pathLst>
          </a:custGeom>
          <a:solidFill>
            <a:srgbClr val="D4A373"/>
          </a:solidFill>
          <a:ln>
            <a:noFill/>
          </a:ln>
          <a:effectLst/>
        </p:spPr>
      </p:sp>
      <p:sp>
        <p:nvSpPr>
          <p:cNvPr id="23" name="dsl:ds4-title"/>
          <p:cNvSpPr txBox="1"/>
          <p:nvPr/>
        </p:nvSpPr>
        <p:spPr>
          <a:xfrm>
            <a:off x="9086850" y="2000250"/>
            <a:ext cx="2114550" cy="266700"/>
          </a:xfrm>
          <a:prstGeom prst="rect">
            <a:avLst/>
          </a:prstGeom>
          <a:noFill/>
        </p:spPr>
        <p:txBody>
          <a:bodyPr wrap="none" anchor="t">
            <a:noAutofit/>
          </a:bodyPr>
          <a:lstStyle/>
          <a:p>
            <a:pPr algn="l"/>
            <a:r>
              <a:rPr b="1" sz="1350" noProof="1">
                <a:solidFill>
                  <a:srgbClr val="D4A373"/>
                </a:solidFill>
                <a:latin typeface="Liter"/>
                <a:ea typeface="Liter"/>
              </a:rPr>
              <a:t>Runtime &amp; Containers</a:t>
            </a:r>
          </a:p>
        </p:txBody>
      </p:sp>
      <p:sp>
        <p:nvSpPr>
          <p:cNvPr id="24" name="dsl:ds4-desc"/>
          <p:cNvSpPr txBox="1"/>
          <p:nvPr/>
        </p:nvSpPr>
        <p:spPr>
          <a:xfrm>
            <a:off x="9086850" y="2333625"/>
            <a:ext cx="2114550" cy="1143000"/>
          </a:xfrm>
          <a:prstGeom prst="rect">
            <a:avLst/>
          </a:prstGeom>
          <a:noFill/>
        </p:spPr>
        <p:txBody>
          <a:bodyPr wrap="square" anchor="t">
            <a:noAutofit/>
          </a:bodyPr>
          <a:lstStyle/>
          <a:p>
            <a:pPr algn="l">
              <a:lnSpc>
                <a:spcPct val="150000"/>
              </a:lnSpc>
            </a:pPr>
            <a:r>
              <a:rPr sz="1050" noProof="1">
                <a:solidFill>
                  <a:srgbClr val="5C6B73"/>
                </a:solidFill>
                <a:latin typeface="QuattrocentoSans"/>
                <a:ea typeface="QuattrocentoSans"/>
              </a:rPr>
              <a:t>Abnormal processes, container escapes, and runtime threat detection</a:t>
            </a:r>
          </a:p>
        </p:txBody>
      </p:sp>
      <p:cxnSp>
        <p:nvCxnSpPr>
          <p:cNvPr id="25" name="dsl:conv-line1"/>
          <p:cNvCxnSpPr/>
          <p:nvPr/>
        </p:nvCxnSpPr>
        <p:spPr>
          <a:xfrm>
            <a:off x="1857375" y="3714750"/>
            <a:ext cx="0" cy="38100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6" name="dsl:conv-line2"/>
          <p:cNvCxnSpPr/>
          <p:nvPr/>
        </p:nvCxnSpPr>
        <p:spPr>
          <a:xfrm>
            <a:off x="4619625" y="3714750"/>
            <a:ext cx="0" cy="38100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7" name="dsl:conv-line3"/>
          <p:cNvCxnSpPr/>
          <p:nvPr/>
        </p:nvCxnSpPr>
        <p:spPr>
          <a:xfrm>
            <a:off x="7381875" y="3714750"/>
            <a:ext cx="0" cy="38100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8" name="dsl:conv-line4"/>
          <p:cNvCxnSpPr/>
          <p:nvPr/>
        </p:nvCxnSpPr>
        <p:spPr>
          <a:xfrm>
            <a:off x="10144125" y="3714750"/>
            <a:ext cx="0" cy="381000"/>
          </a:xfrm>
          <a:prstGeom prst="straightConnector1">
            <a:avLst/>
          </a:prstGeom>
          <a:ln w="25400">
            <a:solidFill>
              <a:srgbClr val="E5E5E0"/>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9" name="dsl:dash-bg"/>
          <p:cNvSpPr/>
          <p:nvPr/>
        </p:nvSpPr>
        <p:spPr>
          <a:xfrm>
            <a:off x="571500" y="4095750"/>
            <a:ext cx="11049000" cy="1333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dash-icon|i=fas:chart-line"/>
          <p:cNvSpPr/>
          <p:nvPr/>
        </p:nvSpPr>
        <p:spPr>
          <a:xfrm>
            <a:off x="952500" y="4381500"/>
            <a:ext cx="381000" cy="381000"/>
          </a:xfrm>
          <a:custGeom>
            <a:avLst/>
            <a:gdLst/>
            <a:ahLst/>
            <a:cxnLst/>
            <a:rect l="l" t="t" r="r" b="b"/>
            <a:pathLst>
              <a:path w="381000" h="381000">
                <a:moveTo>
                  <a:pt x="47625" y="47625"/>
                </a:moveTo>
                <a:cubicBezTo>
                  <a:pt x="47625" y="34453"/>
                  <a:pt x="36983" y="23812"/>
                  <a:pt x="23812" y="23812"/>
                </a:cubicBezTo>
                <a:cubicBezTo>
                  <a:pt x="10641" y="23812"/>
                  <a:pt x="0" y="34453"/>
                  <a:pt x="0" y="47625"/>
                </a:cubicBezTo>
                <a:lnTo>
                  <a:pt x="0" y="297656"/>
                </a:lnTo>
                <a:cubicBezTo>
                  <a:pt x="0" y="330547"/>
                  <a:pt x="26640" y="357187"/>
                  <a:pt x="59531" y="357187"/>
                </a:cubicBezTo>
                <a:lnTo>
                  <a:pt x="357187" y="357187"/>
                </a:lnTo>
                <a:cubicBezTo>
                  <a:pt x="370358" y="357187"/>
                  <a:pt x="381000" y="346546"/>
                  <a:pt x="381000" y="333375"/>
                </a:cubicBezTo>
                <a:cubicBezTo>
                  <a:pt x="381000" y="320203"/>
                  <a:pt x="370358" y="309562"/>
                  <a:pt x="357187" y="309562"/>
                </a:cubicBezTo>
                <a:lnTo>
                  <a:pt x="59531" y="309562"/>
                </a:lnTo>
                <a:cubicBezTo>
                  <a:pt x="52982" y="309562"/>
                  <a:pt x="47625" y="304204"/>
                  <a:pt x="47625" y="297656"/>
                </a:cubicBezTo>
                <a:lnTo>
                  <a:pt x="47625" y="47625"/>
                </a:lnTo>
                <a:close/>
                <a:moveTo>
                  <a:pt x="350192" y="112067"/>
                </a:moveTo>
                <a:cubicBezTo>
                  <a:pt x="359494" y="102765"/>
                  <a:pt x="359494" y="87659"/>
                  <a:pt x="350192" y="78358"/>
                </a:cubicBezTo>
                <a:cubicBezTo>
                  <a:pt x="340890" y="69056"/>
                  <a:pt x="325784" y="69056"/>
                  <a:pt x="316483" y="78358"/>
                </a:cubicBezTo>
                <a:lnTo>
                  <a:pt x="238125" y="156790"/>
                </a:lnTo>
                <a:lnTo>
                  <a:pt x="195411" y="114076"/>
                </a:lnTo>
                <a:cubicBezTo>
                  <a:pt x="186109" y="104774"/>
                  <a:pt x="171003" y="104774"/>
                  <a:pt x="161701" y="114076"/>
                </a:cubicBezTo>
                <a:lnTo>
                  <a:pt x="78358" y="197420"/>
                </a:lnTo>
                <a:cubicBezTo>
                  <a:pt x="69056" y="206722"/>
                  <a:pt x="69056" y="221828"/>
                  <a:pt x="78358" y="231130"/>
                </a:cubicBezTo>
                <a:cubicBezTo>
                  <a:pt x="87659" y="240431"/>
                  <a:pt x="102765" y="240431"/>
                  <a:pt x="112067" y="231130"/>
                </a:cubicBezTo>
                <a:lnTo>
                  <a:pt x="178593" y="164678"/>
                </a:lnTo>
                <a:lnTo>
                  <a:pt x="221307" y="207391"/>
                </a:lnTo>
                <a:cubicBezTo>
                  <a:pt x="230609" y="216693"/>
                  <a:pt x="245715" y="216693"/>
                  <a:pt x="255016" y="207391"/>
                </a:cubicBezTo>
                <a:lnTo>
                  <a:pt x="350266" y="112141"/>
                </a:lnTo>
                <a:close/>
              </a:path>
            </a:pathLst>
          </a:custGeom>
          <a:solidFill>
            <a:srgbClr val="FFFFFF"/>
          </a:solidFill>
          <a:ln>
            <a:noFill/>
          </a:ln>
          <a:effectLst/>
        </p:spPr>
      </p:sp>
      <p:sp>
        <p:nvSpPr>
          <p:cNvPr id="31" name="dsl:dash-title"/>
          <p:cNvSpPr txBox="1"/>
          <p:nvPr/>
        </p:nvSpPr>
        <p:spPr>
          <a:xfrm>
            <a:off x="1524000" y="4333875"/>
            <a:ext cx="3810000" cy="285750"/>
          </a:xfrm>
          <a:prstGeom prst="rect">
            <a:avLst/>
          </a:prstGeom>
          <a:noFill/>
        </p:spPr>
        <p:txBody>
          <a:bodyPr wrap="none" anchor="t">
            <a:noAutofit/>
          </a:bodyPr>
          <a:lstStyle/>
          <a:p>
            <a:pPr algn="l"/>
            <a:r>
              <a:rPr b="1" sz="1650" noProof="1">
                <a:solidFill>
                  <a:srgbClr val="FFFFFF"/>
                </a:solidFill>
                <a:latin typeface="Liter"/>
                <a:ea typeface="Liter"/>
              </a:rPr>
              <a:t>One Unified Dashboard</a:t>
            </a:r>
          </a:p>
        </p:txBody>
      </p:sp>
      <p:sp>
        <p:nvSpPr>
          <p:cNvPr id="32" name="dsl:dash-desc"/>
          <p:cNvSpPr txBox="1"/>
          <p:nvPr/>
        </p:nvSpPr>
        <p:spPr>
          <a:xfrm>
            <a:off x="1524000" y="4667250"/>
            <a:ext cx="7620000" cy="619125"/>
          </a:xfrm>
          <a:prstGeom prst="rect">
            <a:avLst/>
          </a:prstGeom>
          <a:noFill/>
        </p:spPr>
        <p:txBody>
          <a:bodyPr wrap="square" anchor="t">
            <a:noAutofit/>
          </a:bodyPr>
          <a:lstStyle/>
          <a:p>
            <a:pPr algn="l">
              <a:lnSpc>
                <a:spcPct val="150000"/>
              </a:lnSpc>
            </a:pPr>
            <a:r>
              <a:rPr sz="1200" noProof="1">
                <a:solidFill>
                  <a:srgbClr val="FFFFFF">
                    <a:alpha val="80000"/>
                  </a:srgbClr>
                </a:solidFill>
                <a:latin typeface="QuattrocentoSans"/>
                <a:ea typeface="QuattrocentoSans"/>
              </a:rPr>
              <a:t>All security data centralized into one searchable store. One dashboard shows everything — no more switching between five different tools.</a:t>
            </a:r>
          </a:p>
        </p:txBody>
      </p:sp>
      <p:sp>
        <p:nvSpPr>
          <p:cNvPr id="33" name="dsl:key-msg"/>
          <p:cNvSpPr txBox="1"/>
          <p:nvPr/>
        </p:nvSpPr>
        <p:spPr>
          <a:xfrm>
            <a:off x="571500" y="5619750"/>
            <a:ext cx="11049000" cy="476250"/>
          </a:xfrm>
          <a:prstGeom prst="rect">
            <a:avLst/>
          </a:prstGeom>
          <a:noFill/>
        </p:spPr>
        <p:txBody>
          <a:bodyPr wrap="square" anchor="t">
            <a:noAutofit/>
          </a:bodyPr>
          <a:lstStyle/>
          <a:p>
            <a:pPr algn="ctr">
              <a:lnSpc>
                <a:spcPct val="150000"/>
              </a:lnSpc>
            </a:pPr>
            <a:r>
              <a:rPr b="1" sz="1350" noProof="1">
                <a:solidFill>
                  <a:srgbClr val="2B2D2F"/>
                </a:solidFill>
                <a:latin typeface="QuattrocentoSans"/>
                <a:ea typeface="QuattrocentoSans"/>
              </a:rPr>
              <a:t>From scattered alerts to unified visibility.</a:t>
            </a:r>
            <a:r>
              <a:rPr sz="1350" noProof="1">
                <a:solidFill>
                  <a:srgbClr val="2B2D2F"/>
                </a:solidFill>
                <a:latin typeface="QuattrocentoSans"/>
                <a:ea typeface="QuattrocentoSans"/>
              </a:rPr>
              <a:t> See your entire security posture in a single glance.</a:t>
            </a:r>
          </a:p>
        </p:txBody>
      </p:sp>
      <p:sp>
        <p:nvSpPr>
          <p:cNvPr id="34"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35"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abel"/>
          <p:cNvSpPr txBox="1"/>
          <p:nvPr/>
        </p:nvSpPr>
        <p:spPr>
          <a:xfrm>
            <a:off x="571500" y="171450"/>
            <a:ext cx="2857500" cy="209550"/>
          </a:xfrm>
          <a:prstGeom prst="rect">
            <a:avLst/>
          </a:prstGeom>
          <a:noFill/>
        </p:spPr>
        <p:txBody>
          <a:bodyPr wrap="none" anchor="t">
            <a:noAutofit/>
          </a:bodyPr>
          <a:lstStyle/>
          <a:p>
            <a:pPr algn="l"/>
            <a:r>
              <a:rPr sz="825" noProof="1" spc="150">
                <a:solidFill>
                  <a:srgbClr val="8A9499"/>
                </a:solidFill>
                <a:latin typeface="Liter"/>
                <a:ea typeface="Liter"/>
              </a:rPr>
              <a:t>03  HOW ARIA WORKS</a:t>
            </a:r>
          </a:p>
        </p:txBody>
      </p:sp>
      <p:sp>
        <p:nvSpPr>
          <p:cNvPr id="3" name="dsl:nav-line"/>
          <p:cNvSpPr/>
          <p:nvPr/>
        </p:nvSpPr>
        <p:spPr>
          <a:xfrm>
            <a:off x="571500" y="41910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title|s=$heading"/>
          <p:cNvSpPr txBox="1"/>
          <p:nvPr/>
        </p:nvSpPr>
        <p:spPr>
          <a:xfrm>
            <a:off x="571500" y="533400"/>
            <a:ext cx="8572500" cy="438150"/>
          </a:xfrm>
          <a:prstGeom prst="rect">
            <a:avLst/>
          </a:prstGeom>
          <a:noFill/>
        </p:spPr>
        <p:txBody>
          <a:bodyPr wrap="none" anchor="t">
            <a:noAutofit/>
          </a:bodyPr>
          <a:lstStyle/>
          <a:p>
            <a:pPr algn="l">
              <a:lnSpc>
                <a:spcPct val="130000"/>
              </a:lnSpc>
            </a:pPr>
            <a:r>
              <a:rPr b="1" sz="2250" noProof="1">
                <a:solidFill>
                  <a:srgbClr val="2D6A6A"/>
                </a:solidFill>
                <a:latin typeface="Liter"/>
                <a:ea typeface="Liter"/>
              </a:rPr>
              <a:t>From Alert Overload to Clear Priorities</a:t>
            </a:r>
          </a:p>
        </p:txBody>
      </p:sp>
      <p:sp>
        <p:nvSpPr>
          <p:cNvPr id="5" name="dsl:before-header"/>
          <p:cNvSpPr txBox="1"/>
          <p:nvPr/>
        </p:nvSpPr>
        <p:spPr>
          <a:xfrm>
            <a:off x="571500" y="1143000"/>
            <a:ext cx="5048250" cy="342900"/>
          </a:xfrm>
          <a:prstGeom prst="rect">
            <a:avLst/>
          </a:prstGeom>
          <a:noFill/>
        </p:spPr>
        <p:txBody>
          <a:bodyPr wrap="none" anchor="ctr">
            <a:noAutofit/>
          </a:bodyPr>
          <a:lstStyle/>
          <a:p>
            <a:pPr algn="ctr"/>
            <a:r>
              <a:rPr b="1" sz="1350" noProof="1" spc="150">
                <a:solidFill>
                  <a:srgbClr val="5C6B73"/>
                </a:solidFill>
                <a:latin typeface="Liter"/>
                <a:ea typeface="Liter"/>
              </a:rPr>
              <a:t>BEFORE ARIA</a:t>
            </a:r>
          </a:p>
        </p:txBody>
      </p:sp>
      <p:sp>
        <p:nvSpPr>
          <p:cNvPr id="6" name="dsl:before-bg"/>
          <p:cNvSpPr/>
          <p:nvPr/>
        </p:nvSpPr>
        <p:spPr>
          <a:xfrm>
            <a:off x="571500" y="1571625"/>
            <a:ext cx="5048250" cy="3905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b1-icon|i=fas:xmark"/>
          <p:cNvSpPr/>
          <p:nvPr/>
        </p:nvSpPr>
        <p:spPr>
          <a:xfrm>
            <a:off x="885825" y="1857375"/>
            <a:ext cx="171450" cy="228600"/>
          </a:xfrm>
          <a:custGeom>
            <a:avLst/>
            <a:gdLst/>
            <a:ahLst/>
            <a:cxnLst/>
            <a:rect l="l" t="t" r="r" b="b"/>
            <a:pathLst>
              <a:path w="171450" h="228600">
                <a:moveTo>
                  <a:pt x="152965" y="67240"/>
                </a:moveTo>
                <a:cubicBezTo>
                  <a:pt x="158546" y="61659"/>
                  <a:pt x="158546" y="52595"/>
                  <a:pt x="152965" y="47014"/>
                </a:cubicBezTo>
                <a:cubicBezTo>
                  <a:pt x="147384" y="41433"/>
                  <a:pt x="138320" y="41433"/>
                  <a:pt x="132739" y="47014"/>
                </a:cubicBezTo>
                <a:lnTo>
                  <a:pt x="85725" y="94074"/>
                </a:lnTo>
                <a:lnTo>
                  <a:pt x="38665" y="47059"/>
                </a:lnTo>
                <a:cubicBezTo>
                  <a:pt x="33084" y="41478"/>
                  <a:pt x="24020" y="41478"/>
                  <a:pt x="18439" y="47059"/>
                </a:cubicBezTo>
                <a:cubicBezTo>
                  <a:pt x="12858" y="52640"/>
                  <a:pt x="12858" y="61704"/>
                  <a:pt x="18439" y="67285"/>
                </a:cubicBezTo>
                <a:lnTo>
                  <a:pt x="65499" y="114300"/>
                </a:lnTo>
                <a:lnTo>
                  <a:pt x="18484" y="161359"/>
                </a:lnTo>
                <a:cubicBezTo>
                  <a:pt x="12903" y="166940"/>
                  <a:pt x="12903" y="176004"/>
                  <a:pt x="18484" y="181585"/>
                </a:cubicBezTo>
                <a:cubicBezTo>
                  <a:pt x="24065" y="187166"/>
                  <a:pt x="33129" y="187166"/>
                  <a:pt x="38710" y="181585"/>
                </a:cubicBezTo>
                <a:lnTo>
                  <a:pt x="85725" y="134525"/>
                </a:lnTo>
                <a:lnTo>
                  <a:pt x="132784" y="181540"/>
                </a:lnTo>
                <a:cubicBezTo>
                  <a:pt x="138365" y="187121"/>
                  <a:pt x="147429" y="187121"/>
                  <a:pt x="153010" y="181540"/>
                </a:cubicBezTo>
                <a:cubicBezTo>
                  <a:pt x="158591" y="175959"/>
                  <a:pt x="158591" y="166895"/>
                  <a:pt x="153010" y="161314"/>
                </a:cubicBezTo>
                <a:lnTo>
                  <a:pt x="105950" y="114300"/>
                </a:lnTo>
                <a:lnTo>
                  <a:pt x="152965" y="67240"/>
                </a:lnTo>
                <a:close/>
              </a:path>
            </a:pathLst>
          </a:custGeom>
          <a:solidFill>
            <a:srgbClr val="5C6B73"/>
          </a:solidFill>
          <a:ln>
            <a:noFill/>
          </a:ln>
          <a:effectLst/>
        </p:spPr>
      </p:sp>
      <p:sp>
        <p:nvSpPr>
          <p:cNvPr id="8" name="dsl:b1-text"/>
          <p:cNvSpPr txBox="1"/>
          <p:nvPr/>
        </p:nvSpPr>
        <p:spPr>
          <a:xfrm>
            <a:off x="1238250" y="1809750"/>
            <a:ext cx="4095750" cy="523875"/>
          </a:xfrm>
          <a:prstGeom prst="rect">
            <a:avLst/>
          </a:prstGeom>
          <a:noFill/>
        </p:spPr>
        <p:txBody>
          <a:bodyPr wrap="square" anchor="t">
            <a:noAutofit/>
          </a:bodyPr>
          <a:lstStyle/>
          <a:p>
            <a:pPr algn="l">
              <a:lnSpc>
                <a:spcPct val="140000"/>
              </a:lnSpc>
            </a:pPr>
            <a:r>
              <a:rPr b="1" sz="1200" noProof="1">
                <a:solidFill>
                  <a:srgbClr val="2B2D2F"/>
                </a:solidFill>
                <a:latin typeface="QuattrocentoSans"/>
                <a:ea typeface="QuattrocentoSans"/>
              </a:rPr>
              <a:t>Isolated alerts</a:t>
            </a:r>
            <a:r>
              <a:rPr sz="1200" noProof="1">
                <a:solidFill>
                  <a:srgbClr val="2B2D2F"/>
                </a:solidFill>
                <a:latin typeface="QuattrocentoSans"/>
                <a:ea typeface="QuattrocentoSans"/>
              </a:rPr>
              <a:t> — each alert stands alone with no connections</a:t>
            </a:r>
          </a:p>
        </p:txBody>
      </p:sp>
      <p:sp>
        <p:nvSpPr>
          <p:cNvPr id="9" name="dsl:b2-icon|i=fas:xmark"/>
          <p:cNvSpPr/>
          <p:nvPr/>
        </p:nvSpPr>
        <p:spPr>
          <a:xfrm>
            <a:off x="885825" y="2476500"/>
            <a:ext cx="171450" cy="228600"/>
          </a:xfrm>
          <a:custGeom>
            <a:avLst/>
            <a:gdLst/>
            <a:ahLst/>
            <a:cxnLst/>
            <a:rect l="l" t="t" r="r" b="b"/>
            <a:pathLst>
              <a:path w="171450" h="228600">
                <a:moveTo>
                  <a:pt x="152965" y="67240"/>
                </a:moveTo>
                <a:cubicBezTo>
                  <a:pt x="158546" y="61659"/>
                  <a:pt x="158546" y="52595"/>
                  <a:pt x="152965" y="47014"/>
                </a:cubicBezTo>
                <a:cubicBezTo>
                  <a:pt x="147384" y="41433"/>
                  <a:pt x="138320" y="41433"/>
                  <a:pt x="132739" y="47014"/>
                </a:cubicBezTo>
                <a:lnTo>
                  <a:pt x="85725" y="94074"/>
                </a:lnTo>
                <a:lnTo>
                  <a:pt x="38665" y="47059"/>
                </a:lnTo>
                <a:cubicBezTo>
                  <a:pt x="33084" y="41478"/>
                  <a:pt x="24020" y="41478"/>
                  <a:pt x="18439" y="47059"/>
                </a:cubicBezTo>
                <a:cubicBezTo>
                  <a:pt x="12858" y="52640"/>
                  <a:pt x="12858" y="61704"/>
                  <a:pt x="18439" y="67285"/>
                </a:cubicBezTo>
                <a:lnTo>
                  <a:pt x="65499" y="114300"/>
                </a:lnTo>
                <a:lnTo>
                  <a:pt x="18484" y="161359"/>
                </a:lnTo>
                <a:cubicBezTo>
                  <a:pt x="12903" y="166940"/>
                  <a:pt x="12903" y="176004"/>
                  <a:pt x="18484" y="181585"/>
                </a:cubicBezTo>
                <a:cubicBezTo>
                  <a:pt x="24065" y="187166"/>
                  <a:pt x="33129" y="187166"/>
                  <a:pt x="38710" y="181585"/>
                </a:cubicBezTo>
                <a:lnTo>
                  <a:pt x="85725" y="134525"/>
                </a:lnTo>
                <a:lnTo>
                  <a:pt x="132784" y="181540"/>
                </a:lnTo>
                <a:cubicBezTo>
                  <a:pt x="138365" y="187121"/>
                  <a:pt x="147429" y="187121"/>
                  <a:pt x="153010" y="181540"/>
                </a:cubicBezTo>
                <a:cubicBezTo>
                  <a:pt x="158591" y="175959"/>
                  <a:pt x="158591" y="166895"/>
                  <a:pt x="153010" y="161314"/>
                </a:cubicBezTo>
                <a:lnTo>
                  <a:pt x="105950" y="114300"/>
                </a:lnTo>
                <a:lnTo>
                  <a:pt x="152965" y="67240"/>
                </a:lnTo>
                <a:close/>
              </a:path>
            </a:pathLst>
          </a:custGeom>
          <a:solidFill>
            <a:srgbClr val="5C6B73"/>
          </a:solidFill>
          <a:ln>
            <a:noFill/>
          </a:ln>
          <a:effectLst/>
        </p:spPr>
      </p:sp>
      <p:sp>
        <p:nvSpPr>
          <p:cNvPr id="10" name="dsl:b2-text"/>
          <p:cNvSpPr txBox="1"/>
          <p:nvPr/>
        </p:nvSpPr>
        <p:spPr>
          <a:xfrm>
            <a:off x="1238250" y="2428875"/>
            <a:ext cx="4095750" cy="523875"/>
          </a:xfrm>
          <a:prstGeom prst="rect">
            <a:avLst/>
          </a:prstGeom>
          <a:noFill/>
        </p:spPr>
        <p:txBody>
          <a:bodyPr wrap="square" anchor="t">
            <a:noAutofit/>
          </a:bodyPr>
          <a:lstStyle/>
          <a:p>
            <a:pPr algn="l">
              <a:lnSpc>
                <a:spcPct val="140000"/>
              </a:lnSpc>
            </a:pPr>
            <a:r>
              <a:rPr b="1" sz="1200" noProof="1">
                <a:solidFill>
                  <a:srgbClr val="2B2D2F"/>
                </a:solidFill>
                <a:latin typeface="QuattrocentoSans"/>
                <a:ea typeface="QuattrocentoSans"/>
              </a:rPr>
              <a:t>No context</a:t>
            </a:r>
            <a:r>
              <a:rPr sz="1200" noProof="1">
                <a:solidFill>
                  <a:srgbClr val="2B2D2F"/>
                </a:solidFill>
                <a:latin typeface="QuattrocentoSans"/>
                <a:ea typeface="QuattrocentoSans"/>
              </a:rPr>
              <a:t> — raw technical data without enrichment</a:t>
            </a:r>
          </a:p>
        </p:txBody>
      </p:sp>
      <p:sp>
        <p:nvSpPr>
          <p:cNvPr id="11" name="dsl:b3-icon|i=fas:xmark"/>
          <p:cNvSpPr/>
          <p:nvPr/>
        </p:nvSpPr>
        <p:spPr>
          <a:xfrm>
            <a:off x="885825" y="3095625"/>
            <a:ext cx="171450" cy="228600"/>
          </a:xfrm>
          <a:custGeom>
            <a:avLst/>
            <a:gdLst/>
            <a:ahLst/>
            <a:cxnLst/>
            <a:rect l="l" t="t" r="r" b="b"/>
            <a:pathLst>
              <a:path w="171450" h="228600">
                <a:moveTo>
                  <a:pt x="152965" y="67240"/>
                </a:moveTo>
                <a:cubicBezTo>
                  <a:pt x="158546" y="61659"/>
                  <a:pt x="158546" y="52595"/>
                  <a:pt x="152965" y="47014"/>
                </a:cubicBezTo>
                <a:cubicBezTo>
                  <a:pt x="147384" y="41433"/>
                  <a:pt x="138320" y="41433"/>
                  <a:pt x="132739" y="47014"/>
                </a:cubicBezTo>
                <a:lnTo>
                  <a:pt x="85725" y="94074"/>
                </a:lnTo>
                <a:lnTo>
                  <a:pt x="38665" y="47059"/>
                </a:lnTo>
                <a:cubicBezTo>
                  <a:pt x="33084" y="41478"/>
                  <a:pt x="24020" y="41478"/>
                  <a:pt x="18439" y="47059"/>
                </a:cubicBezTo>
                <a:cubicBezTo>
                  <a:pt x="12858" y="52640"/>
                  <a:pt x="12858" y="61704"/>
                  <a:pt x="18439" y="67285"/>
                </a:cubicBezTo>
                <a:lnTo>
                  <a:pt x="65499" y="114300"/>
                </a:lnTo>
                <a:lnTo>
                  <a:pt x="18484" y="161359"/>
                </a:lnTo>
                <a:cubicBezTo>
                  <a:pt x="12903" y="166940"/>
                  <a:pt x="12903" y="176004"/>
                  <a:pt x="18484" y="181585"/>
                </a:cubicBezTo>
                <a:cubicBezTo>
                  <a:pt x="24065" y="187166"/>
                  <a:pt x="33129" y="187166"/>
                  <a:pt x="38710" y="181585"/>
                </a:cubicBezTo>
                <a:lnTo>
                  <a:pt x="85725" y="134525"/>
                </a:lnTo>
                <a:lnTo>
                  <a:pt x="132784" y="181540"/>
                </a:lnTo>
                <a:cubicBezTo>
                  <a:pt x="138365" y="187121"/>
                  <a:pt x="147429" y="187121"/>
                  <a:pt x="153010" y="181540"/>
                </a:cubicBezTo>
                <a:cubicBezTo>
                  <a:pt x="158591" y="175959"/>
                  <a:pt x="158591" y="166895"/>
                  <a:pt x="153010" y="161314"/>
                </a:cubicBezTo>
                <a:lnTo>
                  <a:pt x="105950" y="114300"/>
                </a:lnTo>
                <a:lnTo>
                  <a:pt x="152965" y="67240"/>
                </a:lnTo>
                <a:close/>
              </a:path>
            </a:pathLst>
          </a:custGeom>
          <a:solidFill>
            <a:srgbClr val="5C6B73"/>
          </a:solidFill>
          <a:ln>
            <a:noFill/>
          </a:ln>
          <a:effectLst/>
        </p:spPr>
      </p:sp>
      <p:sp>
        <p:nvSpPr>
          <p:cNvPr id="12" name="dsl:b3-text"/>
          <p:cNvSpPr txBox="1"/>
          <p:nvPr/>
        </p:nvSpPr>
        <p:spPr>
          <a:xfrm>
            <a:off x="1238250" y="3048000"/>
            <a:ext cx="4095750" cy="523875"/>
          </a:xfrm>
          <a:prstGeom prst="rect">
            <a:avLst/>
          </a:prstGeom>
          <a:noFill/>
        </p:spPr>
        <p:txBody>
          <a:bodyPr wrap="square" anchor="t">
            <a:noAutofit/>
          </a:bodyPr>
          <a:lstStyle/>
          <a:p>
            <a:pPr algn="l">
              <a:lnSpc>
                <a:spcPct val="140000"/>
              </a:lnSpc>
            </a:pPr>
            <a:r>
              <a:rPr b="1" sz="1200" noProof="1">
                <a:solidFill>
                  <a:srgbClr val="2B2D2F"/>
                </a:solidFill>
                <a:latin typeface="QuattrocentoSans"/>
                <a:ea typeface="QuattrocentoSans"/>
              </a:rPr>
              <a:t>Manual triage</a:t>
            </a:r>
            <a:r>
              <a:rPr sz="1200" noProof="1">
                <a:solidFill>
                  <a:srgbClr val="2B2D2F"/>
                </a:solidFill>
                <a:latin typeface="QuattrocentoSans"/>
                <a:ea typeface="QuattrocentoSans"/>
              </a:rPr>
              <a:t> — hours spent on routine investigation</a:t>
            </a:r>
          </a:p>
        </p:txBody>
      </p:sp>
      <p:sp>
        <p:nvSpPr>
          <p:cNvPr id="13" name="dsl:b4-icon|i=fas:xmark"/>
          <p:cNvSpPr/>
          <p:nvPr/>
        </p:nvSpPr>
        <p:spPr>
          <a:xfrm>
            <a:off x="885825" y="3714750"/>
            <a:ext cx="171450" cy="228600"/>
          </a:xfrm>
          <a:custGeom>
            <a:avLst/>
            <a:gdLst/>
            <a:ahLst/>
            <a:cxnLst/>
            <a:rect l="l" t="t" r="r" b="b"/>
            <a:pathLst>
              <a:path w="171450" h="228600">
                <a:moveTo>
                  <a:pt x="152965" y="67240"/>
                </a:moveTo>
                <a:cubicBezTo>
                  <a:pt x="158546" y="61659"/>
                  <a:pt x="158546" y="52595"/>
                  <a:pt x="152965" y="47014"/>
                </a:cubicBezTo>
                <a:cubicBezTo>
                  <a:pt x="147384" y="41433"/>
                  <a:pt x="138320" y="41433"/>
                  <a:pt x="132739" y="47014"/>
                </a:cubicBezTo>
                <a:lnTo>
                  <a:pt x="85725" y="94074"/>
                </a:lnTo>
                <a:lnTo>
                  <a:pt x="38665" y="47059"/>
                </a:lnTo>
                <a:cubicBezTo>
                  <a:pt x="33084" y="41478"/>
                  <a:pt x="24020" y="41478"/>
                  <a:pt x="18439" y="47059"/>
                </a:cubicBezTo>
                <a:cubicBezTo>
                  <a:pt x="12858" y="52640"/>
                  <a:pt x="12858" y="61704"/>
                  <a:pt x="18439" y="67285"/>
                </a:cubicBezTo>
                <a:lnTo>
                  <a:pt x="65499" y="114300"/>
                </a:lnTo>
                <a:lnTo>
                  <a:pt x="18484" y="161359"/>
                </a:lnTo>
                <a:cubicBezTo>
                  <a:pt x="12903" y="166940"/>
                  <a:pt x="12903" y="176004"/>
                  <a:pt x="18484" y="181585"/>
                </a:cubicBezTo>
                <a:cubicBezTo>
                  <a:pt x="24065" y="187166"/>
                  <a:pt x="33129" y="187166"/>
                  <a:pt x="38710" y="181585"/>
                </a:cubicBezTo>
                <a:lnTo>
                  <a:pt x="85725" y="134525"/>
                </a:lnTo>
                <a:lnTo>
                  <a:pt x="132784" y="181540"/>
                </a:lnTo>
                <a:cubicBezTo>
                  <a:pt x="138365" y="187121"/>
                  <a:pt x="147429" y="187121"/>
                  <a:pt x="153010" y="181540"/>
                </a:cubicBezTo>
                <a:cubicBezTo>
                  <a:pt x="158591" y="175959"/>
                  <a:pt x="158591" y="166895"/>
                  <a:pt x="153010" y="161314"/>
                </a:cubicBezTo>
                <a:lnTo>
                  <a:pt x="105950" y="114300"/>
                </a:lnTo>
                <a:lnTo>
                  <a:pt x="152965" y="67240"/>
                </a:lnTo>
                <a:close/>
              </a:path>
            </a:pathLst>
          </a:custGeom>
          <a:solidFill>
            <a:srgbClr val="5C6B73"/>
          </a:solidFill>
          <a:ln>
            <a:noFill/>
          </a:ln>
          <a:effectLst/>
        </p:spPr>
      </p:sp>
      <p:sp>
        <p:nvSpPr>
          <p:cNvPr id="14" name="dsl:b4-text"/>
          <p:cNvSpPr txBox="1"/>
          <p:nvPr/>
        </p:nvSpPr>
        <p:spPr>
          <a:xfrm>
            <a:off x="1238250" y="3667125"/>
            <a:ext cx="4095750" cy="523875"/>
          </a:xfrm>
          <a:prstGeom prst="rect">
            <a:avLst/>
          </a:prstGeom>
          <a:noFill/>
        </p:spPr>
        <p:txBody>
          <a:bodyPr wrap="square" anchor="t">
            <a:noAutofit/>
          </a:bodyPr>
          <a:lstStyle/>
          <a:p>
            <a:pPr algn="l">
              <a:lnSpc>
                <a:spcPct val="140000"/>
              </a:lnSpc>
            </a:pPr>
            <a:r>
              <a:rPr b="1" sz="1200" noProof="1">
                <a:solidFill>
                  <a:srgbClr val="2B2D2F"/>
                </a:solidFill>
                <a:latin typeface="QuattrocentoSans"/>
                <a:ea typeface="QuattrocentoSans"/>
              </a:rPr>
              <a:t>Alert fatigue</a:t>
            </a:r>
            <a:r>
              <a:rPr sz="1200" noProof="1">
                <a:solidFill>
                  <a:srgbClr val="2B2D2F"/>
                </a:solidFill>
                <a:latin typeface="QuattrocentoSans"/>
                <a:ea typeface="QuattrocentoSans"/>
              </a:rPr>
              <a:t> — critical signals buried in noise</a:t>
            </a:r>
          </a:p>
        </p:txBody>
      </p:sp>
      <p:sp>
        <p:nvSpPr>
          <p:cNvPr id="15" name="dsl:b5-icon|i=fas:xmark"/>
          <p:cNvSpPr/>
          <p:nvPr/>
        </p:nvSpPr>
        <p:spPr>
          <a:xfrm>
            <a:off x="885825" y="4333875"/>
            <a:ext cx="171450" cy="228600"/>
          </a:xfrm>
          <a:custGeom>
            <a:avLst/>
            <a:gdLst/>
            <a:ahLst/>
            <a:cxnLst/>
            <a:rect l="l" t="t" r="r" b="b"/>
            <a:pathLst>
              <a:path w="171450" h="228600">
                <a:moveTo>
                  <a:pt x="152965" y="67240"/>
                </a:moveTo>
                <a:cubicBezTo>
                  <a:pt x="158546" y="61659"/>
                  <a:pt x="158546" y="52595"/>
                  <a:pt x="152965" y="47014"/>
                </a:cubicBezTo>
                <a:cubicBezTo>
                  <a:pt x="147384" y="41433"/>
                  <a:pt x="138320" y="41433"/>
                  <a:pt x="132739" y="47014"/>
                </a:cubicBezTo>
                <a:lnTo>
                  <a:pt x="85725" y="94074"/>
                </a:lnTo>
                <a:lnTo>
                  <a:pt x="38665" y="47059"/>
                </a:lnTo>
                <a:cubicBezTo>
                  <a:pt x="33084" y="41478"/>
                  <a:pt x="24020" y="41478"/>
                  <a:pt x="18439" y="47059"/>
                </a:cubicBezTo>
                <a:cubicBezTo>
                  <a:pt x="12858" y="52640"/>
                  <a:pt x="12858" y="61704"/>
                  <a:pt x="18439" y="67285"/>
                </a:cubicBezTo>
                <a:lnTo>
                  <a:pt x="65499" y="114300"/>
                </a:lnTo>
                <a:lnTo>
                  <a:pt x="18484" y="161359"/>
                </a:lnTo>
                <a:cubicBezTo>
                  <a:pt x="12903" y="166940"/>
                  <a:pt x="12903" y="176004"/>
                  <a:pt x="18484" y="181585"/>
                </a:cubicBezTo>
                <a:cubicBezTo>
                  <a:pt x="24065" y="187166"/>
                  <a:pt x="33129" y="187166"/>
                  <a:pt x="38710" y="181585"/>
                </a:cubicBezTo>
                <a:lnTo>
                  <a:pt x="85725" y="134525"/>
                </a:lnTo>
                <a:lnTo>
                  <a:pt x="132784" y="181540"/>
                </a:lnTo>
                <a:cubicBezTo>
                  <a:pt x="138365" y="187121"/>
                  <a:pt x="147429" y="187121"/>
                  <a:pt x="153010" y="181540"/>
                </a:cubicBezTo>
                <a:cubicBezTo>
                  <a:pt x="158591" y="175959"/>
                  <a:pt x="158591" y="166895"/>
                  <a:pt x="153010" y="161314"/>
                </a:cubicBezTo>
                <a:lnTo>
                  <a:pt x="105950" y="114300"/>
                </a:lnTo>
                <a:lnTo>
                  <a:pt x="152965" y="67240"/>
                </a:lnTo>
                <a:close/>
              </a:path>
            </a:pathLst>
          </a:custGeom>
          <a:solidFill>
            <a:srgbClr val="5C6B73"/>
          </a:solidFill>
          <a:ln>
            <a:noFill/>
          </a:ln>
          <a:effectLst/>
        </p:spPr>
      </p:sp>
      <p:sp>
        <p:nvSpPr>
          <p:cNvPr id="16" name="dsl:b5-text"/>
          <p:cNvSpPr txBox="1"/>
          <p:nvPr/>
        </p:nvSpPr>
        <p:spPr>
          <a:xfrm>
            <a:off x="1238250" y="4286250"/>
            <a:ext cx="4095750" cy="523875"/>
          </a:xfrm>
          <a:prstGeom prst="rect">
            <a:avLst/>
          </a:prstGeom>
          <a:noFill/>
        </p:spPr>
        <p:txBody>
          <a:bodyPr wrap="square" anchor="t">
            <a:noAutofit/>
          </a:bodyPr>
          <a:lstStyle/>
          <a:p>
            <a:pPr algn="l">
              <a:lnSpc>
                <a:spcPct val="140000"/>
              </a:lnSpc>
            </a:pPr>
            <a:r>
              <a:rPr b="1" sz="1200" noProof="1">
                <a:solidFill>
                  <a:srgbClr val="2B2D2F"/>
                </a:solidFill>
                <a:latin typeface="QuattrocentoSans"/>
                <a:ea typeface="QuattrocentoSans"/>
              </a:rPr>
              <a:t>Inconsistent response</a:t>
            </a:r>
            <a:r>
              <a:rPr sz="1200" noProof="1">
                <a:solidFill>
                  <a:srgbClr val="2B2D2F"/>
                </a:solidFill>
                <a:latin typeface="QuattrocentoSans"/>
                <a:ea typeface="QuattrocentoSans"/>
              </a:rPr>
              <a:t> — quality depends on analyst</a:t>
            </a:r>
          </a:p>
        </p:txBody>
      </p:sp>
      <p:sp>
        <p:nvSpPr>
          <p:cNvPr id="17" name="dsl:after-header"/>
          <p:cNvSpPr txBox="1"/>
          <p:nvPr/>
        </p:nvSpPr>
        <p:spPr>
          <a:xfrm>
            <a:off x="6572250" y="1143000"/>
            <a:ext cx="5048250" cy="342900"/>
          </a:xfrm>
          <a:prstGeom prst="rect">
            <a:avLst/>
          </a:prstGeom>
          <a:noFill/>
        </p:spPr>
        <p:txBody>
          <a:bodyPr wrap="none" anchor="ctr">
            <a:noAutofit/>
          </a:bodyPr>
          <a:lstStyle/>
          <a:p>
            <a:pPr algn="ctr"/>
            <a:r>
              <a:rPr b="1" sz="1350" noProof="1" spc="150">
                <a:solidFill>
                  <a:srgbClr val="2D6A6A"/>
                </a:solidFill>
                <a:latin typeface="Liter"/>
                <a:ea typeface="Liter"/>
              </a:rPr>
              <a:t>WITH ARIA</a:t>
            </a:r>
          </a:p>
        </p:txBody>
      </p:sp>
      <p:sp>
        <p:nvSpPr>
          <p:cNvPr id="18" name="dsl:after-bg"/>
          <p:cNvSpPr/>
          <p:nvPr/>
        </p:nvSpPr>
        <p:spPr>
          <a:xfrm>
            <a:off x="6572250" y="1571625"/>
            <a:ext cx="5048250" cy="39052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a1-icon|i=fas:check"/>
          <p:cNvSpPr/>
          <p:nvPr/>
        </p:nvSpPr>
        <p:spPr>
          <a:xfrm>
            <a:off x="6872287" y="1857375"/>
            <a:ext cx="200025" cy="228600"/>
          </a:xfrm>
          <a:custGeom>
            <a:avLst/>
            <a:gdLst/>
            <a:ahLst/>
            <a:cxnLst/>
            <a:rect l="l" t="t" r="r" b="b"/>
            <a:pathLst>
              <a:path w="200025" h="228600">
                <a:moveTo>
                  <a:pt x="195828" y="47059"/>
                </a:moveTo>
                <a:cubicBezTo>
                  <a:pt x="201409" y="52640"/>
                  <a:pt x="201409" y="61704"/>
                  <a:pt x="195828" y="67285"/>
                </a:cubicBezTo>
                <a:lnTo>
                  <a:pt x="81528" y="181585"/>
                </a:lnTo>
                <a:cubicBezTo>
                  <a:pt x="75946" y="187166"/>
                  <a:pt x="66883" y="187166"/>
                  <a:pt x="61302" y="181585"/>
                </a:cubicBezTo>
                <a:lnTo>
                  <a:pt x="4152" y="124435"/>
                </a:lnTo>
                <a:cubicBezTo>
                  <a:pt x="-1428" y="118854"/>
                  <a:pt x="-1428" y="109790"/>
                  <a:pt x="4152" y="104209"/>
                </a:cubicBezTo>
                <a:cubicBezTo>
                  <a:pt x="9733" y="98628"/>
                  <a:pt x="18796" y="98628"/>
                  <a:pt x="24378" y="104209"/>
                </a:cubicBezTo>
                <a:lnTo>
                  <a:pt x="71437" y="151224"/>
                </a:lnTo>
                <a:lnTo>
                  <a:pt x="175646" y="47059"/>
                </a:lnTo>
                <a:cubicBezTo>
                  <a:pt x="181228" y="41478"/>
                  <a:pt x="190291" y="41478"/>
                  <a:pt x="195872" y="47059"/>
                </a:cubicBezTo>
                <a:close/>
              </a:path>
            </a:pathLst>
          </a:custGeom>
          <a:solidFill>
            <a:srgbClr val="D4A373"/>
          </a:solidFill>
          <a:ln>
            <a:noFill/>
          </a:ln>
          <a:effectLst/>
        </p:spPr>
      </p:sp>
      <p:sp>
        <p:nvSpPr>
          <p:cNvPr id="20" name="dsl:a1-text"/>
          <p:cNvSpPr txBox="1"/>
          <p:nvPr/>
        </p:nvSpPr>
        <p:spPr>
          <a:xfrm>
            <a:off x="7239000" y="1809750"/>
            <a:ext cx="4095750" cy="523875"/>
          </a:xfrm>
          <a:prstGeom prst="rect">
            <a:avLst/>
          </a:prstGeom>
          <a:noFill/>
        </p:spPr>
        <p:txBody>
          <a:bodyPr wrap="square" anchor="t">
            <a:noAutofit/>
          </a:bodyPr>
          <a:lstStyle/>
          <a:p>
            <a:pPr algn="l">
              <a:lnSpc>
                <a:spcPct val="140000"/>
              </a:lnSpc>
            </a:pPr>
            <a:r>
              <a:rPr b="1" sz="1200" noProof="1">
                <a:solidFill>
                  <a:srgbClr val="FFFFFF"/>
                </a:solidFill>
                <a:latin typeface="QuattrocentoSans"/>
                <a:ea typeface="QuattrocentoSans"/>
              </a:rPr>
              <a:t>Correlated incidents</a:t>
            </a:r>
            <a:r>
              <a:rPr sz="1200" noProof="1">
                <a:solidFill>
                  <a:srgbClr val="FFFFFF"/>
                </a:solidFill>
                <a:latin typeface="QuattrocentoSans"/>
                <a:ea typeface="QuattrocentoSans"/>
              </a:rPr>
              <a:t> — related alerts grouped with confidence scores</a:t>
            </a:r>
          </a:p>
        </p:txBody>
      </p:sp>
      <p:sp>
        <p:nvSpPr>
          <p:cNvPr id="21" name="dsl:a2-icon|i=fas:check"/>
          <p:cNvSpPr/>
          <p:nvPr/>
        </p:nvSpPr>
        <p:spPr>
          <a:xfrm>
            <a:off x="6872287" y="2476500"/>
            <a:ext cx="200025" cy="228600"/>
          </a:xfrm>
          <a:custGeom>
            <a:avLst/>
            <a:gdLst/>
            <a:ahLst/>
            <a:cxnLst/>
            <a:rect l="l" t="t" r="r" b="b"/>
            <a:pathLst>
              <a:path w="200025" h="228600">
                <a:moveTo>
                  <a:pt x="195828" y="47059"/>
                </a:moveTo>
                <a:cubicBezTo>
                  <a:pt x="201409" y="52640"/>
                  <a:pt x="201409" y="61704"/>
                  <a:pt x="195828" y="67285"/>
                </a:cubicBezTo>
                <a:lnTo>
                  <a:pt x="81528" y="181585"/>
                </a:lnTo>
                <a:cubicBezTo>
                  <a:pt x="75946" y="187166"/>
                  <a:pt x="66883" y="187166"/>
                  <a:pt x="61302" y="181585"/>
                </a:cubicBezTo>
                <a:lnTo>
                  <a:pt x="4152" y="124435"/>
                </a:lnTo>
                <a:cubicBezTo>
                  <a:pt x="-1428" y="118854"/>
                  <a:pt x="-1428" y="109790"/>
                  <a:pt x="4152" y="104209"/>
                </a:cubicBezTo>
                <a:cubicBezTo>
                  <a:pt x="9733" y="98628"/>
                  <a:pt x="18796" y="98628"/>
                  <a:pt x="24378" y="104209"/>
                </a:cubicBezTo>
                <a:lnTo>
                  <a:pt x="71437" y="151224"/>
                </a:lnTo>
                <a:lnTo>
                  <a:pt x="175646" y="47059"/>
                </a:lnTo>
                <a:cubicBezTo>
                  <a:pt x="181228" y="41478"/>
                  <a:pt x="190291" y="41478"/>
                  <a:pt x="195872" y="47059"/>
                </a:cubicBezTo>
                <a:close/>
              </a:path>
            </a:pathLst>
          </a:custGeom>
          <a:solidFill>
            <a:srgbClr val="D4A373"/>
          </a:solidFill>
          <a:ln>
            <a:noFill/>
          </a:ln>
          <a:effectLst/>
        </p:spPr>
      </p:sp>
      <p:sp>
        <p:nvSpPr>
          <p:cNvPr id="22" name="dsl:a2-text"/>
          <p:cNvSpPr txBox="1"/>
          <p:nvPr/>
        </p:nvSpPr>
        <p:spPr>
          <a:xfrm>
            <a:off x="7239000" y="2428875"/>
            <a:ext cx="4095750" cy="523875"/>
          </a:xfrm>
          <a:prstGeom prst="rect">
            <a:avLst/>
          </a:prstGeom>
          <a:noFill/>
        </p:spPr>
        <p:txBody>
          <a:bodyPr wrap="square" anchor="t">
            <a:noAutofit/>
          </a:bodyPr>
          <a:lstStyle/>
          <a:p>
            <a:pPr algn="l">
              <a:lnSpc>
                <a:spcPct val="140000"/>
              </a:lnSpc>
            </a:pPr>
            <a:r>
              <a:rPr b="1" sz="1200" noProof="1">
                <a:solidFill>
                  <a:srgbClr val="FFFFFF"/>
                </a:solidFill>
                <a:latin typeface="QuattrocentoSans"/>
                <a:ea typeface="QuattrocentoSans"/>
              </a:rPr>
              <a:t>Enriched context</a:t>
            </a:r>
            <a:r>
              <a:rPr sz="1200" noProof="1">
                <a:solidFill>
                  <a:srgbClr val="FFFFFF"/>
                </a:solidFill>
                <a:latin typeface="QuattrocentoSans"/>
                <a:ea typeface="QuattrocentoSans"/>
              </a:rPr>
              <a:t> — GeoIP, MITRE, and asset data auto-added</a:t>
            </a:r>
          </a:p>
        </p:txBody>
      </p:sp>
      <p:sp>
        <p:nvSpPr>
          <p:cNvPr id="23" name="dsl:a3-icon|i=fas:check"/>
          <p:cNvSpPr/>
          <p:nvPr/>
        </p:nvSpPr>
        <p:spPr>
          <a:xfrm>
            <a:off x="6872287" y="3095625"/>
            <a:ext cx="200025" cy="228600"/>
          </a:xfrm>
          <a:custGeom>
            <a:avLst/>
            <a:gdLst/>
            <a:ahLst/>
            <a:cxnLst/>
            <a:rect l="l" t="t" r="r" b="b"/>
            <a:pathLst>
              <a:path w="200025" h="228600">
                <a:moveTo>
                  <a:pt x="195828" y="47059"/>
                </a:moveTo>
                <a:cubicBezTo>
                  <a:pt x="201409" y="52640"/>
                  <a:pt x="201409" y="61704"/>
                  <a:pt x="195828" y="67285"/>
                </a:cubicBezTo>
                <a:lnTo>
                  <a:pt x="81528" y="181585"/>
                </a:lnTo>
                <a:cubicBezTo>
                  <a:pt x="75946" y="187166"/>
                  <a:pt x="66883" y="187166"/>
                  <a:pt x="61302" y="181585"/>
                </a:cubicBezTo>
                <a:lnTo>
                  <a:pt x="4152" y="124435"/>
                </a:lnTo>
                <a:cubicBezTo>
                  <a:pt x="-1428" y="118854"/>
                  <a:pt x="-1428" y="109790"/>
                  <a:pt x="4152" y="104209"/>
                </a:cubicBezTo>
                <a:cubicBezTo>
                  <a:pt x="9733" y="98628"/>
                  <a:pt x="18796" y="98628"/>
                  <a:pt x="24378" y="104209"/>
                </a:cubicBezTo>
                <a:lnTo>
                  <a:pt x="71437" y="151224"/>
                </a:lnTo>
                <a:lnTo>
                  <a:pt x="175646" y="47059"/>
                </a:lnTo>
                <a:cubicBezTo>
                  <a:pt x="181228" y="41478"/>
                  <a:pt x="190291" y="41478"/>
                  <a:pt x="195872" y="47059"/>
                </a:cubicBezTo>
                <a:close/>
              </a:path>
            </a:pathLst>
          </a:custGeom>
          <a:solidFill>
            <a:srgbClr val="D4A373"/>
          </a:solidFill>
          <a:ln>
            <a:noFill/>
          </a:ln>
          <a:effectLst/>
        </p:spPr>
      </p:sp>
      <p:sp>
        <p:nvSpPr>
          <p:cNvPr id="24" name="dsl:a3-text"/>
          <p:cNvSpPr txBox="1"/>
          <p:nvPr/>
        </p:nvSpPr>
        <p:spPr>
          <a:xfrm>
            <a:off x="7239000" y="3048000"/>
            <a:ext cx="4095750" cy="523875"/>
          </a:xfrm>
          <a:prstGeom prst="rect">
            <a:avLst/>
          </a:prstGeom>
          <a:noFill/>
        </p:spPr>
        <p:txBody>
          <a:bodyPr wrap="square" anchor="t">
            <a:noAutofit/>
          </a:bodyPr>
          <a:lstStyle/>
          <a:p>
            <a:pPr algn="l">
              <a:lnSpc>
                <a:spcPct val="140000"/>
              </a:lnSpc>
            </a:pPr>
            <a:r>
              <a:rPr b="1" sz="1200" noProof="1">
                <a:solidFill>
                  <a:srgbClr val="FFFFFF"/>
                </a:solidFill>
                <a:latin typeface="QuattrocentoSans"/>
                <a:ea typeface="QuattrocentoSans"/>
              </a:rPr>
              <a:t>AI-assisted triage</a:t>
            </a:r>
            <a:r>
              <a:rPr sz="1200" noProof="1">
                <a:solidFill>
                  <a:srgbClr val="FFFFFF"/>
                </a:solidFill>
                <a:latin typeface="QuattrocentoSans"/>
                <a:ea typeface="QuattrocentoSans"/>
              </a:rPr>
              <a:t> — summaries and recommendations in minutes</a:t>
            </a:r>
          </a:p>
        </p:txBody>
      </p:sp>
      <p:sp>
        <p:nvSpPr>
          <p:cNvPr id="25" name="dsl:a4-icon|i=fas:check"/>
          <p:cNvSpPr/>
          <p:nvPr/>
        </p:nvSpPr>
        <p:spPr>
          <a:xfrm>
            <a:off x="6872287" y="3714750"/>
            <a:ext cx="200025" cy="228600"/>
          </a:xfrm>
          <a:custGeom>
            <a:avLst/>
            <a:gdLst/>
            <a:ahLst/>
            <a:cxnLst/>
            <a:rect l="l" t="t" r="r" b="b"/>
            <a:pathLst>
              <a:path w="200025" h="228600">
                <a:moveTo>
                  <a:pt x="195828" y="47059"/>
                </a:moveTo>
                <a:cubicBezTo>
                  <a:pt x="201409" y="52640"/>
                  <a:pt x="201409" y="61704"/>
                  <a:pt x="195828" y="67285"/>
                </a:cubicBezTo>
                <a:lnTo>
                  <a:pt x="81528" y="181585"/>
                </a:lnTo>
                <a:cubicBezTo>
                  <a:pt x="75946" y="187166"/>
                  <a:pt x="66883" y="187166"/>
                  <a:pt x="61302" y="181585"/>
                </a:cubicBezTo>
                <a:lnTo>
                  <a:pt x="4152" y="124435"/>
                </a:lnTo>
                <a:cubicBezTo>
                  <a:pt x="-1428" y="118854"/>
                  <a:pt x="-1428" y="109790"/>
                  <a:pt x="4152" y="104209"/>
                </a:cubicBezTo>
                <a:cubicBezTo>
                  <a:pt x="9733" y="98628"/>
                  <a:pt x="18796" y="98628"/>
                  <a:pt x="24378" y="104209"/>
                </a:cubicBezTo>
                <a:lnTo>
                  <a:pt x="71437" y="151224"/>
                </a:lnTo>
                <a:lnTo>
                  <a:pt x="175646" y="47059"/>
                </a:lnTo>
                <a:cubicBezTo>
                  <a:pt x="181228" y="41478"/>
                  <a:pt x="190291" y="41478"/>
                  <a:pt x="195872" y="47059"/>
                </a:cubicBezTo>
                <a:close/>
              </a:path>
            </a:pathLst>
          </a:custGeom>
          <a:solidFill>
            <a:srgbClr val="D4A373"/>
          </a:solidFill>
          <a:ln>
            <a:noFill/>
          </a:ln>
          <a:effectLst/>
        </p:spPr>
      </p:sp>
      <p:sp>
        <p:nvSpPr>
          <p:cNvPr id="26" name="dsl:a4-text"/>
          <p:cNvSpPr txBox="1"/>
          <p:nvPr/>
        </p:nvSpPr>
        <p:spPr>
          <a:xfrm>
            <a:off x="7239000" y="3667125"/>
            <a:ext cx="4095750" cy="523875"/>
          </a:xfrm>
          <a:prstGeom prst="rect">
            <a:avLst/>
          </a:prstGeom>
          <a:noFill/>
        </p:spPr>
        <p:txBody>
          <a:bodyPr wrap="square" anchor="t">
            <a:noAutofit/>
          </a:bodyPr>
          <a:lstStyle/>
          <a:p>
            <a:pPr algn="l">
              <a:lnSpc>
                <a:spcPct val="140000"/>
              </a:lnSpc>
            </a:pPr>
            <a:r>
              <a:rPr b="1" sz="1200" noProof="1">
                <a:solidFill>
                  <a:srgbClr val="FFFFFF"/>
                </a:solidFill>
                <a:latin typeface="QuattrocentoSans"/>
                <a:ea typeface="QuattrocentoSans"/>
              </a:rPr>
              <a:t>Smart prioritization</a:t>
            </a:r>
            <a:r>
              <a:rPr sz="1200" noProof="1">
                <a:solidFill>
                  <a:srgbClr val="FFFFFF"/>
                </a:solidFill>
                <a:latin typeface="QuattrocentoSans"/>
                <a:ea typeface="QuattrocentoSans"/>
              </a:rPr>
              <a:t> — severity-based ranking surfaces what matters</a:t>
            </a:r>
          </a:p>
        </p:txBody>
      </p:sp>
      <p:sp>
        <p:nvSpPr>
          <p:cNvPr id="27" name="dsl:a5-icon|i=fas:check"/>
          <p:cNvSpPr/>
          <p:nvPr/>
        </p:nvSpPr>
        <p:spPr>
          <a:xfrm>
            <a:off x="6872287" y="4333875"/>
            <a:ext cx="200025" cy="228600"/>
          </a:xfrm>
          <a:custGeom>
            <a:avLst/>
            <a:gdLst/>
            <a:ahLst/>
            <a:cxnLst/>
            <a:rect l="l" t="t" r="r" b="b"/>
            <a:pathLst>
              <a:path w="200025" h="228600">
                <a:moveTo>
                  <a:pt x="195828" y="47059"/>
                </a:moveTo>
                <a:cubicBezTo>
                  <a:pt x="201409" y="52640"/>
                  <a:pt x="201409" y="61704"/>
                  <a:pt x="195828" y="67285"/>
                </a:cubicBezTo>
                <a:lnTo>
                  <a:pt x="81528" y="181585"/>
                </a:lnTo>
                <a:cubicBezTo>
                  <a:pt x="75946" y="187166"/>
                  <a:pt x="66883" y="187166"/>
                  <a:pt x="61302" y="181585"/>
                </a:cubicBezTo>
                <a:lnTo>
                  <a:pt x="4152" y="124435"/>
                </a:lnTo>
                <a:cubicBezTo>
                  <a:pt x="-1428" y="118854"/>
                  <a:pt x="-1428" y="109790"/>
                  <a:pt x="4152" y="104209"/>
                </a:cubicBezTo>
                <a:cubicBezTo>
                  <a:pt x="9733" y="98628"/>
                  <a:pt x="18796" y="98628"/>
                  <a:pt x="24378" y="104209"/>
                </a:cubicBezTo>
                <a:lnTo>
                  <a:pt x="71437" y="151224"/>
                </a:lnTo>
                <a:lnTo>
                  <a:pt x="175646" y="47059"/>
                </a:lnTo>
                <a:cubicBezTo>
                  <a:pt x="181228" y="41478"/>
                  <a:pt x="190291" y="41478"/>
                  <a:pt x="195872" y="47059"/>
                </a:cubicBezTo>
                <a:close/>
              </a:path>
            </a:pathLst>
          </a:custGeom>
          <a:solidFill>
            <a:srgbClr val="D4A373"/>
          </a:solidFill>
          <a:ln>
            <a:noFill/>
          </a:ln>
          <a:effectLst/>
        </p:spPr>
      </p:sp>
      <p:sp>
        <p:nvSpPr>
          <p:cNvPr id="28" name="dsl:a5-text"/>
          <p:cNvSpPr txBox="1"/>
          <p:nvPr/>
        </p:nvSpPr>
        <p:spPr>
          <a:xfrm>
            <a:off x="7239000" y="4286250"/>
            <a:ext cx="4095750" cy="523875"/>
          </a:xfrm>
          <a:prstGeom prst="rect">
            <a:avLst/>
          </a:prstGeom>
          <a:noFill/>
        </p:spPr>
        <p:txBody>
          <a:bodyPr wrap="square" anchor="t">
            <a:noAutofit/>
          </a:bodyPr>
          <a:lstStyle/>
          <a:p>
            <a:pPr algn="l">
              <a:lnSpc>
                <a:spcPct val="140000"/>
              </a:lnSpc>
            </a:pPr>
            <a:r>
              <a:rPr b="1" sz="1200" noProof="1">
                <a:solidFill>
                  <a:srgbClr val="FFFFFF"/>
                </a:solidFill>
                <a:latin typeface="QuattrocentoSans"/>
                <a:ea typeface="QuattrocentoSans"/>
              </a:rPr>
              <a:t>Standardized response</a:t>
            </a:r>
            <a:r>
              <a:rPr sz="1200" noProof="1">
                <a:solidFill>
                  <a:srgbClr val="FFFFFF"/>
                </a:solidFill>
                <a:latin typeface="QuattrocentoSans"/>
                <a:ea typeface="QuattrocentoSans"/>
              </a:rPr>
              <a:t> — approval-gated playbooks ensure consistency</a:t>
            </a:r>
          </a:p>
        </p:txBody>
      </p:sp>
      <p:sp>
        <p:nvSpPr>
          <p:cNvPr id="29" name="dsl:vs-circle"/>
          <p:cNvSpPr/>
          <p:nvPr/>
        </p:nvSpPr>
        <p:spPr>
          <a:xfrm>
            <a:off x="5867400" y="3238500"/>
            <a:ext cx="457200" cy="457200"/>
          </a:xfrm>
          <a:prstGeom prst="ellipse">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vs-text"/>
          <p:cNvSpPr txBox="1"/>
          <p:nvPr/>
        </p:nvSpPr>
        <p:spPr>
          <a:xfrm>
            <a:off x="5867400" y="3238500"/>
            <a:ext cx="457200" cy="457200"/>
          </a:xfrm>
          <a:prstGeom prst="rect">
            <a:avLst/>
          </a:prstGeom>
          <a:noFill/>
        </p:spPr>
        <p:txBody>
          <a:bodyPr wrap="none" anchor="ctr">
            <a:noAutofit/>
          </a:bodyPr>
          <a:lstStyle/>
          <a:p>
            <a:pPr algn="ctr"/>
            <a:r>
              <a:rPr b="1" sz="1050" noProof="1">
                <a:solidFill>
                  <a:srgbClr val="FFFFFF"/>
                </a:solidFill>
                <a:latin typeface="Liter"/>
                <a:ea typeface="Liter"/>
              </a:rPr>
              <a:t>VS</a:t>
            </a:r>
          </a:p>
        </p:txBody>
      </p:sp>
      <p:sp>
        <p:nvSpPr>
          <p:cNvPr id="31" name="dsl:bottom-stat"/>
          <p:cNvSpPr txBox="1"/>
          <p:nvPr/>
        </p:nvSpPr>
        <p:spPr>
          <a:xfrm>
            <a:off x="1905000" y="5619750"/>
            <a:ext cx="8382000" cy="476250"/>
          </a:xfrm>
          <a:prstGeom prst="rect">
            <a:avLst/>
          </a:prstGeom>
          <a:noFill/>
        </p:spPr>
        <p:txBody>
          <a:bodyPr wrap="none" anchor="ctr">
            <a:noAutofit/>
          </a:bodyPr>
          <a:lstStyle/>
          <a:p>
            <a:pPr algn="ctr"/>
            <a:r>
              <a:rPr b="1" sz="1500" noProof="1">
                <a:solidFill>
                  <a:srgbClr val="2D6A6A"/>
                </a:solidFill>
                <a:latin typeface="Liter"/>
                <a:ea typeface="Liter"/>
              </a:rPr>
              <a:t>Analysts see incidents, not isolated alerts.</a:t>
            </a:r>
          </a:p>
        </p:txBody>
      </p:sp>
      <p:sp>
        <p:nvSpPr>
          <p:cNvPr id="32" name="dsl:footer-author"/>
          <p:cNvSpPr txBox="1"/>
          <p:nvPr/>
        </p:nvSpPr>
        <p:spPr>
          <a:xfrm>
            <a:off x="571500" y="6572250"/>
            <a:ext cx="1905000" cy="190500"/>
          </a:xfrm>
          <a:prstGeom prst="rect">
            <a:avLst/>
          </a:prstGeom>
          <a:noFill/>
        </p:spPr>
        <p:txBody>
          <a:bodyPr wrap="none" anchor="t">
            <a:noAutofit/>
          </a:bodyPr>
          <a:lstStyle/>
          <a:p>
            <a:pPr algn="l"/>
            <a:r>
              <a:rPr sz="825" noProof="1" spc="75">
                <a:solidFill>
                  <a:srgbClr val="5C6B73"/>
                </a:solidFill>
                <a:latin typeface="Liter"/>
                <a:ea typeface="Liter"/>
              </a:rPr>
              <a:t>GHAZI MABROUKI</a:t>
            </a:r>
          </a:p>
        </p:txBody>
      </p:sp>
      <p:sp>
        <p:nvSpPr>
          <p:cNvPr id="33" name="dsl:footer-page"/>
          <p:cNvSpPr txBox="1"/>
          <p:nvPr/>
        </p:nvSpPr>
        <p:spPr>
          <a:xfrm>
            <a:off x="11239500" y="6572250"/>
            <a:ext cx="381000" cy="190500"/>
          </a:xfrm>
          <a:prstGeom prst="rect">
            <a:avLst/>
          </a:prstGeom>
          <a:noFill/>
        </p:spPr>
        <p:txBody>
          <a:bodyPr wrap="none" anchor="ctr">
            <a:noAutofit/>
          </a:bodyPr>
          <a:lstStyle/>
          <a:p>
            <a:pPr algn="r"/>
            <a:r>
              <a:rPr sz="900" noProof="1">
                <a:solidFill>
                  <a:srgbClr val="5C6B73"/>
                </a:solidFill>
                <a:latin typeface="Liter"/>
                <a:ea typeface="Lite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4-number"/>
          <p:cNvSpPr txBox="1"/>
          <p:nvPr/>
        </p:nvSpPr>
        <p:spPr>
          <a:xfrm>
            <a:off x="476250" y="571500"/>
            <a:ext cx="4000500" cy="1809750"/>
          </a:xfrm>
          <a:prstGeom prst="rect">
            <a:avLst/>
          </a:prstGeom>
          <a:noFill/>
        </p:spPr>
        <p:txBody>
          <a:bodyPr wrap="none" anchor="t">
            <a:noAutofit/>
          </a:bodyPr>
          <a:lstStyle/>
          <a:p>
            <a:pPr algn="l"/>
            <a:r>
              <a:rPr sz="12000" noProof="1">
                <a:solidFill>
                  <a:srgbClr val="2D6A6A"/>
                </a:solidFill>
                <a:latin typeface="Liter"/>
                <a:ea typeface="Liter"/>
              </a:rPr>
              <a:t>04</a:t>
            </a:r>
          </a:p>
        </p:txBody>
      </p:sp>
      <p:sp>
        <p:nvSpPr>
          <p:cNvPr id="3" name="dsl:ch4-label"/>
          <p:cNvSpPr txBox="1"/>
          <p:nvPr/>
        </p:nvSpPr>
        <p:spPr>
          <a:xfrm>
            <a:off x="571500" y="2647950"/>
            <a:ext cx="1905000" cy="209550"/>
          </a:xfrm>
          <a:prstGeom prst="rect">
            <a:avLst/>
          </a:prstGeom>
          <a:noFill/>
        </p:spPr>
        <p:txBody>
          <a:bodyPr wrap="none" anchor="ctr">
            <a:noAutofit/>
          </a:bodyPr>
          <a:lstStyle/>
          <a:p>
            <a:pPr algn="l"/>
            <a:r>
              <a:rPr sz="975" noProof="1">
                <a:solidFill>
                  <a:srgbClr val="5C6B73"/>
                </a:solidFill>
                <a:latin typeface="Liter"/>
                <a:ea typeface="Liter"/>
              </a:rPr>
              <a:t>CHAPTER 04</a:t>
            </a:r>
          </a:p>
        </p:txBody>
      </p:sp>
      <p:sp>
        <p:nvSpPr>
          <p:cNvPr id="4" name="dsl:ch4-accent-bar"/>
          <p:cNvSpPr/>
          <p:nvPr/>
        </p:nvSpPr>
        <p:spPr>
          <a:xfrm>
            <a:off x="571500" y="297180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h4-title|s=$title"/>
          <p:cNvSpPr txBox="1"/>
          <p:nvPr/>
        </p:nvSpPr>
        <p:spPr>
          <a:xfrm>
            <a:off x="571500" y="3143250"/>
            <a:ext cx="7620000" cy="523875"/>
          </a:xfrm>
          <a:prstGeom prst="rect">
            <a:avLst/>
          </a:prstGeom>
          <a:noFill/>
        </p:spPr>
        <p:txBody>
          <a:bodyPr wrap="none" anchor="ctr">
            <a:noAutofit/>
          </a:bodyPr>
          <a:lstStyle/>
          <a:p>
            <a:pPr algn="l">
              <a:lnSpc>
                <a:spcPct val="120000"/>
              </a:lnSpc>
            </a:pPr>
            <a:r>
              <a:rPr sz="3150" noProof="1">
                <a:solidFill>
                  <a:srgbClr val="2D6A6A"/>
                </a:solidFill>
                <a:latin typeface="Liter"/>
                <a:ea typeface="Liter"/>
              </a:rPr>
              <a:t>AI That Helps Teams Work Smarter</a:t>
            </a:r>
          </a:p>
        </p:txBody>
      </p:sp>
      <p:sp>
        <p:nvSpPr>
          <p:cNvPr id="6" name="dsl:ch4-subtitle|s=$subtitle"/>
          <p:cNvSpPr txBox="1"/>
          <p:nvPr/>
        </p:nvSpPr>
        <p:spPr>
          <a:xfrm>
            <a:off x="571500" y="3857625"/>
            <a:ext cx="6667500" cy="333375"/>
          </a:xfrm>
          <a:prstGeom prst="rect">
            <a:avLst/>
          </a:prstGeom>
          <a:noFill/>
        </p:spPr>
        <p:txBody>
          <a:bodyPr wrap="none" anchor="ctr">
            <a:noAutofit/>
          </a:bodyPr>
          <a:lstStyle/>
          <a:p>
            <a:pPr algn="l">
              <a:lnSpc>
                <a:spcPct val="140000"/>
              </a:lnSpc>
            </a:pPr>
            <a:r>
              <a:rPr sz="1650" noProof="1">
                <a:solidFill>
                  <a:srgbClr val="5C6B73"/>
                </a:solidFill>
                <a:latin typeface="QuattrocentoSans"/>
                <a:ea typeface="QuattrocentoSans"/>
              </a:rPr>
              <a:t>AI accelerates decisions. Analysts stay in control.</a:t>
            </a:r>
          </a:p>
        </p:txBody>
      </p:sp>
      <p:sp>
        <p:nvSpPr>
          <p:cNvPr id="7" name="dsl:ch4-frame"/>
          <p:cNvSpPr/>
          <p:nvPr/>
        </p:nvSpPr>
        <p:spPr>
          <a:xfrm>
            <a:off x="8763000" y="1143000"/>
            <a:ext cx="2857500" cy="4572000"/>
          </a:xfrm>
          <a:prstGeom prst="rect">
            <a:avLst/>
          </a:prstGeom>
          <a:no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b="1" sz="825" noProof="1" spc="150">
                <a:solidFill>
                  <a:srgbClr val="2D6A6A"/>
                </a:solidFill>
                <a:latin typeface="Liter"/>
                <a:ea typeface="Liter"/>
              </a:rPr>
              <a:t>AI &amp; AUTOMATION</a:t>
            </a:r>
            <a:r>
              <a:rPr sz="825" noProof="1" spc="150">
                <a:solidFill>
                  <a:srgbClr val="8A9499"/>
                </a:solidFill>
                <a:latin typeface="Liter"/>
                <a:ea typeface="Liter"/>
              </a:rPr>
              <a:t>     </a:t>
            </a:r>
            <a:r>
              <a:rPr sz="825" noProof="1" spc="150">
                <a:solidFill>
                  <a:srgbClr val="8A9499"/>
                </a:solidFill>
                <a:latin typeface="Liter"/>
                <a:ea typeface="Liter"/>
              </a:rPr>
              <a:t>IMPACT</a:t>
            </a:r>
            <a:r>
              <a:rPr sz="825" noProof="1" spc="150">
                <a:solidFill>
                  <a:srgbClr val="8A9499"/>
                </a:solidFill>
                <a:latin typeface="Liter"/>
                <a:ea typeface="Liter"/>
              </a:rPr>
              <a:t>     </a:t>
            </a:r>
            <a:r>
              <a:rPr sz="825" noProof="1" spc="150">
                <a:solidFill>
                  <a:srgbClr val="8A9499"/>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AI-Assisted Investigation</a:t>
            </a:r>
          </a:p>
        </p:txBody>
      </p:sp>
      <p:sp>
        <p:nvSpPr>
          <p:cNvPr id="5" name="dsl:intro"/>
          <p:cNvSpPr txBox="1"/>
          <p:nvPr/>
        </p:nvSpPr>
        <p:spPr>
          <a:xfrm>
            <a:off x="571500" y="971550"/>
            <a:ext cx="8572500" cy="266700"/>
          </a:xfrm>
          <a:prstGeom prst="rect">
            <a:avLst/>
          </a:prstGeom>
          <a:noFill/>
        </p:spPr>
        <p:txBody>
          <a:bodyPr wrap="none" anchor="ctr">
            <a:noAutofit/>
          </a:bodyPr>
          <a:lstStyle/>
          <a:p>
            <a:pPr algn="l"/>
            <a:r>
              <a:rPr sz="1350" noProof="1">
                <a:solidFill>
                  <a:srgbClr val="5C6B73"/>
                </a:solidFill>
                <a:latin typeface="QuattrocentoSans"/>
                <a:ea typeface="QuattrocentoSans"/>
              </a:rPr>
              <a:t>ARIA's AI engine translates complex alerts into clear, actionable intelligence.</a:t>
            </a:r>
          </a:p>
        </p:txBody>
      </p:sp>
      <p:sp>
        <p:nvSpPr>
          <p:cNvPr id="6" name="dsl:card1-bg"/>
          <p:cNvSpPr/>
          <p:nvPr/>
        </p:nvSpPr>
        <p:spPr>
          <a:xfrm>
            <a:off x="571500" y="1428750"/>
            <a:ext cx="5381625" cy="2095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card1-bar"/>
          <p:cNvSpPr/>
          <p:nvPr/>
        </p:nvSpPr>
        <p:spPr>
          <a:xfrm>
            <a:off x="571500" y="1428750"/>
            <a:ext cx="38100" cy="20955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card1-icon|i=fas:file-lines"/>
          <p:cNvSpPr/>
          <p:nvPr/>
        </p:nvSpPr>
        <p:spPr>
          <a:xfrm>
            <a:off x="838200" y="1638300"/>
            <a:ext cx="228600" cy="304800"/>
          </a:xfrm>
          <a:custGeom>
            <a:avLst/>
            <a:gdLst/>
            <a:ahLst/>
            <a:cxnLst/>
            <a:rect l="l" t="t" r="r" b="b"/>
            <a:pathLst>
              <a:path w="228600" h="304800">
                <a:moveTo>
                  <a:pt x="38100" y="0"/>
                </a:moveTo>
                <a:cubicBezTo>
                  <a:pt x="17085" y="0"/>
                  <a:pt x="0" y="17085"/>
                  <a:pt x="0" y="38100"/>
                </a:cubicBezTo>
                <a:lnTo>
                  <a:pt x="0" y="266700"/>
                </a:lnTo>
                <a:cubicBezTo>
                  <a:pt x="0" y="287714"/>
                  <a:pt x="17085" y="304800"/>
                  <a:pt x="38100" y="304800"/>
                </a:cubicBezTo>
                <a:lnTo>
                  <a:pt x="190500" y="304800"/>
                </a:lnTo>
                <a:cubicBezTo>
                  <a:pt x="211514" y="304800"/>
                  <a:pt x="228600" y="287714"/>
                  <a:pt x="228600" y="266700"/>
                </a:cubicBezTo>
                <a:lnTo>
                  <a:pt x="228600" y="95250"/>
                </a:lnTo>
                <a:lnTo>
                  <a:pt x="152400" y="95250"/>
                </a:lnTo>
                <a:cubicBezTo>
                  <a:pt x="141862" y="95250"/>
                  <a:pt x="133350" y="86737"/>
                  <a:pt x="133350" y="76200"/>
                </a:cubicBezTo>
                <a:lnTo>
                  <a:pt x="133350" y="0"/>
                </a:lnTo>
                <a:lnTo>
                  <a:pt x="38100" y="0"/>
                </a:lnTo>
                <a:close/>
                <a:moveTo>
                  <a:pt x="152400" y="0"/>
                </a:moveTo>
                <a:lnTo>
                  <a:pt x="152400" y="76200"/>
                </a:lnTo>
                <a:lnTo>
                  <a:pt x="228600" y="76200"/>
                </a:lnTo>
                <a:lnTo>
                  <a:pt x="152400" y="0"/>
                </a:lnTo>
                <a:close/>
                <a:moveTo>
                  <a:pt x="66675" y="152400"/>
                </a:moveTo>
                <a:lnTo>
                  <a:pt x="161925" y="152400"/>
                </a:lnTo>
                <a:cubicBezTo>
                  <a:pt x="167163" y="152400"/>
                  <a:pt x="171450" y="156686"/>
                  <a:pt x="171450" y="161925"/>
                </a:cubicBezTo>
                <a:cubicBezTo>
                  <a:pt x="171450" y="167163"/>
                  <a:pt x="167163" y="171450"/>
                  <a:pt x="161925" y="171450"/>
                </a:cubicBezTo>
                <a:lnTo>
                  <a:pt x="66675" y="171450"/>
                </a:lnTo>
                <a:cubicBezTo>
                  <a:pt x="61436" y="171450"/>
                  <a:pt x="57150" y="167163"/>
                  <a:pt x="57150" y="161925"/>
                </a:cubicBezTo>
                <a:cubicBezTo>
                  <a:pt x="57150" y="156686"/>
                  <a:pt x="61436" y="152400"/>
                  <a:pt x="66675" y="152400"/>
                </a:cubicBezTo>
                <a:close/>
                <a:moveTo>
                  <a:pt x="66675" y="190500"/>
                </a:moveTo>
                <a:lnTo>
                  <a:pt x="161925" y="190500"/>
                </a:lnTo>
                <a:cubicBezTo>
                  <a:pt x="167163" y="190500"/>
                  <a:pt x="171450" y="194786"/>
                  <a:pt x="171450" y="200025"/>
                </a:cubicBezTo>
                <a:cubicBezTo>
                  <a:pt x="171450" y="205263"/>
                  <a:pt x="167163" y="209550"/>
                  <a:pt x="161925" y="209550"/>
                </a:cubicBezTo>
                <a:lnTo>
                  <a:pt x="66675" y="209550"/>
                </a:lnTo>
                <a:cubicBezTo>
                  <a:pt x="61436" y="209550"/>
                  <a:pt x="57150" y="205263"/>
                  <a:pt x="57150" y="200025"/>
                </a:cubicBezTo>
                <a:cubicBezTo>
                  <a:pt x="57150" y="194786"/>
                  <a:pt x="61436" y="190500"/>
                  <a:pt x="66675" y="190500"/>
                </a:cubicBezTo>
                <a:close/>
                <a:moveTo>
                  <a:pt x="66675" y="228600"/>
                </a:moveTo>
                <a:lnTo>
                  <a:pt x="161925" y="228600"/>
                </a:lnTo>
                <a:cubicBezTo>
                  <a:pt x="167163" y="228600"/>
                  <a:pt x="171450" y="232886"/>
                  <a:pt x="171450" y="238125"/>
                </a:cubicBezTo>
                <a:cubicBezTo>
                  <a:pt x="171450" y="243363"/>
                  <a:pt x="167163" y="247650"/>
                  <a:pt x="161925" y="247650"/>
                </a:cubicBezTo>
                <a:lnTo>
                  <a:pt x="66675" y="247650"/>
                </a:lnTo>
                <a:cubicBezTo>
                  <a:pt x="61436" y="247650"/>
                  <a:pt x="57150" y="243363"/>
                  <a:pt x="57150" y="238125"/>
                </a:cubicBezTo>
                <a:cubicBezTo>
                  <a:pt x="57150" y="232886"/>
                  <a:pt x="61436" y="228600"/>
                  <a:pt x="66675" y="228600"/>
                </a:cubicBezTo>
                <a:close/>
              </a:path>
            </a:pathLst>
          </a:custGeom>
          <a:solidFill>
            <a:srgbClr val="D4A373"/>
          </a:solidFill>
          <a:ln>
            <a:noFill/>
          </a:ln>
          <a:effectLst/>
        </p:spPr>
      </p:sp>
      <p:sp>
        <p:nvSpPr>
          <p:cNvPr id="9" name="dsl:card1-title"/>
          <p:cNvSpPr txBox="1"/>
          <p:nvPr/>
        </p:nvSpPr>
        <p:spPr>
          <a:xfrm>
            <a:off x="1219200" y="1619250"/>
            <a:ext cx="4524375" cy="266700"/>
          </a:xfrm>
          <a:prstGeom prst="rect">
            <a:avLst/>
          </a:prstGeom>
          <a:noFill/>
        </p:spPr>
        <p:txBody>
          <a:bodyPr wrap="none" anchor="ctr">
            <a:noAutofit/>
          </a:bodyPr>
          <a:lstStyle/>
          <a:p>
            <a:pPr algn="l"/>
            <a:r>
              <a:rPr b="1" sz="1500" noProof="1">
                <a:solidFill>
                  <a:srgbClr val="2B2D2F"/>
                </a:solidFill>
                <a:latin typeface="Liter"/>
                <a:ea typeface="Liter"/>
              </a:rPr>
              <a:t>Investigation Summary</a:t>
            </a:r>
          </a:p>
        </p:txBody>
      </p:sp>
      <p:sp>
        <p:nvSpPr>
          <p:cNvPr id="10" name="dsl:card1-desc"/>
          <p:cNvSpPr txBox="1"/>
          <p:nvPr/>
        </p:nvSpPr>
        <p:spPr>
          <a:xfrm>
            <a:off x="800100" y="2019300"/>
            <a:ext cx="4953000" cy="1333500"/>
          </a:xfrm>
          <a:prstGeom prst="rect">
            <a:avLst/>
          </a:prstGeom>
          <a:noFill/>
        </p:spPr>
        <p:txBody>
          <a:bodyPr wrap="square" anchor="t">
            <a:noAutofit/>
          </a:bodyPr>
          <a:lstStyle/>
          <a:p>
            <a:pPr algn="l">
              <a:lnSpc>
                <a:spcPct val="150000"/>
              </a:lnSpc>
            </a:pPr>
            <a:r>
              <a:rPr sz="1200" noProof="1">
                <a:solidFill>
                  <a:srgbClr val="5C6B73"/>
                </a:solidFill>
                <a:latin typeface="QuattrocentoSans"/>
                <a:ea typeface="QuattrocentoSans"/>
              </a:rPr>
              <a:t>A clear explanation of what happened, written in plain language that any analyst can understand — no technical decoding required.</a:t>
            </a:r>
          </a:p>
        </p:txBody>
      </p:sp>
      <p:sp>
        <p:nvSpPr>
          <p:cNvPr id="11" name="dsl:card2-bg"/>
          <p:cNvSpPr/>
          <p:nvPr/>
        </p:nvSpPr>
        <p:spPr>
          <a:xfrm>
            <a:off x="6238875" y="1428750"/>
            <a:ext cx="5381625" cy="2095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card2-bar"/>
          <p:cNvSpPr/>
          <p:nvPr/>
        </p:nvSpPr>
        <p:spPr>
          <a:xfrm>
            <a:off x="6238875" y="1428750"/>
            <a:ext cx="38100" cy="20955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card2-icon|i=fas:list-ol"/>
          <p:cNvSpPr/>
          <p:nvPr/>
        </p:nvSpPr>
        <p:spPr>
          <a:xfrm>
            <a:off x="6467475" y="1638300"/>
            <a:ext cx="304800" cy="304800"/>
          </a:xfrm>
          <a:custGeom>
            <a:avLst/>
            <a:gdLst/>
            <a:ahLst/>
            <a:cxnLst/>
            <a:rect l="l" t="t" r="r" b="b"/>
            <a:pathLst>
              <a:path w="304800" h="304800">
                <a:moveTo>
                  <a:pt x="14287" y="33337"/>
                </a:moveTo>
                <a:cubicBezTo>
                  <a:pt x="14287" y="25419"/>
                  <a:pt x="20657" y="19050"/>
                  <a:pt x="28575" y="19050"/>
                </a:cubicBezTo>
                <a:lnTo>
                  <a:pt x="47625" y="19050"/>
                </a:lnTo>
                <a:cubicBezTo>
                  <a:pt x="55542" y="19050"/>
                  <a:pt x="61912" y="25419"/>
                  <a:pt x="61912" y="33337"/>
                </a:cubicBezTo>
                <a:lnTo>
                  <a:pt x="61912" y="104775"/>
                </a:lnTo>
                <a:lnTo>
                  <a:pt x="71437" y="104775"/>
                </a:lnTo>
                <a:cubicBezTo>
                  <a:pt x="79355" y="104775"/>
                  <a:pt x="85725" y="111144"/>
                  <a:pt x="85725" y="119062"/>
                </a:cubicBezTo>
                <a:cubicBezTo>
                  <a:pt x="85725" y="126980"/>
                  <a:pt x="79355" y="133350"/>
                  <a:pt x="71437" y="133350"/>
                </a:cubicBezTo>
                <a:lnTo>
                  <a:pt x="23812" y="133350"/>
                </a:lnTo>
                <a:cubicBezTo>
                  <a:pt x="15894" y="133350"/>
                  <a:pt x="9525" y="126980"/>
                  <a:pt x="9525" y="119062"/>
                </a:cubicBezTo>
                <a:cubicBezTo>
                  <a:pt x="9525" y="111144"/>
                  <a:pt x="15894" y="104775"/>
                  <a:pt x="23812" y="104775"/>
                </a:cubicBezTo>
                <a:lnTo>
                  <a:pt x="33337" y="104775"/>
                </a:lnTo>
                <a:lnTo>
                  <a:pt x="33337" y="47625"/>
                </a:lnTo>
                <a:lnTo>
                  <a:pt x="28575" y="47625"/>
                </a:lnTo>
                <a:cubicBezTo>
                  <a:pt x="20657" y="47625"/>
                  <a:pt x="14287" y="41255"/>
                  <a:pt x="14287" y="33337"/>
                </a:cubicBezTo>
                <a:close/>
                <a:moveTo>
                  <a:pt x="51613" y="203120"/>
                </a:moveTo>
                <a:cubicBezTo>
                  <a:pt x="47744" y="198715"/>
                  <a:pt x="40719" y="199012"/>
                  <a:pt x="37326" y="203835"/>
                </a:cubicBezTo>
                <a:lnTo>
                  <a:pt x="30658" y="213062"/>
                </a:lnTo>
                <a:cubicBezTo>
                  <a:pt x="26074" y="219491"/>
                  <a:pt x="17145" y="220980"/>
                  <a:pt x="10715" y="216396"/>
                </a:cubicBezTo>
                <a:cubicBezTo>
                  <a:pt x="4286" y="211812"/>
                  <a:pt x="2797" y="202882"/>
                  <a:pt x="7381" y="196453"/>
                </a:cubicBezTo>
                <a:lnTo>
                  <a:pt x="13989" y="187166"/>
                </a:lnTo>
                <a:cubicBezTo>
                  <a:pt x="28098" y="167401"/>
                  <a:pt x="57030" y="165973"/>
                  <a:pt x="73044" y="184249"/>
                </a:cubicBezTo>
                <a:cubicBezTo>
                  <a:pt x="85725" y="198774"/>
                  <a:pt x="85427" y="220503"/>
                  <a:pt x="72390" y="234672"/>
                </a:cubicBezTo>
                <a:lnTo>
                  <a:pt x="51673" y="257175"/>
                </a:lnTo>
                <a:lnTo>
                  <a:pt x="71437" y="257175"/>
                </a:lnTo>
                <a:cubicBezTo>
                  <a:pt x="79355" y="257175"/>
                  <a:pt x="85725" y="263544"/>
                  <a:pt x="85725" y="271462"/>
                </a:cubicBezTo>
                <a:cubicBezTo>
                  <a:pt x="85725" y="279380"/>
                  <a:pt x="79355" y="285750"/>
                  <a:pt x="71437" y="285750"/>
                </a:cubicBezTo>
                <a:lnTo>
                  <a:pt x="19050" y="285750"/>
                </a:lnTo>
                <a:cubicBezTo>
                  <a:pt x="13394" y="285750"/>
                  <a:pt x="8215" y="282416"/>
                  <a:pt x="5953" y="277177"/>
                </a:cubicBezTo>
                <a:cubicBezTo>
                  <a:pt x="3690" y="271938"/>
                  <a:pt x="4702" y="265926"/>
                  <a:pt x="8512" y="261758"/>
                </a:cubicBezTo>
                <a:lnTo>
                  <a:pt x="51375" y="215324"/>
                </a:lnTo>
                <a:cubicBezTo>
                  <a:pt x="54530" y="211871"/>
                  <a:pt x="54590" y="206632"/>
                  <a:pt x="53161" y="203120"/>
                </a:cubicBezTo>
                <a:close/>
                <a:moveTo>
                  <a:pt x="133350" y="38100"/>
                </a:moveTo>
                <a:lnTo>
                  <a:pt x="285750" y="38100"/>
                </a:lnTo>
                <a:cubicBezTo>
                  <a:pt x="296287" y="38100"/>
                  <a:pt x="304800" y="46612"/>
                  <a:pt x="304800" y="57150"/>
                </a:cubicBezTo>
                <a:cubicBezTo>
                  <a:pt x="304800" y="67687"/>
                  <a:pt x="296287" y="76200"/>
                  <a:pt x="285750" y="76200"/>
                </a:cubicBezTo>
                <a:lnTo>
                  <a:pt x="133350" y="76200"/>
                </a:lnTo>
                <a:cubicBezTo>
                  <a:pt x="122812" y="76200"/>
                  <a:pt x="114300" y="67687"/>
                  <a:pt x="114300" y="57150"/>
                </a:cubicBezTo>
                <a:cubicBezTo>
                  <a:pt x="114300" y="46612"/>
                  <a:pt x="122812" y="38100"/>
                  <a:pt x="133350" y="38100"/>
                </a:cubicBezTo>
                <a:close/>
                <a:moveTo>
                  <a:pt x="133350" y="133350"/>
                </a:moveTo>
                <a:lnTo>
                  <a:pt x="285750" y="133350"/>
                </a:lnTo>
                <a:cubicBezTo>
                  <a:pt x="296287" y="133350"/>
                  <a:pt x="304800" y="141862"/>
                  <a:pt x="304800" y="152400"/>
                </a:cubicBezTo>
                <a:cubicBezTo>
                  <a:pt x="304800" y="162937"/>
                  <a:pt x="296287" y="171450"/>
                  <a:pt x="285750" y="171450"/>
                </a:cubicBezTo>
                <a:lnTo>
                  <a:pt x="133350" y="171450"/>
                </a:lnTo>
                <a:cubicBezTo>
                  <a:pt x="122812" y="171450"/>
                  <a:pt x="114300" y="162937"/>
                  <a:pt x="114300" y="152400"/>
                </a:cubicBezTo>
                <a:cubicBezTo>
                  <a:pt x="114300" y="141862"/>
                  <a:pt x="122812" y="133350"/>
                  <a:pt x="133350" y="133350"/>
                </a:cubicBezTo>
                <a:close/>
                <a:moveTo>
                  <a:pt x="133350" y="228600"/>
                </a:moveTo>
                <a:lnTo>
                  <a:pt x="285750" y="228600"/>
                </a:lnTo>
                <a:cubicBezTo>
                  <a:pt x="296287" y="228600"/>
                  <a:pt x="304800" y="237112"/>
                  <a:pt x="304800" y="247650"/>
                </a:cubicBezTo>
                <a:cubicBezTo>
                  <a:pt x="304800" y="258187"/>
                  <a:pt x="296287" y="266700"/>
                  <a:pt x="285750" y="266700"/>
                </a:cubicBezTo>
                <a:lnTo>
                  <a:pt x="133350" y="266700"/>
                </a:lnTo>
                <a:cubicBezTo>
                  <a:pt x="122812" y="266700"/>
                  <a:pt x="114300" y="258187"/>
                  <a:pt x="114300" y="247650"/>
                </a:cubicBezTo>
                <a:cubicBezTo>
                  <a:pt x="114300" y="237112"/>
                  <a:pt x="122812" y="228600"/>
                  <a:pt x="133350" y="228600"/>
                </a:cubicBezTo>
                <a:close/>
              </a:path>
            </a:pathLst>
          </a:custGeom>
          <a:solidFill>
            <a:srgbClr val="D4A373"/>
          </a:solidFill>
          <a:ln>
            <a:noFill/>
          </a:ln>
          <a:effectLst/>
        </p:spPr>
      </p:sp>
      <p:sp>
        <p:nvSpPr>
          <p:cNvPr id="14" name="dsl:card2-title"/>
          <p:cNvSpPr txBox="1"/>
          <p:nvPr/>
        </p:nvSpPr>
        <p:spPr>
          <a:xfrm>
            <a:off x="6886575" y="1619250"/>
            <a:ext cx="4524375" cy="266700"/>
          </a:xfrm>
          <a:prstGeom prst="rect">
            <a:avLst/>
          </a:prstGeom>
          <a:noFill/>
        </p:spPr>
        <p:txBody>
          <a:bodyPr wrap="none" anchor="ctr">
            <a:noAutofit/>
          </a:bodyPr>
          <a:lstStyle/>
          <a:p>
            <a:pPr algn="l"/>
            <a:r>
              <a:rPr b="1" sz="1500" noProof="1">
                <a:solidFill>
                  <a:srgbClr val="2B2D2F"/>
                </a:solidFill>
                <a:latin typeface="Liter"/>
                <a:ea typeface="Liter"/>
              </a:rPr>
              <a:t>Attack Narrative</a:t>
            </a:r>
          </a:p>
        </p:txBody>
      </p:sp>
      <p:sp>
        <p:nvSpPr>
          <p:cNvPr id="15" name="dsl:card2-desc"/>
          <p:cNvSpPr txBox="1"/>
          <p:nvPr/>
        </p:nvSpPr>
        <p:spPr>
          <a:xfrm>
            <a:off x="6467475" y="2019300"/>
            <a:ext cx="4953000" cy="1333500"/>
          </a:xfrm>
          <a:prstGeom prst="rect">
            <a:avLst/>
          </a:prstGeom>
          <a:noFill/>
        </p:spPr>
        <p:txBody>
          <a:bodyPr wrap="square" anchor="t">
            <a:noAutofit/>
          </a:bodyPr>
          <a:lstStyle/>
          <a:p>
            <a:pPr algn="l">
              <a:lnSpc>
                <a:spcPct val="150000"/>
              </a:lnSpc>
            </a:pPr>
            <a:r>
              <a:rPr sz="1200" noProof="1">
                <a:solidFill>
                  <a:srgbClr val="5C6B73"/>
                </a:solidFill>
                <a:latin typeface="QuattrocentoSans"/>
                <a:ea typeface="QuattrocentoSans"/>
              </a:rPr>
              <a:t>A step-by-step story of the attack chain, showing how events unfolded across time and systems — from initial entry to current status.</a:t>
            </a:r>
          </a:p>
        </p:txBody>
      </p:sp>
      <p:sp>
        <p:nvSpPr>
          <p:cNvPr id="16" name="dsl:card3-bg"/>
          <p:cNvSpPr/>
          <p:nvPr/>
        </p:nvSpPr>
        <p:spPr>
          <a:xfrm>
            <a:off x="571500" y="3762375"/>
            <a:ext cx="5381625" cy="2095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ard3-bar"/>
          <p:cNvSpPr/>
          <p:nvPr/>
        </p:nvSpPr>
        <p:spPr>
          <a:xfrm>
            <a:off x="571500" y="3762375"/>
            <a:ext cx="38100" cy="20955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l:card3-icon|i=fas:triangle-exclamation"/>
          <p:cNvSpPr/>
          <p:nvPr/>
        </p:nvSpPr>
        <p:spPr>
          <a:xfrm>
            <a:off x="800100" y="3971925"/>
            <a:ext cx="304800" cy="304800"/>
          </a:xfrm>
          <a:custGeom>
            <a:avLst/>
            <a:gdLst/>
            <a:ahLst/>
            <a:cxnLst/>
            <a:rect l="l" t="t" r="r" b="b"/>
            <a:pathLst>
              <a:path w="304800" h="304800">
                <a:moveTo>
                  <a:pt x="152400" y="19050"/>
                </a:moveTo>
                <a:cubicBezTo>
                  <a:pt x="160853" y="19050"/>
                  <a:pt x="168652" y="23514"/>
                  <a:pt x="172938" y="30837"/>
                </a:cubicBezTo>
                <a:lnTo>
                  <a:pt x="301525" y="249912"/>
                </a:lnTo>
                <a:cubicBezTo>
                  <a:pt x="305871" y="257294"/>
                  <a:pt x="305871" y="266402"/>
                  <a:pt x="302716" y="273784"/>
                </a:cubicBezTo>
                <a:cubicBezTo>
                  <a:pt x="299561" y="281166"/>
                  <a:pt x="289500" y="285750"/>
                  <a:pt x="280987" y="285750"/>
                </a:cubicBezTo>
                <a:lnTo>
                  <a:pt x="23812" y="285750"/>
                </a:lnTo>
                <a:cubicBezTo>
                  <a:pt x="15299" y="285750"/>
                  <a:pt x="7381" y="281166"/>
                  <a:pt x="3155" y="273784"/>
                </a:cubicBezTo>
                <a:cubicBezTo>
                  <a:pt x="-1071" y="266402"/>
                  <a:pt x="-1012" y="257234"/>
                  <a:pt x="4345" y="249912"/>
                </a:cubicBezTo>
                <a:lnTo>
                  <a:pt x="132933" y="30837"/>
                </a:lnTo>
                <a:cubicBezTo>
                  <a:pt x="136147" y="23514"/>
                  <a:pt x="143946" y="19050"/>
                  <a:pt x="152400" y="19050"/>
                </a:cubicBezTo>
                <a:close/>
                <a:moveTo>
                  <a:pt x="152400" y="95250"/>
                </a:moveTo>
                <a:cubicBezTo>
                  <a:pt x="144482" y="95250"/>
                  <a:pt x="138112" y="101619"/>
                  <a:pt x="138112" y="109537"/>
                </a:cubicBezTo>
                <a:lnTo>
                  <a:pt x="138112" y="176212"/>
                </a:lnTo>
                <a:cubicBezTo>
                  <a:pt x="138112" y="184130"/>
                  <a:pt x="144482" y="190500"/>
                  <a:pt x="152400" y="190500"/>
                </a:cubicBezTo>
                <a:cubicBezTo>
                  <a:pt x="160317" y="190500"/>
                  <a:pt x="166687" y="184130"/>
                  <a:pt x="166687" y="176212"/>
                </a:cubicBezTo>
                <a:lnTo>
                  <a:pt x="166687" y="109537"/>
                </a:lnTo>
                <a:cubicBezTo>
                  <a:pt x="166687" y="101619"/>
                  <a:pt x="160317" y="95250"/>
                  <a:pt x="152400" y="95250"/>
                </a:cubicBezTo>
                <a:close/>
                <a:moveTo>
                  <a:pt x="171450" y="228600"/>
                </a:moveTo>
                <a:cubicBezTo>
                  <a:pt x="171450" y="218149"/>
                  <a:pt x="162850" y="209550"/>
                  <a:pt x="152400" y="209550"/>
                </a:cubicBezTo>
                <a:cubicBezTo>
                  <a:pt x="141949" y="209550"/>
                  <a:pt x="133350" y="218149"/>
                  <a:pt x="133350" y="228600"/>
                </a:cubicBezTo>
                <a:cubicBezTo>
                  <a:pt x="133350" y="239050"/>
                  <a:pt x="141949" y="247650"/>
                  <a:pt x="152400" y="247650"/>
                </a:cubicBezTo>
                <a:cubicBezTo>
                  <a:pt x="162850" y="247650"/>
                  <a:pt x="171450" y="239050"/>
                  <a:pt x="171450" y="228600"/>
                </a:cubicBezTo>
                <a:close/>
              </a:path>
            </a:pathLst>
          </a:custGeom>
          <a:solidFill>
            <a:srgbClr val="D4A373"/>
          </a:solidFill>
          <a:ln>
            <a:noFill/>
          </a:ln>
          <a:effectLst/>
        </p:spPr>
      </p:sp>
      <p:sp>
        <p:nvSpPr>
          <p:cNvPr id="19" name="dsl:card3-title"/>
          <p:cNvSpPr txBox="1"/>
          <p:nvPr/>
        </p:nvSpPr>
        <p:spPr>
          <a:xfrm>
            <a:off x="1219200" y="3952875"/>
            <a:ext cx="4524375" cy="266700"/>
          </a:xfrm>
          <a:prstGeom prst="rect">
            <a:avLst/>
          </a:prstGeom>
          <a:noFill/>
        </p:spPr>
        <p:txBody>
          <a:bodyPr wrap="none" anchor="ctr">
            <a:noAutofit/>
          </a:bodyPr>
          <a:lstStyle/>
          <a:p>
            <a:pPr algn="l"/>
            <a:r>
              <a:rPr b="1" sz="1500" noProof="1">
                <a:solidFill>
                  <a:srgbClr val="2B2D2F"/>
                </a:solidFill>
                <a:latin typeface="Liter"/>
                <a:ea typeface="Liter"/>
              </a:rPr>
              <a:t>Risk Assessment</a:t>
            </a:r>
          </a:p>
        </p:txBody>
      </p:sp>
      <p:sp>
        <p:nvSpPr>
          <p:cNvPr id="20" name="dsl:card3-desc"/>
          <p:cNvSpPr txBox="1"/>
          <p:nvPr/>
        </p:nvSpPr>
        <p:spPr>
          <a:xfrm>
            <a:off x="800100" y="4352925"/>
            <a:ext cx="4953000" cy="1333500"/>
          </a:xfrm>
          <a:prstGeom prst="rect">
            <a:avLst/>
          </a:prstGeom>
          <a:noFill/>
        </p:spPr>
        <p:txBody>
          <a:bodyPr wrap="square" anchor="t">
            <a:noAutofit/>
          </a:bodyPr>
          <a:lstStyle/>
          <a:p>
            <a:pPr algn="l">
              <a:lnSpc>
                <a:spcPct val="150000"/>
              </a:lnSpc>
            </a:pPr>
            <a:r>
              <a:rPr sz="1200" noProof="1">
                <a:solidFill>
                  <a:srgbClr val="5C6B73"/>
                </a:solidFill>
                <a:latin typeface="QuattrocentoSans"/>
                <a:ea typeface="QuattrocentoSans"/>
              </a:rPr>
              <a:t>Clear severity rating — Low, Medium, High, or Critical — with supporting reasoning so analysts know exactly what to prioritize.</a:t>
            </a:r>
          </a:p>
        </p:txBody>
      </p:sp>
      <p:sp>
        <p:nvSpPr>
          <p:cNvPr id="21" name="dsl:card4-bg"/>
          <p:cNvSpPr/>
          <p:nvPr/>
        </p:nvSpPr>
        <p:spPr>
          <a:xfrm>
            <a:off x="6238875" y="3762375"/>
            <a:ext cx="5381625" cy="209550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ard4-bar"/>
          <p:cNvSpPr/>
          <p:nvPr/>
        </p:nvSpPr>
        <p:spPr>
          <a:xfrm>
            <a:off x="6238875" y="3762375"/>
            <a:ext cx="38100" cy="20955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ard4-icon|i=fas:book-open"/>
          <p:cNvSpPr/>
          <p:nvPr/>
        </p:nvSpPr>
        <p:spPr>
          <a:xfrm>
            <a:off x="6467475" y="3988858"/>
            <a:ext cx="304800" cy="270933"/>
          </a:xfrm>
          <a:custGeom>
            <a:avLst/>
            <a:gdLst/>
            <a:ahLst/>
            <a:cxnLst/>
            <a:rect l="l" t="t" r="r" b="b"/>
            <a:pathLst>
              <a:path w="304800" h="270933">
                <a:moveTo>
                  <a:pt x="132080" y="249502"/>
                </a:moveTo>
                <a:cubicBezTo>
                  <a:pt x="137794" y="251512"/>
                  <a:pt x="143933" y="247332"/>
                  <a:pt x="143933" y="241299"/>
                </a:cubicBezTo>
                <a:lnTo>
                  <a:pt x="143933" y="41592"/>
                </a:lnTo>
                <a:cubicBezTo>
                  <a:pt x="143933" y="39369"/>
                  <a:pt x="143086" y="37147"/>
                  <a:pt x="141287" y="35771"/>
                </a:cubicBezTo>
                <a:cubicBezTo>
                  <a:pt x="130915" y="27516"/>
                  <a:pt x="107103" y="16933"/>
                  <a:pt x="76200" y="16933"/>
                </a:cubicBezTo>
                <a:cubicBezTo>
                  <a:pt x="49477" y="16933"/>
                  <a:pt x="24500" y="23971"/>
                  <a:pt x="9577" y="29686"/>
                </a:cubicBezTo>
                <a:cubicBezTo>
                  <a:pt x="3598" y="32014"/>
                  <a:pt x="0" y="37941"/>
                  <a:pt x="0" y="44344"/>
                </a:cubicBezTo>
                <a:lnTo>
                  <a:pt x="0" y="240294"/>
                </a:lnTo>
                <a:cubicBezTo>
                  <a:pt x="0" y="246591"/>
                  <a:pt x="6773" y="250983"/>
                  <a:pt x="12752" y="249025"/>
                </a:cubicBezTo>
                <a:cubicBezTo>
                  <a:pt x="29421" y="243469"/>
                  <a:pt x="55827" y="237066"/>
                  <a:pt x="76200" y="237066"/>
                </a:cubicBezTo>
                <a:cubicBezTo>
                  <a:pt x="94138" y="237066"/>
                  <a:pt x="118004" y="244474"/>
                  <a:pt x="132080" y="249502"/>
                </a:cubicBezTo>
                <a:close/>
                <a:moveTo>
                  <a:pt x="172719" y="249502"/>
                </a:moveTo>
                <a:cubicBezTo>
                  <a:pt x="186795" y="244474"/>
                  <a:pt x="210661" y="237066"/>
                  <a:pt x="228599" y="237066"/>
                </a:cubicBezTo>
                <a:cubicBezTo>
                  <a:pt x="248972" y="237066"/>
                  <a:pt x="275378" y="243469"/>
                  <a:pt x="292047" y="249025"/>
                </a:cubicBezTo>
                <a:cubicBezTo>
                  <a:pt x="298026" y="251036"/>
                  <a:pt x="304800" y="246591"/>
                  <a:pt x="304800" y="240294"/>
                </a:cubicBezTo>
                <a:lnTo>
                  <a:pt x="304800" y="44344"/>
                </a:lnTo>
                <a:cubicBezTo>
                  <a:pt x="304800" y="37941"/>
                  <a:pt x="301201" y="32014"/>
                  <a:pt x="295222" y="29739"/>
                </a:cubicBezTo>
                <a:cubicBezTo>
                  <a:pt x="280299" y="23971"/>
                  <a:pt x="255322" y="16933"/>
                  <a:pt x="228599" y="16933"/>
                </a:cubicBezTo>
                <a:cubicBezTo>
                  <a:pt x="197696" y="16933"/>
                  <a:pt x="173884" y="27516"/>
                  <a:pt x="163512" y="35771"/>
                </a:cubicBezTo>
                <a:cubicBezTo>
                  <a:pt x="161766" y="37147"/>
                  <a:pt x="160866" y="39369"/>
                  <a:pt x="160866" y="41592"/>
                </a:cubicBezTo>
                <a:lnTo>
                  <a:pt x="160866" y="241299"/>
                </a:lnTo>
                <a:cubicBezTo>
                  <a:pt x="160866" y="247332"/>
                  <a:pt x="167057" y="251512"/>
                  <a:pt x="172719" y="249502"/>
                </a:cubicBezTo>
                <a:close/>
              </a:path>
            </a:pathLst>
          </a:custGeom>
          <a:solidFill>
            <a:srgbClr val="D4A373"/>
          </a:solidFill>
          <a:ln>
            <a:noFill/>
          </a:ln>
          <a:effectLst/>
        </p:spPr>
      </p:sp>
      <p:sp>
        <p:nvSpPr>
          <p:cNvPr id="24" name="dsl:card4-title"/>
          <p:cNvSpPr txBox="1"/>
          <p:nvPr/>
        </p:nvSpPr>
        <p:spPr>
          <a:xfrm>
            <a:off x="6886575" y="3952875"/>
            <a:ext cx="4524375" cy="266700"/>
          </a:xfrm>
          <a:prstGeom prst="rect">
            <a:avLst/>
          </a:prstGeom>
          <a:noFill/>
        </p:spPr>
        <p:txBody>
          <a:bodyPr wrap="none" anchor="ctr">
            <a:noAutofit/>
          </a:bodyPr>
          <a:lstStyle/>
          <a:p>
            <a:pPr algn="l"/>
            <a:r>
              <a:rPr b="1" sz="1500" noProof="1">
                <a:solidFill>
                  <a:srgbClr val="2B2D2F"/>
                </a:solidFill>
                <a:latin typeface="Liter"/>
                <a:ea typeface="Liter"/>
              </a:rPr>
              <a:t>Recommended Playbook</a:t>
            </a:r>
          </a:p>
        </p:txBody>
      </p:sp>
      <p:sp>
        <p:nvSpPr>
          <p:cNvPr id="25" name="dsl:card4-desc"/>
          <p:cNvSpPr txBox="1"/>
          <p:nvPr/>
        </p:nvSpPr>
        <p:spPr>
          <a:xfrm>
            <a:off x="6467475" y="4352925"/>
            <a:ext cx="4953000" cy="1333500"/>
          </a:xfrm>
          <a:prstGeom prst="rect">
            <a:avLst/>
          </a:prstGeom>
          <a:noFill/>
        </p:spPr>
        <p:txBody>
          <a:bodyPr wrap="square" anchor="t">
            <a:noAutofit/>
          </a:bodyPr>
          <a:lstStyle/>
          <a:p>
            <a:pPr algn="l">
              <a:lnSpc>
                <a:spcPct val="150000"/>
              </a:lnSpc>
            </a:pPr>
            <a:r>
              <a:rPr sz="1200" noProof="1">
                <a:solidFill>
                  <a:srgbClr val="5C6B73"/>
                </a:solidFill>
                <a:latin typeface="QuattrocentoSans"/>
                <a:ea typeface="QuattrocentoSans"/>
              </a:rPr>
              <a:t>Structured corrective actions as step-by-step instructions, ready for analyst review and one-click execution when approved.</a:t>
            </a:r>
          </a:p>
        </p:txBody>
      </p:sp>
      <p:sp>
        <p:nvSpPr>
          <p:cNvPr id="26" name="dsl:provider-note"/>
          <p:cNvSpPr txBox="1"/>
          <p:nvPr/>
        </p:nvSpPr>
        <p:spPr>
          <a:xfrm>
            <a:off x="571500" y="6019800"/>
            <a:ext cx="6667500" cy="209550"/>
          </a:xfrm>
          <a:prstGeom prst="rect">
            <a:avLst/>
          </a:prstGeom>
          <a:noFill/>
        </p:spPr>
        <p:txBody>
          <a:bodyPr wrap="none" anchor="ctr">
            <a:noAutofit/>
          </a:bodyPr>
          <a:lstStyle/>
          <a:p>
            <a:pPr algn="l"/>
            <a:r>
              <a:rPr sz="975" noProof="1">
                <a:solidFill>
                  <a:srgbClr val="5C6B73"/>
                </a:solidFill>
                <a:latin typeface="QuattrocentoSans"/>
                <a:ea typeface="QuattrocentoSans"/>
              </a:rPr>
              <a:t>Supports multiple AI providers: Ollama, Google Gemini, OpenRouter, NVIDIA NIM</a:t>
            </a:r>
          </a:p>
        </p:txBody>
      </p:sp>
      <p:sp>
        <p:nvSpPr>
          <p:cNvPr id="27" name="dsl:key-message"/>
          <p:cNvSpPr txBox="1"/>
          <p:nvPr/>
        </p:nvSpPr>
        <p:spPr>
          <a:xfrm>
            <a:off x="571500" y="6305550"/>
            <a:ext cx="10477500" cy="247650"/>
          </a:xfrm>
          <a:prstGeom prst="rect">
            <a:avLst/>
          </a:prstGeom>
          <a:noFill/>
        </p:spPr>
        <p:txBody>
          <a:bodyPr wrap="none" anchor="ctr">
            <a:noAutofit/>
          </a:bodyPr>
          <a:lstStyle/>
          <a:p>
            <a:pPr algn="l"/>
            <a:r>
              <a:rPr b="1" sz="1350" noProof="1">
                <a:solidFill>
                  <a:srgbClr val="2D6A6A"/>
                </a:solidFill>
                <a:latin typeface="Liter"/>
                <a:ea typeface="Liter"/>
              </a:rPr>
              <a:t>AI never acts alone — every output is reviewed by a human analyst.</a:t>
            </a:r>
          </a:p>
        </p:txBody>
      </p:sp>
      <p:sp>
        <p:nvSpPr>
          <p:cNvPr id="28"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29"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b="1" sz="825" noProof="1" spc="150">
                <a:solidFill>
                  <a:srgbClr val="2D6A6A"/>
                </a:solidFill>
                <a:latin typeface="Liter"/>
                <a:ea typeface="Liter"/>
              </a:rPr>
              <a:t>AI &amp; AUTOMATION</a:t>
            </a:r>
            <a:r>
              <a:rPr sz="825" noProof="1" spc="150">
                <a:solidFill>
                  <a:srgbClr val="8A9499"/>
                </a:solidFill>
                <a:latin typeface="Liter"/>
                <a:ea typeface="Liter"/>
              </a:rPr>
              <a:t>     </a:t>
            </a:r>
            <a:r>
              <a:rPr sz="825" noProof="1" spc="150">
                <a:solidFill>
                  <a:srgbClr val="8A9499"/>
                </a:solidFill>
                <a:latin typeface="Liter"/>
                <a:ea typeface="Liter"/>
              </a:rPr>
              <a:t>IMPACT</a:t>
            </a:r>
            <a:r>
              <a:rPr sz="825" noProof="1" spc="150">
                <a:solidFill>
                  <a:srgbClr val="8A9499"/>
                </a:solidFill>
                <a:latin typeface="Liter"/>
                <a:ea typeface="Liter"/>
              </a:rPr>
              <a:t>     </a:t>
            </a:r>
            <a:r>
              <a:rPr sz="825" noProof="1" spc="150">
                <a:solidFill>
                  <a:srgbClr val="8A9499"/>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Automation with Control</a:t>
            </a:r>
          </a:p>
        </p:txBody>
      </p:sp>
      <p:sp>
        <p:nvSpPr>
          <p:cNvPr id="5" name="dsl:intro"/>
          <p:cNvSpPr txBox="1"/>
          <p:nvPr/>
        </p:nvSpPr>
        <p:spPr>
          <a:xfrm>
            <a:off x="571500" y="971550"/>
            <a:ext cx="9048750" cy="266700"/>
          </a:xfrm>
          <a:prstGeom prst="rect">
            <a:avLst/>
          </a:prstGeom>
          <a:noFill/>
        </p:spPr>
        <p:txBody>
          <a:bodyPr wrap="none" anchor="ctr">
            <a:noAutofit/>
          </a:bodyPr>
          <a:lstStyle/>
          <a:p>
            <a:pPr algn="l"/>
            <a:r>
              <a:rPr sz="1350" noProof="1">
                <a:solidFill>
                  <a:srgbClr val="5C6B73"/>
                </a:solidFill>
                <a:latin typeface="QuattrocentoSans"/>
                <a:ea typeface="QuattrocentoSans"/>
              </a:rPr>
              <a:t>Every automated action is staged, verified, and logged — trust through transparency.</a:t>
            </a:r>
          </a:p>
        </p:txBody>
      </p:sp>
      <p:sp>
        <p:nvSpPr>
          <p:cNvPr id="6" name="dsl:label-approval"/>
          <p:cNvSpPr txBox="1"/>
          <p:nvPr/>
        </p:nvSpPr>
        <p:spPr>
          <a:xfrm>
            <a:off x="571500" y="1381125"/>
            <a:ext cx="2857500" cy="190500"/>
          </a:xfrm>
          <a:prstGeom prst="rect">
            <a:avLst/>
          </a:prstGeom>
          <a:noFill/>
        </p:spPr>
        <p:txBody>
          <a:bodyPr wrap="none" anchor="ctr">
            <a:noAutofit/>
          </a:bodyPr>
          <a:lstStyle/>
          <a:p>
            <a:pPr algn="l"/>
            <a:r>
              <a:rPr sz="900" noProof="1">
                <a:solidFill>
                  <a:srgbClr val="5C6B73"/>
                </a:solidFill>
                <a:latin typeface="Liter"/>
                <a:ea typeface="Liter"/>
              </a:rPr>
              <a:t>APPROVAL LEVELS</a:t>
            </a:r>
          </a:p>
        </p:txBody>
      </p:sp>
      <p:sp>
        <p:nvSpPr>
          <p:cNvPr id="7" name="dsl:card1-bg"/>
          <p:cNvSpPr/>
          <p:nvPr/>
        </p:nvSpPr>
        <p:spPr>
          <a:xfrm>
            <a:off x="571500" y="1638300"/>
            <a:ext cx="3524250" cy="1238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card1-bar"/>
          <p:cNvSpPr/>
          <p:nvPr/>
        </p:nvSpPr>
        <p:spPr>
          <a:xfrm>
            <a:off x="571500" y="1638300"/>
            <a:ext cx="38100" cy="123825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card1-icon|i=fas:hand"/>
          <p:cNvSpPr/>
          <p:nvPr/>
        </p:nvSpPr>
        <p:spPr>
          <a:xfrm>
            <a:off x="762000" y="1790700"/>
            <a:ext cx="266700" cy="266700"/>
          </a:xfrm>
          <a:custGeom>
            <a:avLst/>
            <a:gdLst/>
            <a:ahLst/>
            <a:cxnLst/>
            <a:rect l="l" t="t" r="r" b="b"/>
            <a:pathLst>
              <a:path w="266700" h="266700">
                <a:moveTo>
                  <a:pt x="150018" y="16668"/>
                </a:moveTo>
                <a:cubicBezTo>
                  <a:pt x="150018" y="7448"/>
                  <a:pt x="142569" y="0"/>
                  <a:pt x="133350" y="0"/>
                </a:cubicBezTo>
                <a:cubicBezTo>
                  <a:pt x="124130" y="0"/>
                  <a:pt x="116681" y="7448"/>
                  <a:pt x="116681" y="16668"/>
                </a:cubicBezTo>
                <a:lnTo>
                  <a:pt x="116681" y="125015"/>
                </a:lnTo>
                <a:cubicBezTo>
                  <a:pt x="116681" y="129599"/>
                  <a:pt x="112930" y="133350"/>
                  <a:pt x="108346" y="133350"/>
                </a:cubicBezTo>
                <a:cubicBezTo>
                  <a:pt x="103762" y="133350"/>
                  <a:pt x="100012" y="129599"/>
                  <a:pt x="100012" y="125015"/>
                </a:cubicBezTo>
                <a:lnTo>
                  <a:pt x="100012" y="33337"/>
                </a:lnTo>
                <a:cubicBezTo>
                  <a:pt x="100012" y="24117"/>
                  <a:pt x="92563" y="16668"/>
                  <a:pt x="83343" y="16668"/>
                </a:cubicBezTo>
                <a:cubicBezTo>
                  <a:pt x="74123" y="16668"/>
                  <a:pt x="66675" y="24117"/>
                  <a:pt x="66675" y="33337"/>
                </a:cubicBezTo>
                <a:lnTo>
                  <a:pt x="66675" y="175021"/>
                </a:lnTo>
                <a:cubicBezTo>
                  <a:pt x="66675" y="175803"/>
                  <a:pt x="66675" y="176636"/>
                  <a:pt x="67195" y="177418"/>
                </a:cubicBezTo>
                <a:lnTo>
                  <a:pt x="35212" y="147414"/>
                </a:lnTo>
                <a:cubicBezTo>
                  <a:pt x="26878" y="139496"/>
                  <a:pt x="13699" y="139809"/>
                  <a:pt x="5729" y="148143"/>
                </a:cubicBezTo>
                <a:cubicBezTo>
                  <a:pt x="-2239" y="156477"/>
                  <a:pt x="-1875" y="169656"/>
                  <a:pt x="6459" y="177626"/>
                </a:cubicBezTo>
                <a:lnTo>
                  <a:pt x="65008" y="233362"/>
                </a:lnTo>
                <a:cubicBezTo>
                  <a:pt x="87458" y="254771"/>
                  <a:pt x="117306" y="266700"/>
                  <a:pt x="148351" y="266700"/>
                </a:cubicBezTo>
                <a:lnTo>
                  <a:pt x="158353" y="266700"/>
                </a:lnTo>
                <a:cubicBezTo>
                  <a:pt x="208984" y="266700"/>
                  <a:pt x="250031" y="225653"/>
                  <a:pt x="250031" y="175021"/>
                </a:cubicBezTo>
                <a:lnTo>
                  <a:pt x="250031" y="66675"/>
                </a:lnTo>
                <a:cubicBezTo>
                  <a:pt x="250031" y="57455"/>
                  <a:pt x="242582" y="50006"/>
                  <a:pt x="233362" y="50006"/>
                </a:cubicBezTo>
                <a:cubicBezTo>
                  <a:pt x="224142" y="50006"/>
                  <a:pt x="216693" y="57455"/>
                  <a:pt x="216693" y="66675"/>
                </a:cubicBezTo>
                <a:lnTo>
                  <a:pt x="216693" y="125015"/>
                </a:lnTo>
                <a:cubicBezTo>
                  <a:pt x="216693" y="129599"/>
                  <a:pt x="212943" y="133350"/>
                  <a:pt x="208359" y="133350"/>
                </a:cubicBezTo>
                <a:cubicBezTo>
                  <a:pt x="203775" y="133350"/>
                  <a:pt x="200025" y="129599"/>
                  <a:pt x="200025" y="125015"/>
                </a:cubicBezTo>
                <a:lnTo>
                  <a:pt x="200025" y="33337"/>
                </a:lnTo>
                <a:cubicBezTo>
                  <a:pt x="200025" y="24117"/>
                  <a:pt x="192576" y="16668"/>
                  <a:pt x="183356" y="16668"/>
                </a:cubicBezTo>
                <a:cubicBezTo>
                  <a:pt x="174136" y="16668"/>
                  <a:pt x="166687" y="24117"/>
                  <a:pt x="166687" y="33337"/>
                </a:cubicBezTo>
                <a:lnTo>
                  <a:pt x="166687" y="125015"/>
                </a:lnTo>
                <a:cubicBezTo>
                  <a:pt x="166687" y="129599"/>
                  <a:pt x="162937" y="133350"/>
                  <a:pt x="158353" y="133350"/>
                </a:cubicBezTo>
                <a:cubicBezTo>
                  <a:pt x="153769" y="133350"/>
                  <a:pt x="150018" y="129599"/>
                  <a:pt x="150018" y="125015"/>
                </a:cubicBezTo>
                <a:lnTo>
                  <a:pt x="150018" y="16668"/>
                </a:lnTo>
                <a:close/>
              </a:path>
            </a:pathLst>
          </a:custGeom>
          <a:solidFill>
            <a:srgbClr val="2D6A6A"/>
          </a:solidFill>
          <a:ln>
            <a:noFill/>
          </a:ln>
          <a:effectLst/>
        </p:spPr>
      </p:sp>
      <p:sp>
        <p:nvSpPr>
          <p:cNvPr id="10" name="dsl:card1-title"/>
          <p:cNvSpPr txBox="1"/>
          <p:nvPr/>
        </p:nvSpPr>
        <p:spPr>
          <a:xfrm>
            <a:off x="1104900" y="1771650"/>
            <a:ext cx="2857500" cy="247650"/>
          </a:xfrm>
          <a:prstGeom prst="rect">
            <a:avLst/>
          </a:prstGeom>
          <a:noFill/>
        </p:spPr>
        <p:txBody>
          <a:bodyPr wrap="none" anchor="ctr">
            <a:noAutofit/>
          </a:bodyPr>
          <a:lstStyle/>
          <a:p>
            <a:pPr algn="l"/>
            <a:r>
              <a:rPr b="1" sz="1350" noProof="1">
                <a:solidFill>
                  <a:srgbClr val="2B2D2F"/>
                </a:solidFill>
                <a:latin typeface="Liter"/>
                <a:ea typeface="Liter"/>
              </a:rPr>
              <a:t>Manual</a:t>
            </a:r>
          </a:p>
        </p:txBody>
      </p:sp>
      <p:sp>
        <p:nvSpPr>
          <p:cNvPr id="11" name="dsl:card1-desc"/>
          <p:cNvSpPr txBox="1"/>
          <p:nvPr/>
        </p:nvSpPr>
        <p:spPr>
          <a:xfrm>
            <a:off x="762000" y="2114550"/>
            <a:ext cx="3181350" cy="619125"/>
          </a:xfrm>
          <a:prstGeom prst="rect">
            <a:avLst/>
          </a:prstGeom>
          <a:noFill/>
        </p:spPr>
        <p:txBody>
          <a:bodyPr wrap="square" anchor="t">
            <a:noAutofit/>
          </a:bodyPr>
          <a:lstStyle/>
          <a:p>
            <a:pPr algn="l">
              <a:lnSpc>
                <a:spcPct val="140000"/>
              </a:lnSpc>
            </a:pPr>
            <a:r>
              <a:rPr sz="1125" noProof="1">
                <a:solidFill>
                  <a:srgbClr val="5C6B73"/>
                </a:solidFill>
                <a:latin typeface="QuattrocentoSans"/>
                <a:ea typeface="QuattrocentoSans"/>
              </a:rPr>
              <a:t>Analyst examines and decides. For sensitive actions requiring human judgment.</a:t>
            </a:r>
          </a:p>
        </p:txBody>
      </p:sp>
      <p:sp>
        <p:nvSpPr>
          <p:cNvPr id="12" name="dsl:card2-bg"/>
          <p:cNvSpPr/>
          <p:nvPr/>
        </p:nvSpPr>
        <p:spPr>
          <a:xfrm>
            <a:off x="4333875" y="1638300"/>
            <a:ext cx="3524250" cy="1238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card2-bar"/>
          <p:cNvSpPr/>
          <p:nvPr/>
        </p:nvSpPr>
        <p:spPr>
          <a:xfrm>
            <a:off x="4333875" y="1638300"/>
            <a:ext cx="38100" cy="12382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card2-icon|i=fas:check-circle"/>
          <p:cNvSpPr/>
          <p:nvPr/>
        </p:nvSpPr>
        <p:spPr>
          <a:xfrm>
            <a:off x="4524375" y="1790700"/>
            <a:ext cx="266700" cy="266700"/>
          </a:xfrm>
          <a:custGeom>
            <a:avLst/>
            <a:gdLst/>
            <a:ahLst/>
            <a:cxnLst/>
            <a:rect l="l" t="t" r="r" b="b"/>
            <a:pathLst>
              <a:path w="266700" h="266700">
                <a:moveTo>
                  <a:pt x="133350" y="266700"/>
                </a:moveTo>
                <a:cubicBezTo>
                  <a:pt x="206503" y="266700"/>
                  <a:pt x="266700" y="206503"/>
                  <a:pt x="266700" y="133350"/>
                </a:cubicBezTo>
                <a:cubicBezTo>
                  <a:pt x="266700" y="60196"/>
                  <a:pt x="206503" y="0"/>
                  <a:pt x="133350" y="0"/>
                </a:cubicBezTo>
                <a:cubicBezTo>
                  <a:pt x="60196" y="0"/>
                  <a:pt x="0" y="60196"/>
                  <a:pt x="0" y="133349"/>
                </a:cubicBezTo>
                <a:cubicBezTo>
                  <a:pt x="0" y="206503"/>
                  <a:pt x="60196" y="266700"/>
                  <a:pt x="133349" y="266700"/>
                </a:cubicBezTo>
                <a:close/>
                <a:moveTo>
                  <a:pt x="192211" y="108867"/>
                </a:moveTo>
                <a:lnTo>
                  <a:pt x="125536" y="175542"/>
                </a:lnTo>
                <a:cubicBezTo>
                  <a:pt x="120640" y="180439"/>
                  <a:pt x="112722" y="180439"/>
                  <a:pt x="107878" y="175542"/>
                </a:cubicBezTo>
                <a:lnTo>
                  <a:pt x="74540" y="142205"/>
                </a:lnTo>
                <a:cubicBezTo>
                  <a:pt x="69644" y="137308"/>
                  <a:pt x="69644" y="129391"/>
                  <a:pt x="74540" y="124546"/>
                </a:cubicBezTo>
                <a:cubicBezTo>
                  <a:pt x="79437" y="119702"/>
                  <a:pt x="87354" y="119650"/>
                  <a:pt x="92199" y="124546"/>
                </a:cubicBezTo>
                <a:lnTo>
                  <a:pt x="116681" y="149029"/>
                </a:lnTo>
                <a:lnTo>
                  <a:pt x="174500" y="91157"/>
                </a:lnTo>
                <a:cubicBezTo>
                  <a:pt x="179397" y="86260"/>
                  <a:pt x="187315" y="86260"/>
                  <a:pt x="192159" y="91157"/>
                </a:cubicBezTo>
                <a:cubicBezTo>
                  <a:pt x="197003" y="96053"/>
                  <a:pt x="197055" y="103971"/>
                  <a:pt x="192159" y="108815"/>
                </a:cubicBezTo>
                <a:close/>
              </a:path>
            </a:pathLst>
          </a:custGeom>
          <a:solidFill>
            <a:srgbClr val="D4A373"/>
          </a:solidFill>
          <a:ln>
            <a:noFill/>
          </a:ln>
          <a:effectLst/>
        </p:spPr>
      </p:sp>
      <p:sp>
        <p:nvSpPr>
          <p:cNvPr id="15" name="dsl:card2-title"/>
          <p:cNvSpPr txBox="1"/>
          <p:nvPr/>
        </p:nvSpPr>
        <p:spPr>
          <a:xfrm>
            <a:off x="4867275" y="1771650"/>
            <a:ext cx="2857500" cy="247650"/>
          </a:xfrm>
          <a:prstGeom prst="rect">
            <a:avLst/>
          </a:prstGeom>
          <a:noFill/>
        </p:spPr>
        <p:txBody>
          <a:bodyPr wrap="none" anchor="ctr">
            <a:noAutofit/>
          </a:bodyPr>
          <a:lstStyle/>
          <a:p>
            <a:pPr algn="l"/>
            <a:r>
              <a:rPr b="1" sz="1350" noProof="1">
                <a:solidFill>
                  <a:srgbClr val="2B2D2F"/>
                </a:solidFill>
                <a:latin typeface="Liter"/>
                <a:ea typeface="Liter"/>
              </a:rPr>
              <a:t>Auto-approved</a:t>
            </a:r>
          </a:p>
        </p:txBody>
      </p:sp>
      <p:sp>
        <p:nvSpPr>
          <p:cNvPr id="16" name="dsl:card2-desc"/>
          <p:cNvSpPr txBox="1"/>
          <p:nvPr/>
        </p:nvSpPr>
        <p:spPr>
          <a:xfrm>
            <a:off x="4524375" y="2114550"/>
            <a:ext cx="3181350" cy="619125"/>
          </a:xfrm>
          <a:prstGeom prst="rect">
            <a:avLst/>
          </a:prstGeom>
          <a:noFill/>
        </p:spPr>
        <p:txBody>
          <a:bodyPr wrap="square" anchor="t">
            <a:noAutofit/>
          </a:bodyPr>
          <a:lstStyle/>
          <a:p>
            <a:pPr algn="l">
              <a:lnSpc>
                <a:spcPct val="140000"/>
              </a:lnSpc>
            </a:pPr>
            <a:r>
              <a:rPr sz="1125" noProof="1">
                <a:solidFill>
                  <a:srgbClr val="5C6B73"/>
                </a:solidFill>
                <a:latin typeface="QuattrocentoSans"/>
                <a:ea typeface="QuattrocentoSans"/>
              </a:rPr>
              <a:t>Low-risk routine actions execute without delay. Pre-approved playbooks only.</a:t>
            </a:r>
          </a:p>
        </p:txBody>
      </p:sp>
      <p:sp>
        <p:nvSpPr>
          <p:cNvPr id="17" name="dsl:card3-bg"/>
          <p:cNvSpPr/>
          <p:nvPr/>
        </p:nvSpPr>
        <p:spPr>
          <a:xfrm>
            <a:off x="8096250" y="1638300"/>
            <a:ext cx="3524250" cy="1238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l:card3-bar"/>
          <p:cNvSpPr/>
          <p:nvPr/>
        </p:nvSpPr>
        <p:spPr>
          <a:xfrm>
            <a:off x="8096250" y="1638300"/>
            <a:ext cx="38100" cy="1238250"/>
          </a:xfrm>
          <a:prstGeom prst="rect">
            <a:avLst/>
          </a:prstGeom>
          <a:solidFill>
            <a:srgbClr val="C4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card3-icon|i=fas:ban"/>
          <p:cNvSpPr/>
          <p:nvPr/>
        </p:nvSpPr>
        <p:spPr>
          <a:xfrm>
            <a:off x="8286750" y="1790700"/>
            <a:ext cx="266700" cy="266700"/>
          </a:xfrm>
          <a:custGeom>
            <a:avLst/>
            <a:gdLst/>
            <a:ahLst/>
            <a:cxnLst/>
            <a:rect l="l" t="t" r="r" b="b"/>
            <a:pathLst>
              <a:path w="266700" h="266700">
                <a:moveTo>
                  <a:pt x="191273" y="214870"/>
                </a:moveTo>
                <a:lnTo>
                  <a:pt x="51829" y="75426"/>
                </a:lnTo>
                <a:cubicBezTo>
                  <a:pt x="40161" y="91730"/>
                  <a:pt x="33337" y="111732"/>
                  <a:pt x="33337" y="133350"/>
                </a:cubicBezTo>
                <a:cubicBezTo>
                  <a:pt x="33337" y="188565"/>
                  <a:pt x="78134" y="233362"/>
                  <a:pt x="133350" y="233362"/>
                </a:cubicBezTo>
                <a:cubicBezTo>
                  <a:pt x="154967" y="233362"/>
                  <a:pt x="174969" y="226538"/>
                  <a:pt x="191273" y="214870"/>
                </a:cubicBezTo>
                <a:close/>
                <a:moveTo>
                  <a:pt x="214870" y="191273"/>
                </a:moveTo>
                <a:cubicBezTo>
                  <a:pt x="226538" y="174969"/>
                  <a:pt x="233362" y="154967"/>
                  <a:pt x="233362" y="133350"/>
                </a:cubicBezTo>
                <a:cubicBezTo>
                  <a:pt x="233362" y="78134"/>
                  <a:pt x="188565" y="33337"/>
                  <a:pt x="133350" y="33337"/>
                </a:cubicBezTo>
                <a:cubicBezTo>
                  <a:pt x="111732" y="33337"/>
                  <a:pt x="91730" y="40161"/>
                  <a:pt x="75426" y="51829"/>
                </a:cubicBezTo>
                <a:lnTo>
                  <a:pt x="214870" y="191273"/>
                </a:lnTo>
                <a:close/>
                <a:moveTo>
                  <a:pt x="0" y="133350"/>
                </a:moveTo>
                <a:cubicBezTo>
                  <a:pt x="0" y="60196"/>
                  <a:pt x="60196" y="0"/>
                  <a:pt x="133349" y="0"/>
                </a:cubicBezTo>
                <a:cubicBezTo>
                  <a:pt x="206503" y="0"/>
                  <a:pt x="266700" y="60196"/>
                  <a:pt x="266700" y="133349"/>
                </a:cubicBezTo>
                <a:cubicBezTo>
                  <a:pt x="266700" y="206503"/>
                  <a:pt x="206503" y="266700"/>
                  <a:pt x="133350" y="266700"/>
                </a:cubicBezTo>
                <a:cubicBezTo>
                  <a:pt x="60196" y="266700"/>
                  <a:pt x="0" y="206503"/>
                  <a:pt x="0" y="133350"/>
                </a:cubicBezTo>
                <a:close/>
              </a:path>
            </a:pathLst>
          </a:custGeom>
          <a:solidFill>
            <a:srgbClr val="C44B4B"/>
          </a:solidFill>
          <a:ln>
            <a:noFill/>
          </a:ln>
          <a:effectLst/>
        </p:spPr>
      </p:sp>
      <p:sp>
        <p:nvSpPr>
          <p:cNvPr id="20" name="dsl:card3-title"/>
          <p:cNvSpPr txBox="1"/>
          <p:nvPr/>
        </p:nvSpPr>
        <p:spPr>
          <a:xfrm>
            <a:off x="8629650" y="1771650"/>
            <a:ext cx="2857500" cy="247650"/>
          </a:xfrm>
          <a:prstGeom prst="rect">
            <a:avLst/>
          </a:prstGeom>
          <a:noFill/>
        </p:spPr>
        <p:txBody>
          <a:bodyPr wrap="none" anchor="ctr">
            <a:noAutofit/>
          </a:bodyPr>
          <a:lstStyle/>
          <a:p>
            <a:pPr algn="l"/>
            <a:r>
              <a:rPr b="1" sz="1350" noProof="1">
                <a:solidFill>
                  <a:srgbClr val="2B2D2F"/>
                </a:solidFill>
                <a:latin typeface="Liter"/>
                <a:ea typeface="Liter"/>
              </a:rPr>
              <a:t>Blocked</a:t>
            </a:r>
          </a:p>
        </p:txBody>
      </p:sp>
      <p:sp>
        <p:nvSpPr>
          <p:cNvPr id="21" name="dsl:card3-desc"/>
          <p:cNvSpPr txBox="1"/>
          <p:nvPr/>
        </p:nvSpPr>
        <p:spPr>
          <a:xfrm>
            <a:off x="8286750" y="2114550"/>
            <a:ext cx="3181350" cy="619125"/>
          </a:xfrm>
          <a:prstGeom prst="rect">
            <a:avLst/>
          </a:prstGeom>
          <a:noFill/>
        </p:spPr>
        <p:txBody>
          <a:bodyPr wrap="square" anchor="t">
            <a:noAutofit/>
          </a:bodyPr>
          <a:lstStyle/>
          <a:p>
            <a:pPr algn="l">
              <a:lnSpc>
                <a:spcPct val="140000"/>
              </a:lnSpc>
            </a:pPr>
            <a:r>
              <a:rPr sz="1125" noProof="1">
                <a:solidFill>
                  <a:srgbClr val="5C6B73"/>
                </a:solidFill>
                <a:latin typeface="QuattrocentoSans"/>
                <a:ea typeface="QuattrocentoSans"/>
              </a:rPr>
              <a:t>Critical and high-risk cases require explicit override. Safety-first default.</a:t>
            </a:r>
          </a:p>
        </p:txBody>
      </p:sp>
      <p:sp>
        <p:nvSpPr>
          <p:cNvPr id="22" name="dsl:label-process"/>
          <p:cNvSpPr txBox="1"/>
          <p:nvPr/>
        </p:nvSpPr>
        <p:spPr>
          <a:xfrm>
            <a:off x="571500" y="3095625"/>
            <a:ext cx="2857500" cy="190500"/>
          </a:xfrm>
          <a:prstGeom prst="rect">
            <a:avLst/>
          </a:prstGeom>
          <a:noFill/>
        </p:spPr>
        <p:txBody>
          <a:bodyPr wrap="none" anchor="ctr">
            <a:noAutofit/>
          </a:bodyPr>
          <a:lstStyle/>
          <a:p>
            <a:pPr algn="l"/>
            <a:r>
              <a:rPr sz="900" noProof="1">
                <a:solidFill>
                  <a:srgbClr val="5C6B73"/>
                </a:solidFill>
                <a:latin typeface="Liter"/>
                <a:ea typeface="Liter"/>
              </a:rPr>
              <a:t>STAGED EXECUTION</a:t>
            </a:r>
          </a:p>
        </p:txBody>
      </p:sp>
      <p:sp>
        <p:nvSpPr>
          <p:cNvPr id="23" name="dsl:step1-bg"/>
          <p:cNvSpPr/>
          <p:nvPr/>
        </p:nvSpPr>
        <p:spPr>
          <a:xfrm>
            <a:off x="571500" y="3429000"/>
            <a:ext cx="1762125"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step1-text"/>
          <p:cNvSpPr txBox="1"/>
          <p:nvPr/>
        </p:nvSpPr>
        <p:spPr>
          <a:xfrm>
            <a:off x="571500" y="3429000"/>
            <a:ext cx="1762125" cy="571500"/>
          </a:xfrm>
          <a:prstGeom prst="rect">
            <a:avLst/>
          </a:prstGeom>
          <a:noFill/>
        </p:spPr>
        <p:txBody>
          <a:bodyPr wrap="none" anchor="ctr">
            <a:noAutofit/>
          </a:bodyPr>
          <a:lstStyle/>
          <a:p>
            <a:pPr algn="ctr"/>
            <a:r>
              <a:rPr b="1" sz="1200" noProof="1">
                <a:solidFill>
                  <a:srgbClr val="FFFFFF"/>
                </a:solidFill>
                <a:latin typeface="Liter"/>
                <a:ea typeface="Liter"/>
              </a:rPr>
              <a:t>Preview</a:t>
            </a:r>
          </a:p>
        </p:txBody>
      </p:sp>
      <p:cxnSp>
        <p:nvCxnSpPr>
          <p:cNvPr id="25" name="dsl:arrow1"/>
          <p:cNvCxnSpPr/>
          <p:nvPr/>
        </p:nvCxnSpPr>
        <p:spPr>
          <a:xfrm>
            <a:off x="2333625" y="3714750"/>
            <a:ext cx="333375" cy="0"/>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6" name="dsl:step2-bg"/>
          <p:cNvSpPr/>
          <p:nvPr/>
        </p:nvSpPr>
        <p:spPr>
          <a:xfrm>
            <a:off x="2667000" y="3429000"/>
            <a:ext cx="1762125"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step2-text"/>
          <p:cNvSpPr txBox="1"/>
          <p:nvPr/>
        </p:nvSpPr>
        <p:spPr>
          <a:xfrm>
            <a:off x="2667000" y="3429000"/>
            <a:ext cx="1762125" cy="571500"/>
          </a:xfrm>
          <a:prstGeom prst="rect">
            <a:avLst/>
          </a:prstGeom>
          <a:noFill/>
        </p:spPr>
        <p:txBody>
          <a:bodyPr wrap="none" anchor="ctr">
            <a:noAutofit/>
          </a:bodyPr>
          <a:lstStyle/>
          <a:p>
            <a:pPr algn="ctr"/>
            <a:r>
              <a:rPr b="1" sz="1200" noProof="1">
                <a:solidFill>
                  <a:srgbClr val="FFFFFF"/>
                </a:solidFill>
                <a:latin typeface="Liter"/>
                <a:ea typeface="Liter"/>
              </a:rPr>
              <a:t>Verify</a:t>
            </a:r>
          </a:p>
        </p:txBody>
      </p:sp>
      <p:cxnSp>
        <p:nvCxnSpPr>
          <p:cNvPr id="28" name="dsl:arrow2"/>
          <p:cNvCxnSpPr/>
          <p:nvPr/>
        </p:nvCxnSpPr>
        <p:spPr>
          <a:xfrm>
            <a:off x="4429125" y="3714750"/>
            <a:ext cx="333375" cy="0"/>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9" name="dsl:step3-bg"/>
          <p:cNvSpPr/>
          <p:nvPr/>
        </p:nvSpPr>
        <p:spPr>
          <a:xfrm>
            <a:off x="4762500" y="3429000"/>
            <a:ext cx="1762125"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step3-text"/>
          <p:cNvSpPr txBox="1"/>
          <p:nvPr/>
        </p:nvSpPr>
        <p:spPr>
          <a:xfrm>
            <a:off x="4762500" y="3429000"/>
            <a:ext cx="1762125" cy="571500"/>
          </a:xfrm>
          <a:prstGeom prst="rect">
            <a:avLst/>
          </a:prstGeom>
          <a:noFill/>
        </p:spPr>
        <p:txBody>
          <a:bodyPr wrap="none" anchor="ctr">
            <a:noAutofit/>
          </a:bodyPr>
          <a:lstStyle/>
          <a:p>
            <a:pPr algn="ctr"/>
            <a:r>
              <a:rPr b="1" sz="1200" noProof="1">
                <a:solidFill>
                  <a:srgbClr val="FFFFFF"/>
                </a:solidFill>
                <a:latin typeface="Liter"/>
                <a:ea typeface="Liter"/>
              </a:rPr>
              <a:t>Execute</a:t>
            </a:r>
          </a:p>
        </p:txBody>
      </p:sp>
      <p:cxnSp>
        <p:nvCxnSpPr>
          <p:cNvPr id="31" name="dsl:arrow3"/>
          <p:cNvCxnSpPr/>
          <p:nvPr/>
        </p:nvCxnSpPr>
        <p:spPr>
          <a:xfrm>
            <a:off x="6524625" y="3714750"/>
            <a:ext cx="333375" cy="0"/>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2" name="dsl:step4-bg"/>
          <p:cNvSpPr/>
          <p:nvPr/>
        </p:nvSpPr>
        <p:spPr>
          <a:xfrm>
            <a:off x="6858000" y="3429000"/>
            <a:ext cx="1762125"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step4-text"/>
          <p:cNvSpPr txBox="1"/>
          <p:nvPr/>
        </p:nvSpPr>
        <p:spPr>
          <a:xfrm>
            <a:off x="6858000" y="3429000"/>
            <a:ext cx="1762125" cy="571500"/>
          </a:xfrm>
          <a:prstGeom prst="rect">
            <a:avLst/>
          </a:prstGeom>
          <a:noFill/>
        </p:spPr>
        <p:txBody>
          <a:bodyPr wrap="none" anchor="ctr">
            <a:noAutofit/>
          </a:bodyPr>
          <a:lstStyle/>
          <a:p>
            <a:pPr algn="ctr"/>
            <a:r>
              <a:rPr b="1" sz="1200" noProof="1">
                <a:solidFill>
                  <a:srgbClr val="FFFFFF"/>
                </a:solidFill>
                <a:latin typeface="Liter"/>
                <a:ea typeface="Liter"/>
              </a:rPr>
              <a:t>Verify Fix</a:t>
            </a:r>
          </a:p>
        </p:txBody>
      </p:sp>
      <p:cxnSp>
        <p:nvCxnSpPr>
          <p:cNvPr id="34" name="dsl:arrow4"/>
          <p:cNvCxnSpPr/>
          <p:nvPr/>
        </p:nvCxnSpPr>
        <p:spPr>
          <a:xfrm>
            <a:off x="8620125" y="3714750"/>
            <a:ext cx="333375" cy="0"/>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5" name="dsl:step5-bg"/>
          <p:cNvSpPr/>
          <p:nvPr/>
        </p:nvSpPr>
        <p:spPr>
          <a:xfrm>
            <a:off x="8953500" y="3429000"/>
            <a:ext cx="1762125" cy="5715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sl:step5-text"/>
          <p:cNvSpPr txBox="1"/>
          <p:nvPr/>
        </p:nvSpPr>
        <p:spPr>
          <a:xfrm>
            <a:off x="8953500" y="3429000"/>
            <a:ext cx="1762125" cy="571500"/>
          </a:xfrm>
          <a:prstGeom prst="rect">
            <a:avLst/>
          </a:prstGeom>
          <a:noFill/>
        </p:spPr>
        <p:txBody>
          <a:bodyPr wrap="none" anchor="ctr">
            <a:noAutofit/>
          </a:bodyPr>
          <a:lstStyle/>
          <a:p>
            <a:pPr algn="ctr"/>
            <a:r>
              <a:rPr b="1" sz="1200" noProof="1">
                <a:solidFill>
                  <a:srgbClr val="FFFFFF"/>
                </a:solidFill>
                <a:latin typeface="Liter"/>
                <a:ea typeface="Liter"/>
              </a:rPr>
              <a:t>Archive</a:t>
            </a:r>
          </a:p>
        </p:txBody>
      </p:sp>
      <p:sp>
        <p:nvSpPr>
          <p:cNvPr id="37" name="dsl:desc1"/>
          <p:cNvSpPr txBox="1"/>
          <p:nvPr/>
        </p:nvSpPr>
        <p:spPr>
          <a:xfrm>
            <a:off x="571500" y="4076700"/>
            <a:ext cx="1762125" cy="523875"/>
          </a:xfrm>
          <a:prstGeom prst="rect">
            <a:avLst/>
          </a:prstGeom>
          <a:noFill/>
        </p:spPr>
        <p:txBody>
          <a:bodyPr wrap="square" anchor="t">
            <a:noAutofit/>
          </a:bodyPr>
          <a:lstStyle/>
          <a:p>
            <a:pPr algn="ctr">
              <a:lnSpc>
                <a:spcPct val="130000"/>
              </a:lnSpc>
            </a:pPr>
            <a:r>
              <a:rPr sz="975" noProof="1">
                <a:solidFill>
                  <a:srgbClr val="5C6B73"/>
                </a:solidFill>
                <a:latin typeface="QuattrocentoSans"/>
                <a:ea typeface="QuattrocentoSans"/>
              </a:rPr>
              <a:t>Review playbook steps before execution</a:t>
            </a:r>
          </a:p>
        </p:txBody>
      </p:sp>
      <p:sp>
        <p:nvSpPr>
          <p:cNvPr id="38" name="dsl:desc2"/>
          <p:cNvSpPr txBox="1"/>
          <p:nvPr/>
        </p:nvSpPr>
        <p:spPr>
          <a:xfrm>
            <a:off x="2667000" y="4076700"/>
            <a:ext cx="1762125" cy="523875"/>
          </a:xfrm>
          <a:prstGeom prst="rect">
            <a:avLst/>
          </a:prstGeom>
          <a:noFill/>
        </p:spPr>
        <p:txBody>
          <a:bodyPr wrap="square" anchor="t">
            <a:noAutofit/>
          </a:bodyPr>
          <a:lstStyle/>
          <a:p>
            <a:pPr algn="ctr">
              <a:lnSpc>
                <a:spcPct val="130000"/>
              </a:lnSpc>
            </a:pPr>
            <a:r>
              <a:rPr sz="975" noProof="1">
                <a:solidFill>
                  <a:srgbClr val="5C6B73"/>
                </a:solidFill>
                <a:latin typeface="QuattrocentoSans"/>
                <a:ea typeface="QuattrocentoSans"/>
              </a:rPr>
              <a:t>Check connectivity and target whitelist</a:t>
            </a:r>
          </a:p>
        </p:txBody>
      </p:sp>
      <p:sp>
        <p:nvSpPr>
          <p:cNvPr id="39" name="dsl:desc3"/>
          <p:cNvSpPr txBox="1"/>
          <p:nvPr/>
        </p:nvSpPr>
        <p:spPr>
          <a:xfrm>
            <a:off x="4762500" y="4076700"/>
            <a:ext cx="1762125" cy="523875"/>
          </a:xfrm>
          <a:prstGeom prst="rect">
            <a:avLst/>
          </a:prstGeom>
          <a:noFill/>
        </p:spPr>
        <p:txBody>
          <a:bodyPr wrap="square" anchor="t">
            <a:noAutofit/>
          </a:bodyPr>
          <a:lstStyle/>
          <a:p>
            <a:pPr algn="ctr">
              <a:lnSpc>
                <a:spcPct val="130000"/>
              </a:lnSpc>
            </a:pPr>
            <a:r>
              <a:rPr sz="975" noProof="1">
                <a:solidFill>
                  <a:srgbClr val="5C6B73"/>
                </a:solidFill>
                <a:latin typeface="QuattrocentoSans"/>
                <a:ea typeface="QuattrocentoSans"/>
              </a:rPr>
              <a:t>Run with full logging and monitoring</a:t>
            </a:r>
          </a:p>
        </p:txBody>
      </p:sp>
      <p:sp>
        <p:nvSpPr>
          <p:cNvPr id="40" name="dsl:desc4"/>
          <p:cNvSpPr txBox="1"/>
          <p:nvPr/>
        </p:nvSpPr>
        <p:spPr>
          <a:xfrm>
            <a:off x="6858000" y="4076700"/>
            <a:ext cx="1762125" cy="523875"/>
          </a:xfrm>
          <a:prstGeom prst="rect">
            <a:avLst/>
          </a:prstGeom>
          <a:noFill/>
        </p:spPr>
        <p:txBody>
          <a:bodyPr wrap="square" anchor="t">
            <a:noAutofit/>
          </a:bodyPr>
          <a:lstStyle/>
          <a:p>
            <a:pPr algn="ctr">
              <a:lnSpc>
                <a:spcPct val="130000"/>
              </a:lnSpc>
            </a:pPr>
            <a:r>
              <a:rPr sz="975" noProof="1">
                <a:solidFill>
                  <a:srgbClr val="5C6B73"/>
                </a:solidFill>
                <a:latin typeface="QuattrocentoSans"/>
                <a:ea typeface="QuattrocentoSans"/>
              </a:rPr>
              <a:t>Confirm the fix resolved the issue</a:t>
            </a:r>
          </a:p>
        </p:txBody>
      </p:sp>
      <p:sp>
        <p:nvSpPr>
          <p:cNvPr id="41" name="dsl:desc5"/>
          <p:cNvSpPr txBox="1"/>
          <p:nvPr/>
        </p:nvSpPr>
        <p:spPr>
          <a:xfrm>
            <a:off x="8953500" y="4076700"/>
            <a:ext cx="1762125" cy="523875"/>
          </a:xfrm>
          <a:prstGeom prst="rect">
            <a:avLst/>
          </a:prstGeom>
          <a:noFill/>
        </p:spPr>
        <p:txBody>
          <a:bodyPr wrap="square" anchor="t">
            <a:noAutofit/>
          </a:bodyPr>
          <a:lstStyle/>
          <a:p>
            <a:pPr algn="ctr">
              <a:lnSpc>
                <a:spcPct val="130000"/>
              </a:lnSpc>
            </a:pPr>
            <a:r>
              <a:rPr sz="975" noProof="1">
                <a:solidFill>
                  <a:srgbClr val="5C6B73"/>
                </a:solidFill>
                <a:latin typeface="QuattrocentoSans"/>
                <a:ea typeface="QuattrocentoSans"/>
              </a:rPr>
              <a:t>Preserve complete audit trail</a:t>
            </a:r>
          </a:p>
        </p:txBody>
      </p:sp>
      <p:sp>
        <p:nvSpPr>
          <p:cNvPr id="42" name="dsl:trust-message"/>
          <p:cNvSpPr txBox="1"/>
          <p:nvPr/>
        </p:nvSpPr>
        <p:spPr>
          <a:xfrm>
            <a:off x="571500" y="4857750"/>
            <a:ext cx="10477500" cy="619125"/>
          </a:xfrm>
          <a:prstGeom prst="rect">
            <a:avLst/>
          </a:prstGeom>
          <a:noFill/>
        </p:spPr>
        <p:txBody>
          <a:bodyPr wrap="square" anchor="t">
            <a:noAutofit/>
          </a:bodyPr>
          <a:lstStyle/>
          <a:p>
            <a:pPr algn="ctr">
              <a:lnSpc>
                <a:spcPct val="150000"/>
              </a:lnSpc>
            </a:pPr>
            <a:r>
              <a:rPr b="1" sz="1200" noProof="1">
                <a:solidFill>
                  <a:srgbClr val="2D6A6A"/>
                </a:solidFill>
                <a:latin typeface="QuattrocentoSans"/>
                <a:ea typeface="QuattrocentoSans"/>
              </a:rPr>
              <a:t>Trust through transparency — complete audit trail for every action.</a:t>
            </a:r>
          </a:p>
          <a:p>
            <a:pPr algn="ctr">
              <a:lnSpc>
                <a:spcPct val="150000"/>
              </a:lnSpc>
            </a:pPr>
            <a:r>
              <a:rPr sz="1200" noProof="1">
                <a:solidFill>
                  <a:srgbClr val="5C6B73"/>
                </a:solidFill>
                <a:latin typeface="QuattrocentoSans"/>
                <a:ea typeface="QuattrocentoSans"/>
              </a:rPr>
              <a:t>Who approved, what ran, what changed, whether it worked.</a:t>
            </a:r>
          </a:p>
        </p:txBody>
      </p:sp>
      <p:sp>
        <p:nvSpPr>
          <p:cNvPr id="43"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44"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b="1" sz="825" noProof="1" spc="150">
                <a:solidFill>
                  <a:srgbClr val="2D6A6A"/>
                </a:solidFill>
                <a:latin typeface="Liter"/>
                <a:ea typeface="Liter"/>
              </a:rPr>
              <a:t>AI &amp; AUTOMATION</a:t>
            </a:r>
            <a:r>
              <a:rPr sz="825" noProof="1" spc="150">
                <a:solidFill>
                  <a:srgbClr val="8A9499"/>
                </a:solidFill>
                <a:latin typeface="Liter"/>
                <a:ea typeface="Liter"/>
              </a:rPr>
              <a:t>     </a:t>
            </a:r>
            <a:r>
              <a:rPr sz="825" noProof="1" spc="150">
                <a:solidFill>
                  <a:srgbClr val="8A9499"/>
                </a:solidFill>
                <a:latin typeface="Liter"/>
                <a:ea typeface="Liter"/>
              </a:rPr>
              <a:t>IMPACT</a:t>
            </a:r>
            <a:r>
              <a:rPr sz="825" noProof="1" spc="150">
                <a:solidFill>
                  <a:srgbClr val="8A9499"/>
                </a:solidFill>
                <a:latin typeface="Liter"/>
                <a:ea typeface="Liter"/>
              </a:rPr>
              <a:t>     </a:t>
            </a:r>
            <a:r>
              <a:rPr sz="825" noProof="1" spc="150">
                <a:solidFill>
                  <a:srgbClr val="8A9499"/>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A Day with ARIA</a:t>
            </a:r>
          </a:p>
        </p:txBody>
      </p:sp>
      <p:sp>
        <p:nvSpPr>
          <p:cNvPr id="5" name="dsl:intro"/>
          <p:cNvSpPr txBox="1"/>
          <p:nvPr/>
        </p:nvSpPr>
        <p:spPr>
          <a:xfrm>
            <a:off x="571500" y="971550"/>
            <a:ext cx="6667500" cy="266700"/>
          </a:xfrm>
          <a:prstGeom prst="rect">
            <a:avLst/>
          </a:prstGeom>
          <a:noFill/>
        </p:spPr>
        <p:txBody>
          <a:bodyPr wrap="none" anchor="ctr">
            <a:noAutofit/>
          </a:bodyPr>
          <a:lstStyle/>
          <a:p>
            <a:pPr algn="l"/>
            <a:r>
              <a:rPr sz="1350" noProof="1">
                <a:solidFill>
                  <a:srgbClr val="5C6B73"/>
                </a:solidFill>
                <a:latin typeface="QuattrocentoSans"/>
                <a:ea typeface="QuattrocentoSans"/>
              </a:rPr>
              <a:t>A real-world incident response scenario — from detection to closure.</a:t>
            </a:r>
          </a:p>
        </p:txBody>
      </p:sp>
      <p:cxnSp>
        <p:nvCxnSpPr>
          <p:cNvPr id="6" name="dsl:timeline-line"/>
          <p:cNvCxnSpPr/>
          <p:nvPr/>
        </p:nvCxnSpPr>
        <p:spPr>
          <a:xfrm>
            <a:off x="1809750" y="1333500"/>
            <a:ext cx="0" cy="4238625"/>
          </a:xfrm>
          <a:prstGeom prst="straightConnector1">
            <a:avLst/>
          </a:prstGeom>
          <a:ln w="25400">
            <a:solidFill>
              <a:srgbClr val="E5E5E0"/>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dsl:dot1"/>
          <p:cNvSpPr/>
          <p:nvPr/>
        </p:nvSpPr>
        <p:spPr>
          <a:xfrm>
            <a:off x="1733550" y="1390650"/>
            <a:ext cx="152400" cy="152400"/>
          </a:xfrm>
          <a:prstGeom prst="ellipse">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dot2"/>
          <p:cNvSpPr/>
          <p:nvPr/>
        </p:nvSpPr>
        <p:spPr>
          <a:xfrm>
            <a:off x="1733550" y="1847850"/>
            <a:ext cx="152400" cy="152400"/>
          </a:xfrm>
          <a:prstGeom prst="ellipse">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dot3"/>
          <p:cNvSpPr/>
          <p:nvPr/>
        </p:nvSpPr>
        <p:spPr>
          <a:xfrm>
            <a:off x="1733550" y="2305050"/>
            <a:ext cx="152400" cy="152400"/>
          </a:xfrm>
          <a:prstGeom prst="ellipse">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l:dot4"/>
          <p:cNvSpPr/>
          <p:nvPr/>
        </p:nvSpPr>
        <p:spPr>
          <a:xfrm>
            <a:off x="1733550" y="2762250"/>
            <a:ext cx="152400" cy="152400"/>
          </a:xfrm>
          <a:prstGeom prst="ellipse">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dot5"/>
          <p:cNvSpPr/>
          <p:nvPr/>
        </p:nvSpPr>
        <p:spPr>
          <a:xfrm>
            <a:off x="1733550" y="3219450"/>
            <a:ext cx="152400" cy="152400"/>
          </a:xfrm>
          <a:prstGeom prst="ellipse">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dot6"/>
          <p:cNvSpPr/>
          <p:nvPr/>
        </p:nvSpPr>
        <p:spPr>
          <a:xfrm>
            <a:off x="1733550" y="3676650"/>
            <a:ext cx="152400" cy="152400"/>
          </a:xfrm>
          <a:prstGeom prst="ellipse">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dot7"/>
          <p:cNvSpPr/>
          <p:nvPr/>
        </p:nvSpPr>
        <p:spPr>
          <a:xfrm>
            <a:off x="1733550" y="4133850"/>
            <a:ext cx="152400" cy="152400"/>
          </a:xfrm>
          <a:prstGeom prst="ellipse">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dot8"/>
          <p:cNvSpPr/>
          <p:nvPr/>
        </p:nvSpPr>
        <p:spPr>
          <a:xfrm>
            <a:off x="1733550" y="4591050"/>
            <a:ext cx="152400" cy="152400"/>
          </a:xfrm>
          <a:prstGeom prst="ellipse">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dot9"/>
          <p:cNvSpPr/>
          <p:nvPr/>
        </p:nvSpPr>
        <p:spPr>
          <a:xfrm>
            <a:off x="1733550" y="5048250"/>
            <a:ext cx="152400" cy="152400"/>
          </a:xfrm>
          <a:prstGeom prst="ellipse">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time1"/>
          <p:cNvSpPr txBox="1"/>
          <p:nvPr/>
        </p:nvSpPr>
        <p:spPr>
          <a:xfrm>
            <a:off x="571500" y="1362075"/>
            <a:ext cx="1143000" cy="209550"/>
          </a:xfrm>
          <a:prstGeom prst="rect">
            <a:avLst/>
          </a:prstGeom>
          <a:noFill/>
        </p:spPr>
        <p:txBody>
          <a:bodyPr wrap="none" anchor="ctr">
            <a:noAutofit/>
          </a:bodyPr>
          <a:lstStyle/>
          <a:p>
            <a:pPr algn="r"/>
            <a:r>
              <a:rPr b="1" sz="1050" noProof="1">
                <a:solidFill>
                  <a:srgbClr val="D4A373"/>
                </a:solidFill>
                <a:latin typeface="Liter"/>
                <a:ea typeface="Liter"/>
              </a:rPr>
              <a:t>9:00 AM</a:t>
            </a:r>
          </a:p>
        </p:txBody>
      </p:sp>
      <p:sp>
        <p:nvSpPr>
          <p:cNvPr id="17" name="dsl:event1"/>
          <p:cNvSpPr txBox="1"/>
          <p:nvPr/>
        </p:nvSpPr>
        <p:spPr>
          <a:xfrm>
            <a:off x="2095500" y="13335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SSH brute-force detected</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Wazuh flags repeated login failures on production server</a:t>
            </a:r>
          </a:p>
        </p:txBody>
      </p:sp>
      <p:sp>
        <p:nvSpPr>
          <p:cNvPr id="18" name="dsl:time2"/>
          <p:cNvSpPr txBox="1"/>
          <p:nvPr/>
        </p:nvSpPr>
        <p:spPr>
          <a:xfrm>
            <a:off x="571500" y="1819275"/>
            <a:ext cx="1143000" cy="209550"/>
          </a:xfrm>
          <a:prstGeom prst="rect">
            <a:avLst/>
          </a:prstGeom>
          <a:noFill/>
        </p:spPr>
        <p:txBody>
          <a:bodyPr wrap="none" anchor="ctr">
            <a:noAutofit/>
          </a:bodyPr>
          <a:lstStyle/>
          <a:p>
            <a:pPr algn="r"/>
            <a:r>
              <a:rPr b="1" sz="1050" noProof="1">
                <a:solidFill>
                  <a:srgbClr val="D4A373"/>
                </a:solidFill>
                <a:latin typeface="Liter"/>
                <a:ea typeface="Liter"/>
              </a:rPr>
              <a:t>9:00:15</a:t>
            </a:r>
          </a:p>
        </p:txBody>
      </p:sp>
      <p:sp>
        <p:nvSpPr>
          <p:cNvPr id="19" name="dsl:event2"/>
          <p:cNvSpPr txBox="1"/>
          <p:nvPr/>
        </p:nvSpPr>
        <p:spPr>
          <a:xfrm>
            <a:off x="2095500" y="17907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Port scan flagged</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Suricata detects network reconnaissance from same source IP</a:t>
            </a:r>
          </a:p>
        </p:txBody>
      </p:sp>
      <p:sp>
        <p:nvSpPr>
          <p:cNvPr id="20" name="dsl:time3"/>
          <p:cNvSpPr txBox="1"/>
          <p:nvPr/>
        </p:nvSpPr>
        <p:spPr>
          <a:xfrm>
            <a:off x="571500" y="2276475"/>
            <a:ext cx="1143000" cy="209550"/>
          </a:xfrm>
          <a:prstGeom prst="rect">
            <a:avLst/>
          </a:prstGeom>
          <a:noFill/>
        </p:spPr>
        <p:txBody>
          <a:bodyPr wrap="none" anchor="ctr">
            <a:noAutofit/>
          </a:bodyPr>
          <a:lstStyle/>
          <a:p>
            <a:pPr algn="r"/>
            <a:r>
              <a:rPr b="1" sz="1050" noProof="1">
                <a:solidFill>
                  <a:srgbClr val="D4A373"/>
                </a:solidFill>
                <a:latin typeface="Liter"/>
                <a:ea typeface="Liter"/>
              </a:rPr>
              <a:t>9:00:30</a:t>
            </a:r>
          </a:p>
        </p:txBody>
      </p:sp>
      <p:sp>
        <p:nvSpPr>
          <p:cNvPr id="21" name="dsl:event3"/>
          <p:cNvSpPr txBox="1"/>
          <p:nvPr/>
        </p:nvSpPr>
        <p:spPr>
          <a:xfrm>
            <a:off x="2095500" y="22479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Unexpected shell</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Falco notices abnormal process execution in container</a:t>
            </a:r>
          </a:p>
        </p:txBody>
      </p:sp>
      <p:sp>
        <p:nvSpPr>
          <p:cNvPr id="22" name="dsl:time4"/>
          <p:cNvSpPr txBox="1"/>
          <p:nvPr/>
        </p:nvSpPr>
        <p:spPr>
          <a:xfrm>
            <a:off x="571500" y="2733675"/>
            <a:ext cx="1143000" cy="209550"/>
          </a:xfrm>
          <a:prstGeom prst="rect">
            <a:avLst/>
          </a:prstGeom>
          <a:noFill/>
        </p:spPr>
        <p:txBody>
          <a:bodyPr wrap="none" anchor="ctr">
            <a:noAutofit/>
          </a:bodyPr>
          <a:lstStyle/>
          <a:p>
            <a:pPr algn="r"/>
            <a:r>
              <a:rPr b="1" sz="1050" noProof="1">
                <a:solidFill>
                  <a:srgbClr val="2D6A6A"/>
                </a:solidFill>
                <a:latin typeface="Liter"/>
                <a:ea typeface="Liter"/>
              </a:rPr>
              <a:t>9:01</a:t>
            </a:r>
          </a:p>
        </p:txBody>
      </p:sp>
      <p:sp>
        <p:nvSpPr>
          <p:cNvPr id="23" name="dsl:event4"/>
          <p:cNvSpPr txBox="1"/>
          <p:nvPr/>
        </p:nvSpPr>
        <p:spPr>
          <a:xfrm>
            <a:off x="2095500" y="27051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Correlated incident created</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ARIA links all three events into one case: "SSH Brute Force &amp; Port Scan"</a:t>
            </a:r>
          </a:p>
        </p:txBody>
      </p:sp>
      <p:sp>
        <p:nvSpPr>
          <p:cNvPr id="24" name="dsl:time5"/>
          <p:cNvSpPr txBox="1"/>
          <p:nvPr/>
        </p:nvSpPr>
        <p:spPr>
          <a:xfrm>
            <a:off x="571500" y="3190875"/>
            <a:ext cx="1143000" cy="209550"/>
          </a:xfrm>
          <a:prstGeom prst="rect">
            <a:avLst/>
          </a:prstGeom>
          <a:noFill/>
        </p:spPr>
        <p:txBody>
          <a:bodyPr wrap="none" anchor="ctr">
            <a:noAutofit/>
          </a:bodyPr>
          <a:lstStyle/>
          <a:p>
            <a:pPr algn="r"/>
            <a:r>
              <a:rPr b="1" sz="1050" noProof="1">
                <a:solidFill>
                  <a:srgbClr val="2D6A6A"/>
                </a:solidFill>
                <a:latin typeface="Liter"/>
                <a:ea typeface="Liter"/>
              </a:rPr>
              <a:t>9:02</a:t>
            </a:r>
          </a:p>
        </p:txBody>
      </p:sp>
      <p:sp>
        <p:nvSpPr>
          <p:cNvPr id="25" name="dsl:event5"/>
          <p:cNvSpPr txBox="1"/>
          <p:nvPr/>
        </p:nvSpPr>
        <p:spPr>
          <a:xfrm>
            <a:off x="2095500" y="31623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AI generates summary + playbook</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Risk: HIGH | Recommendation: block IP + harden SSH</a:t>
            </a:r>
          </a:p>
        </p:txBody>
      </p:sp>
      <p:sp>
        <p:nvSpPr>
          <p:cNvPr id="26" name="dsl:time6"/>
          <p:cNvSpPr txBox="1"/>
          <p:nvPr/>
        </p:nvSpPr>
        <p:spPr>
          <a:xfrm>
            <a:off x="571500" y="3648075"/>
            <a:ext cx="1143000" cy="209550"/>
          </a:xfrm>
          <a:prstGeom prst="rect">
            <a:avLst/>
          </a:prstGeom>
          <a:noFill/>
        </p:spPr>
        <p:txBody>
          <a:bodyPr wrap="none" anchor="ctr">
            <a:noAutofit/>
          </a:bodyPr>
          <a:lstStyle/>
          <a:p>
            <a:pPr algn="r"/>
            <a:r>
              <a:rPr b="1" sz="1050" noProof="1">
                <a:solidFill>
                  <a:srgbClr val="2D6A6A"/>
                </a:solidFill>
                <a:latin typeface="Liter"/>
                <a:ea typeface="Liter"/>
              </a:rPr>
              <a:t>9:05</a:t>
            </a:r>
          </a:p>
        </p:txBody>
      </p:sp>
      <p:sp>
        <p:nvSpPr>
          <p:cNvPr id="27" name="dsl:event6"/>
          <p:cNvSpPr txBox="1"/>
          <p:nvPr/>
        </p:nvSpPr>
        <p:spPr>
          <a:xfrm>
            <a:off x="2095500" y="36195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Analyst reviews and approves</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Human verification before any action is taken</a:t>
            </a:r>
          </a:p>
        </p:txBody>
      </p:sp>
      <p:sp>
        <p:nvSpPr>
          <p:cNvPr id="28" name="dsl:time7"/>
          <p:cNvSpPr txBox="1"/>
          <p:nvPr/>
        </p:nvSpPr>
        <p:spPr>
          <a:xfrm>
            <a:off x="571500" y="4105275"/>
            <a:ext cx="1143000" cy="209550"/>
          </a:xfrm>
          <a:prstGeom prst="rect">
            <a:avLst/>
          </a:prstGeom>
          <a:noFill/>
        </p:spPr>
        <p:txBody>
          <a:bodyPr wrap="none" anchor="ctr">
            <a:noAutofit/>
          </a:bodyPr>
          <a:lstStyle/>
          <a:p>
            <a:pPr algn="r"/>
            <a:r>
              <a:rPr b="1" sz="1050" noProof="1">
                <a:solidFill>
                  <a:srgbClr val="2D6A6A"/>
                </a:solidFill>
                <a:latin typeface="Liter"/>
                <a:ea typeface="Liter"/>
              </a:rPr>
              <a:t>9:06</a:t>
            </a:r>
          </a:p>
        </p:txBody>
      </p:sp>
      <p:sp>
        <p:nvSpPr>
          <p:cNvPr id="29" name="dsl:event7"/>
          <p:cNvSpPr txBox="1"/>
          <p:nvPr/>
        </p:nvSpPr>
        <p:spPr>
          <a:xfrm>
            <a:off x="2095500" y="40767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Ansible executes</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Firewall rule applied, SSH config hardened automatically</a:t>
            </a:r>
          </a:p>
        </p:txBody>
      </p:sp>
      <p:sp>
        <p:nvSpPr>
          <p:cNvPr id="30" name="dsl:time8"/>
          <p:cNvSpPr txBox="1"/>
          <p:nvPr/>
        </p:nvSpPr>
        <p:spPr>
          <a:xfrm>
            <a:off x="571500" y="4562475"/>
            <a:ext cx="1143000" cy="209550"/>
          </a:xfrm>
          <a:prstGeom prst="rect">
            <a:avLst/>
          </a:prstGeom>
          <a:noFill/>
        </p:spPr>
        <p:txBody>
          <a:bodyPr wrap="none" anchor="ctr">
            <a:noAutofit/>
          </a:bodyPr>
          <a:lstStyle/>
          <a:p>
            <a:pPr algn="r"/>
            <a:r>
              <a:rPr b="1" sz="1050" noProof="1">
                <a:solidFill>
                  <a:srgbClr val="2D6A6A"/>
                </a:solidFill>
                <a:latin typeface="Liter"/>
                <a:ea typeface="Liter"/>
              </a:rPr>
              <a:t>9:10</a:t>
            </a:r>
          </a:p>
        </p:txBody>
      </p:sp>
      <p:sp>
        <p:nvSpPr>
          <p:cNvPr id="31" name="dsl:event8"/>
          <p:cNvSpPr txBox="1"/>
          <p:nvPr/>
        </p:nvSpPr>
        <p:spPr>
          <a:xfrm>
            <a:off x="2095500" y="45339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Fix verified</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No new brute-force events confirmed, remediation successful</a:t>
            </a:r>
          </a:p>
        </p:txBody>
      </p:sp>
      <p:sp>
        <p:nvSpPr>
          <p:cNvPr id="32" name="dsl:time9"/>
          <p:cNvSpPr txBox="1"/>
          <p:nvPr/>
        </p:nvSpPr>
        <p:spPr>
          <a:xfrm>
            <a:off x="571500" y="5019675"/>
            <a:ext cx="1143000" cy="209550"/>
          </a:xfrm>
          <a:prstGeom prst="rect">
            <a:avLst/>
          </a:prstGeom>
          <a:noFill/>
        </p:spPr>
        <p:txBody>
          <a:bodyPr wrap="none" anchor="ctr">
            <a:noAutofit/>
          </a:bodyPr>
          <a:lstStyle/>
          <a:p>
            <a:pPr algn="r"/>
            <a:r>
              <a:rPr b="1" sz="1050" noProof="1">
                <a:solidFill>
                  <a:srgbClr val="8FB3B3"/>
                </a:solidFill>
                <a:latin typeface="Liter"/>
                <a:ea typeface="Liter"/>
              </a:rPr>
              <a:t>9:15</a:t>
            </a:r>
          </a:p>
        </p:txBody>
      </p:sp>
      <p:sp>
        <p:nvSpPr>
          <p:cNvPr id="33" name="dsl:event9"/>
          <p:cNvSpPr txBox="1"/>
          <p:nvPr/>
        </p:nvSpPr>
        <p:spPr>
          <a:xfrm>
            <a:off x="2095500" y="4991100"/>
            <a:ext cx="9334500" cy="247650"/>
          </a:xfrm>
          <a:prstGeom prst="rect">
            <a:avLst/>
          </a:prstGeom>
          <a:noFill/>
        </p:spPr>
        <p:txBody>
          <a:bodyPr wrap="none" anchor="ctr">
            <a:noAutofit/>
          </a:bodyPr>
          <a:lstStyle/>
          <a:p>
            <a:pPr algn="l"/>
            <a:r>
              <a:rPr b="1" sz="1200" noProof="1">
                <a:solidFill>
                  <a:srgbClr val="2B2D2F"/>
                </a:solidFill>
                <a:latin typeface="QuattrocentoSans"/>
                <a:ea typeface="QuattrocentoSans"/>
              </a:rPr>
              <a:t>Case archived</a:t>
            </a:r>
            <a:r>
              <a:rPr sz="1200" noProof="1">
                <a:solidFill>
                  <a:srgbClr val="2B2D2F"/>
                </a:solidFill>
                <a:latin typeface="QuattrocentoSans"/>
                <a:ea typeface="QuattrocentoSans"/>
              </a:rPr>
              <a:t> </a:t>
            </a:r>
            <a:r>
              <a:rPr sz="1200" noProof="1">
                <a:solidFill>
                  <a:srgbClr val="5C6B73"/>
                </a:solidFill>
                <a:latin typeface="QuattrocentoSans"/>
                <a:ea typeface="QuattrocentoSans"/>
              </a:rPr>
              <a:t>— Complete timeline and audit trail preserved</a:t>
            </a:r>
          </a:p>
        </p:txBody>
      </p:sp>
      <p:sp>
        <p:nvSpPr>
          <p:cNvPr id="34" name="dsl:bottom-accent"/>
          <p:cNvSpPr/>
          <p:nvPr/>
        </p:nvSpPr>
        <p:spPr>
          <a:xfrm>
            <a:off x="571500" y="5524500"/>
            <a:ext cx="110490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sl:bottom-line"/>
          <p:cNvSpPr txBox="1"/>
          <p:nvPr/>
        </p:nvSpPr>
        <p:spPr>
          <a:xfrm>
            <a:off x="571500" y="5715000"/>
            <a:ext cx="11049000" cy="381000"/>
          </a:xfrm>
          <a:prstGeom prst="rect">
            <a:avLst/>
          </a:prstGeom>
          <a:noFill/>
        </p:spPr>
        <p:txBody>
          <a:bodyPr wrap="none" anchor="ctr">
            <a:noAutofit/>
          </a:bodyPr>
          <a:lstStyle/>
          <a:p>
            <a:pPr algn="ctr"/>
            <a:r>
              <a:rPr b="1" sz="1800" noProof="1">
                <a:solidFill>
                  <a:srgbClr val="2D6A6A"/>
                </a:solidFill>
                <a:latin typeface="Liter"/>
                <a:ea typeface="Liter"/>
              </a:rPr>
              <a:t>What took hours now takes minutes.</a:t>
            </a:r>
          </a:p>
        </p:txBody>
      </p:sp>
      <p:sp>
        <p:nvSpPr>
          <p:cNvPr id="36" name="dsl:sub-message"/>
          <p:cNvSpPr txBox="1"/>
          <p:nvPr/>
        </p:nvSpPr>
        <p:spPr>
          <a:xfrm>
            <a:off x="571500" y="6143625"/>
            <a:ext cx="11049000" cy="247650"/>
          </a:xfrm>
          <a:prstGeom prst="rect">
            <a:avLst/>
          </a:prstGeom>
          <a:noFill/>
        </p:spPr>
        <p:txBody>
          <a:bodyPr wrap="none" anchor="ctr">
            <a:noAutofit/>
          </a:bodyPr>
          <a:lstStyle/>
          <a:p>
            <a:pPr algn="ctr"/>
            <a:r>
              <a:rPr sz="1200" noProof="1">
                <a:solidFill>
                  <a:srgbClr val="5C6B73"/>
                </a:solidFill>
                <a:latin typeface="QuattrocentoSans"/>
                <a:ea typeface="QuattrocentoSans"/>
              </a:rPr>
              <a:t>From first alert to closed case in 15 minutes — with full human oversight at every step.</a:t>
            </a:r>
          </a:p>
        </p:txBody>
      </p:sp>
      <p:sp>
        <p:nvSpPr>
          <p:cNvPr id="37"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38"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5-number"/>
          <p:cNvSpPr txBox="1"/>
          <p:nvPr/>
        </p:nvSpPr>
        <p:spPr>
          <a:xfrm>
            <a:off x="476250" y="571500"/>
            <a:ext cx="4000500" cy="1809750"/>
          </a:xfrm>
          <a:prstGeom prst="rect">
            <a:avLst/>
          </a:prstGeom>
          <a:noFill/>
        </p:spPr>
        <p:txBody>
          <a:bodyPr wrap="none" anchor="t">
            <a:noAutofit/>
          </a:bodyPr>
          <a:lstStyle/>
          <a:p>
            <a:pPr algn="l"/>
            <a:r>
              <a:rPr sz="12000" noProof="1">
                <a:solidFill>
                  <a:srgbClr val="2D6A6A"/>
                </a:solidFill>
                <a:latin typeface="Liter"/>
                <a:ea typeface="Liter"/>
              </a:rPr>
              <a:t>05</a:t>
            </a:r>
          </a:p>
        </p:txBody>
      </p:sp>
      <p:sp>
        <p:nvSpPr>
          <p:cNvPr id="3" name="dsl:ch5-label"/>
          <p:cNvSpPr txBox="1"/>
          <p:nvPr/>
        </p:nvSpPr>
        <p:spPr>
          <a:xfrm>
            <a:off x="571500" y="2647950"/>
            <a:ext cx="1905000" cy="209550"/>
          </a:xfrm>
          <a:prstGeom prst="rect">
            <a:avLst/>
          </a:prstGeom>
          <a:noFill/>
        </p:spPr>
        <p:txBody>
          <a:bodyPr wrap="none" anchor="ctr">
            <a:noAutofit/>
          </a:bodyPr>
          <a:lstStyle/>
          <a:p>
            <a:pPr algn="l"/>
            <a:r>
              <a:rPr sz="975" noProof="1">
                <a:solidFill>
                  <a:srgbClr val="5C6B73"/>
                </a:solidFill>
                <a:latin typeface="Liter"/>
                <a:ea typeface="Liter"/>
              </a:rPr>
              <a:t>CHAPTER 05</a:t>
            </a:r>
          </a:p>
        </p:txBody>
      </p:sp>
      <p:sp>
        <p:nvSpPr>
          <p:cNvPr id="4" name="dsl:ch5-accent-bar"/>
          <p:cNvSpPr/>
          <p:nvPr/>
        </p:nvSpPr>
        <p:spPr>
          <a:xfrm>
            <a:off x="571500" y="297180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h5-title|s=$title"/>
          <p:cNvSpPr txBox="1"/>
          <p:nvPr/>
        </p:nvSpPr>
        <p:spPr>
          <a:xfrm>
            <a:off x="571500" y="3143250"/>
            <a:ext cx="6667500" cy="523875"/>
          </a:xfrm>
          <a:prstGeom prst="rect">
            <a:avLst/>
          </a:prstGeom>
          <a:noFill/>
        </p:spPr>
        <p:txBody>
          <a:bodyPr wrap="none" anchor="ctr">
            <a:noAutofit/>
          </a:bodyPr>
          <a:lstStyle/>
          <a:p>
            <a:pPr algn="l">
              <a:lnSpc>
                <a:spcPct val="120000"/>
              </a:lnSpc>
            </a:pPr>
            <a:r>
              <a:rPr sz="3150" noProof="1">
                <a:solidFill>
                  <a:srgbClr val="2D6A6A"/>
                </a:solidFill>
                <a:latin typeface="Liter"/>
                <a:ea typeface="Liter"/>
              </a:rPr>
              <a:t>Business Impact</a:t>
            </a:r>
          </a:p>
        </p:txBody>
      </p:sp>
      <p:sp>
        <p:nvSpPr>
          <p:cNvPr id="6" name="dsl:ch5-subtitle|s=$subtitle"/>
          <p:cNvSpPr txBox="1"/>
          <p:nvPr/>
        </p:nvSpPr>
        <p:spPr>
          <a:xfrm>
            <a:off x="571500" y="3857625"/>
            <a:ext cx="6667500" cy="333375"/>
          </a:xfrm>
          <a:prstGeom prst="rect">
            <a:avLst/>
          </a:prstGeom>
          <a:noFill/>
        </p:spPr>
        <p:txBody>
          <a:bodyPr wrap="none" anchor="ctr">
            <a:noAutofit/>
          </a:bodyPr>
          <a:lstStyle/>
          <a:p>
            <a:pPr algn="l">
              <a:lnSpc>
                <a:spcPct val="140000"/>
              </a:lnSpc>
            </a:pPr>
            <a:r>
              <a:rPr sz="1650" noProof="1">
                <a:solidFill>
                  <a:srgbClr val="5C6B73"/>
                </a:solidFill>
                <a:latin typeface="QuattrocentoSans"/>
                <a:ea typeface="QuattrocentoSans"/>
              </a:rPr>
              <a:t>Measurable improvements for security operations</a:t>
            </a:r>
          </a:p>
        </p:txBody>
      </p:sp>
      <p:sp>
        <p:nvSpPr>
          <p:cNvPr id="7" name="dsl:ch5-frame"/>
          <p:cNvSpPr/>
          <p:nvPr/>
        </p:nvSpPr>
        <p:spPr>
          <a:xfrm>
            <a:off x="8763000" y="1143000"/>
            <a:ext cx="2857500" cy="4572000"/>
          </a:xfrm>
          <a:prstGeom prst="rect">
            <a:avLst/>
          </a:prstGeom>
          <a:no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sz="825" noProof="1" spc="150">
                <a:solidFill>
                  <a:srgbClr val="8A9499"/>
                </a:solidFill>
                <a:latin typeface="Liter"/>
                <a:ea typeface="Liter"/>
              </a:rPr>
              <a:t>AI &amp; AUTOMATION</a:t>
            </a:r>
            <a:r>
              <a:rPr sz="825" noProof="1" spc="150">
                <a:solidFill>
                  <a:srgbClr val="8A9499"/>
                </a:solidFill>
                <a:latin typeface="Liter"/>
                <a:ea typeface="Liter"/>
              </a:rPr>
              <a:t>     </a:t>
            </a:r>
            <a:r>
              <a:rPr b="1" sz="825" noProof="1" spc="150">
                <a:solidFill>
                  <a:srgbClr val="2D6A6A"/>
                </a:solidFill>
                <a:latin typeface="Liter"/>
                <a:ea typeface="Liter"/>
              </a:rPr>
              <a:t>IMPACT</a:t>
            </a:r>
            <a:r>
              <a:rPr sz="825" noProof="1" spc="150">
                <a:solidFill>
                  <a:srgbClr val="8A9499"/>
                </a:solidFill>
                <a:latin typeface="Liter"/>
                <a:ea typeface="Liter"/>
              </a:rPr>
              <a:t>     </a:t>
            </a:r>
            <a:r>
              <a:rPr sz="825" noProof="1" spc="150">
                <a:solidFill>
                  <a:srgbClr val="8A9499"/>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Operational Benefits</a:t>
            </a:r>
          </a:p>
        </p:txBody>
      </p:sp>
      <p:sp>
        <p:nvSpPr>
          <p:cNvPr id="5" name="dsl:intro"/>
          <p:cNvSpPr txBox="1"/>
          <p:nvPr/>
        </p:nvSpPr>
        <p:spPr>
          <a:xfrm>
            <a:off x="571500" y="971550"/>
            <a:ext cx="7620000" cy="266700"/>
          </a:xfrm>
          <a:prstGeom prst="rect">
            <a:avLst/>
          </a:prstGeom>
          <a:noFill/>
        </p:spPr>
        <p:txBody>
          <a:bodyPr wrap="none" anchor="ctr">
            <a:noAutofit/>
          </a:bodyPr>
          <a:lstStyle/>
          <a:p>
            <a:pPr algn="l"/>
            <a:r>
              <a:rPr sz="1350" noProof="1">
                <a:solidFill>
                  <a:srgbClr val="5C6B73"/>
                </a:solidFill>
                <a:latin typeface="QuattrocentoSans"/>
                <a:ea typeface="QuattrocentoSans"/>
              </a:rPr>
              <a:t>Concrete improvements ARIA delivers to your security operations.</a:t>
            </a:r>
          </a:p>
        </p:txBody>
      </p:sp>
      <p:sp>
        <p:nvSpPr>
          <p:cNvPr id="6" name="dsl:c1-bg"/>
          <p:cNvSpPr/>
          <p:nvPr/>
        </p:nvSpPr>
        <p:spPr>
          <a:xfrm>
            <a:off x="571500" y="142875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c1-icon|i=fas:bolt"/>
          <p:cNvSpPr/>
          <p:nvPr/>
        </p:nvSpPr>
        <p:spPr>
          <a:xfrm>
            <a:off x="819150" y="1638300"/>
            <a:ext cx="266700" cy="304800"/>
          </a:xfrm>
          <a:custGeom>
            <a:avLst/>
            <a:gdLst/>
            <a:ahLst/>
            <a:cxnLst/>
            <a:rect l="l" t="t" r="r" b="b"/>
            <a:pathLst>
              <a:path w="266700" h="304800">
                <a:moveTo>
                  <a:pt x="208002" y="26550"/>
                </a:moveTo>
                <a:cubicBezTo>
                  <a:pt x="211514" y="18395"/>
                  <a:pt x="208895" y="8870"/>
                  <a:pt x="201691" y="3631"/>
                </a:cubicBezTo>
                <a:cubicBezTo>
                  <a:pt x="194488" y="-1607"/>
                  <a:pt x="184665" y="-1131"/>
                  <a:pt x="177938" y="4702"/>
                </a:cubicBezTo>
                <a:lnTo>
                  <a:pt x="25538" y="138052"/>
                </a:lnTo>
                <a:cubicBezTo>
                  <a:pt x="19585" y="143291"/>
                  <a:pt x="17442" y="151685"/>
                  <a:pt x="20240" y="159067"/>
                </a:cubicBezTo>
                <a:cubicBezTo>
                  <a:pt x="23038" y="166449"/>
                  <a:pt x="30182" y="171450"/>
                  <a:pt x="38100" y="171450"/>
                </a:cubicBezTo>
                <a:lnTo>
                  <a:pt x="104477" y="171450"/>
                </a:lnTo>
                <a:lnTo>
                  <a:pt x="58697" y="278249"/>
                </a:lnTo>
                <a:cubicBezTo>
                  <a:pt x="55185" y="286404"/>
                  <a:pt x="57804" y="295929"/>
                  <a:pt x="65008" y="301168"/>
                </a:cubicBezTo>
                <a:cubicBezTo>
                  <a:pt x="72211" y="306407"/>
                  <a:pt x="82034" y="305931"/>
                  <a:pt x="88761" y="300097"/>
                </a:cubicBezTo>
                <a:lnTo>
                  <a:pt x="241161" y="166747"/>
                </a:lnTo>
                <a:cubicBezTo>
                  <a:pt x="247114" y="161508"/>
                  <a:pt x="249257" y="153114"/>
                  <a:pt x="246459" y="145732"/>
                </a:cubicBezTo>
                <a:cubicBezTo>
                  <a:pt x="243661" y="138350"/>
                  <a:pt x="236577" y="133409"/>
                  <a:pt x="228600" y="133409"/>
                </a:cubicBezTo>
                <a:lnTo>
                  <a:pt x="162222" y="133409"/>
                </a:lnTo>
                <a:lnTo>
                  <a:pt x="208002" y="26550"/>
                </a:lnTo>
                <a:close/>
              </a:path>
            </a:pathLst>
          </a:custGeom>
          <a:solidFill>
            <a:srgbClr val="D4A373"/>
          </a:solidFill>
          <a:ln>
            <a:noFill/>
          </a:ln>
          <a:effectLst/>
        </p:spPr>
      </p:sp>
      <p:sp>
        <p:nvSpPr>
          <p:cNvPr id="8" name="dsl:c1-title"/>
          <p:cNvSpPr txBox="1"/>
          <p:nvPr/>
        </p:nvSpPr>
        <p:spPr>
          <a:xfrm>
            <a:off x="800100" y="2057400"/>
            <a:ext cx="3067050" cy="247650"/>
          </a:xfrm>
          <a:prstGeom prst="rect">
            <a:avLst/>
          </a:prstGeom>
          <a:noFill/>
        </p:spPr>
        <p:txBody>
          <a:bodyPr wrap="none" anchor="ctr">
            <a:noAutofit/>
          </a:bodyPr>
          <a:lstStyle/>
          <a:p>
            <a:pPr algn="l"/>
            <a:r>
              <a:rPr b="1" sz="1500" noProof="1">
                <a:solidFill>
                  <a:srgbClr val="2B2D2F"/>
                </a:solidFill>
                <a:latin typeface="Liter"/>
                <a:ea typeface="Liter"/>
              </a:rPr>
              <a:t>Faster Triage</a:t>
            </a:r>
          </a:p>
        </p:txBody>
      </p:sp>
      <p:sp>
        <p:nvSpPr>
          <p:cNvPr id="9" name="dsl:c1-desc"/>
          <p:cNvSpPr txBox="1"/>
          <p:nvPr/>
        </p:nvSpPr>
        <p:spPr>
          <a:xfrm>
            <a:off x="800100" y="238125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Correlated incidents replace isolated alerts. Analysts see the full picture immediately and can act with confidence.</a:t>
            </a:r>
          </a:p>
        </p:txBody>
      </p:sp>
      <p:sp>
        <p:nvSpPr>
          <p:cNvPr id="10" name="dsl:c2-bg"/>
          <p:cNvSpPr/>
          <p:nvPr/>
        </p:nvSpPr>
        <p:spPr>
          <a:xfrm>
            <a:off x="4333875" y="142875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2-icon|i=fas:weight-hanging"/>
          <p:cNvSpPr/>
          <p:nvPr/>
        </p:nvSpPr>
        <p:spPr>
          <a:xfrm>
            <a:off x="4562475" y="1638300"/>
            <a:ext cx="304800" cy="304800"/>
          </a:xfrm>
          <a:custGeom>
            <a:avLst/>
            <a:gdLst/>
            <a:ahLst/>
            <a:cxnLst/>
            <a:rect l="l" t="t" r="r" b="b"/>
            <a:pathLst>
              <a:path w="304800" h="304800">
                <a:moveTo>
                  <a:pt x="133350" y="57150"/>
                </a:moveTo>
                <a:cubicBezTo>
                  <a:pt x="133350" y="46699"/>
                  <a:pt x="141949" y="38100"/>
                  <a:pt x="152400" y="38100"/>
                </a:cubicBezTo>
                <a:cubicBezTo>
                  <a:pt x="162850" y="38100"/>
                  <a:pt x="171450" y="46699"/>
                  <a:pt x="171450" y="57149"/>
                </a:cubicBezTo>
                <a:cubicBezTo>
                  <a:pt x="171450" y="67600"/>
                  <a:pt x="162850" y="76200"/>
                  <a:pt x="152400" y="76200"/>
                </a:cubicBezTo>
                <a:cubicBezTo>
                  <a:pt x="141949" y="76200"/>
                  <a:pt x="133350" y="67600"/>
                  <a:pt x="133350" y="57150"/>
                </a:cubicBezTo>
                <a:close/>
                <a:moveTo>
                  <a:pt x="206275" y="76200"/>
                </a:moveTo>
                <a:cubicBezTo>
                  <a:pt x="208359" y="70246"/>
                  <a:pt x="209550" y="63817"/>
                  <a:pt x="209550" y="57150"/>
                </a:cubicBezTo>
                <a:cubicBezTo>
                  <a:pt x="209550" y="25598"/>
                  <a:pt x="183951" y="0"/>
                  <a:pt x="152400" y="0"/>
                </a:cubicBezTo>
                <a:cubicBezTo>
                  <a:pt x="120848" y="0"/>
                  <a:pt x="95250" y="25598"/>
                  <a:pt x="95250" y="57150"/>
                </a:cubicBezTo>
                <a:cubicBezTo>
                  <a:pt x="95250" y="63817"/>
                  <a:pt x="96381" y="70246"/>
                  <a:pt x="98524" y="76200"/>
                </a:cubicBezTo>
                <a:lnTo>
                  <a:pt x="71437" y="76200"/>
                </a:lnTo>
                <a:cubicBezTo>
                  <a:pt x="58340" y="76200"/>
                  <a:pt x="46910" y="85129"/>
                  <a:pt x="43695" y="97869"/>
                </a:cubicBezTo>
                <a:lnTo>
                  <a:pt x="833" y="269319"/>
                </a:lnTo>
                <a:cubicBezTo>
                  <a:pt x="-1309" y="277832"/>
                  <a:pt x="3214" y="286881"/>
                  <a:pt x="6012" y="293846"/>
                </a:cubicBezTo>
                <a:cubicBezTo>
                  <a:pt x="8810" y="300811"/>
                  <a:pt x="19764" y="304800"/>
                  <a:pt x="28575" y="304800"/>
                </a:cubicBezTo>
                <a:lnTo>
                  <a:pt x="276225" y="304800"/>
                </a:lnTo>
                <a:cubicBezTo>
                  <a:pt x="285035" y="304800"/>
                  <a:pt x="293310" y="300751"/>
                  <a:pt x="298727" y="293786"/>
                </a:cubicBezTo>
                <a:cubicBezTo>
                  <a:pt x="304145" y="286821"/>
                  <a:pt x="306050" y="277832"/>
                  <a:pt x="303907" y="269259"/>
                </a:cubicBezTo>
                <a:lnTo>
                  <a:pt x="261044" y="97809"/>
                </a:lnTo>
                <a:cubicBezTo>
                  <a:pt x="257889" y="85129"/>
                  <a:pt x="246459" y="76200"/>
                  <a:pt x="233362" y="76200"/>
                </a:cubicBezTo>
                <a:lnTo>
                  <a:pt x="206275" y="76200"/>
                </a:lnTo>
                <a:close/>
              </a:path>
            </a:pathLst>
          </a:custGeom>
          <a:solidFill>
            <a:srgbClr val="D4A373"/>
          </a:solidFill>
          <a:ln>
            <a:noFill/>
          </a:ln>
          <a:effectLst/>
        </p:spPr>
      </p:sp>
      <p:sp>
        <p:nvSpPr>
          <p:cNvPr id="12" name="dsl:c2-title"/>
          <p:cNvSpPr txBox="1"/>
          <p:nvPr/>
        </p:nvSpPr>
        <p:spPr>
          <a:xfrm>
            <a:off x="4562475" y="2057400"/>
            <a:ext cx="3067050" cy="247650"/>
          </a:xfrm>
          <a:prstGeom prst="rect">
            <a:avLst/>
          </a:prstGeom>
          <a:noFill/>
        </p:spPr>
        <p:txBody>
          <a:bodyPr wrap="none" anchor="ctr">
            <a:noAutofit/>
          </a:bodyPr>
          <a:lstStyle/>
          <a:p>
            <a:pPr algn="l"/>
            <a:r>
              <a:rPr b="1" sz="1500" noProof="1">
                <a:solidFill>
                  <a:srgbClr val="2B2D2F"/>
                </a:solidFill>
                <a:latin typeface="Liter"/>
                <a:ea typeface="Liter"/>
              </a:rPr>
              <a:t>Lower Operational Load</a:t>
            </a:r>
          </a:p>
        </p:txBody>
      </p:sp>
      <p:sp>
        <p:nvSpPr>
          <p:cNvPr id="13" name="dsl:c2-desc"/>
          <p:cNvSpPr txBox="1"/>
          <p:nvPr/>
        </p:nvSpPr>
        <p:spPr>
          <a:xfrm>
            <a:off x="4562475" y="238125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AI handles initial analysis and noise filtering. Deduplication collapses repeated events significantly.</a:t>
            </a:r>
          </a:p>
        </p:txBody>
      </p:sp>
      <p:sp>
        <p:nvSpPr>
          <p:cNvPr id="14" name="dsl:c3-bg"/>
          <p:cNvSpPr/>
          <p:nvPr/>
        </p:nvSpPr>
        <p:spPr>
          <a:xfrm>
            <a:off x="8096250" y="142875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3-icon|i=fas:crosshairs"/>
          <p:cNvSpPr/>
          <p:nvPr/>
        </p:nvSpPr>
        <p:spPr>
          <a:xfrm>
            <a:off x="8324850" y="1638300"/>
            <a:ext cx="304800" cy="304800"/>
          </a:xfrm>
          <a:custGeom>
            <a:avLst/>
            <a:gdLst/>
            <a:ahLst/>
            <a:cxnLst/>
            <a:rect l="l" t="t" r="r" b="b"/>
            <a:pathLst>
              <a:path w="304800" h="304800">
                <a:moveTo>
                  <a:pt x="152400" y="0"/>
                </a:moveTo>
                <a:cubicBezTo>
                  <a:pt x="162937" y="0"/>
                  <a:pt x="171450" y="8512"/>
                  <a:pt x="171450" y="19050"/>
                </a:cubicBezTo>
                <a:lnTo>
                  <a:pt x="171450" y="25241"/>
                </a:lnTo>
                <a:cubicBezTo>
                  <a:pt x="227230" y="33516"/>
                  <a:pt x="271283" y="77628"/>
                  <a:pt x="279558" y="133350"/>
                </a:cubicBezTo>
                <a:lnTo>
                  <a:pt x="285750" y="133350"/>
                </a:lnTo>
                <a:cubicBezTo>
                  <a:pt x="296287" y="133350"/>
                  <a:pt x="304800" y="141862"/>
                  <a:pt x="304800" y="152400"/>
                </a:cubicBezTo>
                <a:cubicBezTo>
                  <a:pt x="304800" y="162937"/>
                  <a:pt x="296287" y="171450"/>
                  <a:pt x="285750" y="171450"/>
                </a:cubicBezTo>
                <a:lnTo>
                  <a:pt x="279558" y="171450"/>
                </a:lnTo>
                <a:cubicBezTo>
                  <a:pt x="271283" y="227230"/>
                  <a:pt x="227171" y="271283"/>
                  <a:pt x="171450" y="279558"/>
                </a:cubicBezTo>
                <a:lnTo>
                  <a:pt x="171450" y="285750"/>
                </a:lnTo>
                <a:cubicBezTo>
                  <a:pt x="171450" y="296287"/>
                  <a:pt x="162937" y="304800"/>
                  <a:pt x="152400" y="304800"/>
                </a:cubicBezTo>
                <a:cubicBezTo>
                  <a:pt x="141862" y="304800"/>
                  <a:pt x="133350" y="296287"/>
                  <a:pt x="133350" y="285750"/>
                </a:cubicBezTo>
                <a:lnTo>
                  <a:pt x="133350" y="279558"/>
                </a:lnTo>
                <a:cubicBezTo>
                  <a:pt x="77569" y="271283"/>
                  <a:pt x="33516" y="227230"/>
                  <a:pt x="25241" y="171450"/>
                </a:cubicBezTo>
                <a:lnTo>
                  <a:pt x="19050" y="171450"/>
                </a:lnTo>
                <a:cubicBezTo>
                  <a:pt x="8512" y="171450"/>
                  <a:pt x="0" y="162937"/>
                  <a:pt x="0" y="152400"/>
                </a:cubicBezTo>
                <a:cubicBezTo>
                  <a:pt x="0" y="141862"/>
                  <a:pt x="8512" y="133350"/>
                  <a:pt x="19050" y="133350"/>
                </a:cubicBezTo>
                <a:lnTo>
                  <a:pt x="25241" y="133350"/>
                </a:lnTo>
                <a:cubicBezTo>
                  <a:pt x="33516" y="77569"/>
                  <a:pt x="77569" y="33516"/>
                  <a:pt x="133350" y="25241"/>
                </a:cubicBezTo>
                <a:lnTo>
                  <a:pt x="133350" y="19050"/>
                </a:lnTo>
                <a:cubicBezTo>
                  <a:pt x="133350" y="8512"/>
                  <a:pt x="141862" y="0"/>
                  <a:pt x="152400" y="0"/>
                </a:cubicBezTo>
                <a:close/>
                <a:moveTo>
                  <a:pt x="63936" y="171450"/>
                </a:moveTo>
                <a:cubicBezTo>
                  <a:pt x="71377" y="206156"/>
                  <a:pt x="98702" y="233422"/>
                  <a:pt x="133350" y="240863"/>
                </a:cubicBezTo>
                <a:lnTo>
                  <a:pt x="133350" y="228600"/>
                </a:lnTo>
                <a:cubicBezTo>
                  <a:pt x="133350" y="218062"/>
                  <a:pt x="141862" y="209550"/>
                  <a:pt x="152400" y="209550"/>
                </a:cubicBezTo>
                <a:cubicBezTo>
                  <a:pt x="162937" y="209550"/>
                  <a:pt x="171450" y="218062"/>
                  <a:pt x="171450" y="228600"/>
                </a:cubicBezTo>
                <a:lnTo>
                  <a:pt x="171450" y="240863"/>
                </a:lnTo>
                <a:cubicBezTo>
                  <a:pt x="206156" y="233422"/>
                  <a:pt x="233422" y="206097"/>
                  <a:pt x="240863" y="171450"/>
                </a:cubicBezTo>
                <a:lnTo>
                  <a:pt x="228600" y="171450"/>
                </a:lnTo>
                <a:cubicBezTo>
                  <a:pt x="218062" y="171450"/>
                  <a:pt x="209550" y="162937"/>
                  <a:pt x="209550" y="152400"/>
                </a:cubicBezTo>
                <a:cubicBezTo>
                  <a:pt x="209550" y="141862"/>
                  <a:pt x="218062" y="133350"/>
                  <a:pt x="228600" y="133350"/>
                </a:cubicBezTo>
                <a:lnTo>
                  <a:pt x="240863" y="133350"/>
                </a:lnTo>
                <a:cubicBezTo>
                  <a:pt x="233422" y="98643"/>
                  <a:pt x="206156" y="71377"/>
                  <a:pt x="171450" y="63936"/>
                </a:cubicBezTo>
                <a:lnTo>
                  <a:pt x="171450" y="76200"/>
                </a:lnTo>
                <a:cubicBezTo>
                  <a:pt x="171450" y="86737"/>
                  <a:pt x="162937" y="95250"/>
                  <a:pt x="152400" y="95250"/>
                </a:cubicBezTo>
                <a:cubicBezTo>
                  <a:pt x="141862" y="95250"/>
                  <a:pt x="133350" y="86737"/>
                  <a:pt x="133350" y="76200"/>
                </a:cubicBezTo>
                <a:lnTo>
                  <a:pt x="133350" y="63936"/>
                </a:lnTo>
                <a:cubicBezTo>
                  <a:pt x="98643" y="71377"/>
                  <a:pt x="71377" y="98643"/>
                  <a:pt x="63936" y="133350"/>
                </a:cubicBezTo>
                <a:lnTo>
                  <a:pt x="76200" y="133350"/>
                </a:lnTo>
                <a:cubicBezTo>
                  <a:pt x="86737" y="133350"/>
                  <a:pt x="95250" y="141862"/>
                  <a:pt x="95250" y="152400"/>
                </a:cubicBezTo>
                <a:cubicBezTo>
                  <a:pt x="95250" y="162937"/>
                  <a:pt x="86737" y="171450"/>
                  <a:pt x="76200" y="171450"/>
                </a:cubicBezTo>
                <a:lnTo>
                  <a:pt x="63936" y="171450"/>
                </a:lnTo>
                <a:close/>
                <a:moveTo>
                  <a:pt x="152400" y="133350"/>
                </a:moveTo>
                <a:cubicBezTo>
                  <a:pt x="162850" y="133350"/>
                  <a:pt x="171450" y="141949"/>
                  <a:pt x="171450" y="152400"/>
                </a:cubicBezTo>
                <a:cubicBezTo>
                  <a:pt x="171450" y="162850"/>
                  <a:pt x="162850" y="171450"/>
                  <a:pt x="152400" y="171450"/>
                </a:cubicBezTo>
                <a:cubicBezTo>
                  <a:pt x="141949" y="171450"/>
                  <a:pt x="133350" y="162850"/>
                  <a:pt x="133350" y="152400"/>
                </a:cubicBezTo>
                <a:cubicBezTo>
                  <a:pt x="133350" y="141949"/>
                  <a:pt x="141949" y="133350"/>
                  <a:pt x="152400" y="133350"/>
                </a:cubicBezTo>
                <a:close/>
              </a:path>
            </a:pathLst>
          </a:custGeom>
          <a:solidFill>
            <a:srgbClr val="D4A373"/>
          </a:solidFill>
          <a:ln>
            <a:noFill/>
          </a:ln>
          <a:effectLst/>
        </p:spPr>
      </p:sp>
      <p:sp>
        <p:nvSpPr>
          <p:cNvPr id="16" name="dsl:c3-title"/>
          <p:cNvSpPr txBox="1"/>
          <p:nvPr/>
        </p:nvSpPr>
        <p:spPr>
          <a:xfrm>
            <a:off x="8324850" y="2057400"/>
            <a:ext cx="3067050" cy="247650"/>
          </a:xfrm>
          <a:prstGeom prst="rect">
            <a:avLst/>
          </a:prstGeom>
          <a:noFill/>
        </p:spPr>
        <p:txBody>
          <a:bodyPr wrap="none" anchor="ctr">
            <a:noAutofit/>
          </a:bodyPr>
          <a:lstStyle/>
          <a:p>
            <a:pPr algn="l"/>
            <a:r>
              <a:rPr b="1" sz="1500" noProof="1">
                <a:solidFill>
                  <a:srgbClr val="2B2D2F"/>
                </a:solidFill>
                <a:latin typeface="Liter"/>
                <a:ea typeface="Liter"/>
              </a:rPr>
              <a:t>Better Detection Quality</a:t>
            </a:r>
          </a:p>
        </p:txBody>
      </p:sp>
      <p:sp>
        <p:nvSpPr>
          <p:cNvPr id="17" name="dsl:c3-desc"/>
          <p:cNvSpPr txBox="1"/>
          <p:nvPr/>
        </p:nvSpPr>
        <p:spPr>
          <a:xfrm>
            <a:off x="8324850" y="238125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Multi-source correlation catches multi-stage attacks that single tools miss. MITRE mapping adds adversary context.</a:t>
            </a:r>
          </a:p>
        </p:txBody>
      </p:sp>
      <p:sp>
        <p:nvSpPr>
          <p:cNvPr id="18" name="dsl:c4-bg"/>
          <p:cNvSpPr/>
          <p:nvPr/>
        </p:nvSpPr>
        <p:spPr>
          <a:xfrm>
            <a:off x="571500" y="381000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c4-icon|i=fas:clipboard-check"/>
          <p:cNvSpPr/>
          <p:nvPr/>
        </p:nvSpPr>
        <p:spPr>
          <a:xfrm>
            <a:off x="838200" y="4019550"/>
            <a:ext cx="228600" cy="304800"/>
          </a:xfrm>
          <a:custGeom>
            <a:avLst/>
            <a:gdLst/>
            <a:ahLst/>
            <a:cxnLst/>
            <a:rect l="l" t="t" r="r" b="b"/>
            <a:pathLst>
              <a:path w="228600" h="304800">
                <a:moveTo>
                  <a:pt x="114300" y="0"/>
                </a:moveTo>
                <a:cubicBezTo>
                  <a:pt x="89415" y="0"/>
                  <a:pt x="68222" y="15894"/>
                  <a:pt x="60424" y="38100"/>
                </a:cubicBezTo>
                <a:lnTo>
                  <a:pt x="38100" y="38100"/>
                </a:lnTo>
                <a:cubicBezTo>
                  <a:pt x="17085" y="38100"/>
                  <a:pt x="0" y="55185"/>
                  <a:pt x="0" y="76200"/>
                </a:cubicBezTo>
                <a:lnTo>
                  <a:pt x="0" y="266700"/>
                </a:lnTo>
                <a:cubicBezTo>
                  <a:pt x="0" y="287714"/>
                  <a:pt x="17085" y="304800"/>
                  <a:pt x="38100" y="304800"/>
                </a:cubicBezTo>
                <a:lnTo>
                  <a:pt x="190500" y="304800"/>
                </a:lnTo>
                <a:cubicBezTo>
                  <a:pt x="211514" y="304800"/>
                  <a:pt x="228600" y="287714"/>
                  <a:pt x="228600" y="266700"/>
                </a:cubicBezTo>
                <a:lnTo>
                  <a:pt x="228600" y="76200"/>
                </a:lnTo>
                <a:cubicBezTo>
                  <a:pt x="228600" y="55185"/>
                  <a:pt x="211514" y="38100"/>
                  <a:pt x="190500" y="38100"/>
                </a:cubicBezTo>
                <a:lnTo>
                  <a:pt x="168175" y="38100"/>
                </a:lnTo>
                <a:cubicBezTo>
                  <a:pt x="160377" y="15894"/>
                  <a:pt x="139184" y="0"/>
                  <a:pt x="114300" y="0"/>
                </a:cubicBezTo>
                <a:close/>
                <a:moveTo>
                  <a:pt x="114300" y="38100"/>
                </a:moveTo>
                <a:cubicBezTo>
                  <a:pt x="124750" y="38100"/>
                  <a:pt x="133350" y="46699"/>
                  <a:pt x="133350" y="57150"/>
                </a:cubicBezTo>
                <a:cubicBezTo>
                  <a:pt x="133350" y="67600"/>
                  <a:pt x="124750" y="76200"/>
                  <a:pt x="114300" y="76200"/>
                </a:cubicBezTo>
                <a:cubicBezTo>
                  <a:pt x="103849" y="76200"/>
                  <a:pt x="95250" y="67600"/>
                  <a:pt x="95250" y="57150"/>
                </a:cubicBezTo>
                <a:cubicBezTo>
                  <a:pt x="95250" y="46699"/>
                  <a:pt x="103849" y="38100"/>
                  <a:pt x="114300" y="38100"/>
                </a:cubicBezTo>
                <a:close/>
                <a:moveTo>
                  <a:pt x="181570" y="162520"/>
                </a:moveTo>
                <a:lnTo>
                  <a:pt x="105370" y="238720"/>
                </a:lnTo>
                <a:cubicBezTo>
                  <a:pt x="99774" y="244316"/>
                  <a:pt x="90725" y="244316"/>
                  <a:pt x="85189" y="238720"/>
                </a:cubicBezTo>
                <a:lnTo>
                  <a:pt x="47029" y="200620"/>
                </a:lnTo>
                <a:cubicBezTo>
                  <a:pt x="41433" y="195024"/>
                  <a:pt x="41433" y="185975"/>
                  <a:pt x="47029" y="180439"/>
                </a:cubicBezTo>
                <a:cubicBezTo>
                  <a:pt x="52625" y="174902"/>
                  <a:pt x="61674" y="174843"/>
                  <a:pt x="67210" y="180439"/>
                </a:cubicBezTo>
                <a:lnTo>
                  <a:pt x="95190" y="208418"/>
                </a:lnTo>
                <a:lnTo>
                  <a:pt x="161329" y="142279"/>
                </a:lnTo>
                <a:cubicBezTo>
                  <a:pt x="166925" y="136683"/>
                  <a:pt x="175974" y="136683"/>
                  <a:pt x="181510" y="142279"/>
                </a:cubicBezTo>
                <a:cubicBezTo>
                  <a:pt x="187047" y="147875"/>
                  <a:pt x="187106" y="156924"/>
                  <a:pt x="181510" y="162460"/>
                </a:cubicBezTo>
                <a:close/>
              </a:path>
            </a:pathLst>
          </a:custGeom>
          <a:solidFill>
            <a:srgbClr val="D4A373"/>
          </a:solidFill>
          <a:ln>
            <a:noFill/>
          </a:ln>
          <a:effectLst/>
        </p:spPr>
      </p:sp>
      <p:sp>
        <p:nvSpPr>
          <p:cNvPr id="20" name="dsl:c4-title"/>
          <p:cNvSpPr txBox="1"/>
          <p:nvPr/>
        </p:nvSpPr>
        <p:spPr>
          <a:xfrm>
            <a:off x="800100" y="4438650"/>
            <a:ext cx="3067050" cy="247650"/>
          </a:xfrm>
          <a:prstGeom prst="rect">
            <a:avLst/>
          </a:prstGeom>
          <a:noFill/>
        </p:spPr>
        <p:txBody>
          <a:bodyPr wrap="none" anchor="ctr">
            <a:noAutofit/>
          </a:bodyPr>
          <a:lstStyle/>
          <a:p>
            <a:pPr algn="l"/>
            <a:r>
              <a:rPr b="1" sz="1500" noProof="1">
                <a:solidFill>
                  <a:srgbClr val="2B2D2F"/>
                </a:solidFill>
                <a:latin typeface="Liter"/>
                <a:ea typeface="Liter"/>
              </a:rPr>
              <a:t>Improved Consistency</a:t>
            </a:r>
          </a:p>
        </p:txBody>
      </p:sp>
      <p:sp>
        <p:nvSpPr>
          <p:cNvPr id="21" name="dsl:c4-desc"/>
          <p:cNvSpPr txBox="1"/>
          <p:nvPr/>
        </p:nvSpPr>
        <p:spPr>
          <a:xfrm>
            <a:off x="800100" y="476250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Approval-gated playbooks ensure standardized responses. No more ad-hoc fixes that vary by analyst.</a:t>
            </a:r>
          </a:p>
        </p:txBody>
      </p:sp>
      <p:sp>
        <p:nvSpPr>
          <p:cNvPr id="22" name="dsl:c5-bg"/>
          <p:cNvSpPr/>
          <p:nvPr/>
        </p:nvSpPr>
        <p:spPr>
          <a:xfrm>
            <a:off x="4333875" y="381000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5-icon|i=fas:shield-halved"/>
          <p:cNvSpPr/>
          <p:nvPr/>
        </p:nvSpPr>
        <p:spPr>
          <a:xfrm>
            <a:off x="4562475" y="4019550"/>
            <a:ext cx="304800" cy="304800"/>
          </a:xfrm>
          <a:custGeom>
            <a:avLst/>
            <a:gdLst/>
            <a:ahLst/>
            <a:cxnLst/>
            <a:rect l="l" t="t" r="r" b="b"/>
            <a:pathLst>
              <a:path w="304800" h="304800">
                <a:moveTo>
                  <a:pt x="152400" y="0"/>
                </a:moveTo>
                <a:cubicBezTo>
                  <a:pt x="155138" y="0"/>
                  <a:pt x="157876" y="595"/>
                  <a:pt x="160377" y="1726"/>
                </a:cubicBezTo>
                <a:lnTo>
                  <a:pt x="272474" y="49291"/>
                </a:lnTo>
                <a:cubicBezTo>
                  <a:pt x="285571" y="54828"/>
                  <a:pt x="295334" y="67746"/>
                  <a:pt x="295275" y="83343"/>
                </a:cubicBezTo>
                <a:cubicBezTo>
                  <a:pt x="298251" y="142398"/>
                  <a:pt x="270688" y="250447"/>
                  <a:pt x="168116" y="299561"/>
                </a:cubicBezTo>
                <a:cubicBezTo>
                  <a:pt x="158174" y="304323"/>
                  <a:pt x="146625" y="304323"/>
                  <a:pt x="136683" y="299561"/>
                </a:cubicBezTo>
                <a:cubicBezTo>
                  <a:pt x="34111" y="250447"/>
                  <a:pt x="9822" y="142398"/>
                  <a:pt x="9525" y="83343"/>
                </a:cubicBezTo>
                <a:cubicBezTo>
                  <a:pt x="10120" y="67746"/>
                  <a:pt x="19228" y="54828"/>
                  <a:pt x="32325" y="49291"/>
                </a:cubicBezTo>
                <a:lnTo>
                  <a:pt x="144482" y="1726"/>
                </a:lnTo>
                <a:cubicBezTo>
                  <a:pt x="146923" y="595"/>
                  <a:pt x="149661" y="0"/>
                  <a:pt x="152400" y="0"/>
                </a:cubicBezTo>
                <a:close/>
                <a:moveTo>
                  <a:pt x="152400" y="39766"/>
                </a:moveTo>
                <a:lnTo>
                  <a:pt x="152400" y="264795"/>
                </a:lnTo>
                <a:cubicBezTo>
                  <a:pt x="234553" y="225028"/>
                  <a:pt x="256639" y="136981"/>
                  <a:pt x="257175" y="84177"/>
                </a:cubicBezTo>
                <a:lnTo>
                  <a:pt x="152400" y="39766"/>
                </a:lnTo>
                <a:lnTo>
                  <a:pt x="152400" y="39766"/>
                </a:lnTo>
                <a:close/>
              </a:path>
            </a:pathLst>
          </a:custGeom>
          <a:solidFill>
            <a:srgbClr val="D4A373"/>
          </a:solidFill>
          <a:ln>
            <a:noFill/>
          </a:ln>
          <a:effectLst/>
        </p:spPr>
      </p:sp>
      <p:sp>
        <p:nvSpPr>
          <p:cNvPr id="24" name="dsl:c5-title"/>
          <p:cNvSpPr txBox="1"/>
          <p:nvPr/>
        </p:nvSpPr>
        <p:spPr>
          <a:xfrm>
            <a:off x="4562475" y="4438650"/>
            <a:ext cx="3067050" cy="247650"/>
          </a:xfrm>
          <a:prstGeom prst="rect">
            <a:avLst/>
          </a:prstGeom>
          <a:noFill/>
        </p:spPr>
        <p:txBody>
          <a:bodyPr wrap="none" anchor="ctr">
            <a:noAutofit/>
          </a:bodyPr>
          <a:lstStyle/>
          <a:p>
            <a:pPr algn="l"/>
            <a:r>
              <a:rPr b="1" sz="1500" noProof="1">
                <a:solidFill>
                  <a:srgbClr val="2B2D2F"/>
                </a:solidFill>
                <a:latin typeface="Liter"/>
                <a:ea typeface="Liter"/>
              </a:rPr>
              <a:t>Audit Readiness</a:t>
            </a:r>
          </a:p>
        </p:txBody>
      </p:sp>
      <p:sp>
        <p:nvSpPr>
          <p:cNvPr id="25" name="dsl:c5-desc"/>
          <p:cNvSpPr txBox="1"/>
          <p:nvPr/>
        </p:nvSpPr>
        <p:spPr>
          <a:xfrm>
            <a:off x="4562475" y="476250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Complete trail from detection to archive. Who did what, when, and whether it worked — all recorded.</a:t>
            </a:r>
          </a:p>
        </p:txBody>
      </p:sp>
      <p:sp>
        <p:nvSpPr>
          <p:cNvPr id="26" name="dsl:c6-bg"/>
          <p:cNvSpPr/>
          <p:nvPr/>
        </p:nvSpPr>
        <p:spPr>
          <a:xfrm>
            <a:off x="8096250" y="381000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6-icon|i=fas:layer-group"/>
          <p:cNvSpPr/>
          <p:nvPr/>
        </p:nvSpPr>
        <p:spPr>
          <a:xfrm>
            <a:off x="8324850" y="4036483"/>
            <a:ext cx="304800" cy="270933"/>
          </a:xfrm>
          <a:custGeom>
            <a:avLst/>
            <a:gdLst/>
            <a:ahLst/>
            <a:cxnLst/>
            <a:rect l="l" t="t" r="r" b="b"/>
            <a:pathLst>
              <a:path w="304800" h="270933">
                <a:moveTo>
                  <a:pt x="139964" y="2751"/>
                </a:moveTo>
                <a:cubicBezTo>
                  <a:pt x="147849" y="-899"/>
                  <a:pt x="156950" y="-899"/>
                  <a:pt x="164835" y="2751"/>
                </a:cubicBezTo>
                <a:lnTo>
                  <a:pt x="280511" y="56197"/>
                </a:lnTo>
                <a:cubicBezTo>
                  <a:pt x="285009" y="58261"/>
                  <a:pt x="287866" y="62759"/>
                  <a:pt x="287866" y="67733"/>
                </a:cubicBezTo>
                <a:cubicBezTo>
                  <a:pt x="287866" y="72707"/>
                  <a:pt x="285009" y="77205"/>
                  <a:pt x="280511" y="79269"/>
                </a:cubicBezTo>
                <a:lnTo>
                  <a:pt x="164835" y="132715"/>
                </a:lnTo>
                <a:cubicBezTo>
                  <a:pt x="156950" y="136366"/>
                  <a:pt x="147849" y="136366"/>
                  <a:pt x="139964" y="132715"/>
                </a:cubicBezTo>
                <a:lnTo>
                  <a:pt x="24288" y="79269"/>
                </a:lnTo>
                <a:cubicBezTo>
                  <a:pt x="19790" y="77152"/>
                  <a:pt x="16933" y="72654"/>
                  <a:pt x="16933" y="67733"/>
                </a:cubicBezTo>
                <a:cubicBezTo>
                  <a:pt x="16933" y="62812"/>
                  <a:pt x="19790" y="58261"/>
                  <a:pt x="24288" y="56197"/>
                </a:cubicBezTo>
                <a:lnTo>
                  <a:pt x="139964" y="2751"/>
                </a:lnTo>
                <a:close/>
                <a:moveTo>
                  <a:pt x="252359" y="110913"/>
                </a:moveTo>
                <a:lnTo>
                  <a:pt x="280511" y="123930"/>
                </a:lnTo>
                <a:cubicBezTo>
                  <a:pt x="285009" y="125994"/>
                  <a:pt x="287866" y="130492"/>
                  <a:pt x="287866" y="135466"/>
                </a:cubicBezTo>
                <a:cubicBezTo>
                  <a:pt x="287866" y="140440"/>
                  <a:pt x="285009" y="144938"/>
                  <a:pt x="280511" y="147002"/>
                </a:cubicBezTo>
                <a:lnTo>
                  <a:pt x="164835" y="200448"/>
                </a:lnTo>
                <a:cubicBezTo>
                  <a:pt x="156950" y="204099"/>
                  <a:pt x="147849" y="204099"/>
                  <a:pt x="139964" y="200448"/>
                </a:cubicBezTo>
                <a:lnTo>
                  <a:pt x="24288" y="147002"/>
                </a:lnTo>
                <a:cubicBezTo>
                  <a:pt x="19790" y="144885"/>
                  <a:pt x="16933" y="140387"/>
                  <a:pt x="16933" y="135466"/>
                </a:cubicBezTo>
                <a:cubicBezTo>
                  <a:pt x="16933" y="130545"/>
                  <a:pt x="19790" y="125994"/>
                  <a:pt x="24288" y="123930"/>
                </a:cubicBezTo>
                <a:lnTo>
                  <a:pt x="52440" y="110913"/>
                </a:lnTo>
                <a:lnTo>
                  <a:pt x="132873" y="148060"/>
                </a:lnTo>
                <a:cubicBezTo>
                  <a:pt x="145256" y="153775"/>
                  <a:pt x="159543" y="153775"/>
                  <a:pt x="171926" y="148060"/>
                </a:cubicBezTo>
                <a:lnTo>
                  <a:pt x="252359" y="110913"/>
                </a:lnTo>
                <a:close/>
                <a:moveTo>
                  <a:pt x="171926" y="215794"/>
                </a:moveTo>
                <a:lnTo>
                  <a:pt x="252359" y="178646"/>
                </a:lnTo>
                <a:lnTo>
                  <a:pt x="280511" y="191664"/>
                </a:lnTo>
                <a:cubicBezTo>
                  <a:pt x="285009" y="193727"/>
                  <a:pt x="287866" y="198225"/>
                  <a:pt x="287866" y="203200"/>
                </a:cubicBezTo>
                <a:cubicBezTo>
                  <a:pt x="287866" y="208174"/>
                  <a:pt x="285009" y="212672"/>
                  <a:pt x="280511" y="214735"/>
                </a:cubicBezTo>
                <a:lnTo>
                  <a:pt x="164835" y="268181"/>
                </a:lnTo>
                <a:cubicBezTo>
                  <a:pt x="156950" y="271832"/>
                  <a:pt x="147849" y="271832"/>
                  <a:pt x="139964" y="268181"/>
                </a:cubicBezTo>
                <a:lnTo>
                  <a:pt x="24288" y="214735"/>
                </a:lnTo>
                <a:cubicBezTo>
                  <a:pt x="19790" y="212619"/>
                  <a:pt x="16933" y="208121"/>
                  <a:pt x="16933" y="203200"/>
                </a:cubicBezTo>
                <a:cubicBezTo>
                  <a:pt x="16933" y="198278"/>
                  <a:pt x="19790" y="193727"/>
                  <a:pt x="24288" y="191664"/>
                </a:cubicBezTo>
                <a:lnTo>
                  <a:pt x="52440" y="178646"/>
                </a:lnTo>
                <a:lnTo>
                  <a:pt x="132873" y="215794"/>
                </a:lnTo>
                <a:cubicBezTo>
                  <a:pt x="145256" y="221509"/>
                  <a:pt x="159543" y="221509"/>
                  <a:pt x="171926" y="215794"/>
                </a:cubicBezTo>
                <a:close/>
              </a:path>
            </a:pathLst>
          </a:custGeom>
          <a:solidFill>
            <a:srgbClr val="D4A373"/>
          </a:solidFill>
          <a:ln>
            <a:noFill/>
          </a:ln>
          <a:effectLst/>
        </p:spPr>
      </p:sp>
      <p:sp>
        <p:nvSpPr>
          <p:cNvPr id="28" name="dsl:c6-title"/>
          <p:cNvSpPr txBox="1"/>
          <p:nvPr/>
        </p:nvSpPr>
        <p:spPr>
          <a:xfrm>
            <a:off x="8324850" y="4438650"/>
            <a:ext cx="3067050" cy="247650"/>
          </a:xfrm>
          <a:prstGeom prst="rect">
            <a:avLst/>
          </a:prstGeom>
          <a:noFill/>
        </p:spPr>
        <p:txBody>
          <a:bodyPr wrap="none" anchor="ctr">
            <a:noAutofit/>
          </a:bodyPr>
          <a:lstStyle/>
          <a:p>
            <a:pPr algn="l"/>
            <a:r>
              <a:rPr b="1" sz="1500" noProof="1">
                <a:solidFill>
                  <a:srgbClr val="2B2D2F"/>
                </a:solidFill>
                <a:latin typeface="Liter"/>
                <a:ea typeface="Liter"/>
              </a:rPr>
              <a:t>Scalable Foundation</a:t>
            </a:r>
          </a:p>
        </p:txBody>
      </p:sp>
      <p:sp>
        <p:nvSpPr>
          <p:cNvPr id="29" name="dsl:c6-desc"/>
          <p:cNvSpPr txBox="1"/>
          <p:nvPr/>
        </p:nvSpPr>
        <p:spPr>
          <a:xfrm>
            <a:off x="8324850" y="476250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Modular architecture grows with your needs. New sources via configuration, not code changes.</a:t>
            </a:r>
          </a:p>
        </p:txBody>
      </p:sp>
      <p:sp>
        <p:nvSpPr>
          <p:cNvPr id="30"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31"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sz="825" noProof="1" spc="150">
                <a:solidFill>
                  <a:srgbClr val="8A9499"/>
                </a:solidFill>
                <a:latin typeface="Liter"/>
                <a:ea typeface="Liter"/>
              </a:rPr>
              <a:t>AI &amp; AUTOMATION</a:t>
            </a:r>
            <a:r>
              <a:rPr sz="825" noProof="1" spc="150">
                <a:solidFill>
                  <a:srgbClr val="8A9499"/>
                </a:solidFill>
                <a:latin typeface="Liter"/>
                <a:ea typeface="Liter"/>
              </a:rPr>
              <a:t>     </a:t>
            </a:r>
            <a:r>
              <a:rPr b="1" sz="825" noProof="1" spc="150">
                <a:solidFill>
                  <a:srgbClr val="2D6A6A"/>
                </a:solidFill>
                <a:latin typeface="Liter"/>
                <a:ea typeface="Liter"/>
              </a:rPr>
              <a:t>IMPACT</a:t>
            </a:r>
            <a:r>
              <a:rPr sz="825" noProof="1" spc="150">
                <a:solidFill>
                  <a:srgbClr val="8A9499"/>
                </a:solidFill>
                <a:latin typeface="Liter"/>
                <a:ea typeface="Liter"/>
              </a:rPr>
              <a:t>     </a:t>
            </a:r>
            <a:r>
              <a:rPr sz="825" noProof="1" spc="150">
                <a:solidFill>
                  <a:srgbClr val="8A9499"/>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Scalable and Future-Ready</a:t>
            </a:r>
          </a:p>
        </p:txBody>
      </p:sp>
      <p:sp>
        <p:nvSpPr>
          <p:cNvPr id="5" name="dsl:intro"/>
          <p:cNvSpPr txBox="1"/>
          <p:nvPr/>
        </p:nvSpPr>
        <p:spPr>
          <a:xfrm>
            <a:off x="571500" y="971550"/>
            <a:ext cx="8572500" cy="266700"/>
          </a:xfrm>
          <a:prstGeom prst="rect">
            <a:avLst/>
          </a:prstGeom>
          <a:noFill/>
        </p:spPr>
        <p:txBody>
          <a:bodyPr wrap="none" anchor="ctr">
            <a:noAutofit/>
          </a:bodyPr>
          <a:lstStyle/>
          <a:p>
            <a:pPr algn="l"/>
            <a:r>
              <a:rPr sz="1350" noProof="1">
                <a:solidFill>
                  <a:srgbClr val="5C6B73"/>
                </a:solidFill>
                <a:latin typeface="QuattrocentoSans"/>
                <a:ea typeface="QuattrocentoSans"/>
              </a:rPr>
              <a:t>ARIA grows with your organization — from initial deployment to enterprise scale.</a:t>
            </a:r>
          </a:p>
        </p:txBody>
      </p:sp>
      <p:sp>
        <p:nvSpPr>
          <p:cNvPr id="6" name="dsl:col1-bg"/>
          <p:cNvSpPr/>
          <p:nvPr/>
        </p:nvSpPr>
        <p:spPr>
          <a:xfrm>
            <a:off x="571500" y="1476375"/>
            <a:ext cx="3524250" cy="4667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col1-accent"/>
          <p:cNvSpPr/>
          <p:nvPr/>
        </p:nvSpPr>
        <p:spPr>
          <a:xfrm>
            <a:off x="571500" y="1476375"/>
            <a:ext cx="352425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col1-icon|i=fas:seedling"/>
          <p:cNvSpPr/>
          <p:nvPr/>
        </p:nvSpPr>
        <p:spPr>
          <a:xfrm>
            <a:off x="800100" y="1704975"/>
            <a:ext cx="342900" cy="342900"/>
          </a:xfrm>
          <a:custGeom>
            <a:avLst/>
            <a:gdLst/>
            <a:ahLst/>
            <a:cxnLst/>
            <a:rect l="l" t="t" r="r" b="b"/>
            <a:pathLst>
              <a:path w="342900" h="342900">
                <a:moveTo>
                  <a:pt x="342900" y="21431"/>
                </a:moveTo>
                <a:cubicBezTo>
                  <a:pt x="342900" y="97512"/>
                  <a:pt x="286241" y="160399"/>
                  <a:pt x="212839" y="170110"/>
                </a:cubicBezTo>
                <a:cubicBezTo>
                  <a:pt x="208084" y="134347"/>
                  <a:pt x="192345" y="102066"/>
                  <a:pt x="169105" y="76817"/>
                </a:cubicBezTo>
                <a:cubicBezTo>
                  <a:pt x="194756" y="31008"/>
                  <a:pt x="243780" y="0"/>
                  <a:pt x="300037" y="0"/>
                </a:cubicBezTo>
                <a:lnTo>
                  <a:pt x="321468" y="0"/>
                </a:lnTo>
                <a:cubicBezTo>
                  <a:pt x="333322" y="0"/>
                  <a:pt x="342900" y="9577"/>
                  <a:pt x="342900" y="21431"/>
                </a:cubicBezTo>
                <a:close/>
                <a:moveTo>
                  <a:pt x="0" y="64293"/>
                </a:moveTo>
                <a:cubicBezTo>
                  <a:pt x="0" y="52439"/>
                  <a:pt x="9577" y="42862"/>
                  <a:pt x="21431" y="42862"/>
                </a:cubicBezTo>
                <a:lnTo>
                  <a:pt x="42862" y="42862"/>
                </a:lnTo>
                <a:cubicBezTo>
                  <a:pt x="125707" y="42862"/>
                  <a:pt x="192881" y="110036"/>
                  <a:pt x="192881" y="192881"/>
                </a:cubicBezTo>
                <a:lnTo>
                  <a:pt x="192881" y="214312"/>
                </a:lnTo>
                <a:lnTo>
                  <a:pt x="192881" y="321468"/>
                </a:lnTo>
                <a:cubicBezTo>
                  <a:pt x="192881" y="333322"/>
                  <a:pt x="183304" y="342900"/>
                  <a:pt x="171450" y="342900"/>
                </a:cubicBezTo>
                <a:cubicBezTo>
                  <a:pt x="159595" y="342900"/>
                  <a:pt x="150018" y="333322"/>
                  <a:pt x="150018" y="321468"/>
                </a:cubicBezTo>
                <a:lnTo>
                  <a:pt x="150018" y="214312"/>
                </a:lnTo>
                <a:cubicBezTo>
                  <a:pt x="67173" y="214312"/>
                  <a:pt x="0" y="147138"/>
                  <a:pt x="0" y="64293"/>
                </a:cubicBezTo>
                <a:close/>
              </a:path>
            </a:pathLst>
          </a:custGeom>
          <a:solidFill>
            <a:srgbClr val="D4A373"/>
          </a:solidFill>
          <a:ln>
            <a:noFill/>
          </a:ln>
          <a:effectLst/>
        </p:spPr>
      </p:sp>
      <p:sp>
        <p:nvSpPr>
          <p:cNvPr id="9" name="dsl:col1-title"/>
          <p:cNvSpPr txBox="1"/>
          <p:nvPr/>
        </p:nvSpPr>
        <p:spPr>
          <a:xfrm>
            <a:off x="800100" y="2171700"/>
            <a:ext cx="3067050" cy="285750"/>
          </a:xfrm>
          <a:prstGeom prst="rect">
            <a:avLst/>
          </a:prstGeom>
          <a:noFill/>
        </p:spPr>
        <p:txBody>
          <a:bodyPr wrap="none" anchor="ctr">
            <a:noAutofit/>
          </a:bodyPr>
          <a:lstStyle/>
          <a:p>
            <a:pPr algn="l"/>
            <a:r>
              <a:rPr b="1" sz="1650" noProof="1">
                <a:solidFill>
                  <a:srgbClr val="2B2D2F"/>
                </a:solidFill>
                <a:latin typeface="Liter"/>
                <a:ea typeface="Liter"/>
              </a:rPr>
              <a:t>Grows with You</a:t>
            </a:r>
          </a:p>
        </p:txBody>
      </p:sp>
      <p:sp>
        <p:nvSpPr>
          <p:cNvPr id="10" name="dsl:col1-desc"/>
          <p:cNvSpPr txBox="1"/>
          <p:nvPr/>
        </p:nvSpPr>
        <p:spPr>
          <a:xfrm>
            <a:off x="800100" y="2552700"/>
            <a:ext cx="3067050" cy="3429000"/>
          </a:xfrm>
          <a:prstGeom prst="rect">
            <a:avLst/>
          </a:prstGeom>
          <a:noFill/>
        </p:spPr>
        <p:txBody>
          <a:bodyPr wrap="square" anchor="t">
            <a:noAutofit/>
          </a:bodyPr>
          <a:lstStyle/>
          <a:p>
            <a:pPr algn="l">
              <a:lnSpc>
                <a:spcPct val="150000"/>
              </a:lnSpc>
            </a:pPr>
            <a:r>
              <a:rPr b="1" sz="1125" noProof="1">
                <a:solidFill>
                  <a:srgbClr val="2D6A6A"/>
                </a:solidFill>
                <a:latin typeface="QuattrocentoSans"/>
                <a:ea typeface="QuattrocentoSans"/>
              </a:rPr>
              <a:t>New Data Sources</a:t>
            </a:r>
          </a:p>
          <a:p>
            <a:pPr algn="l">
              <a:lnSpc>
                <a:spcPct val="150000"/>
              </a:lnSpc>
            </a:pPr>
            <a:r>
              <a:rPr sz="1125" noProof="1">
                <a:solidFill>
                  <a:srgbClr val="5C6B73"/>
                </a:solidFill>
                <a:latin typeface="QuattrocentoSans"/>
                <a:ea typeface="QuattrocentoSans"/>
              </a:rPr>
              <a:t>Add monitoring via configuration — no code changes needed. Wazuh, Suricata, Falco, Telegraf, and more.</a:t>
            </a:r>
          </a:p>
          <a:p>
            <a:pPr algn="l">
              <a:lnSpc>
                <a:spcPct val="150000"/>
              </a:lnSpc>
              <a:spcBef>
                <a:spcPts val="1200"/>
              </a:spcBef>
            </a:pPr>
            <a:r>
              <a:rPr b="1" sz="1125" noProof="1">
                <a:solidFill>
                  <a:srgbClr val="2D6A6A"/>
                </a:solidFill>
                <a:latin typeface="QuattrocentoSans"/>
                <a:ea typeface="QuattrocentoSans"/>
              </a:rPr>
              <a:t>New Detection Rules</a:t>
            </a:r>
          </a:p>
          <a:p>
            <a:pPr algn="l">
              <a:lnSpc>
                <a:spcPct val="150000"/>
              </a:lnSpc>
            </a:pPr>
            <a:r>
              <a:rPr sz="1125" noProof="1">
                <a:solidFill>
                  <a:srgbClr val="5C6B73"/>
                </a:solidFill>
                <a:latin typeface="QuattrocentoSans"/>
                <a:ea typeface="QuattrocentoSans"/>
              </a:rPr>
              <a:t>Sigma rule files expand coverage. Custom rules for your environment.</a:t>
            </a:r>
          </a:p>
          <a:p>
            <a:pPr algn="l">
              <a:lnSpc>
                <a:spcPct val="150000"/>
              </a:lnSpc>
              <a:spcBef>
                <a:spcPts val="1200"/>
              </a:spcBef>
            </a:pPr>
            <a:r>
              <a:rPr b="1" sz="1125" noProof="1">
                <a:solidFill>
                  <a:srgbClr val="2D6A6A"/>
                </a:solidFill>
                <a:latin typeface="QuattrocentoSans"/>
                <a:ea typeface="QuattrocentoSans"/>
              </a:rPr>
              <a:t>Expanding AI</a:t>
            </a:r>
          </a:p>
          <a:p>
            <a:pPr algn="l">
              <a:lnSpc>
                <a:spcPct val="150000"/>
              </a:lnSpc>
            </a:pPr>
            <a:r>
              <a:rPr sz="1125" noProof="1">
                <a:solidFill>
                  <a:srgbClr val="5C6B73"/>
                </a:solidFill>
                <a:latin typeface="QuattrocentoSans"/>
                <a:ea typeface="QuattrocentoSans"/>
              </a:rPr>
              <a:t>LLM capabilities grow as technology advances. Swap providers or add new models.</a:t>
            </a:r>
          </a:p>
        </p:txBody>
      </p:sp>
      <p:sp>
        <p:nvSpPr>
          <p:cNvPr id="11" name="dsl:col2-bg"/>
          <p:cNvSpPr/>
          <p:nvPr/>
        </p:nvSpPr>
        <p:spPr>
          <a:xfrm>
            <a:off x="4333875" y="1476375"/>
            <a:ext cx="3524250" cy="4667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col2-accent"/>
          <p:cNvSpPr/>
          <p:nvPr/>
        </p:nvSpPr>
        <p:spPr>
          <a:xfrm>
            <a:off x="4333875" y="1476375"/>
            <a:ext cx="352425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col2-icon|i=fas:server"/>
          <p:cNvSpPr/>
          <p:nvPr/>
        </p:nvSpPr>
        <p:spPr>
          <a:xfrm>
            <a:off x="4562475" y="1704975"/>
            <a:ext cx="342900" cy="342900"/>
          </a:xfrm>
          <a:custGeom>
            <a:avLst/>
            <a:gdLst/>
            <a:ahLst/>
            <a:cxnLst/>
            <a:rect l="l" t="t" r="r" b="b"/>
            <a:pathLst>
              <a:path w="342900" h="342900">
                <a:moveTo>
                  <a:pt x="42862" y="21431"/>
                </a:moveTo>
                <a:cubicBezTo>
                  <a:pt x="19221" y="21431"/>
                  <a:pt x="0" y="40652"/>
                  <a:pt x="0" y="64293"/>
                </a:cubicBezTo>
                <a:lnTo>
                  <a:pt x="0" y="107156"/>
                </a:lnTo>
                <a:cubicBezTo>
                  <a:pt x="0" y="130797"/>
                  <a:pt x="19221" y="150018"/>
                  <a:pt x="42862" y="150018"/>
                </a:cubicBezTo>
                <a:lnTo>
                  <a:pt x="300037" y="150018"/>
                </a:lnTo>
                <a:cubicBezTo>
                  <a:pt x="323678" y="150018"/>
                  <a:pt x="342900" y="130797"/>
                  <a:pt x="342900" y="107156"/>
                </a:cubicBezTo>
                <a:lnTo>
                  <a:pt x="342900" y="64293"/>
                </a:lnTo>
                <a:cubicBezTo>
                  <a:pt x="342900" y="40652"/>
                  <a:pt x="323678" y="21431"/>
                  <a:pt x="300037" y="21431"/>
                </a:cubicBezTo>
                <a:lnTo>
                  <a:pt x="42862" y="21431"/>
                </a:lnTo>
                <a:close/>
                <a:moveTo>
                  <a:pt x="230385" y="69651"/>
                </a:moveTo>
                <a:cubicBezTo>
                  <a:pt x="239203" y="69651"/>
                  <a:pt x="246459" y="76907"/>
                  <a:pt x="246459" y="85725"/>
                </a:cubicBezTo>
                <a:cubicBezTo>
                  <a:pt x="246459" y="94542"/>
                  <a:pt x="239203" y="101798"/>
                  <a:pt x="230385" y="101798"/>
                </a:cubicBezTo>
                <a:cubicBezTo>
                  <a:pt x="221568" y="101798"/>
                  <a:pt x="214312" y="94542"/>
                  <a:pt x="214312" y="85725"/>
                </a:cubicBezTo>
                <a:cubicBezTo>
                  <a:pt x="214312" y="76907"/>
                  <a:pt x="221568" y="69651"/>
                  <a:pt x="230385" y="69651"/>
                </a:cubicBezTo>
                <a:close/>
                <a:moveTo>
                  <a:pt x="262532" y="85725"/>
                </a:moveTo>
                <a:cubicBezTo>
                  <a:pt x="262532" y="76907"/>
                  <a:pt x="269788" y="69651"/>
                  <a:pt x="278606" y="69651"/>
                </a:cubicBezTo>
                <a:cubicBezTo>
                  <a:pt x="287423" y="69651"/>
                  <a:pt x="294679" y="76907"/>
                  <a:pt x="294679" y="85725"/>
                </a:cubicBezTo>
                <a:cubicBezTo>
                  <a:pt x="294679" y="94542"/>
                  <a:pt x="287423" y="101798"/>
                  <a:pt x="278606" y="101798"/>
                </a:cubicBezTo>
                <a:cubicBezTo>
                  <a:pt x="269788" y="101798"/>
                  <a:pt x="262532" y="94542"/>
                  <a:pt x="262532" y="85725"/>
                </a:cubicBezTo>
                <a:close/>
                <a:moveTo>
                  <a:pt x="42862" y="192881"/>
                </a:moveTo>
                <a:cubicBezTo>
                  <a:pt x="19221" y="192881"/>
                  <a:pt x="0" y="212102"/>
                  <a:pt x="0" y="235743"/>
                </a:cubicBezTo>
                <a:lnTo>
                  <a:pt x="0" y="278606"/>
                </a:lnTo>
                <a:cubicBezTo>
                  <a:pt x="0" y="302247"/>
                  <a:pt x="19221" y="321468"/>
                  <a:pt x="42862" y="321468"/>
                </a:cubicBezTo>
                <a:lnTo>
                  <a:pt x="300037" y="321468"/>
                </a:lnTo>
                <a:cubicBezTo>
                  <a:pt x="323678" y="321468"/>
                  <a:pt x="342900" y="302247"/>
                  <a:pt x="342900" y="278606"/>
                </a:cubicBezTo>
                <a:lnTo>
                  <a:pt x="342900" y="235743"/>
                </a:lnTo>
                <a:cubicBezTo>
                  <a:pt x="342900" y="212102"/>
                  <a:pt x="323678" y="192881"/>
                  <a:pt x="300037" y="192881"/>
                </a:cubicBezTo>
                <a:lnTo>
                  <a:pt x="42862" y="192881"/>
                </a:lnTo>
                <a:close/>
                <a:moveTo>
                  <a:pt x="230385" y="241101"/>
                </a:moveTo>
                <a:cubicBezTo>
                  <a:pt x="239203" y="241101"/>
                  <a:pt x="246459" y="248357"/>
                  <a:pt x="246459" y="257175"/>
                </a:cubicBezTo>
                <a:cubicBezTo>
                  <a:pt x="246459" y="265992"/>
                  <a:pt x="239203" y="273248"/>
                  <a:pt x="230385" y="273248"/>
                </a:cubicBezTo>
                <a:cubicBezTo>
                  <a:pt x="221568" y="273248"/>
                  <a:pt x="214312" y="265992"/>
                  <a:pt x="214312" y="257175"/>
                </a:cubicBezTo>
                <a:cubicBezTo>
                  <a:pt x="214312" y="248357"/>
                  <a:pt x="221568" y="241101"/>
                  <a:pt x="230385" y="241101"/>
                </a:cubicBezTo>
                <a:close/>
                <a:moveTo>
                  <a:pt x="267890" y="257175"/>
                </a:moveTo>
                <a:cubicBezTo>
                  <a:pt x="267890" y="248357"/>
                  <a:pt x="275146" y="241101"/>
                  <a:pt x="283964" y="241101"/>
                </a:cubicBezTo>
                <a:cubicBezTo>
                  <a:pt x="292781" y="241101"/>
                  <a:pt x="300037" y="248357"/>
                  <a:pt x="300037" y="257175"/>
                </a:cubicBezTo>
                <a:cubicBezTo>
                  <a:pt x="300037" y="265992"/>
                  <a:pt x="292781" y="273248"/>
                  <a:pt x="283964" y="273248"/>
                </a:cubicBezTo>
                <a:cubicBezTo>
                  <a:pt x="275146" y="273248"/>
                  <a:pt x="267890" y="265992"/>
                  <a:pt x="267890" y="257175"/>
                </a:cubicBezTo>
                <a:close/>
              </a:path>
            </a:pathLst>
          </a:custGeom>
          <a:solidFill>
            <a:srgbClr val="2D6A6A"/>
          </a:solidFill>
          <a:ln>
            <a:noFill/>
          </a:ln>
          <a:effectLst/>
        </p:spPr>
      </p:sp>
      <p:sp>
        <p:nvSpPr>
          <p:cNvPr id="14" name="dsl:col2-title"/>
          <p:cNvSpPr txBox="1"/>
          <p:nvPr/>
        </p:nvSpPr>
        <p:spPr>
          <a:xfrm>
            <a:off x="4562475" y="2171700"/>
            <a:ext cx="3067050" cy="285750"/>
          </a:xfrm>
          <a:prstGeom prst="rect">
            <a:avLst/>
          </a:prstGeom>
          <a:noFill/>
        </p:spPr>
        <p:txBody>
          <a:bodyPr wrap="none" anchor="ctr">
            <a:noAutofit/>
          </a:bodyPr>
          <a:lstStyle/>
          <a:p>
            <a:pPr algn="l"/>
            <a:r>
              <a:rPr b="1" sz="1650" noProof="1">
                <a:solidFill>
                  <a:srgbClr val="2B2D2F"/>
                </a:solidFill>
                <a:latin typeface="Liter"/>
                <a:ea typeface="Liter"/>
              </a:rPr>
              <a:t>Scales for Size</a:t>
            </a:r>
          </a:p>
        </p:txBody>
      </p:sp>
      <p:sp>
        <p:nvSpPr>
          <p:cNvPr id="15" name="dsl:col2-desc"/>
          <p:cNvSpPr txBox="1"/>
          <p:nvPr/>
        </p:nvSpPr>
        <p:spPr>
          <a:xfrm>
            <a:off x="4562475" y="2552700"/>
            <a:ext cx="3067050" cy="3429000"/>
          </a:xfrm>
          <a:prstGeom prst="rect">
            <a:avLst/>
          </a:prstGeom>
          <a:noFill/>
        </p:spPr>
        <p:txBody>
          <a:bodyPr wrap="square" anchor="t">
            <a:noAutofit/>
          </a:bodyPr>
          <a:lstStyle/>
          <a:p>
            <a:pPr algn="l">
              <a:lnSpc>
                <a:spcPct val="150000"/>
              </a:lnSpc>
            </a:pPr>
            <a:r>
              <a:rPr b="1" sz="1125" noProof="1">
                <a:solidFill>
                  <a:srgbClr val="2D6A6A"/>
                </a:solidFill>
                <a:latin typeface="QuattrocentoSans"/>
                <a:ea typeface="QuattrocentoSans"/>
              </a:rPr>
              <a:t>ES Clustering</a:t>
            </a:r>
          </a:p>
          <a:p>
            <a:pPr algn="l">
              <a:lnSpc>
                <a:spcPct val="150000"/>
              </a:lnSpc>
            </a:pPr>
            <a:r>
              <a:rPr sz="1125" noProof="1">
                <a:solidFill>
                  <a:srgbClr val="5C6B73"/>
                </a:solidFill>
                <a:latin typeface="QuattrocentoSans"/>
                <a:ea typeface="QuattrocentoSans"/>
              </a:rPr>
              <a:t>Elasticsearch clusters handle growing data volumes with horizontal scaling.</a:t>
            </a:r>
          </a:p>
          <a:p>
            <a:pPr algn="l">
              <a:lnSpc>
                <a:spcPct val="150000"/>
              </a:lnSpc>
              <a:spcBef>
                <a:spcPts val="1200"/>
              </a:spcBef>
            </a:pPr>
            <a:r>
              <a:rPr b="1" sz="1125" noProof="1">
                <a:solidFill>
                  <a:srgbClr val="2D6A6A"/>
                </a:solidFill>
                <a:latin typeface="QuattrocentoSans"/>
                <a:ea typeface="QuattrocentoSans"/>
              </a:rPr>
              <a:t>PostgreSQL Migration</a:t>
            </a:r>
          </a:p>
          <a:p>
            <a:pPr algn="l">
              <a:lnSpc>
                <a:spcPct val="150000"/>
              </a:lnSpc>
            </a:pPr>
            <a:r>
              <a:rPr sz="1125" noProof="1">
                <a:solidFill>
                  <a:srgbClr val="5C6B73"/>
                </a:solidFill>
                <a:latin typeface="QuattrocentoSans"/>
                <a:ea typeface="QuattrocentoSans"/>
              </a:rPr>
              <a:t>Upgrade from SQLite to PostgreSQL for enterprise concurrency and reliability.</a:t>
            </a:r>
          </a:p>
          <a:p>
            <a:pPr algn="l">
              <a:lnSpc>
                <a:spcPct val="150000"/>
              </a:lnSpc>
              <a:spcBef>
                <a:spcPts val="1200"/>
              </a:spcBef>
            </a:pPr>
            <a:r>
              <a:rPr b="1" sz="1125" noProof="1">
                <a:solidFill>
                  <a:srgbClr val="2D6A6A"/>
                </a:solidFill>
                <a:latin typeface="QuattrocentoSans"/>
                <a:ea typeface="QuattrocentoSans"/>
              </a:rPr>
              <a:t>Containerized Deployment</a:t>
            </a:r>
          </a:p>
          <a:p>
            <a:pPr algn="l">
              <a:lnSpc>
                <a:spcPct val="150000"/>
              </a:lnSpc>
            </a:pPr>
            <a:r>
              <a:rPr sz="1125" noProof="1">
                <a:solidFill>
                  <a:srgbClr val="5C6B73"/>
                </a:solidFill>
                <a:latin typeface="QuattrocentoSans"/>
                <a:ea typeface="QuattrocentoSans"/>
              </a:rPr>
              <a:t>Docker containers with Ansible-managed mass onboarding across servers.</a:t>
            </a:r>
          </a:p>
        </p:txBody>
      </p:sp>
      <p:sp>
        <p:nvSpPr>
          <p:cNvPr id="16" name="dsl:col3-bg"/>
          <p:cNvSpPr/>
          <p:nvPr/>
        </p:nvSpPr>
        <p:spPr>
          <a:xfrm>
            <a:off x="8096250" y="1476375"/>
            <a:ext cx="3524250" cy="4667250"/>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ol3-accent"/>
          <p:cNvSpPr/>
          <p:nvPr/>
        </p:nvSpPr>
        <p:spPr>
          <a:xfrm>
            <a:off x="8096250" y="1476375"/>
            <a:ext cx="3524250" cy="38100"/>
          </a:xfrm>
          <a:prstGeom prst="rect">
            <a:avLst/>
          </a:prstGeom>
          <a:solidFill>
            <a:srgbClr val="8F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l:col3-icon|i=fas:plug"/>
          <p:cNvSpPr/>
          <p:nvPr/>
        </p:nvSpPr>
        <p:spPr>
          <a:xfrm>
            <a:off x="8367712" y="1704975"/>
            <a:ext cx="257175" cy="342900"/>
          </a:xfrm>
          <a:custGeom>
            <a:avLst/>
            <a:gdLst/>
            <a:ahLst/>
            <a:cxnLst/>
            <a:rect l="l" t="t" r="r" b="b"/>
            <a:pathLst>
              <a:path w="257175" h="342900">
                <a:moveTo>
                  <a:pt x="64293" y="0"/>
                </a:moveTo>
                <a:cubicBezTo>
                  <a:pt x="52439" y="0"/>
                  <a:pt x="42862" y="9577"/>
                  <a:pt x="42862" y="21431"/>
                </a:cubicBezTo>
                <a:lnTo>
                  <a:pt x="42862" y="85725"/>
                </a:lnTo>
                <a:lnTo>
                  <a:pt x="85725" y="85725"/>
                </a:lnTo>
                <a:lnTo>
                  <a:pt x="85725" y="21431"/>
                </a:lnTo>
                <a:cubicBezTo>
                  <a:pt x="85725" y="9577"/>
                  <a:pt x="76147" y="0"/>
                  <a:pt x="64293" y="0"/>
                </a:cubicBezTo>
                <a:close/>
                <a:moveTo>
                  <a:pt x="192881" y="0"/>
                </a:moveTo>
                <a:cubicBezTo>
                  <a:pt x="181027" y="0"/>
                  <a:pt x="171450" y="9577"/>
                  <a:pt x="171450" y="21431"/>
                </a:cubicBezTo>
                <a:lnTo>
                  <a:pt x="171450" y="85725"/>
                </a:lnTo>
                <a:lnTo>
                  <a:pt x="214312" y="85725"/>
                </a:lnTo>
                <a:lnTo>
                  <a:pt x="214312" y="21431"/>
                </a:lnTo>
                <a:cubicBezTo>
                  <a:pt x="214312" y="9577"/>
                  <a:pt x="204735" y="0"/>
                  <a:pt x="192881" y="0"/>
                </a:cubicBezTo>
                <a:close/>
                <a:moveTo>
                  <a:pt x="21431" y="107156"/>
                </a:moveTo>
                <a:cubicBezTo>
                  <a:pt x="9577" y="107156"/>
                  <a:pt x="0" y="116733"/>
                  <a:pt x="0" y="128587"/>
                </a:cubicBezTo>
                <a:cubicBezTo>
                  <a:pt x="0" y="140441"/>
                  <a:pt x="9577" y="150018"/>
                  <a:pt x="21431" y="150018"/>
                </a:cubicBezTo>
                <a:lnTo>
                  <a:pt x="21431" y="171450"/>
                </a:lnTo>
                <a:cubicBezTo>
                  <a:pt x="21431" y="223286"/>
                  <a:pt x="58266" y="266551"/>
                  <a:pt x="107156" y="276463"/>
                </a:cubicBezTo>
                <a:lnTo>
                  <a:pt x="107156" y="321468"/>
                </a:lnTo>
                <a:cubicBezTo>
                  <a:pt x="107156" y="333322"/>
                  <a:pt x="116733" y="342900"/>
                  <a:pt x="128587" y="342900"/>
                </a:cubicBezTo>
                <a:cubicBezTo>
                  <a:pt x="140441" y="342900"/>
                  <a:pt x="150018" y="333322"/>
                  <a:pt x="150018" y="321468"/>
                </a:cubicBezTo>
                <a:lnTo>
                  <a:pt x="150018" y="276463"/>
                </a:lnTo>
                <a:cubicBezTo>
                  <a:pt x="198908" y="266551"/>
                  <a:pt x="235743" y="223286"/>
                  <a:pt x="235743" y="171450"/>
                </a:cubicBezTo>
                <a:lnTo>
                  <a:pt x="235743" y="150018"/>
                </a:lnTo>
                <a:cubicBezTo>
                  <a:pt x="247597" y="150018"/>
                  <a:pt x="257175" y="140441"/>
                  <a:pt x="257175" y="128587"/>
                </a:cubicBezTo>
                <a:cubicBezTo>
                  <a:pt x="257175" y="116733"/>
                  <a:pt x="247597" y="107156"/>
                  <a:pt x="235743" y="107156"/>
                </a:cubicBezTo>
                <a:lnTo>
                  <a:pt x="21431" y="107156"/>
                </a:lnTo>
                <a:close/>
              </a:path>
            </a:pathLst>
          </a:custGeom>
          <a:solidFill>
            <a:srgbClr val="8FB3B3"/>
          </a:solidFill>
          <a:ln>
            <a:noFill/>
          </a:ln>
          <a:effectLst/>
        </p:spPr>
      </p:sp>
      <p:sp>
        <p:nvSpPr>
          <p:cNvPr id="19" name="dsl:col3-title"/>
          <p:cNvSpPr txBox="1"/>
          <p:nvPr/>
        </p:nvSpPr>
        <p:spPr>
          <a:xfrm>
            <a:off x="8324850" y="2171700"/>
            <a:ext cx="3067050" cy="285750"/>
          </a:xfrm>
          <a:prstGeom prst="rect">
            <a:avLst/>
          </a:prstGeom>
          <a:noFill/>
        </p:spPr>
        <p:txBody>
          <a:bodyPr wrap="none" anchor="ctr">
            <a:noAutofit/>
          </a:bodyPr>
          <a:lstStyle/>
          <a:p>
            <a:pPr algn="l"/>
            <a:r>
              <a:rPr b="1" sz="1650" noProof="1">
                <a:solidFill>
                  <a:srgbClr val="2B2D2F"/>
                </a:solidFill>
                <a:latin typeface="Liter"/>
                <a:ea typeface="Liter"/>
              </a:rPr>
              <a:t>Integrates Widely</a:t>
            </a:r>
          </a:p>
        </p:txBody>
      </p:sp>
      <p:sp>
        <p:nvSpPr>
          <p:cNvPr id="20" name="dsl:col3-desc"/>
          <p:cNvSpPr txBox="1"/>
          <p:nvPr/>
        </p:nvSpPr>
        <p:spPr>
          <a:xfrm>
            <a:off x="8324850" y="2552700"/>
            <a:ext cx="3067050" cy="3429000"/>
          </a:xfrm>
          <a:prstGeom prst="rect">
            <a:avLst/>
          </a:prstGeom>
          <a:noFill/>
        </p:spPr>
        <p:txBody>
          <a:bodyPr wrap="square" anchor="t">
            <a:noAutofit/>
          </a:bodyPr>
          <a:lstStyle/>
          <a:p>
            <a:pPr algn="l">
              <a:lnSpc>
                <a:spcPct val="150000"/>
              </a:lnSpc>
            </a:pPr>
            <a:r>
              <a:rPr b="1" sz="1125" noProof="1">
                <a:solidFill>
                  <a:srgbClr val="2D6A6A"/>
                </a:solidFill>
                <a:latin typeface="QuattrocentoSans"/>
                <a:ea typeface="QuattrocentoSans"/>
              </a:rPr>
              <a:t>Ticketing Systems</a:t>
            </a:r>
          </a:p>
          <a:p>
            <a:pPr algn="l">
              <a:lnSpc>
                <a:spcPct val="150000"/>
              </a:lnSpc>
            </a:pPr>
            <a:r>
              <a:rPr sz="1125" noProof="1">
                <a:solidFill>
                  <a:srgbClr val="5C6B73"/>
                </a:solidFill>
                <a:latin typeface="QuattrocentoSans"/>
                <a:ea typeface="QuattrocentoSans"/>
              </a:rPr>
              <a:t>Connect with Jira, ServiceNow, or internal ticket platforms for workflow integration.</a:t>
            </a:r>
          </a:p>
          <a:p>
            <a:pPr algn="l">
              <a:lnSpc>
                <a:spcPct val="150000"/>
              </a:lnSpc>
              <a:spcBef>
                <a:spcPts val="1200"/>
              </a:spcBef>
            </a:pPr>
            <a:r>
              <a:rPr b="1" sz="1125" noProof="1">
                <a:solidFill>
                  <a:srgbClr val="2D6A6A"/>
                </a:solidFill>
                <a:latin typeface="QuattrocentoSans"/>
                <a:ea typeface="QuattrocentoSans"/>
              </a:rPr>
              <a:t>Threat Intel Feeds</a:t>
            </a:r>
          </a:p>
          <a:p>
            <a:pPr algn="l">
              <a:lnSpc>
                <a:spcPct val="150000"/>
              </a:lnSpc>
            </a:pPr>
            <a:r>
              <a:rPr sz="1125" noProof="1">
                <a:solidFill>
                  <a:srgbClr val="5C6B73"/>
                </a:solidFill>
                <a:latin typeface="QuattrocentoSans"/>
                <a:ea typeface="QuattrocentoSans"/>
              </a:rPr>
              <a:t>STIX/TAXII integration for real-time threat intelligence and indicator enrichment.</a:t>
            </a:r>
          </a:p>
          <a:p>
            <a:pPr algn="l">
              <a:lnSpc>
                <a:spcPct val="150000"/>
              </a:lnSpc>
              <a:spcBef>
                <a:spcPts val="1200"/>
              </a:spcBef>
            </a:pPr>
            <a:r>
              <a:rPr b="1" sz="1125" noProof="1">
                <a:solidFill>
                  <a:srgbClr val="2D6A6A"/>
                </a:solidFill>
                <a:latin typeface="QuattrocentoSans"/>
                <a:ea typeface="QuattrocentoSans"/>
              </a:rPr>
              <a:t>External SOAR</a:t>
            </a:r>
          </a:p>
          <a:p>
            <a:pPr algn="l">
              <a:lnSpc>
                <a:spcPct val="150000"/>
              </a:lnSpc>
            </a:pPr>
            <a:r>
              <a:rPr sz="1125" noProof="1">
                <a:solidFill>
                  <a:srgbClr val="5C6B73"/>
                </a:solidFill>
                <a:latin typeface="QuattrocentoSans"/>
                <a:ea typeface="QuattrocentoSans"/>
              </a:rPr>
              <a:t>API-ready for integration with existing security orchestration platforms.</a:t>
            </a:r>
          </a:p>
        </p:txBody>
      </p:sp>
      <p:sp>
        <p:nvSpPr>
          <p:cNvPr id="21"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22"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ch6-number"/>
          <p:cNvSpPr txBox="1"/>
          <p:nvPr/>
        </p:nvSpPr>
        <p:spPr>
          <a:xfrm>
            <a:off x="476250" y="571500"/>
            <a:ext cx="4000500" cy="1809750"/>
          </a:xfrm>
          <a:prstGeom prst="rect">
            <a:avLst/>
          </a:prstGeom>
          <a:noFill/>
        </p:spPr>
        <p:txBody>
          <a:bodyPr wrap="none" anchor="t">
            <a:noAutofit/>
          </a:bodyPr>
          <a:lstStyle/>
          <a:p>
            <a:pPr algn="l"/>
            <a:r>
              <a:rPr sz="12000" noProof="1">
                <a:solidFill>
                  <a:srgbClr val="2D6A6A"/>
                </a:solidFill>
                <a:latin typeface="Liter"/>
                <a:ea typeface="Liter"/>
              </a:rPr>
              <a:t>06</a:t>
            </a:r>
          </a:p>
        </p:txBody>
      </p:sp>
      <p:sp>
        <p:nvSpPr>
          <p:cNvPr id="3" name="dsl:ch6-label"/>
          <p:cNvSpPr txBox="1"/>
          <p:nvPr/>
        </p:nvSpPr>
        <p:spPr>
          <a:xfrm>
            <a:off x="571500" y="2647950"/>
            <a:ext cx="1905000" cy="209550"/>
          </a:xfrm>
          <a:prstGeom prst="rect">
            <a:avLst/>
          </a:prstGeom>
          <a:noFill/>
        </p:spPr>
        <p:txBody>
          <a:bodyPr wrap="none" anchor="ctr">
            <a:noAutofit/>
          </a:bodyPr>
          <a:lstStyle/>
          <a:p>
            <a:pPr algn="l"/>
            <a:r>
              <a:rPr sz="975" noProof="1">
                <a:solidFill>
                  <a:srgbClr val="5C6B73"/>
                </a:solidFill>
                <a:latin typeface="Liter"/>
                <a:ea typeface="Liter"/>
              </a:rPr>
              <a:t>CHAPTER 06</a:t>
            </a:r>
          </a:p>
        </p:txBody>
      </p:sp>
      <p:sp>
        <p:nvSpPr>
          <p:cNvPr id="4" name="dsl:ch6-accent-bar"/>
          <p:cNvSpPr/>
          <p:nvPr/>
        </p:nvSpPr>
        <p:spPr>
          <a:xfrm>
            <a:off x="571500" y="2971800"/>
            <a:ext cx="571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h6-title|s=$title"/>
          <p:cNvSpPr txBox="1"/>
          <p:nvPr/>
        </p:nvSpPr>
        <p:spPr>
          <a:xfrm>
            <a:off x="571500" y="3143250"/>
            <a:ext cx="6667500" cy="523875"/>
          </a:xfrm>
          <a:prstGeom prst="rect">
            <a:avLst/>
          </a:prstGeom>
          <a:noFill/>
        </p:spPr>
        <p:txBody>
          <a:bodyPr wrap="none" anchor="ctr">
            <a:noAutofit/>
          </a:bodyPr>
          <a:lstStyle/>
          <a:p>
            <a:pPr algn="l">
              <a:lnSpc>
                <a:spcPct val="120000"/>
              </a:lnSpc>
            </a:pPr>
            <a:r>
              <a:rPr sz="3150" noProof="1">
                <a:solidFill>
                  <a:srgbClr val="2D6A6A"/>
                </a:solidFill>
                <a:latin typeface="Liter"/>
                <a:ea typeface="Liter"/>
              </a:rPr>
              <a:t>Why ARIA</a:t>
            </a:r>
          </a:p>
        </p:txBody>
      </p:sp>
      <p:sp>
        <p:nvSpPr>
          <p:cNvPr id="6" name="dsl:ch6-subtitle|s=$subtitle"/>
          <p:cNvSpPr txBox="1"/>
          <p:nvPr/>
        </p:nvSpPr>
        <p:spPr>
          <a:xfrm>
            <a:off x="571500" y="3857625"/>
            <a:ext cx="6667500" cy="333375"/>
          </a:xfrm>
          <a:prstGeom prst="rect">
            <a:avLst/>
          </a:prstGeom>
          <a:noFill/>
        </p:spPr>
        <p:txBody>
          <a:bodyPr wrap="none" anchor="ctr">
            <a:noAutofit/>
          </a:bodyPr>
          <a:lstStyle/>
          <a:p>
            <a:pPr algn="l">
              <a:lnSpc>
                <a:spcPct val="140000"/>
              </a:lnSpc>
            </a:pPr>
            <a:r>
              <a:rPr sz="1650" noProof="1">
                <a:solidFill>
                  <a:srgbClr val="5C6B73"/>
                </a:solidFill>
                <a:latin typeface="QuattrocentoSans"/>
                <a:ea typeface="QuattrocentoSans"/>
              </a:rPr>
              <a:t>Clear differentiators in a crowded market</a:t>
            </a:r>
          </a:p>
        </p:txBody>
      </p:sp>
      <p:sp>
        <p:nvSpPr>
          <p:cNvPr id="7" name="dsl:ch6-frame"/>
          <p:cNvSpPr/>
          <p:nvPr/>
        </p:nvSpPr>
        <p:spPr>
          <a:xfrm>
            <a:off x="8763000" y="1143000"/>
            <a:ext cx="2857500" cy="4572000"/>
          </a:xfrm>
          <a:prstGeom prst="rect">
            <a:avLst/>
          </a:prstGeom>
          <a:noFill/>
          <a:ln w="12700">
            <a:solidFill>
              <a:srgbClr val="E5E5E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sz="825" noProof="1" spc="150">
                <a:solidFill>
                  <a:srgbClr val="8A9499"/>
                </a:solidFill>
                <a:latin typeface="Liter"/>
                <a:ea typeface="Liter"/>
              </a:rPr>
              <a:t>AI &amp; AUTOMATION</a:t>
            </a:r>
            <a:r>
              <a:rPr sz="825" noProof="1" spc="150">
                <a:solidFill>
                  <a:srgbClr val="8A9499"/>
                </a:solidFill>
                <a:latin typeface="Liter"/>
                <a:ea typeface="Liter"/>
              </a:rPr>
              <a:t>     </a:t>
            </a:r>
            <a:r>
              <a:rPr sz="825" noProof="1" spc="150">
                <a:solidFill>
                  <a:srgbClr val="8A9499"/>
                </a:solidFill>
                <a:latin typeface="Liter"/>
                <a:ea typeface="Liter"/>
              </a:rPr>
              <a:t>IMPACT</a:t>
            </a:r>
            <a:r>
              <a:rPr sz="825" noProof="1" spc="150">
                <a:solidFill>
                  <a:srgbClr val="8A9499"/>
                </a:solidFill>
                <a:latin typeface="Liter"/>
                <a:ea typeface="Liter"/>
              </a:rPr>
              <a:t>     </a:t>
            </a:r>
            <a:r>
              <a:rPr b="1" sz="825" noProof="1" spc="150">
                <a:solidFill>
                  <a:srgbClr val="2D6A6A"/>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ARIA Differentiators</a:t>
            </a:r>
          </a:p>
        </p:txBody>
      </p:sp>
      <p:sp>
        <p:nvSpPr>
          <p:cNvPr id="5" name="dsl:intro"/>
          <p:cNvSpPr txBox="1"/>
          <p:nvPr/>
        </p:nvSpPr>
        <p:spPr>
          <a:xfrm>
            <a:off x="571500" y="971550"/>
            <a:ext cx="7620000" cy="266700"/>
          </a:xfrm>
          <a:prstGeom prst="rect">
            <a:avLst/>
          </a:prstGeom>
          <a:noFill/>
        </p:spPr>
        <p:txBody>
          <a:bodyPr wrap="none" anchor="ctr">
            <a:noAutofit/>
          </a:bodyPr>
          <a:lstStyle/>
          <a:p>
            <a:pPr algn="l"/>
            <a:r>
              <a:rPr sz="1350" noProof="1">
                <a:solidFill>
                  <a:srgbClr val="5C6B73"/>
                </a:solidFill>
                <a:latin typeface="QuattrocentoSans"/>
                <a:ea typeface="QuattrocentoSans"/>
              </a:rPr>
              <a:t>What sets ARIA apart from traditional security tools and platforms.</a:t>
            </a:r>
          </a:p>
        </p:txBody>
      </p:sp>
      <p:sp>
        <p:nvSpPr>
          <p:cNvPr id="6" name="dsl:c1-bg"/>
          <p:cNvSpPr/>
          <p:nvPr/>
        </p:nvSpPr>
        <p:spPr>
          <a:xfrm>
            <a:off x="571500" y="142875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c1-icon|i=fas:bullseye"/>
          <p:cNvSpPr/>
          <p:nvPr/>
        </p:nvSpPr>
        <p:spPr>
          <a:xfrm>
            <a:off x="800100" y="1638300"/>
            <a:ext cx="304800" cy="304800"/>
          </a:xfrm>
          <a:custGeom>
            <a:avLst/>
            <a:gdLst/>
            <a:ahLst/>
            <a:cxnLst/>
            <a:rect l="l" t="t" r="r" b="b"/>
            <a:pathLst>
              <a:path w="304800" h="304800">
                <a:moveTo>
                  <a:pt x="266700" y="152400"/>
                </a:moveTo>
                <a:cubicBezTo>
                  <a:pt x="266700" y="89696"/>
                  <a:pt x="215103" y="38100"/>
                  <a:pt x="152400" y="38100"/>
                </a:cubicBezTo>
                <a:cubicBezTo>
                  <a:pt x="89696" y="38100"/>
                  <a:pt x="38100" y="89696"/>
                  <a:pt x="38100" y="152399"/>
                </a:cubicBezTo>
                <a:cubicBezTo>
                  <a:pt x="38100" y="215103"/>
                  <a:pt x="89696" y="266700"/>
                  <a:pt x="152400" y="266700"/>
                </a:cubicBezTo>
                <a:cubicBezTo>
                  <a:pt x="215103" y="266700"/>
                  <a:pt x="266700" y="215103"/>
                  <a:pt x="266700" y="152400"/>
                </a:cubicBezTo>
                <a:close/>
                <a:moveTo>
                  <a:pt x="0" y="152400"/>
                </a:moveTo>
                <a:cubicBezTo>
                  <a:pt x="0" y="68795"/>
                  <a:pt x="68795" y="0"/>
                  <a:pt x="152399" y="0"/>
                </a:cubicBezTo>
                <a:cubicBezTo>
                  <a:pt x="236004" y="0"/>
                  <a:pt x="304800" y="68795"/>
                  <a:pt x="304800" y="152399"/>
                </a:cubicBezTo>
                <a:cubicBezTo>
                  <a:pt x="304800" y="236004"/>
                  <a:pt x="236004" y="304800"/>
                  <a:pt x="152400" y="304800"/>
                </a:cubicBezTo>
                <a:cubicBezTo>
                  <a:pt x="68795" y="304800"/>
                  <a:pt x="0" y="236004"/>
                  <a:pt x="0" y="152400"/>
                </a:cubicBezTo>
                <a:close/>
                <a:moveTo>
                  <a:pt x="152400" y="200025"/>
                </a:moveTo>
                <a:cubicBezTo>
                  <a:pt x="178526" y="200025"/>
                  <a:pt x="200025" y="178526"/>
                  <a:pt x="200025" y="152400"/>
                </a:cubicBezTo>
                <a:cubicBezTo>
                  <a:pt x="200025" y="126273"/>
                  <a:pt x="178526" y="104775"/>
                  <a:pt x="152400" y="104775"/>
                </a:cubicBezTo>
                <a:cubicBezTo>
                  <a:pt x="126273" y="104775"/>
                  <a:pt x="104775" y="126273"/>
                  <a:pt x="104775" y="152400"/>
                </a:cubicBezTo>
                <a:cubicBezTo>
                  <a:pt x="104775" y="178526"/>
                  <a:pt x="126273" y="200025"/>
                  <a:pt x="152399" y="200025"/>
                </a:cubicBezTo>
                <a:close/>
                <a:moveTo>
                  <a:pt x="152400" y="66675"/>
                </a:moveTo>
                <a:cubicBezTo>
                  <a:pt x="199427" y="66675"/>
                  <a:pt x="238125" y="105372"/>
                  <a:pt x="238125" y="152400"/>
                </a:cubicBezTo>
                <a:cubicBezTo>
                  <a:pt x="238125" y="199427"/>
                  <a:pt x="199427" y="238125"/>
                  <a:pt x="152400" y="238125"/>
                </a:cubicBezTo>
                <a:cubicBezTo>
                  <a:pt x="105372" y="238125"/>
                  <a:pt x="66675" y="199427"/>
                  <a:pt x="66675" y="152400"/>
                </a:cubicBezTo>
                <a:cubicBezTo>
                  <a:pt x="66675" y="105372"/>
                  <a:pt x="105372" y="66675"/>
                  <a:pt x="152399" y="66675"/>
                </a:cubicBezTo>
                <a:close/>
                <a:moveTo>
                  <a:pt x="133350" y="152400"/>
                </a:moveTo>
                <a:cubicBezTo>
                  <a:pt x="133350" y="141949"/>
                  <a:pt x="141949" y="133350"/>
                  <a:pt x="152400" y="133350"/>
                </a:cubicBezTo>
                <a:cubicBezTo>
                  <a:pt x="162850" y="133350"/>
                  <a:pt x="171450" y="141949"/>
                  <a:pt x="171450" y="152400"/>
                </a:cubicBezTo>
                <a:cubicBezTo>
                  <a:pt x="171450" y="162850"/>
                  <a:pt x="162850" y="171450"/>
                  <a:pt x="152400" y="171450"/>
                </a:cubicBezTo>
                <a:cubicBezTo>
                  <a:pt x="141949" y="171450"/>
                  <a:pt x="133350" y="162850"/>
                  <a:pt x="133350" y="152400"/>
                </a:cubicBezTo>
                <a:close/>
              </a:path>
            </a:pathLst>
          </a:custGeom>
          <a:solidFill>
            <a:srgbClr val="D4A373"/>
          </a:solidFill>
          <a:ln>
            <a:noFill/>
          </a:ln>
          <a:effectLst/>
        </p:spPr>
      </p:sp>
      <p:sp>
        <p:nvSpPr>
          <p:cNvPr id="8" name="dsl:c1-title"/>
          <p:cNvSpPr txBox="1"/>
          <p:nvPr/>
        </p:nvSpPr>
        <p:spPr>
          <a:xfrm>
            <a:off x="800100" y="2057400"/>
            <a:ext cx="3067050" cy="247650"/>
          </a:xfrm>
          <a:prstGeom prst="rect">
            <a:avLst/>
          </a:prstGeom>
          <a:noFill/>
        </p:spPr>
        <p:txBody>
          <a:bodyPr wrap="none" anchor="ctr">
            <a:noAutofit/>
          </a:bodyPr>
          <a:lstStyle/>
          <a:p>
            <a:pPr algn="l"/>
            <a:r>
              <a:rPr b="1" sz="1500" noProof="1">
                <a:solidFill>
                  <a:srgbClr val="2B2D2F"/>
                </a:solidFill>
                <a:latin typeface="Liter"/>
                <a:ea typeface="Liter"/>
              </a:rPr>
              <a:t>Centralized Intelligence</a:t>
            </a:r>
          </a:p>
        </p:txBody>
      </p:sp>
      <p:sp>
        <p:nvSpPr>
          <p:cNvPr id="9" name="dsl:c1-desc"/>
          <p:cNvSpPr txBox="1"/>
          <p:nvPr/>
        </p:nvSpPr>
        <p:spPr>
          <a:xfrm>
            <a:off x="800100" y="238125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One platform for network, host, runtime, and metrics — not four separate tools with four dashboards.</a:t>
            </a:r>
          </a:p>
        </p:txBody>
      </p:sp>
      <p:sp>
        <p:nvSpPr>
          <p:cNvPr id="10" name="dsl:c2-bg"/>
          <p:cNvSpPr/>
          <p:nvPr/>
        </p:nvSpPr>
        <p:spPr>
          <a:xfrm>
            <a:off x="4333875" y="142875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2-icon|i=fas:brain"/>
          <p:cNvSpPr/>
          <p:nvPr/>
        </p:nvSpPr>
        <p:spPr>
          <a:xfrm>
            <a:off x="4562475" y="1638300"/>
            <a:ext cx="304800" cy="304800"/>
          </a:xfrm>
          <a:custGeom>
            <a:avLst/>
            <a:gdLst/>
            <a:ahLst/>
            <a:cxnLst/>
            <a:rect l="l" t="t" r="r" b="b"/>
            <a:pathLst>
              <a:path w="304800" h="304800">
                <a:moveTo>
                  <a:pt x="109537" y="0"/>
                </a:moveTo>
                <a:cubicBezTo>
                  <a:pt x="127932" y="0"/>
                  <a:pt x="142875" y="14942"/>
                  <a:pt x="142875" y="33337"/>
                </a:cubicBezTo>
                <a:lnTo>
                  <a:pt x="142875" y="271462"/>
                </a:lnTo>
                <a:cubicBezTo>
                  <a:pt x="142875" y="289857"/>
                  <a:pt x="127932" y="304800"/>
                  <a:pt x="109537" y="304800"/>
                </a:cubicBezTo>
                <a:cubicBezTo>
                  <a:pt x="92332" y="304800"/>
                  <a:pt x="78164" y="291762"/>
                  <a:pt x="76378" y="274974"/>
                </a:cubicBezTo>
                <a:cubicBezTo>
                  <a:pt x="73282" y="275808"/>
                  <a:pt x="70008" y="276225"/>
                  <a:pt x="66675" y="276225"/>
                </a:cubicBezTo>
                <a:cubicBezTo>
                  <a:pt x="45660" y="276225"/>
                  <a:pt x="28575" y="259139"/>
                  <a:pt x="28575" y="238125"/>
                </a:cubicBezTo>
                <a:cubicBezTo>
                  <a:pt x="28575" y="233719"/>
                  <a:pt x="29348" y="229433"/>
                  <a:pt x="30718" y="225504"/>
                </a:cubicBezTo>
                <a:cubicBezTo>
                  <a:pt x="12739" y="218717"/>
                  <a:pt x="0" y="201334"/>
                  <a:pt x="0" y="180975"/>
                </a:cubicBezTo>
                <a:cubicBezTo>
                  <a:pt x="0" y="161984"/>
                  <a:pt x="11132" y="145553"/>
                  <a:pt x="27265" y="137933"/>
                </a:cubicBezTo>
                <a:cubicBezTo>
                  <a:pt x="22086" y="131445"/>
                  <a:pt x="19050" y="123229"/>
                  <a:pt x="19050" y="114300"/>
                </a:cubicBezTo>
                <a:cubicBezTo>
                  <a:pt x="19050" y="96023"/>
                  <a:pt x="31908" y="80783"/>
                  <a:pt x="49053" y="77033"/>
                </a:cubicBezTo>
                <a:cubicBezTo>
                  <a:pt x="48101" y="73759"/>
                  <a:pt x="47625" y="70246"/>
                  <a:pt x="47625" y="66675"/>
                </a:cubicBezTo>
                <a:cubicBezTo>
                  <a:pt x="47625" y="48875"/>
                  <a:pt x="59888" y="33873"/>
                  <a:pt x="76378" y="29706"/>
                </a:cubicBezTo>
                <a:cubicBezTo>
                  <a:pt x="78164" y="13037"/>
                  <a:pt x="92332" y="0"/>
                  <a:pt x="109537" y="0"/>
                </a:cubicBezTo>
                <a:close/>
                <a:moveTo>
                  <a:pt x="195262" y="0"/>
                </a:moveTo>
                <a:cubicBezTo>
                  <a:pt x="212467" y="0"/>
                  <a:pt x="226575" y="13037"/>
                  <a:pt x="228421" y="29706"/>
                </a:cubicBezTo>
                <a:cubicBezTo>
                  <a:pt x="244971" y="33873"/>
                  <a:pt x="257175" y="48815"/>
                  <a:pt x="257175" y="66675"/>
                </a:cubicBezTo>
                <a:cubicBezTo>
                  <a:pt x="257175" y="70246"/>
                  <a:pt x="261937" y="73759"/>
                  <a:pt x="255746" y="77033"/>
                </a:cubicBezTo>
                <a:cubicBezTo>
                  <a:pt x="272891" y="80724"/>
                  <a:pt x="285750" y="96023"/>
                  <a:pt x="285750" y="114300"/>
                </a:cubicBezTo>
                <a:cubicBezTo>
                  <a:pt x="285750" y="123229"/>
                  <a:pt x="282713" y="131445"/>
                  <a:pt x="277534" y="137933"/>
                </a:cubicBezTo>
                <a:cubicBezTo>
                  <a:pt x="293667" y="145553"/>
                  <a:pt x="304800" y="161984"/>
                  <a:pt x="304800" y="180975"/>
                </a:cubicBezTo>
                <a:cubicBezTo>
                  <a:pt x="304800" y="201334"/>
                  <a:pt x="292060" y="218717"/>
                  <a:pt x="274081" y="225504"/>
                </a:cubicBezTo>
                <a:cubicBezTo>
                  <a:pt x="275451" y="229433"/>
                  <a:pt x="276225" y="233719"/>
                  <a:pt x="276225" y="238125"/>
                </a:cubicBezTo>
                <a:cubicBezTo>
                  <a:pt x="276225" y="259139"/>
                  <a:pt x="259139" y="276225"/>
                  <a:pt x="238125" y="276225"/>
                </a:cubicBezTo>
                <a:cubicBezTo>
                  <a:pt x="234791" y="276225"/>
                  <a:pt x="231517" y="280392"/>
                  <a:pt x="228421" y="274974"/>
                </a:cubicBezTo>
                <a:cubicBezTo>
                  <a:pt x="226635" y="291762"/>
                  <a:pt x="212467" y="304800"/>
                  <a:pt x="195262" y="304800"/>
                </a:cubicBezTo>
                <a:cubicBezTo>
                  <a:pt x="176867" y="304800"/>
                  <a:pt x="161925" y="289857"/>
                  <a:pt x="161925" y="271462"/>
                </a:cubicBezTo>
                <a:lnTo>
                  <a:pt x="161925" y="33337"/>
                </a:lnTo>
                <a:cubicBezTo>
                  <a:pt x="161925" y="14942"/>
                  <a:pt x="176867" y="0"/>
                  <a:pt x="195262" y="0"/>
                </a:cubicBezTo>
                <a:close/>
              </a:path>
            </a:pathLst>
          </a:custGeom>
          <a:solidFill>
            <a:srgbClr val="D4A373"/>
          </a:solidFill>
          <a:ln>
            <a:noFill/>
          </a:ln>
          <a:effectLst/>
        </p:spPr>
      </p:sp>
      <p:sp>
        <p:nvSpPr>
          <p:cNvPr id="12" name="dsl:c2-title"/>
          <p:cNvSpPr txBox="1"/>
          <p:nvPr/>
        </p:nvSpPr>
        <p:spPr>
          <a:xfrm>
            <a:off x="4562475" y="2057400"/>
            <a:ext cx="3067050" cy="247650"/>
          </a:xfrm>
          <a:prstGeom prst="rect">
            <a:avLst/>
          </a:prstGeom>
          <a:noFill/>
        </p:spPr>
        <p:txBody>
          <a:bodyPr wrap="none" anchor="ctr">
            <a:noAutofit/>
          </a:bodyPr>
          <a:lstStyle/>
          <a:p>
            <a:pPr algn="l"/>
            <a:r>
              <a:rPr b="1" sz="1500" noProof="1">
                <a:solidFill>
                  <a:srgbClr val="2B2D2F"/>
                </a:solidFill>
                <a:latin typeface="Liter"/>
                <a:ea typeface="Liter"/>
              </a:rPr>
              <a:t>AI-Assisted Analysis</a:t>
            </a:r>
          </a:p>
        </p:txBody>
      </p:sp>
      <p:sp>
        <p:nvSpPr>
          <p:cNvPr id="13" name="dsl:c2-desc"/>
          <p:cNvSpPr txBox="1"/>
          <p:nvPr/>
        </p:nvSpPr>
        <p:spPr>
          <a:xfrm>
            <a:off x="4562475" y="238125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LLM-powered summaries and playbooks, not just rule-based alerts. AI explains what happened and why.</a:t>
            </a:r>
          </a:p>
        </p:txBody>
      </p:sp>
      <p:sp>
        <p:nvSpPr>
          <p:cNvPr id="14" name="dsl:c3-bg"/>
          <p:cNvSpPr/>
          <p:nvPr/>
        </p:nvSpPr>
        <p:spPr>
          <a:xfrm>
            <a:off x="8096250" y="142875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3-icon|i=fas:globe"/>
          <p:cNvSpPr/>
          <p:nvPr/>
        </p:nvSpPr>
        <p:spPr>
          <a:xfrm>
            <a:off x="8324850" y="1638300"/>
            <a:ext cx="304800" cy="304800"/>
          </a:xfrm>
          <a:custGeom>
            <a:avLst/>
            <a:gdLst/>
            <a:ahLst/>
            <a:cxnLst/>
            <a:rect l="l" t="t" r="r" b="b"/>
            <a:pathLst>
              <a:path w="304800" h="304800">
                <a:moveTo>
                  <a:pt x="34349" y="114895"/>
                </a:moveTo>
                <a:lnTo>
                  <a:pt x="39945" y="124658"/>
                </a:lnTo>
                <a:cubicBezTo>
                  <a:pt x="44886" y="133290"/>
                  <a:pt x="52982" y="139660"/>
                  <a:pt x="62567" y="142398"/>
                </a:cubicBezTo>
                <a:lnTo>
                  <a:pt x="97035" y="152221"/>
                </a:lnTo>
                <a:cubicBezTo>
                  <a:pt x="107275" y="155138"/>
                  <a:pt x="114300" y="164484"/>
                  <a:pt x="114300" y="175140"/>
                </a:cubicBezTo>
                <a:lnTo>
                  <a:pt x="114300" y="198893"/>
                </a:lnTo>
                <a:cubicBezTo>
                  <a:pt x="114300" y="205442"/>
                  <a:pt x="117990" y="211395"/>
                  <a:pt x="123825" y="214312"/>
                </a:cubicBezTo>
                <a:cubicBezTo>
                  <a:pt x="129659" y="217229"/>
                  <a:pt x="133350" y="223182"/>
                  <a:pt x="133350" y="229731"/>
                </a:cubicBezTo>
                <a:lnTo>
                  <a:pt x="133350" y="252948"/>
                </a:lnTo>
                <a:cubicBezTo>
                  <a:pt x="133350" y="262235"/>
                  <a:pt x="142220" y="268962"/>
                  <a:pt x="151149" y="266402"/>
                </a:cubicBezTo>
                <a:cubicBezTo>
                  <a:pt x="160734" y="263663"/>
                  <a:pt x="168175" y="255984"/>
                  <a:pt x="170616" y="246280"/>
                </a:cubicBezTo>
                <a:lnTo>
                  <a:pt x="172283" y="239613"/>
                </a:lnTo>
                <a:cubicBezTo>
                  <a:pt x="174783" y="229552"/>
                  <a:pt x="181332" y="220920"/>
                  <a:pt x="190321" y="215800"/>
                </a:cubicBezTo>
                <a:lnTo>
                  <a:pt x="195143" y="213062"/>
                </a:lnTo>
                <a:cubicBezTo>
                  <a:pt x="204073" y="208002"/>
                  <a:pt x="209550" y="198477"/>
                  <a:pt x="209550" y="188237"/>
                </a:cubicBezTo>
                <a:lnTo>
                  <a:pt x="209550" y="183296"/>
                </a:lnTo>
                <a:cubicBezTo>
                  <a:pt x="209550" y="175736"/>
                  <a:pt x="206513" y="168473"/>
                  <a:pt x="201156" y="163115"/>
                </a:cubicBezTo>
                <a:lnTo>
                  <a:pt x="198834" y="160793"/>
                </a:lnTo>
                <a:cubicBezTo>
                  <a:pt x="193476" y="155436"/>
                  <a:pt x="186213" y="152399"/>
                  <a:pt x="178653" y="152399"/>
                </a:cubicBezTo>
                <a:lnTo>
                  <a:pt x="152995" y="152399"/>
                </a:lnTo>
                <a:cubicBezTo>
                  <a:pt x="146387" y="152399"/>
                  <a:pt x="139838" y="150673"/>
                  <a:pt x="134064" y="147399"/>
                </a:cubicBezTo>
                <a:lnTo>
                  <a:pt x="113526" y="135671"/>
                </a:lnTo>
                <a:cubicBezTo>
                  <a:pt x="110966" y="134183"/>
                  <a:pt x="109001" y="131802"/>
                  <a:pt x="108049" y="129004"/>
                </a:cubicBezTo>
                <a:cubicBezTo>
                  <a:pt x="106144" y="123289"/>
                  <a:pt x="108704" y="117097"/>
                  <a:pt x="114121" y="114419"/>
                </a:cubicBezTo>
                <a:lnTo>
                  <a:pt x="117633" y="112633"/>
                </a:lnTo>
                <a:cubicBezTo>
                  <a:pt x="121562" y="110668"/>
                  <a:pt x="126146" y="110311"/>
                  <a:pt x="130313" y="111740"/>
                </a:cubicBezTo>
                <a:lnTo>
                  <a:pt x="144125" y="116324"/>
                </a:lnTo>
                <a:cubicBezTo>
                  <a:pt x="149006" y="117931"/>
                  <a:pt x="154364" y="118705"/>
                  <a:pt x="157162" y="111859"/>
                </a:cubicBezTo>
                <a:cubicBezTo>
                  <a:pt x="159960" y="107692"/>
                  <a:pt x="159662" y="102155"/>
                  <a:pt x="156448" y="98286"/>
                </a:cubicBezTo>
                <a:lnTo>
                  <a:pt x="148351" y="88582"/>
                </a:lnTo>
                <a:cubicBezTo>
                  <a:pt x="142398" y="81438"/>
                  <a:pt x="142458" y="71020"/>
                  <a:pt x="150137" y="63996"/>
                </a:cubicBezTo>
                <a:lnTo>
                  <a:pt x="159484" y="53101"/>
                </a:lnTo>
                <a:cubicBezTo>
                  <a:pt x="164722" y="46970"/>
                  <a:pt x="165556" y="38219"/>
                  <a:pt x="161567" y="31253"/>
                </a:cubicBezTo>
                <a:lnTo>
                  <a:pt x="160139" y="28753"/>
                </a:lnTo>
                <a:cubicBezTo>
                  <a:pt x="158055" y="29944"/>
                  <a:pt x="156031" y="30539"/>
                  <a:pt x="153947" y="30539"/>
                </a:cubicBezTo>
                <a:cubicBezTo>
                  <a:pt x="97095" y="28575"/>
                  <a:pt x="50244" y="64829"/>
                  <a:pt x="34349" y="114895"/>
                </a:cubicBezTo>
                <a:close/>
                <a:moveTo>
                  <a:pt x="276225" y="152400"/>
                </a:moveTo>
                <a:cubicBezTo>
                  <a:pt x="276225" y="130492"/>
                  <a:pt x="270510" y="109894"/>
                  <a:pt x="260508" y="91975"/>
                </a:cubicBezTo>
                <a:lnTo>
                  <a:pt x="245268" y="98107"/>
                </a:lnTo>
                <a:cubicBezTo>
                  <a:pt x="235922" y="101857"/>
                  <a:pt x="231100" y="112275"/>
                  <a:pt x="234255" y="121800"/>
                </a:cubicBezTo>
                <a:lnTo>
                  <a:pt x="244316" y="151983"/>
                </a:lnTo>
                <a:cubicBezTo>
                  <a:pt x="246399" y="158174"/>
                  <a:pt x="251460" y="162877"/>
                  <a:pt x="257770" y="164425"/>
                </a:cubicBezTo>
                <a:lnTo>
                  <a:pt x="275093" y="168771"/>
                </a:lnTo>
                <a:cubicBezTo>
                  <a:pt x="275808" y="163413"/>
                  <a:pt x="276165" y="157936"/>
                  <a:pt x="276165" y="152400"/>
                </a:cubicBezTo>
                <a:close/>
                <a:moveTo>
                  <a:pt x="0" y="152400"/>
                </a:moveTo>
                <a:cubicBezTo>
                  <a:pt x="0" y="68795"/>
                  <a:pt x="68795" y="0"/>
                  <a:pt x="152399" y="0"/>
                </a:cubicBezTo>
                <a:cubicBezTo>
                  <a:pt x="236004" y="0"/>
                  <a:pt x="304800" y="68795"/>
                  <a:pt x="304800" y="152399"/>
                </a:cubicBezTo>
                <a:cubicBezTo>
                  <a:pt x="304800" y="236004"/>
                  <a:pt x="236004" y="304800"/>
                  <a:pt x="152400" y="304800"/>
                </a:cubicBezTo>
                <a:cubicBezTo>
                  <a:pt x="68795" y="304800"/>
                  <a:pt x="0" y="236004"/>
                  <a:pt x="0" y="152400"/>
                </a:cubicBezTo>
                <a:close/>
              </a:path>
            </a:pathLst>
          </a:custGeom>
          <a:solidFill>
            <a:srgbClr val="D4A373"/>
          </a:solidFill>
          <a:ln>
            <a:noFill/>
          </a:ln>
          <a:effectLst/>
        </p:spPr>
      </p:sp>
      <p:sp>
        <p:nvSpPr>
          <p:cNvPr id="16" name="dsl:c3-title"/>
          <p:cNvSpPr txBox="1"/>
          <p:nvPr/>
        </p:nvSpPr>
        <p:spPr>
          <a:xfrm>
            <a:off x="8324850" y="2057400"/>
            <a:ext cx="3067050" cy="247650"/>
          </a:xfrm>
          <a:prstGeom prst="rect">
            <a:avLst/>
          </a:prstGeom>
          <a:noFill/>
        </p:spPr>
        <p:txBody>
          <a:bodyPr wrap="none" anchor="ctr">
            <a:noAutofit/>
          </a:bodyPr>
          <a:lstStyle/>
          <a:p>
            <a:pPr algn="l"/>
            <a:r>
              <a:rPr b="1" sz="1500" noProof="1">
                <a:solidFill>
                  <a:srgbClr val="2B2D2F"/>
                </a:solidFill>
                <a:latin typeface="Liter"/>
                <a:ea typeface="Liter"/>
              </a:rPr>
              <a:t>Context-Rich Correlation</a:t>
            </a:r>
          </a:p>
        </p:txBody>
      </p:sp>
      <p:sp>
        <p:nvSpPr>
          <p:cNvPr id="17" name="dsl:c3-desc"/>
          <p:cNvSpPr txBox="1"/>
          <p:nvPr/>
        </p:nvSpPr>
        <p:spPr>
          <a:xfrm>
            <a:off x="8324850" y="238125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GeoIP locations, MITRE ATT&amp;CK mapping, asset context, and behavioral patterns — not just timestamp matching.</a:t>
            </a:r>
          </a:p>
        </p:txBody>
      </p:sp>
      <p:sp>
        <p:nvSpPr>
          <p:cNvPr id="18" name="dsl:c4-bg"/>
          <p:cNvSpPr/>
          <p:nvPr/>
        </p:nvSpPr>
        <p:spPr>
          <a:xfrm>
            <a:off x="571500" y="381000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c4-icon|i=fas:user-shield"/>
          <p:cNvSpPr/>
          <p:nvPr/>
        </p:nvSpPr>
        <p:spPr>
          <a:xfrm>
            <a:off x="800100" y="4050030"/>
            <a:ext cx="304800" cy="243840"/>
          </a:xfrm>
          <a:custGeom>
            <a:avLst/>
            <a:gdLst/>
            <a:ahLst/>
            <a:cxnLst/>
            <a:rect l="l" t="t" r="r" b="b"/>
            <a:pathLst>
              <a:path w="304800" h="243840">
                <a:moveTo>
                  <a:pt x="106680" y="121920"/>
                </a:moveTo>
                <a:cubicBezTo>
                  <a:pt x="140121" y="121920"/>
                  <a:pt x="167640" y="94401"/>
                  <a:pt x="167640" y="60960"/>
                </a:cubicBezTo>
                <a:cubicBezTo>
                  <a:pt x="167640" y="27518"/>
                  <a:pt x="140121" y="0"/>
                  <a:pt x="106680" y="0"/>
                </a:cubicBezTo>
                <a:cubicBezTo>
                  <a:pt x="73238" y="0"/>
                  <a:pt x="45720" y="27518"/>
                  <a:pt x="45720" y="60959"/>
                </a:cubicBezTo>
                <a:cubicBezTo>
                  <a:pt x="45720" y="94401"/>
                  <a:pt x="73238" y="121920"/>
                  <a:pt x="106679" y="121920"/>
                </a:cubicBezTo>
                <a:close/>
                <a:moveTo>
                  <a:pt x="84915" y="144780"/>
                </a:moveTo>
                <a:cubicBezTo>
                  <a:pt x="38004" y="144780"/>
                  <a:pt x="0" y="182784"/>
                  <a:pt x="0" y="229695"/>
                </a:cubicBezTo>
                <a:cubicBezTo>
                  <a:pt x="0" y="237505"/>
                  <a:pt x="6334" y="243840"/>
                  <a:pt x="14144" y="243840"/>
                </a:cubicBezTo>
                <a:lnTo>
                  <a:pt x="199215" y="243840"/>
                </a:lnTo>
                <a:cubicBezTo>
                  <a:pt x="200072" y="243840"/>
                  <a:pt x="200882" y="244792"/>
                  <a:pt x="201739" y="246221"/>
                </a:cubicBezTo>
                <a:cubicBezTo>
                  <a:pt x="165401" y="219979"/>
                  <a:pt x="154209" y="179070"/>
                  <a:pt x="152638" y="150876"/>
                </a:cubicBezTo>
                <a:cubicBezTo>
                  <a:pt x="144970" y="148590"/>
                  <a:pt x="136874" y="147399"/>
                  <a:pt x="128492" y="147399"/>
                </a:cubicBezTo>
                <a:lnTo>
                  <a:pt x="84915" y="147399"/>
                </a:lnTo>
                <a:close/>
                <a:moveTo>
                  <a:pt x="231981" y="107489"/>
                </a:moveTo>
                <a:lnTo>
                  <a:pt x="174831" y="130349"/>
                </a:lnTo>
                <a:cubicBezTo>
                  <a:pt x="170497" y="132111"/>
                  <a:pt x="167640" y="136302"/>
                  <a:pt x="167640" y="140970"/>
                </a:cubicBezTo>
                <a:cubicBezTo>
                  <a:pt x="167640" y="171116"/>
                  <a:pt x="179974" y="221361"/>
                  <a:pt x="231838" y="242982"/>
                </a:cubicBezTo>
                <a:cubicBezTo>
                  <a:pt x="234648" y="244173"/>
                  <a:pt x="237839" y="244173"/>
                  <a:pt x="240649" y="242982"/>
                </a:cubicBezTo>
                <a:cubicBezTo>
                  <a:pt x="292465" y="221361"/>
                  <a:pt x="304800" y="171116"/>
                  <a:pt x="304800" y="140970"/>
                </a:cubicBezTo>
                <a:cubicBezTo>
                  <a:pt x="304800" y="136302"/>
                  <a:pt x="301942" y="132111"/>
                  <a:pt x="297608" y="130349"/>
                </a:cubicBezTo>
                <a:lnTo>
                  <a:pt x="240458" y="107489"/>
                </a:lnTo>
                <a:cubicBezTo>
                  <a:pt x="237744" y="106394"/>
                  <a:pt x="234695" y="106394"/>
                  <a:pt x="231981" y="107489"/>
                </a:cubicBezTo>
                <a:close/>
                <a:moveTo>
                  <a:pt x="281654" y="148590"/>
                </a:moveTo>
                <a:cubicBezTo>
                  <a:pt x="279796" y="172735"/>
                  <a:pt x="268700" y="204168"/>
                  <a:pt x="236220" y="219884"/>
                </a:cubicBezTo>
                <a:lnTo>
                  <a:pt x="236220" y="130397"/>
                </a:lnTo>
                <a:lnTo>
                  <a:pt x="281654" y="148590"/>
                </a:lnTo>
                <a:close/>
              </a:path>
            </a:pathLst>
          </a:custGeom>
          <a:solidFill>
            <a:srgbClr val="D4A373"/>
          </a:solidFill>
          <a:ln>
            <a:noFill/>
          </a:ln>
          <a:effectLst/>
        </p:spPr>
      </p:sp>
      <p:sp>
        <p:nvSpPr>
          <p:cNvPr id="20" name="dsl:c4-title"/>
          <p:cNvSpPr txBox="1"/>
          <p:nvPr/>
        </p:nvSpPr>
        <p:spPr>
          <a:xfrm>
            <a:off x="800100" y="4438650"/>
            <a:ext cx="3067050" cy="247650"/>
          </a:xfrm>
          <a:prstGeom prst="rect">
            <a:avLst/>
          </a:prstGeom>
          <a:noFill/>
        </p:spPr>
        <p:txBody>
          <a:bodyPr wrap="none" anchor="ctr">
            <a:noAutofit/>
          </a:bodyPr>
          <a:lstStyle/>
          <a:p>
            <a:pPr algn="l"/>
            <a:r>
              <a:rPr b="1" sz="1500" noProof="1">
                <a:solidFill>
                  <a:srgbClr val="2B2D2F"/>
                </a:solidFill>
                <a:latin typeface="Liter"/>
                <a:ea typeface="Liter"/>
              </a:rPr>
              <a:t>Human-Centered Automation</a:t>
            </a:r>
          </a:p>
        </p:txBody>
      </p:sp>
      <p:sp>
        <p:nvSpPr>
          <p:cNvPr id="21" name="dsl:c4-desc"/>
          <p:cNvSpPr txBox="1"/>
          <p:nvPr/>
        </p:nvSpPr>
        <p:spPr>
          <a:xfrm>
            <a:off x="800100" y="476250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Approval gates, verification steps, and complete audit trails — automation augments analysts, never replaces them.</a:t>
            </a:r>
          </a:p>
        </p:txBody>
      </p:sp>
      <p:sp>
        <p:nvSpPr>
          <p:cNvPr id="22" name="dsl:c5-bg"/>
          <p:cNvSpPr/>
          <p:nvPr/>
        </p:nvSpPr>
        <p:spPr>
          <a:xfrm>
            <a:off x="4333875" y="381000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5-icon|i=fas:cloud"/>
          <p:cNvSpPr/>
          <p:nvPr/>
        </p:nvSpPr>
        <p:spPr>
          <a:xfrm>
            <a:off x="4562475" y="4050030"/>
            <a:ext cx="304800" cy="243840"/>
          </a:xfrm>
          <a:custGeom>
            <a:avLst/>
            <a:gdLst/>
            <a:ahLst/>
            <a:cxnLst/>
            <a:rect l="l" t="t" r="r" b="b"/>
            <a:pathLst>
              <a:path w="304800" h="243840">
                <a:moveTo>
                  <a:pt x="0" y="160020"/>
                </a:moveTo>
                <a:cubicBezTo>
                  <a:pt x="0" y="197881"/>
                  <a:pt x="30718" y="228600"/>
                  <a:pt x="68580" y="228600"/>
                </a:cubicBezTo>
                <a:lnTo>
                  <a:pt x="243840" y="228600"/>
                </a:lnTo>
                <a:cubicBezTo>
                  <a:pt x="277510" y="228600"/>
                  <a:pt x="304800" y="201310"/>
                  <a:pt x="304800" y="167640"/>
                </a:cubicBezTo>
                <a:cubicBezTo>
                  <a:pt x="304800" y="138160"/>
                  <a:pt x="283845" y="113538"/>
                  <a:pt x="256032" y="107918"/>
                </a:cubicBezTo>
                <a:cubicBezTo>
                  <a:pt x="257984" y="102822"/>
                  <a:pt x="259080" y="97250"/>
                  <a:pt x="259080" y="91440"/>
                </a:cubicBezTo>
                <a:cubicBezTo>
                  <a:pt x="259080" y="66198"/>
                  <a:pt x="238601" y="45720"/>
                  <a:pt x="213360" y="45720"/>
                </a:cubicBezTo>
                <a:cubicBezTo>
                  <a:pt x="203977" y="45720"/>
                  <a:pt x="195214" y="48577"/>
                  <a:pt x="187975" y="53435"/>
                </a:cubicBezTo>
                <a:cubicBezTo>
                  <a:pt x="174783" y="30575"/>
                  <a:pt x="150161" y="15240"/>
                  <a:pt x="121920" y="15240"/>
                </a:cubicBezTo>
                <a:cubicBezTo>
                  <a:pt x="79819" y="15240"/>
                  <a:pt x="45720" y="49339"/>
                  <a:pt x="45720" y="91440"/>
                </a:cubicBezTo>
                <a:cubicBezTo>
                  <a:pt x="45720" y="92725"/>
                  <a:pt x="46196" y="94011"/>
                  <a:pt x="46672" y="95297"/>
                </a:cubicBezTo>
                <a:cubicBezTo>
                  <a:pt x="19145" y="104679"/>
                  <a:pt x="0" y="130111"/>
                  <a:pt x="0" y="160020"/>
                </a:cubicBezTo>
                <a:close/>
              </a:path>
            </a:pathLst>
          </a:custGeom>
          <a:solidFill>
            <a:srgbClr val="D4A373"/>
          </a:solidFill>
          <a:ln>
            <a:noFill/>
          </a:ln>
          <a:effectLst/>
        </p:spPr>
      </p:sp>
      <p:sp>
        <p:nvSpPr>
          <p:cNvPr id="24" name="dsl:c5-title"/>
          <p:cNvSpPr txBox="1"/>
          <p:nvPr/>
        </p:nvSpPr>
        <p:spPr>
          <a:xfrm>
            <a:off x="4562475" y="4438650"/>
            <a:ext cx="3067050" cy="247650"/>
          </a:xfrm>
          <a:prstGeom prst="rect">
            <a:avLst/>
          </a:prstGeom>
          <a:noFill/>
        </p:spPr>
        <p:txBody>
          <a:bodyPr wrap="none" anchor="ctr">
            <a:noAutofit/>
          </a:bodyPr>
          <a:lstStyle/>
          <a:p>
            <a:pPr algn="l"/>
            <a:r>
              <a:rPr b="1" sz="1500" noProof="1">
                <a:solidFill>
                  <a:srgbClr val="2B2D2F"/>
                </a:solidFill>
                <a:latin typeface="Liter"/>
                <a:ea typeface="Liter"/>
              </a:rPr>
              <a:t>Cloud-Native Foundation</a:t>
            </a:r>
          </a:p>
        </p:txBody>
      </p:sp>
      <p:sp>
        <p:nvSpPr>
          <p:cNvPr id="25" name="dsl:c5-desc"/>
          <p:cNvSpPr txBox="1"/>
          <p:nvPr/>
        </p:nvSpPr>
        <p:spPr>
          <a:xfrm>
            <a:off x="4562475" y="476250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Huawei Cloud deployment, Docker containers, reproducible scripts — built for modern infrastructure.</a:t>
            </a:r>
          </a:p>
        </p:txBody>
      </p:sp>
      <p:sp>
        <p:nvSpPr>
          <p:cNvPr id="26" name="dsl:c6-bg"/>
          <p:cNvSpPr/>
          <p:nvPr/>
        </p:nvSpPr>
        <p:spPr>
          <a:xfrm>
            <a:off x="8096250" y="3810000"/>
            <a:ext cx="3524250" cy="214312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6-icon|i=fas:code-branch"/>
          <p:cNvSpPr/>
          <p:nvPr/>
        </p:nvSpPr>
        <p:spPr>
          <a:xfrm>
            <a:off x="8343900" y="4019550"/>
            <a:ext cx="266700" cy="304800"/>
          </a:xfrm>
          <a:custGeom>
            <a:avLst/>
            <a:gdLst/>
            <a:ahLst/>
            <a:cxnLst/>
            <a:rect l="l" t="t" r="r" b="b"/>
            <a:pathLst>
              <a:path w="266700" h="304800">
                <a:moveTo>
                  <a:pt x="47625" y="61912"/>
                </a:moveTo>
                <a:cubicBezTo>
                  <a:pt x="55462" y="61912"/>
                  <a:pt x="61912" y="55462"/>
                  <a:pt x="61912" y="47625"/>
                </a:cubicBezTo>
                <a:cubicBezTo>
                  <a:pt x="61912" y="39787"/>
                  <a:pt x="55462" y="33337"/>
                  <a:pt x="47625" y="33337"/>
                </a:cubicBezTo>
                <a:cubicBezTo>
                  <a:pt x="39787" y="33337"/>
                  <a:pt x="33337" y="39787"/>
                  <a:pt x="33337" y="47625"/>
                </a:cubicBezTo>
                <a:cubicBezTo>
                  <a:pt x="33337" y="55462"/>
                  <a:pt x="39787" y="61912"/>
                  <a:pt x="47625" y="61912"/>
                </a:cubicBezTo>
                <a:close/>
                <a:moveTo>
                  <a:pt x="95250" y="47625"/>
                </a:moveTo>
                <a:cubicBezTo>
                  <a:pt x="95250" y="67151"/>
                  <a:pt x="83522" y="83939"/>
                  <a:pt x="66675" y="91261"/>
                </a:cubicBezTo>
                <a:lnTo>
                  <a:pt x="66675" y="143529"/>
                </a:lnTo>
                <a:cubicBezTo>
                  <a:pt x="77866" y="137040"/>
                  <a:pt x="90904" y="133350"/>
                  <a:pt x="104775" y="133350"/>
                </a:cubicBezTo>
                <a:lnTo>
                  <a:pt x="161925" y="133350"/>
                </a:lnTo>
                <a:cubicBezTo>
                  <a:pt x="182939" y="133350"/>
                  <a:pt x="200025" y="116264"/>
                  <a:pt x="200025" y="95250"/>
                </a:cubicBezTo>
                <a:lnTo>
                  <a:pt x="200025" y="91261"/>
                </a:lnTo>
                <a:cubicBezTo>
                  <a:pt x="183177" y="83939"/>
                  <a:pt x="171450" y="67151"/>
                  <a:pt x="171450" y="47625"/>
                </a:cubicBezTo>
                <a:cubicBezTo>
                  <a:pt x="171450" y="21312"/>
                  <a:pt x="192762" y="0"/>
                  <a:pt x="219075" y="0"/>
                </a:cubicBezTo>
                <a:cubicBezTo>
                  <a:pt x="245387" y="0"/>
                  <a:pt x="266700" y="21312"/>
                  <a:pt x="266700" y="47625"/>
                </a:cubicBezTo>
                <a:cubicBezTo>
                  <a:pt x="266700" y="67151"/>
                  <a:pt x="254972" y="83939"/>
                  <a:pt x="238125" y="91261"/>
                </a:cubicBezTo>
                <a:lnTo>
                  <a:pt x="238125" y="95250"/>
                </a:lnTo>
                <a:cubicBezTo>
                  <a:pt x="238125" y="137338"/>
                  <a:pt x="204013" y="171450"/>
                  <a:pt x="161925" y="171450"/>
                </a:cubicBezTo>
                <a:lnTo>
                  <a:pt x="104775" y="171450"/>
                </a:lnTo>
                <a:cubicBezTo>
                  <a:pt x="83760" y="171450"/>
                  <a:pt x="66675" y="188535"/>
                  <a:pt x="66675" y="209550"/>
                </a:cubicBezTo>
                <a:lnTo>
                  <a:pt x="66675" y="213538"/>
                </a:lnTo>
                <a:cubicBezTo>
                  <a:pt x="83522" y="220860"/>
                  <a:pt x="95250" y="237648"/>
                  <a:pt x="95250" y="257175"/>
                </a:cubicBezTo>
                <a:cubicBezTo>
                  <a:pt x="95250" y="283487"/>
                  <a:pt x="73937" y="304800"/>
                  <a:pt x="47625" y="304800"/>
                </a:cubicBezTo>
                <a:cubicBezTo>
                  <a:pt x="21312" y="304800"/>
                  <a:pt x="0" y="283487"/>
                  <a:pt x="0" y="257175"/>
                </a:cubicBezTo>
                <a:cubicBezTo>
                  <a:pt x="0" y="237648"/>
                  <a:pt x="11727" y="220860"/>
                  <a:pt x="28575" y="213538"/>
                </a:cubicBezTo>
                <a:lnTo>
                  <a:pt x="28575" y="209550"/>
                </a:lnTo>
                <a:lnTo>
                  <a:pt x="28575" y="91261"/>
                </a:lnTo>
                <a:cubicBezTo>
                  <a:pt x="11727" y="83939"/>
                  <a:pt x="0" y="67151"/>
                  <a:pt x="0" y="47625"/>
                </a:cubicBezTo>
                <a:cubicBezTo>
                  <a:pt x="0" y="21312"/>
                  <a:pt x="21312" y="0"/>
                  <a:pt x="47625" y="0"/>
                </a:cubicBezTo>
                <a:cubicBezTo>
                  <a:pt x="73937" y="0"/>
                  <a:pt x="95250" y="21312"/>
                  <a:pt x="95250" y="47625"/>
                </a:cubicBezTo>
                <a:close/>
                <a:moveTo>
                  <a:pt x="233362" y="47625"/>
                </a:moveTo>
                <a:cubicBezTo>
                  <a:pt x="233362" y="39787"/>
                  <a:pt x="226912" y="33337"/>
                  <a:pt x="219075" y="33337"/>
                </a:cubicBezTo>
                <a:cubicBezTo>
                  <a:pt x="211237" y="33337"/>
                  <a:pt x="204787" y="39787"/>
                  <a:pt x="204787" y="47625"/>
                </a:cubicBezTo>
                <a:cubicBezTo>
                  <a:pt x="204787" y="55462"/>
                  <a:pt x="211237" y="61912"/>
                  <a:pt x="219075" y="61912"/>
                </a:cubicBezTo>
                <a:cubicBezTo>
                  <a:pt x="226912" y="61912"/>
                  <a:pt x="233362" y="55462"/>
                  <a:pt x="233362" y="47625"/>
                </a:cubicBezTo>
                <a:close/>
                <a:moveTo>
                  <a:pt x="47625" y="271462"/>
                </a:moveTo>
                <a:cubicBezTo>
                  <a:pt x="55462" y="271462"/>
                  <a:pt x="61912" y="265012"/>
                  <a:pt x="61912" y="257175"/>
                </a:cubicBezTo>
                <a:cubicBezTo>
                  <a:pt x="61912" y="249337"/>
                  <a:pt x="55462" y="242887"/>
                  <a:pt x="47625" y="242887"/>
                </a:cubicBezTo>
                <a:cubicBezTo>
                  <a:pt x="39787" y="242887"/>
                  <a:pt x="33337" y="249337"/>
                  <a:pt x="33337" y="257175"/>
                </a:cubicBezTo>
                <a:cubicBezTo>
                  <a:pt x="33337" y="265012"/>
                  <a:pt x="39787" y="271462"/>
                  <a:pt x="47625" y="271462"/>
                </a:cubicBezTo>
                <a:close/>
              </a:path>
            </a:pathLst>
          </a:custGeom>
          <a:solidFill>
            <a:srgbClr val="D4A373"/>
          </a:solidFill>
          <a:ln>
            <a:noFill/>
          </a:ln>
          <a:effectLst/>
        </p:spPr>
      </p:sp>
      <p:sp>
        <p:nvSpPr>
          <p:cNvPr id="28" name="dsl:c6-title"/>
          <p:cNvSpPr txBox="1"/>
          <p:nvPr/>
        </p:nvSpPr>
        <p:spPr>
          <a:xfrm>
            <a:off x="8324850" y="4438650"/>
            <a:ext cx="3067050" cy="247650"/>
          </a:xfrm>
          <a:prstGeom prst="rect">
            <a:avLst/>
          </a:prstGeom>
          <a:noFill/>
        </p:spPr>
        <p:txBody>
          <a:bodyPr wrap="none" anchor="ctr">
            <a:noAutofit/>
          </a:bodyPr>
          <a:lstStyle/>
          <a:p>
            <a:pPr algn="l"/>
            <a:r>
              <a:rPr b="1" sz="1500" noProof="1">
                <a:solidFill>
                  <a:srgbClr val="2B2D2F"/>
                </a:solidFill>
                <a:latin typeface="Liter"/>
                <a:ea typeface="Liter"/>
              </a:rPr>
              <a:t>Open &amp; Extensible</a:t>
            </a:r>
          </a:p>
        </p:txBody>
      </p:sp>
      <p:sp>
        <p:nvSpPr>
          <p:cNvPr id="29" name="dsl:c6-desc"/>
          <p:cNvSpPr txBox="1"/>
          <p:nvPr/>
        </p:nvSpPr>
        <p:spPr>
          <a:xfrm>
            <a:off x="8324850" y="4762500"/>
            <a:ext cx="3067050" cy="1047750"/>
          </a:xfrm>
          <a:prstGeom prst="rect">
            <a:avLst/>
          </a:prstGeom>
          <a:noFill/>
        </p:spPr>
        <p:txBody>
          <a:bodyPr wrap="square" anchor="t">
            <a:noAutofit/>
          </a:bodyPr>
          <a:lstStyle/>
          <a:p>
            <a:pPr algn="l">
              <a:lnSpc>
                <a:spcPct val="150000"/>
              </a:lnSpc>
            </a:pPr>
            <a:r>
              <a:rPr sz="1125" noProof="1">
                <a:solidFill>
                  <a:srgbClr val="5C6B73"/>
                </a:solidFill>
                <a:latin typeface="QuattrocentoSans"/>
                <a:ea typeface="QuattrocentoSans"/>
              </a:rPr>
              <a:t>Open-source stack, no vendor lock-in. Customizable detection rules and response playbooks.</a:t>
            </a:r>
          </a:p>
        </p:txBody>
      </p:sp>
      <p:sp>
        <p:nvSpPr>
          <p:cNvPr id="30"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31"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nav-line"/>
          <p:cNvSpPr/>
          <p:nvPr/>
        </p:nvSpPr>
        <p:spPr>
          <a:xfrm>
            <a:off x="571500" y="361950"/>
            <a:ext cx="11049000" cy="9525"/>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text"/>
          <p:cNvSpPr txBox="1"/>
          <p:nvPr/>
        </p:nvSpPr>
        <p:spPr>
          <a:xfrm>
            <a:off x="571500" y="95250"/>
            <a:ext cx="11049000" cy="228600"/>
          </a:xfrm>
          <a:prstGeom prst="rect">
            <a:avLst/>
          </a:prstGeom>
          <a:noFill/>
        </p:spPr>
        <p:txBody>
          <a:bodyPr wrap="none" anchor="ctr">
            <a:noAutofit/>
          </a:bodyPr>
          <a:lstStyle/>
          <a:p>
            <a:pPr algn="ctr"/>
            <a:r>
              <a:rPr sz="825" noProof="1" spc="150">
                <a:solidFill>
                  <a:srgbClr val="8A9499"/>
                </a:solidFill>
                <a:latin typeface="Liter"/>
                <a:ea typeface="Liter"/>
              </a:rPr>
              <a:t>THE PROBLEM</a:t>
            </a:r>
            <a:r>
              <a:rPr sz="825" noProof="1" spc="150">
                <a:solidFill>
                  <a:srgbClr val="8A9499"/>
                </a:solidFill>
                <a:latin typeface="Liter"/>
                <a:ea typeface="Liter"/>
              </a:rPr>
              <a:t>     </a:t>
            </a:r>
            <a:r>
              <a:rPr sz="825" noProof="1" spc="150">
                <a:solidFill>
                  <a:srgbClr val="8A9499"/>
                </a:solidFill>
                <a:latin typeface="Liter"/>
                <a:ea typeface="Liter"/>
              </a:rPr>
              <a:t>INTRODUCING</a:t>
            </a:r>
            <a:r>
              <a:rPr sz="825" noProof="1" spc="150">
                <a:solidFill>
                  <a:srgbClr val="8A9499"/>
                </a:solidFill>
                <a:latin typeface="Liter"/>
                <a:ea typeface="Liter"/>
              </a:rPr>
              <a:t>     </a:t>
            </a:r>
            <a:r>
              <a:rPr sz="825" noProof="1" spc="150">
                <a:solidFill>
                  <a:srgbClr val="8A9499"/>
                </a:solidFill>
                <a:latin typeface="Liter"/>
                <a:ea typeface="Liter"/>
              </a:rPr>
              <a:t>HOW IT WORKS</a:t>
            </a:r>
            <a:r>
              <a:rPr sz="825" noProof="1" spc="150">
                <a:solidFill>
                  <a:srgbClr val="8A9499"/>
                </a:solidFill>
                <a:latin typeface="Liter"/>
                <a:ea typeface="Liter"/>
              </a:rPr>
              <a:t>     </a:t>
            </a:r>
            <a:r>
              <a:rPr sz="825" noProof="1" spc="150">
                <a:solidFill>
                  <a:srgbClr val="8A9499"/>
                </a:solidFill>
                <a:latin typeface="Liter"/>
                <a:ea typeface="Liter"/>
              </a:rPr>
              <a:t>AI &amp; AUTOMATION</a:t>
            </a:r>
            <a:r>
              <a:rPr sz="825" noProof="1" spc="150">
                <a:solidFill>
                  <a:srgbClr val="8A9499"/>
                </a:solidFill>
                <a:latin typeface="Liter"/>
                <a:ea typeface="Liter"/>
              </a:rPr>
              <a:t>     </a:t>
            </a:r>
            <a:r>
              <a:rPr sz="825" noProof="1" spc="150">
                <a:solidFill>
                  <a:srgbClr val="8A9499"/>
                </a:solidFill>
                <a:latin typeface="Liter"/>
                <a:ea typeface="Liter"/>
              </a:rPr>
              <a:t>IMPACT</a:t>
            </a:r>
            <a:r>
              <a:rPr sz="825" noProof="1" spc="150">
                <a:solidFill>
                  <a:srgbClr val="8A9499"/>
                </a:solidFill>
                <a:latin typeface="Liter"/>
                <a:ea typeface="Liter"/>
              </a:rPr>
              <a:t>     </a:t>
            </a:r>
            <a:r>
              <a:rPr b="1" sz="825" noProof="1" spc="150">
                <a:solidFill>
                  <a:srgbClr val="2D6A6A"/>
                </a:solidFill>
                <a:latin typeface="Liter"/>
                <a:ea typeface="Liter"/>
              </a:rPr>
              <a:t>WHY ARIA</a:t>
            </a:r>
          </a:p>
        </p:txBody>
      </p:sp>
      <p:sp>
        <p:nvSpPr>
          <p:cNvPr id="4" name="dsl:title|s=$heading"/>
          <p:cNvSpPr txBox="1"/>
          <p:nvPr/>
        </p:nvSpPr>
        <p:spPr>
          <a:xfrm>
            <a:off x="571500" y="523875"/>
            <a:ext cx="7620000" cy="400050"/>
          </a:xfrm>
          <a:prstGeom prst="rect">
            <a:avLst/>
          </a:prstGeom>
          <a:noFill/>
        </p:spPr>
        <p:txBody>
          <a:bodyPr wrap="none" anchor="ctr">
            <a:noAutofit/>
          </a:bodyPr>
          <a:lstStyle/>
          <a:p>
            <a:pPr algn="l">
              <a:lnSpc>
                <a:spcPct val="130000"/>
              </a:lnSpc>
            </a:pPr>
            <a:r>
              <a:rPr sz="2250" noProof="1">
                <a:solidFill>
                  <a:srgbClr val="2D6A6A"/>
                </a:solidFill>
                <a:latin typeface="Liter"/>
                <a:ea typeface="Liter"/>
              </a:rPr>
              <a:t>Implementation Approach</a:t>
            </a:r>
          </a:p>
        </p:txBody>
      </p:sp>
      <p:sp>
        <p:nvSpPr>
          <p:cNvPr id="5" name="dsl:intro"/>
          <p:cNvSpPr txBox="1"/>
          <p:nvPr/>
        </p:nvSpPr>
        <p:spPr>
          <a:xfrm>
            <a:off x="571500" y="971550"/>
            <a:ext cx="8572500" cy="266700"/>
          </a:xfrm>
          <a:prstGeom prst="rect">
            <a:avLst/>
          </a:prstGeom>
          <a:noFill/>
        </p:spPr>
        <p:txBody>
          <a:bodyPr wrap="none" anchor="ctr">
            <a:noAutofit/>
          </a:bodyPr>
          <a:lstStyle/>
          <a:p>
            <a:pPr algn="l"/>
            <a:r>
              <a:rPr sz="1350" noProof="1">
                <a:solidFill>
                  <a:srgbClr val="5C6B73"/>
                </a:solidFill>
                <a:latin typeface="QuattrocentoSans"/>
                <a:ea typeface="QuattrocentoSans"/>
              </a:rPr>
              <a:t>A phased adoption journey that builds confidence and proves value at every step.</a:t>
            </a:r>
          </a:p>
        </p:txBody>
      </p:sp>
      <p:sp>
        <p:nvSpPr>
          <p:cNvPr id="6" name="dsl:s1-bg"/>
          <p:cNvSpPr/>
          <p:nvPr/>
        </p:nvSpPr>
        <p:spPr>
          <a:xfrm>
            <a:off x="571500" y="1524000"/>
            <a:ext cx="3238500" cy="18573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s1-num-bg"/>
          <p:cNvSpPr/>
          <p:nvPr/>
        </p:nvSpPr>
        <p:spPr>
          <a:xfrm>
            <a:off x="571500" y="1524000"/>
            <a:ext cx="3238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s1-num"/>
          <p:cNvSpPr txBox="1"/>
          <p:nvPr/>
        </p:nvSpPr>
        <p:spPr>
          <a:xfrm>
            <a:off x="723900" y="1695450"/>
            <a:ext cx="476250" cy="342900"/>
          </a:xfrm>
          <a:prstGeom prst="rect">
            <a:avLst/>
          </a:prstGeom>
          <a:noFill/>
        </p:spPr>
        <p:txBody>
          <a:bodyPr wrap="none" anchor="ctr">
            <a:noAutofit/>
          </a:bodyPr>
          <a:lstStyle/>
          <a:p>
            <a:pPr algn="l"/>
            <a:r>
              <a:rPr b="1" sz="2100" noProof="1">
                <a:solidFill>
                  <a:srgbClr val="D4A373"/>
                </a:solidFill>
                <a:latin typeface="Liter"/>
                <a:ea typeface="Liter"/>
              </a:rPr>
              <a:t>01</a:t>
            </a:r>
          </a:p>
        </p:txBody>
      </p:sp>
      <p:sp>
        <p:nvSpPr>
          <p:cNvPr id="9" name="dsl:s1-title"/>
          <p:cNvSpPr txBox="1"/>
          <p:nvPr/>
        </p:nvSpPr>
        <p:spPr>
          <a:xfrm>
            <a:off x="723900" y="2095500"/>
            <a:ext cx="2857500" cy="247650"/>
          </a:xfrm>
          <a:prstGeom prst="rect">
            <a:avLst/>
          </a:prstGeom>
          <a:noFill/>
        </p:spPr>
        <p:txBody>
          <a:bodyPr wrap="none" anchor="ctr">
            <a:noAutofit/>
          </a:bodyPr>
          <a:lstStyle/>
          <a:p>
            <a:pPr algn="l"/>
            <a:r>
              <a:rPr b="1" sz="1350" noProof="1">
                <a:solidFill>
                  <a:srgbClr val="2B2D2F"/>
                </a:solidFill>
                <a:latin typeface="Liter"/>
                <a:ea typeface="Liter"/>
              </a:rPr>
              <a:t>Assess</a:t>
            </a:r>
          </a:p>
        </p:txBody>
      </p:sp>
      <p:sp>
        <p:nvSpPr>
          <p:cNvPr id="10" name="dsl:s1-desc"/>
          <p:cNvSpPr txBox="1"/>
          <p:nvPr/>
        </p:nvSpPr>
        <p:spPr>
          <a:xfrm>
            <a:off x="723900" y="2400300"/>
            <a:ext cx="2857500" cy="857250"/>
          </a:xfrm>
          <a:prstGeom prst="rect">
            <a:avLst/>
          </a:prstGeom>
          <a:noFill/>
        </p:spPr>
        <p:txBody>
          <a:bodyPr wrap="square" anchor="t">
            <a:noAutofit/>
          </a:bodyPr>
          <a:lstStyle/>
          <a:p>
            <a:pPr algn="l">
              <a:lnSpc>
                <a:spcPct val="140000"/>
              </a:lnSpc>
            </a:pPr>
            <a:r>
              <a:rPr sz="1050" noProof="1">
                <a:solidFill>
                  <a:srgbClr val="5C6B73"/>
                </a:solidFill>
                <a:latin typeface="QuattrocentoSans"/>
                <a:ea typeface="QuattrocentoSans"/>
              </a:rPr>
              <a:t>Evaluate current SOC tools, identify coverage gaps, and define implementation priorities.</a:t>
            </a:r>
          </a:p>
        </p:txBody>
      </p:sp>
      <p:cxnSp>
        <p:nvCxnSpPr>
          <p:cNvPr id="11" name="dsl:a1"/>
          <p:cNvCxnSpPr/>
          <p:nvPr/>
        </p:nvCxnSpPr>
        <p:spPr>
          <a:xfrm>
            <a:off x="3810000" y="2447925"/>
            <a:ext cx="28575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2" name="dsl:s2-bg"/>
          <p:cNvSpPr/>
          <p:nvPr/>
        </p:nvSpPr>
        <p:spPr>
          <a:xfrm>
            <a:off x="4095750" y="1524000"/>
            <a:ext cx="3238500" cy="18573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s2-num-bg"/>
          <p:cNvSpPr/>
          <p:nvPr/>
        </p:nvSpPr>
        <p:spPr>
          <a:xfrm>
            <a:off x="4095750" y="1524000"/>
            <a:ext cx="3238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l:s2-num"/>
          <p:cNvSpPr txBox="1"/>
          <p:nvPr/>
        </p:nvSpPr>
        <p:spPr>
          <a:xfrm>
            <a:off x="4248150" y="1695450"/>
            <a:ext cx="571500" cy="342900"/>
          </a:xfrm>
          <a:prstGeom prst="rect">
            <a:avLst/>
          </a:prstGeom>
          <a:noFill/>
        </p:spPr>
        <p:txBody>
          <a:bodyPr wrap="none" anchor="ctr">
            <a:noAutofit/>
          </a:bodyPr>
          <a:lstStyle/>
          <a:p>
            <a:pPr algn="l"/>
            <a:r>
              <a:rPr b="1" sz="2100" noProof="1">
                <a:solidFill>
                  <a:srgbClr val="D4A373"/>
                </a:solidFill>
                <a:latin typeface="Liter"/>
                <a:ea typeface="Liter"/>
              </a:rPr>
              <a:t>02</a:t>
            </a:r>
          </a:p>
        </p:txBody>
      </p:sp>
      <p:sp>
        <p:nvSpPr>
          <p:cNvPr id="15" name="dsl:s2-title"/>
          <p:cNvSpPr txBox="1"/>
          <p:nvPr/>
        </p:nvSpPr>
        <p:spPr>
          <a:xfrm>
            <a:off x="4248150" y="2095500"/>
            <a:ext cx="2857500" cy="247650"/>
          </a:xfrm>
          <a:prstGeom prst="rect">
            <a:avLst/>
          </a:prstGeom>
          <a:noFill/>
        </p:spPr>
        <p:txBody>
          <a:bodyPr wrap="none" anchor="ctr">
            <a:noAutofit/>
          </a:bodyPr>
          <a:lstStyle/>
          <a:p>
            <a:pPr algn="l"/>
            <a:r>
              <a:rPr b="1" sz="1350" noProof="1">
                <a:solidFill>
                  <a:srgbClr val="2B2D2F"/>
                </a:solidFill>
                <a:latin typeface="Liter"/>
                <a:ea typeface="Liter"/>
              </a:rPr>
              <a:t>Connect Sources</a:t>
            </a:r>
          </a:p>
        </p:txBody>
      </p:sp>
      <p:sp>
        <p:nvSpPr>
          <p:cNvPr id="16" name="dsl:s2-desc"/>
          <p:cNvSpPr txBox="1"/>
          <p:nvPr/>
        </p:nvSpPr>
        <p:spPr>
          <a:xfrm>
            <a:off x="4248150" y="2400300"/>
            <a:ext cx="2857500" cy="857250"/>
          </a:xfrm>
          <a:prstGeom prst="rect">
            <a:avLst/>
          </a:prstGeom>
          <a:noFill/>
        </p:spPr>
        <p:txBody>
          <a:bodyPr wrap="square" anchor="t">
            <a:noAutofit/>
          </a:bodyPr>
          <a:lstStyle/>
          <a:p>
            <a:pPr algn="l">
              <a:lnSpc>
                <a:spcPct val="140000"/>
              </a:lnSpc>
            </a:pPr>
            <a:r>
              <a:rPr sz="1050" noProof="1">
                <a:solidFill>
                  <a:srgbClr val="5C6B73"/>
                </a:solidFill>
                <a:latin typeface="QuattrocentoSans"/>
                <a:ea typeface="QuattrocentoSans"/>
              </a:rPr>
              <a:t>Deploy Wazuh, Suricata, Falco, and Telegraf agents. Validate telemetry flow to Elasticsearch.</a:t>
            </a:r>
          </a:p>
        </p:txBody>
      </p:sp>
      <p:cxnSp>
        <p:nvCxnSpPr>
          <p:cNvPr id="17" name="dsl:a2"/>
          <p:cNvCxnSpPr/>
          <p:nvPr/>
        </p:nvCxnSpPr>
        <p:spPr>
          <a:xfrm>
            <a:off x="7334250" y="2447925"/>
            <a:ext cx="285750" cy="0"/>
          </a:xfrm>
          <a:prstGeom prst="straightConnector1">
            <a:avLst/>
          </a:prstGeom>
          <a:ln w="25400">
            <a:solidFill>
              <a:srgbClr val="D4A373"/>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18" name="dsl:s3-bg"/>
          <p:cNvSpPr/>
          <p:nvPr/>
        </p:nvSpPr>
        <p:spPr>
          <a:xfrm>
            <a:off x="7620000" y="1524000"/>
            <a:ext cx="3238500" cy="18573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s3-num-bg"/>
          <p:cNvSpPr/>
          <p:nvPr/>
        </p:nvSpPr>
        <p:spPr>
          <a:xfrm>
            <a:off x="7620000" y="1524000"/>
            <a:ext cx="3238500" cy="3810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l:s3-num"/>
          <p:cNvSpPr txBox="1"/>
          <p:nvPr/>
        </p:nvSpPr>
        <p:spPr>
          <a:xfrm>
            <a:off x="7772400" y="1695450"/>
            <a:ext cx="571500" cy="342900"/>
          </a:xfrm>
          <a:prstGeom prst="rect">
            <a:avLst/>
          </a:prstGeom>
          <a:noFill/>
        </p:spPr>
        <p:txBody>
          <a:bodyPr wrap="none" anchor="ctr">
            <a:noAutofit/>
          </a:bodyPr>
          <a:lstStyle/>
          <a:p>
            <a:pPr algn="l"/>
            <a:r>
              <a:rPr b="1" sz="2100" noProof="1">
                <a:solidFill>
                  <a:srgbClr val="D4A373"/>
                </a:solidFill>
                <a:latin typeface="Liter"/>
                <a:ea typeface="Liter"/>
              </a:rPr>
              <a:t>03</a:t>
            </a:r>
          </a:p>
        </p:txBody>
      </p:sp>
      <p:sp>
        <p:nvSpPr>
          <p:cNvPr id="21" name="dsl:s3-title"/>
          <p:cNvSpPr txBox="1"/>
          <p:nvPr/>
        </p:nvSpPr>
        <p:spPr>
          <a:xfrm>
            <a:off x="7772400" y="2095500"/>
            <a:ext cx="2857500" cy="247650"/>
          </a:xfrm>
          <a:prstGeom prst="rect">
            <a:avLst/>
          </a:prstGeom>
          <a:noFill/>
        </p:spPr>
        <p:txBody>
          <a:bodyPr wrap="none" anchor="ctr">
            <a:noAutofit/>
          </a:bodyPr>
          <a:lstStyle/>
          <a:p>
            <a:pPr algn="l"/>
            <a:r>
              <a:rPr b="1" sz="1350" noProof="1">
                <a:solidFill>
                  <a:srgbClr val="2B2D2F"/>
                </a:solidFill>
                <a:latin typeface="Liter"/>
                <a:ea typeface="Liter"/>
              </a:rPr>
              <a:t>Configure</a:t>
            </a:r>
          </a:p>
        </p:txBody>
      </p:sp>
      <p:sp>
        <p:nvSpPr>
          <p:cNvPr id="22" name="dsl:s3-desc"/>
          <p:cNvSpPr txBox="1"/>
          <p:nvPr/>
        </p:nvSpPr>
        <p:spPr>
          <a:xfrm>
            <a:off x="7772400" y="2400300"/>
            <a:ext cx="2857500" cy="857250"/>
          </a:xfrm>
          <a:prstGeom prst="rect">
            <a:avLst/>
          </a:prstGeom>
          <a:noFill/>
        </p:spPr>
        <p:txBody>
          <a:bodyPr wrap="square" anchor="t">
            <a:noAutofit/>
          </a:bodyPr>
          <a:lstStyle/>
          <a:p>
            <a:pPr algn="l">
              <a:lnSpc>
                <a:spcPct val="140000"/>
              </a:lnSpc>
            </a:pPr>
            <a:r>
              <a:rPr sz="1050" noProof="1">
                <a:solidFill>
                  <a:srgbClr val="5C6B73"/>
                </a:solidFill>
                <a:latin typeface="QuattrocentoSans"/>
                <a:ea typeface="QuattrocentoSans"/>
              </a:rPr>
              <a:t>Tune Sigma rules, set severity thresholds, and define approval policies for automation.</a:t>
            </a:r>
          </a:p>
        </p:txBody>
      </p:sp>
      <p:cxnSp>
        <p:nvCxnSpPr>
          <p:cNvPr id="23" name="dsl:a-down1"/>
          <p:cNvCxnSpPr/>
          <p:nvPr/>
        </p:nvCxnSpPr>
        <p:spPr>
          <a:xfrm>
            <a:off x="2190750" y="3381375"/>
            <a:ext cx="0" cy="238125"/>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4" name="dsl:a-down2"/>
          <p:cNvCxnSpPr/>
          <p:nvPr/>
        </p:nvCxnSpPr>
        <p:spPr>
          <a:xfrm>
            <a:off x="5715000" y="3381375"/>
            <a:ext cx="0" cy="238125"/>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cxnSp>
        <p:nvCxnSpPr>
          <p:cNvPr id="25" name="dsl:a-down3"/>
          <p:cNvCxnSpPr/>
          <p:nvPr/>
        </p:nvCxnSpPr>
        <p:spPr>
          <a:xfrm>
            <a:off x="9239250" y="3381375"/>
            <a:ext cx="0" cy="238125"/>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6" name="dsl:s4-bg"/>
          <p:cNvSpPr/>
          <p:nvPr/>
        </p:nvSpPr>
        <p:spPr>
          <a:xfrm>
            <a:off x="571500" y="3714750"/>
            <a:ext cx="3238500" cy="18573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s4-num-bg"/>
          <p:cNvSpPr/>
          <p:nvPr/>
        </p:nvSpPr>
        <p:spPr>
          <a:xfrm>
            <a:off x="571500" y="3714750"/>
            <a:ext cx="323850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sl:s4-num"/>
          <p:cNvSpPr txBox="1"/>
          <p:nvPr/>
        </p:nvSpPr>
        <p:spPr>
          <a:xfrm>
            <a:off x="723900" y="3886200"/>
            <a:ext cx="571500" cy="342900"/>
          </a:xfrm>
          <a:prstGeom prst="rect">
            <a:avLst/>
          </a:prstGeom>
          <a:noFill/>
        </p:spPr>
        <p:txBody>
          <a:bodyPr wrap="none" anchor="ctr">
            <a:noAutofit/>
          </a:bodyPr>
          <a:lstStyle/>
          <a:p>
            <a:pPr algn="l"/>
            <a:r>
              <a:rPr b="1" sz="2100" noProof="1">
                <a:solidFill>
                  <a:srgbClr val="2D6A6A"/>
                </a:solidFill>
                <a:latin typeface="Liter"/>
                <a:ea typeface="Liter"/>
              </a:rPr>
              <a:t>04</a:t>
            </a:r>
          </a:p>
        </p:txBody>
      </p:sp>
      <p:sp>
        <p:nvSpPr>
          <p:cNvPr id="29" name="dsl:s4-title"/>
          <p:cNvSpPr txBox="1"/>
          <p:nvPr/>
        </p:nvSpPr>
        <p:spPr>
          <a:xfrm>
            <a:off x="723900" y="4286250"/>
            <a:ext cx="2857500" cy="247650"/>
          </a:xfrm>
          <a:prstGeom prst="rect">
            <a:avLst/>
          </a:prstGeom>
          <a:noFill/>
        </p:spPr>
        <p:txBody>
          <a:bodyPr wrap="none" anchor="ctr">
            <a:noAutofit/>
          </a:bodyPr>
          <a:lstStyle/>
          <a:p>
            <a:pPr algn="l"/>
            <a:r>
              <a:rPr b="1" sz="1350" noProof="1">
                <a:solidFill>
                  <a:srgbClr val="2B2D2F"/>
                </a:solidFill>
                <a:latin typeface="Liter"/>
                <a:ea typeface="Liter"/>
              </a:rPr>
              <a:t>Pilot</a:t>
            </a:r>
          </a:p>
        </p:txBody>
      </p:sp>
      <p:sp>
        <p:nvSpPr>
          <p:cNvPr id="30" name="dsl:s4-desc"/>
          <p:cNvSpPr txBox="1"/>
          <p:nvPr/>
        </p:nvSpPr>
        <p:spPr>
          <a:xfrm>
            <a:off x="723900" y="4591050"/>
            <a:ext cx="2857500" cy="857250"/>
          </a:xfrm>
          <a:prstGeom prst="rect">
            <a:avLst/>
          </a:prstGeom>
          <a:noFill/>
        </p:spPr>
        <p:txBody>
          <a:bodyPr wrap="square" anchor="t">
            <a:noAutofit/>
          </a:bodyPr>
          <a:lstStyle/>
          <a:p>
            <a:pPr algn="l">
              <a:lnSpc>
                <a:spcPct val="140000"/>
              </a:lnSpc>
            </a:pPr>
            <a:r>
              <a:rPr sz="1050" noProof="1">
                <a:solidFill>
                  <a:srgbClr val="5C6B73"/>
                </a:solidFill>
                <a:latin typeface="QuattrocentoSans"/>
                <a:ea typeface="QuattrocentoSans"/>
              </a:rPr>
              <a:t>Onboard a small server group. Validate correlation quality and refine playbooks.</a:t>
            </a:r>
          </a:p>
        </p:txBody>
      </p:sp>
      <p:cxnSp>
        <p:nvCxnSpPr>
          <p:cNvPr id="31" name="dsl:a3"/>
          <p:cNvCxnSpPr/>
          <p:nvPr/>
        </p:nvCxnSpPr>
        <p:spPr>
          <a:xfrm>
            <a:off x="3810000" y="4638675"/>
            <a:ext cx="285750" cy="0"/>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2" name="dsl:s5-bg"/>
          <p:cNvSpPr/>
          <p:nvPr/>
        </p:nvSpPr>
        <p:spPr>
          <a:xfrm>
            <a:off x="4095750" y="3714750"/>
            <a:ext cx="3238500" cy="18573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s5-num-bg"/>
          <p:cNvSpPr/>
          <p:nvPr/>
        </p:nvSpPr>
        <p:spPr>
          <a:xfrm>
            <a:off x="4095750" y="3714750"/>
            <a:ext cx="323850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s5-num"/>
          <p:cNvSpPr txBox="1"/>
          <p:nvPr/>
        </p:nvSpPr>
        <p:spPr>
          <a:xfrm>
            <a:off x="4248150" y="3886200"/>
            <a:ext cx="571500" cy="342900"/>
          </a:xfrm>
          <a:prstGeom prst="rect">
            <a:avLst/>
          </a:prstGeom>
          <a:noFill/>
        </p:spPr>
        <p:txBody>
          <a:bodyPr wrap="none" anchor="ctr">
            <a:noAutofit/>
          </a:bodyPr>
          <a:lstStyle/>
          <a:p>
            <a:pPr algn="l"/>
            <a:r>
              <a:rPr b="1" sz="2100" noProof="1">
                <a:solidFill>
                  <a:srgbClr val="2D6A6A"/>
                </a:solidFill>
                <a:latin typeface="Liter"/>
                <a:ea typeface="Liter"/>
              </a:rPr>
              <a:t>05</a:t>
            </a:r>
          </a:p>
        </p:txBody>
      </p:sp>
      <p:sp>
        <p:nvSpPr>
          <p:cNvPr id="35" name="dsl:s5-title"/>
          <p:cNvSpPr txBox="1"/>
          <p:nvPr/>
        </p:nvSpPr>
        <p:spPr>
          <a:xfrm>
            <a:off x="4248150" y="4286250"/>
            <a:ext cx="2857500" cy="247650"/>
          </a:xfrm>
          <a:prstGeom prst="rect">
            <a:avLst/>
          </a:prstGeom>
          <a:noFill/>
        </p:spPr>
        <p:txBody>
          <a:bodyPr wrap="none" anchor="ctr">
            <a:noAutofit/>
          </a:bodyPr>
          <a:lstStyle/>
          <a:p>
            <a:pPr algn="l"/>
            <a:r>
              <a:rPr b="1" sz="1350" noProof="1">
                <a:solidFill>
                  <a:srgbClr val="2B2D2F"/>
                </a:solidFill>
                <a:latin typeface="Liter"/>
                <a:ea typeface="Liter"/>
              </a:rPr>
              <a:t>Expand</a:t>
            </a:r>
          </a:p>
        </p:txBody>
      </p:sp>
      <p:sp>
        <p:nvSpPr>
          <p:cNvPr id="36" name="dsl:s5-desc"/>
          <p:cNvSpPr txBox="1"/>
          <p:nvPr/>
        </p:nvSpPr>
        <p:spPr>
          <a:xfrm>
            <a:off x="4248150" y="4591050"/>
            <a:ext cx="2857500" cy="857250"/>
          </a:xfrm>
          <a:prstGeom prst="rect">
            <a:avLst/>
          </a:prstGeom>
          <a:noFill/>
        </p:spPr>
        <p:txBody>
          <a:bodyPr wrap="square" anchor="t">
            <a:noAutofit/>
          </a:bodyPr>
          <a:lstStyle/>
          <a:p>
            <a:pPr algn="l">
              <a:lnSpc>
                <a:spcPct val="140000"/>
              </a:lnSpc>
            </a:pPr>
            <a:r>
              <a:rPr sz="1050" noProof="1">
                <a:solidFill>
                  <a:srgbClr val="5C6B73"/>
                </a:solidFill>
                <a:latin typeface="QuattrocentoSans"/>
                <a:ea typeface="QuattrocentoSans"/>
              </a:rPr>
              <a:t>Scale to full infrastructure. Add more data sources and train analysts on the platform.</a:t>
            </a:r>
          </a:p>
        </p:txBody>
      </p:sp>
      <p:cxnSp>
        <p:nvCxnSpPr>
          <p:cNvPr id="37" name="dsl:a4"/>
          <p:cNvCxnSpPr/>
          <p:nvPr/>
        </p:nvCxnSpPr>
        <p:spPr>
          <a:xfrm>
            <a:off x="7334250" y="4638675"/>
            <a:ext cx="285750" cy="0"/>
          </a:xfrm>
          <a:prstGeom prst="straightConnector1">
            <a:avLst/>
          </a:prstGeom>
          <a:ln w="25400">
            <a:solidFill>
              <a:srgbClr val="2D6A6A"/>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8" name="dsl:s6-bg"/>
          <p:cNvSpPr/>
          <p:nvPr/>
        </p:nvSpPr>
        <p:spPr>
          <a:xfrm>
            <a:off x="7620000" y="3714750"/>
            <a:ext cx="3238500" cy="1857375"/>
          </a:xfrm>
          <a:prstGeom prst="rect">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sl:s6-num-bg"/>
          <p:cNvSpPr/>
          <p:nvPr/>
        </p:nvSpPr>
        <p:spPr>
          <a:xfrm>
            <a:off x="7620000" y="3714750"/>
            <a:ext cx="3238500" cy="38100"/>
          </a:xfrm>
          <a:prstGeom prst="rect">
            <a:avLst/>
          </a:prstGeom>
          <a:solidFill>
            <a:srgbClr val="2D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sl:s6-num"/>
          <p:cNvSpPr txBox="1"/>
          <p:nvPr/>
        </p:nvSpPr>
        <p:spPr>
          <a:xfrm>
            <a:off x="7772400" y="3886200"/>
            <a:ext cx="571500" cy="342900"/>
          </a:xfrm>
          <a:prstGeom prst="rect">
            <a:avLst/>
          </a:prstGeom>
          <a:noFill/>
        </p:spPr>
        <p:txBody>
          <a:bodyPr wrap="none" anchor="ctr">
            <a:noAutofit/>
          </a:bodyPr>
          <a:lstStyle/>
          <a:p>
            <a:pPr algn="l"/>
            <a:r>
              <a:rPr b="1" sz="2100" noProof="1">
                <a:solidFill>
                  <a:srgbClr val="2D6A6A"/>
                </a:solidFill>
                <a:latin typeface="Liter"/>
                <a:ea typeface="Liter"/>
              </a:rPr>
              <a:t>06</a:t>
            </a:r>
          </a:p>
        </p:txBody>
      </p:sp>
      <p:sp>
        <p:nvSpPr>
          <p:cNvPr id="41" name="dsl:s6-title"/>
          <p:cNvSpPr txBox="1"/>
          <p:nvPr/>
        </p:nvSpPr>
        <p:spPr>
          <a:xfrm>
            <a:off x="7772400" y="4286250"/>
            <a:ext cx="2857500" cy="247650"/>
          </a:xfrm>
          <a:prstGeom prst="rect">
            <a:avLst/>
          </a:prstGeom>
          <a:noFill/>
        </p:spPr>
        <p:txBody>
          <a:bodyPr wrap="none" anchor="ctr">
            <a:noAutofit/>
          </a:bodyPr>
          <a:lstStyle/>
          <a:p>
            <a:pPr algn="l"/>
            <a:r>
              <a:rPr b="1" sz="1350" noProof="1">
                <a:solidFill>
                  <a:srgbClr val="2B2D2F"/>
                </a:solidFill>
                <a:latin typeface="Liter"/>
                <a:ea typeface="Liter"/>
              </a:rPr>
              <a:t>Optimize</a:t>
            </a:r>
          </a:p>
        </p:txBody>
      </p:sp>
      <p:sp>
        <p:nvSpPr>
          <p:cNvPr id="42" name="dsl:s6-desc"/>
          <p:cNvSpPr txBox="1"/>
          <p:nvPr/>
        </p:nvSpPr>
        <p:spPr>
          <a:xfrm>
            <a:off x="7772400" y="4591050"/>
            <a:ext cx="2857500" cy="857250"/>
          </a:xfrm>
          <a:prstGeom prst="rect">
            <a:avLst/>
          </a:prstGeom>
          <a:noFill/>
        </p:spPr>
        <p:txBody>
          <a:bodyPr wrap="square" anchor="t">
            <a:noAutofit/>
          </a:bodyPr>
          <a:lstStyle/>
          <a:p>
            <a:pPr algn="l">
              <a:lnSpc>
                <a:spcPct val="140000"/>
              </a:lnSpc>
            </a:pPr>
            <a:r>
              <a:rPr sz="1050" noProof="1">
                <a:solidFill>
                  <a:srgbClr val="5C6B73"/>
                </a:solidFill>
                <a:latin typeface="QuattrocentoSans"/>
                <a:ea typeface="QuattrocentoSans"/>
              </a:rPr>
              <a:t>Review metrics, tune detection rules, and expand automation scope based on results.</a:t>
            </a:r>
          </a:p>
        </p:txBody>
      </p:sp>
      <p:sp>
        <p:nvSpPr>
          <p:cNvPr id="43" name="dsl:key-message"/>
          <p:cNvSpPr txBox="1"/>
          <p:nvPr/>
        </p:nvSpPr>
        <p:spPr>
          <a:xfrm>
            <a:off x="571500" y="5857875"/>
            <a:ext cx="11049000" cy="285750"/>
          </a:xfrm>
          <a:prstGeom prst="rect">
            <a:avLst/>
          </a:prstGeom>
          <a:noFill/>
        </p:spPr>
        <p:txBody>
          <a:bodyPr wrap="none" anchor="ctr">
            <a:noAutofit/>
          </a:bodyPr>
          <a:lstStyle/>
          <a:p>
            <a:pPr algn="ctr"/>
            <a:r>
              <a:rPr b="1" sz="1350" noProof="1">
                <a:solidFill>
                  <a:srgbClr val="2D6A6A"/>
                </a:solidFill>
                <a:latin typeface="Liter"/>
                <a:ea typeface="Liter"/>
              </a:rPr>
              <a:t>Phased approach minimizes risk — prove value at every step before expanding.</a:t>
            </a:r>
          </a:p>
        </p:txBody>
      </p:sp>
      <p:sp>
        <p:nvSpPr>
          <p:cNvPr id="44" name="dsl:footer-author"/>
          <p:cNvSpPr txBox="1"/>
          <p:nvPr/>
        </p:nvSpPr>
        <p:spPr>
          <a:xfrm>
            <a:off x="571500" y="6572250"/>
            <a:ext cx="1905000" cy="171450"/>
          </a:xfrm>
          <a:prstGeom prst="rect">
            <a:avLst/>
          </a:prstGeom>
          <a:noFill/>
        </p:spPr>
        <p:txBody>
          <a:bodyPr wrap="none" anchor="ctr">
            <a:noAutofit/>
          </a:bodyPr>
          <a:lstStyle/>
          <a:p>
            <a:pPr algn="l"/>
            <a:r>
              <a:rPr sz="825" noProof="1">
                <a:solidFill>
                  <a:srgbClr val="5C6B73"/>
                </a:solidFill>
                <a:latin typeface="Liter"/>
                <a:ea typeface="Liter"/>
              </a:rPr>
              <a:t>GHAZI MABROUKI</a:t>
            </a:r>
          </a:p>
        </p:txBody>
      </p:sp>
      <p:sp>
        <p:nvSpPr>
          <p:cNvPr id="45" name="dsl:footer-page"/>
          <p:cNvSpPr txBox="1"/>
          <p:nvPr/>
        </p:nvSpPr>
        <p:spPr>
          <a:xfrm>
            <a:off x="11049000" y="6572250"/>
            <a:ext cx="571500" cy="171450"/>
          </a:xfrm>
          <a:prstGeom prst="rect">
            <a:avLst/>
          </a:prstGeom>
          <a:noFill/>
        </p:spPr>
        <p:txBody>
          <a:bodyPr wrap="none" anchor="ctr">
            <a:noAutofit/>
          </a:bodyPr>
          <a:lstStyle/>
          <a:p>
            <a:pPr algn="r"/>
            <a:r>
              <a:rPr sz="900" noProof="1">
                <a:solidFill>
                  <a:srgbClr val="5C6B73"/>
                </a:solidFill>
                <a:latin typeface="Liter"/>
                <a:ea typeface="Liter"/>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dsl:top-accent"/>
          <p:cNvSpPr/>
          <p:nvPr/>
        </p:nvSpPr>
        <p:spPr>
          <a:xfrm>
            <a:off x="5143500" y="1143000"/>
            <a:ext cx="1905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aria-text"/>
          <p:cNvSpPr txBox="1"/>
          <p:nvPr/>
        </p:nvSpPr>
        <p:spPr>
          <a:xfrm>
            <a:off x="2286000" y="1524000"/>
            <a:ext cx="7620000" cy="952500"/>
          </a:xfrm>
          <a:prstGeom prst="rect">
            <a:avLst/>
          </a:prstGeom>
          <a:noFill/>
        </p:spPr>
        <p:txBody>
          <a:bodyPr wrap="none" anchor="ctr">
            <a:noAutofit/>
          </a:bodyPr>
          <a:lstStyle/>
          <a:p>
            <a:pPr algn="ctr"/>
            <a:r>
              <a:rPr sz="6000" noProof="1" spc="900">
                <a:solidFill>
                  <a:srgbClr val="2D6A6A"/>
                </a:solidFill>
                <a:latin typeface="Liter"/>
                <a:ea typeface="Liter"/>
              </a:rPr>
              <a:t>ARIA</a:t>
            </a:r>
          </a:p>
        </p:txBody>
      </p:sp>
      <p:sp>
        <p:nvSpPr>
          <p:cNvPr id="4" name="dsl:aria-underline"/>
          <p:cNvSpPr/>
          <p:nvPr/>
        </p:nvSpPr>
        <p:spPr>
          <a:xfrm>
            <a:off x="4667250" y="2619375"/>
            <a:ext cx="2857500" cy="19050"/>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full-name"/>
          <p:cNvSpPr txBox="1"/>
          <p:nvPr/>
        </p:nvSpPr>
        <p:spPr>
          <a:xfrm>
            <a:off x="2286000" y="2809875"/>
            <a:ext cx="7620000" cy="285750"/>
          </a:xfrm>
          <a:prstGeom prst="rect">
            <a:avLst/>
          </a:prstGeom>
          <a:noFill/>
        </p:spPr>
        <p:txBody>
          <a:bodyPr wrap="none" anchor="ctr">
            <a:noAutofit/>
          </a:bodyPr>
          <a:lstStyle/>
          <a:p>
            <a:pPr algn="ctr"/>
            <a:r>
              <a:rPr sz="1050" noProof="1">
                <a:solidFill>
                  <a:srgbClr val="5C6B73"/>
                </a:solidFill>
                <a:latin typeface="Liter"/>
                <a:ea typeface="Liter"/>
              </a:rPr>
              <a:t>ADAPTIVE RESPONSE INTELLIGENCE AUTOMATION</a:t>
            </a:r>
          </a:p>
        </p:txBody>
      </p:sp>
      <p:sp>
        <p:nvSpPr>
          <p:cNvPr id="6" name="dsl:tagline1"/>
          <p:cNvSpPr txBox="1"/>
          <p:nvPr/>
        </p:nvSpPr>
        <p:spPr>
          <a:xfrm>
            <a:off x="1809750" y="3524250"/>
            <a:ext cx="8572500" cy="381000"/>
          </a:xfrm>
          <a:prstGeom prst="rect">
            <a:avLst/>
          </a:prstGeom>
          <a:noFill/>
        </p:spPr>
        <p:txBody>
          <a:bodyPr wrap="none" anchor="ctr">
            <a:noAutofit/>
          </a:bodyPr>
          <a:lstStyle/>
          <a:p>
            <a:pPr algn="ctr"/>
            <a:r>
              <a:rPr sz="1800" noProof="1">
                <a:solidFill>
                  <a:srgbClr val="2B2D2F"/>
                </a:solidFill>
                <a:latin typeface="QuattrocentoSans"/>
                <a:ea typeface="QuattrocentoSans"/>
              </a:rPr>
              <a:t>Transform security events into actionable intelligence.</a:t>
            </a:r>
          </a:p>
        </p:txBody>
      </p:sp>
      <p:sp>
        <p:nvSpPr>
          <p:cNvPr id="7" name="dsl:tagline2"/>
          <p:cNvSpPr txBox="1"/>
          <p:nvPr/>
        </p:nvSpPr>
        <p:spPr>
          <a:xfrm>
            <a:off x="2286000" y="4000500"/>
            <a:ext cx="7620000" cy="333375"/>
          </a:xfrm>
          <a:prstGeom prst="rect">
            <a:avLst/>
          </a:prstGeom>
          <a:noFill/>
        </p:spPr>
        <p:txBody>
          <a:bodyPr wrap="none" anchor="ctr">
            <a:noAutofit/>
          </a:bodyPr>
          <a:lstStyle/>
          <a:p>
            <a:pPr algn="ctr"/>
            <a:r>
              <a:rPr sz="1500" noProof="1">
                <a:solidFill>
                  <a:srgbClr val="5C6B73"/>
                </a:solidFill>
                <a:latin typeface="QuattrocentoSans"/>
                <a:ea typeface="QuattrocentoSans"/>
              </a:rPr>
              <a:t>Smarter SOC operations start here.</a:t>
            </a:r>
          </a:p>
        </p:txBody>
      </p:sp>
      <p:sp>
        <p:nvSpPr>
          <p:cNvPr id="8" name="dsl:sep-line"/>
          <p:cNvSpPr/>
          <p:nvPr/>
        </p:nvSpPr>
        <p:spPr>
          <a:xfrm>
            <a:off x="5334000" y="4667250"/>
            <a:ext cx="1524000" cy="19050"/>
          </a:xfrm>
          <a:prstGeom prst="rect">
            <a:avLst/>
          </a:prstGeom>
          <a:solidFill>
            <a:srgbClr val="E5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author"/>
          <p:cNvSpPr txBox="1"/>
          <p:nvPr/>
        </p:nvSpPr>
        <p:spPr>
          <a:xfrm>
            <a:off x="2762250" y="4905375"/>
            <a:ext cx="6667500" cy="285750"/>
          </a:xfrm>
          <a:prstGeom prst="rect">
            <a:avLst/>
          </a:prstGeom>
          <a:noFill/>
        </p:spPr>
        <p:txBody>
          <a:bodyPr wrap="none" anchor="ctr">
            <a:noAutofit/>
          </a:bodyPr>
          <a:lstStyle/>
          <a:p>
            <a:pPr algn="ctr"/>
            <a:r>
              <a:rPr b="1" sz="1500" noProof="1">
                <a:solidFill>
                  <a:srgbClr val="2B2D2F"/>
                </a:solidFill>
                <a:latin typeface="Liter"/>
                <a:ea typeface="Liter"/>
              </a:rPr>
              <a:t>Ghazi Mabrouki</a:t>
            </a:r>
          </a:p>
        </p:txBody>
      </p:sp>
      <p:sp>
        <p:nvSpPr>
          <p:cNvPr id="10" name="dsl:thank-you"/>
          <p:cNvSpPr txBox="1"/>
          <p:nvPr/>
        </p:nvSpPr>
        <p:spPr>
          <a:xfrm>
            <a:off x="3238500" y="5429250"/>
            <a:ext cx="5715000" cy="476250"/>
          </a:xfrm>
          <a:prstGeom prst="rect">
            <a:avLst/>
          </a:prstGeom>
          <a:noFill/>
        </p:spPr>
        <p:txBody>
          <a:bodyPr wrap="none" anchor="ctr">
            <a:noAutofit/>
          </a:bodyPr>
          <a:lstStyle/>
          <a:p>
            <a:pPr algn="ctr"/>
            <a:r>
              <a:rPr b="1" sz="2100" noProof="1">
                <a:solidFill>
                  <a:srgbClr val="2D6A6A"/>
                </a:solidFill>
                <a:latin typeface="Liter"/>
                <a:ea typeface="Liter"/>
              </a:rPr>
              <a:t>Thank You</a:t>
            </a:r>
          </a:p>
        </p:txBody>
      </p:sp>
      <p:sp>
        <p:nvSpPr>
          <p:cNvPr id="11" name="dsl:questions"/>
          <p:cNvSpPr txBox="1"/>
          <p:nvPr/>
        </p:nvSpPr>
        <p:spPr>
          <a:xfrm>
            <a:off x="3714750" y="5953125"/>
            <a:ext cx="4762500" cy="266700"/>
          </a:xfrm>
          <a:prstGeom prst="rect">
            <a:avLst/>
          </a:prstGeom>
          <a:noFill/>
        </p:spPr>
        <p:txBody>
          <a:bodyPr wrap="none" anchor="ctr">
            <a:noAutofit/>
          </a:bodyPr>
          <a:lstStyle/>
          <a:p>
            <a:pPr algn="ctr"/>
            <a:r>
              <a:rPr sz="1200" noProof="1">
                <a:solidFill>
                  <a:srgbClr val="5C6B73"/>
                </a:solidFill>
                <a:latin typeface="QuattrocentoSans"/>
                <a:ea typeface="QuattrocentoSans"/>
              </a:rPr>
              <a:t>Questions &amp; Discussion</a:t>
            </a:r>
          </a:p>
        </p:txBody>
      </p:sp>
      <p:sp>
        <p:nvSpPr>
          <p:cNvPr id="12" name="dsl:bottom-accent"/>
          <p:cNvSpPr/>
          <p:nvPr/>
        </p:nvSpPr>
        <p:spPr>
          <a:xfrm>
            <a:off x="5143500" y="6477000"/>
            <a:ext cx="1905000" cy="28575"/>
          </a:xfrm>
          <a:prstGeom prst="rect">
            <a:avLst/>
          </a:prstGeom>
          <a:solidFill>
            <a:srgbClr val="D4A3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DslMetadata>
  <Colors>
    <Color name="primary" value="#2D6A6A"/>
    <Color name="secondary" value="#5C6B73"/>
    <Color name="accent" value="#D4A373"/>
    <Color name="background" value="#FAFAF8"/>
    <Color name="text" value="#2B2D2F"/>
    <Color name="textLight" value="#FFFFFF"/>
    <Color name="cardBg" value="#F5F5F2"/>
    <Color name="border" value="#E5E5E0"/>
    <Color name="navInactive" value="#8A9499"/>
    <Color name="tealLight" value="#8FB3B3"/>
    <Color name="amberLight" value="#E8C99A"/>
    <Color name="slateDark" value="#4A4E54"/>
  </Colors>
  <TextStyles>
    <TextStyle name="title" font_size="48.0" color="$primary" font_family="Liter" line_height="1.2"/>
    <TextStyle name="subtitle" font_size="22.0" color="$secondary" font_family="QuattrocentoSans" line_height="1.4"/>
    <TextStyle name="heading" font_size="30.0" color="$primary" font_family="Liter" line_height="1.3"/>
    <TextStyle name="subheading" font_size="22.0" color="$text" font_family="Liter" line_height="1.3"/>
    <TextStyle name="body" font_size="18.0" color="$text" font_family="QuattrocentoSans" line_height="1.6"/>
    <TextStyle name="caption" font_size="13.0" color="$secondary" font_family="QuattrocentoSans" line_height="1.4"/>
    <TextStyle name="kpi" font_size="52.0" color="$accent" font_family="Liter" line_height="1.1"/>
    <TextStyle name="nav" font_size="11.0" color="$navInactive" font_family="Liter" line_height="1.0" letter_spacing="2.0"/>
    <TextStyle name="navActive" font_size="11.0" color="$primary" font_family="Liter" line_height="1.0" letter_spacing="2.0"/>
  </TextStyles>
  <TableStyles>
    <TableStyle name="default" fontSize="14.0" fontFamily="QuattrocentoSans" headerFill="$primary" headerColor="$textLight" headerBold="true" bodyFill="#FFFFFF,$cardBg" bodyColor="$text" firstColumnBold="true">
      <Border style="solid" width="1.0" color="$border"/>
    </TableStyle>
  </TableStyles>
</DslMetadata>
</file>

<file path=customXml/itemProps1.xml><?xml version="1.0" encoding="utf-8"?>
<ns0:datastoreItem xmlns:ns0="http://schemas.openxmlformats.org/officeDocument/2006/customXml" ns0:itemID="{7D4A54F9-FCD6-4A9F-969C-A6DA8BCD79CD}">
  <ns0:schemaRefs/>
</ns0:datastoreItem>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