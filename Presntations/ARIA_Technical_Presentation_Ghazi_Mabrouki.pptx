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notesMasterIdLst>
    <p:notesMasterId r:id="rId8"/>
  </p:notesMaster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&lt;!--pageType:cover--&gt;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&lt;!--pageType:table_of_contents--&gt;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ARIA's end-to-end workflow: Security tools (Wazuh, Suricata, Falco, Telegraf) generate events that are collected into Elasticsearch. ARIA backend polls ES using cursor-based ingestion, then processes alerts through mapping (source-specific parsers), enrichment (GeoIP, MITRE), deduplication (Redis + DB checks), and correlation (time-windowed grouping). AI analysis generates investigation summaries, risk scores, and proposed playbooks. Incidents are presented to analysts for review and approval. Approved playbooks execute via Ansible with staged remediation, verification, and archival.</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Response Engine operates as a three-stage pipeline. Stage 1 (Context Building) aggregates all relevant alert data, indicators, MITRE ATT&amp;CK context, and behavioral history into a structured prompt. Stage 2 (Provider Routing) implements a multi-LLM client with support for Ollama (local), Google Gemini, OpenRouter, and NVIDIA NIM, with automatic fallback between providers. Stage 3 (Structured Output) parses the LLM response into a validated Investigation model containing summary, narrative, risk assessment, and playbook YAML. The AI is always treated as fallible — its output is parsed, validated, and never acted upon without analyst review.</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Remediation in ARIA is strictly separated from proposal. The AI may generate a playbook, but execution is always gated by an approval mechanism. The investigation lifecycle follows six states: pending, awaiting_approval, approved/declined, running, completed/failed, and archived. Three approval types exist: manual (analyst decides), auto-approved (low-risk only), and blocked (critical/high-risk). Execution follows six stages: baseline, dry-run, containment, hardening, forensics, and verification. The verifier re-checks evidence before closing — execution success is never assumed. Every sensitive transition is persisted as an audit event.</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logical architecture consists of four cooperating layers. The Frontend layer (Next.js, SWR, WebSocket) provides the analyst interface. The API layer (FastAPI, REST, rate limiting) handles all client requests. The Workflow layer contains the core intelligence engines: alert pipeline, incident manager, AI response engine, and operator. The Infrastructure layer provides data persistence and external integrations: Elasticsearch for telemetry, Redis for caching and cursors, SQLite for workflow state, Ansible for execution, and LLM providers for AI assistance.</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deployment runs on Huawei Cloud with a VPC containing an isolated private subnet and security groups. The central Brain VM (64 vCPU, 128GB RAM) runs Ubuntu 24 and hosts all core services: Elasticsearch 7.17.13, Kibana, Wazuh Manager 4.5.4, Filebeat, Suricata, Falco with Falcosidekick, Telegraf, Fail2Ban, and UFW. The ARIA stack runs as Docker Compose with Redis (port 6380), FastAPI (8001), Worker, and Next.js frontend (3001). Monitored VMs run Wazuh Agent, Filebeat, Suricata, Falco, and Telegraf. A deliberate installation ordering ensures the search core comes first, then security tools, then detection rules.</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 uses a fully scripted deployment approach for reproducibility. The setup_script_telegraf.sh orchestrates installation with per-component flags. Individual scripts handle each service: siem_setup.sh installs Elasticsearch, Kibana, Filebeat with TLS; wazuh_setup.sh deploys Wazuh Manager 4.5.4; suricata_setup.sh configures the NIDS with interface detection; setup-falco-server-elastic.sh sets up runtime detection; telegraf_setup.sh handles metrics collection; hardening_setup.sh applies Fail2Ban, UFW, and SSH hardening. The ARIA application stack runs via Docker Compose. Ansible handles mass deployment to monitored VMs. The deliberate ordering ensures dependencies are satisfied: search core first, then security tools, then detection rules.</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 implements six security control mechanisms: (1) No blind execution — the AI must produce a preview and risk classification before any action; (2) Approval gate — explicit analyst decision required for remediation; (3) Admin-secret gate — protected endpoints require the X-ARIA-Admin-Secret header; (4) Asset validation — execution requires a concrete target, global selections are rejected; (5) Secret handling — passwords and keys are redacted from logs and API responses; (6) Verification plus audit logging — every sensitive transition is persisted with actor, timestamp, and context. The core principle is human-in-the-loop: AI proposes, analyst reviews, system validates and controls.</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&lt;!--pageType:final--&gt;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2D6A6A"/>
            </a:gs>
            <a:gs pos="60000">
              <a:srgbClr val="2D6A6A">
                <a:alpha val="86666"/>
              </a:srgbClr>
            </a:gs>
            <a:gs pos="100000">
              <a:srgbClr val="8FB3B3">
                <a:alpha val="20000"/>
              </a:srgbClr>
            </a:gs>
          </a:gsLst>
          <a:lin scaled="1" ang="0"/>
        </a:gradFill>
        <a:effectLst/>
      </p:bgPr>
    </p:bg>
    <p:spTree>
      <p:nvGrpSpPr>
        <p:cNvPr id="1" name=""/>
        <p:cNvGrpSpPr/>
        <p:nvPr/>
      </p:nvGrpSpPr>
      <p:grpSpPr/>
      <p:sp>
        <p:nvSpPr>
          <p:cNvPr id="2" name="dsl:accent-line"/>
          <p:cNvSpPr/>
          <p:nvPr/>
        </p:nvSpPr>
        <p:spPr>
          <a:xfrm>
            <a:off x="762000" y="2333625"/>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title|s=$title"/>
          <p:cNvSpPr txBox="1"/>
          <p:nvPr/>
        </p:nvSpPr>
        <p:spPr>
          <a:xfrm>
            <a:off x="762000" y="2524125"/>
            <a:ext cx="5715000" cy="762000"/>
          </a:xfrm>
          <a:prstGeom prst="rect">
            <a:avLst/>
          </a:prstGeom>
          <a:noFill/>
        </p:spPr>
        <p:txBody>
          <a:bodyPr wrap="none" anchor="t">
            <a:noAutofit/>
          </a:bodyPr>
          <a:lstStyle/>
          <a:p>
            <a:pPr algn="l">
              <a:lnSpc>
                <a:spcPct val="120000"/>
              </a:lnSpc>
            </a:pPr>
            <a:r>
              <a:rPr b="1" sz="6000" noProof="1">
                <a:solidFill>
                  <a:srgbClr val="FFFFFF"/>
                </a:solidFill>
                <a:latin typeface="Liter"/>
                <a:ea typeface="Liter"/>
              </a:rPr>
              <a:t>ARIA</a:t>
            </a:r>
          </a:p>
        </p:txBody>
      </p:sp>
      <p:sp>
        <p:nvSpPr>
          <p:cNvPr id="4" name="dsl:subtitle"/>
          <p:cNvSpPr txBox="1"/>
          <p:nvPr/>
        </p:nvSpPr>
        <p:spPr>
          <a:xfrm>
            <a:off x="762000" y="3476625"/>
            <a:ext cx="6667500" cy="762000"/>
          </a:xfrm>
          <a:prstGeom prst="rect">
            <a:avLst/>
          </a:prstGeom>
          <a:noFill/>
        </p:spPr>
        <p:txBody>
          <a:bodyPr wrap="square" anchor="t">
            <a:noAutofit/>
          </a:bodyPr>
          <a:lstStyle/>
          <a:p>
            <a:pPr algn="l">
              <a:lnSpc>
                <a:spcPct val="150000"/>
              </a:lnSpc>
            </a:pPr>
            <a:r>
              <a:rPr sz="1800" noProof="1">
                <a:solidFill>
                  <a:srgbClr val="FFFFFF"/>
                </a:solidFill>
                <a:latin typeface="QuattrocentoSans"/>
                <a:ea typeface="QuattrocentoSans"/>
              </a:rPr>
              <a:t>Adaptive Response Intelligence Automation</a:t>
            </a:r>
          </a:p>
          <a:p>
            <a:pPr algn="l">
              <a:lnSpc>
                <a:spcPct val="150000"/>
              </a:lnSpc>
            </a:pPr>
            <a:r>
              <a:rPr sz="1800" noProof="1">
                <a:solidFill>
                  <a:srgbClr val="FFFFFF"/>
                </a:solidFill>
                <a:latin typeface="QuattrocentoSans"/>
                <a:ea typeface="QuattrocentoSans"/>
              </a:rPr>
              <a:t>AI-Assisted SOC/SOAR Platform</a:t>
            </a:r>
          </a:p>
        </p:txBody>
      </p:sp>
      <p:sp>
        <p:nvSpPr>
          <p:cNvPr id="5" name="dsl:bottom-accent"/>
          <p:cNvSpPr/>
          <p:nvPr/>
        </p:nvSpPr>
        <p:spPr>
          <a:xfrm>
            <a:off x="762000" y="5429250"/>
            <a:ext cx="38100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author-info"/>
          <p:cNvSpPr txBox="1"/>
          <p:nvPr/>
        </p:nvSpPr>
        <p:spPr>
          <a:xfrm>
            <a:off x="762000" y="5572125"/>
            <a:ext cx="5715000" cy="714375"/>
          </a:xfrm>
          <a:prstGeom prst="rect">
            <a:avLst/>
          </a:prstGeom>
          <a:noFill/>
        </p:spPr>
        <p:txBody>
          <a:bodyPr wrap="square" anchor="t">
            <a:noAutofit/>
          </a:bodyPr>
          <a:lstStyle/>
          <a:p>
            <a:pPr algn="l">
              <a:lnSpc>
                <a:spcPct val="160000"/>
              </a:lnSpc>
            </a:pPr>
            <a:r>
              <a:rPr b="1" sz="1200" noProof="1">
                <a:solidFill>
                  <a:srgbClr val="FFFFFF"/>
                </a:solidFill>
                <a:latin typeface="QuattrocentoSans"/>
                <a:ea typeface="QuattrocentoSans"/>
              </a:rPr>
              <a:t>Ghazi Mabrouki</a:t>
            </a:r>
          </a:p>
          <a:p>
            <a:pPr algn="l">
              <a:lnSpc>
                <a:spcPct val="160000"/>
              </a:lnSpc>
            </a:pPr>
            <a:r>
              <a:rPr sz="1200" noProof="1">
                <a:solidFill>
                  <a:srgbClr val="FFFFFF"/>
                </a:solidFill>
                <a:latin typeface="QuattrocentoSans"/>
                <a:ea typeface="QuattrocentoSans"/>
              </a:rPr>
              <a:t>Final-Year Project | Huawei Technologies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toc-title|s=$title"/>
          <p:cNvSpPr txBox="1"/>
          <p:nvPr/>
        </p:nvSpPr>
        <p:spPr>
          <a:xfrm>
            <a:off x="571500" y="428625"/>
            <a:ext cx="3810000" cy="523875"/>
          </a:xfrm>
          <a:prstGeom prst="rect">
            <a:avLst/>
          </a:prstGeom>
          <a:noFill/>
        </p:spPr>
        <p:txBody>
          <a:bodyPr wrap="none" anchor="t">
            <a:noAutofit/>
          </a:bodyPr>
          <a:lstStyle/>
          <a:p>
            <a:pPr algn="l">
              <a:lnSpc>
                <a:spcPct val="120000"/>
              </a:lnSpc>
            </a:pPr>
            <a:r>
              <a:rPr b="1" sz="2700" noProof="1">
                <a:solidFill>
                  <a:srgbClr val="2D6A6A"/>
                </a:solidFill>
                <a:latin typeface="Liter"/>
                <a:ea typeface="Liter"/>
              </a:rPr>
              <a:t>CONTENTS</a:t>
            </a:r>
          </a:p>
        </p:txBody>
      </p:sp>
      <p:sp>
        <p:nvSpPr>
          <p:cNvPr id="3" name="dsl:title-accent"/>
          <p:cNvSpPr/>
          <p:nvPr/>
        </p:nvSpPr>
        <p:spPr>
          <a:xfrm>
            <a:off x="571500" y="1000125"/>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1-num"/>
          <p:cNvSpPr txBox="1"/>
          <p:nvPr/>
        </p:nvSpPr>
        <p:spPr>
          <a:xfrm>
            <a:off x="571500" y="1476375"/>
            <a:ext cx="857250" cy="714375"/>
          </a:xfrm>
          <a:prstGeom prst="rect">
            <a:avLst/>
          </a:prstGeom>
          <a:noFill/>
        </p:spPr>
        <p:txBody>
          <a:bodyPr wrap="none" anchor="t">
            <a:noAutofit/>
          </a:bodyPr>
          <a:lstStyle/>
          <a:p>
            <a:pPr algn="l"/>
            <a:r>
              <a:rPr b="1" sz="3900" noProof="1">
                <a:solidFill>
                  <a:srgbClr val="2D6A6A"/>
                </a:solidFill>
                <a:latin typeface="Liter"/>
                <a:ea typeface="Liter"/>
              </a:rPr>
              <a:t>01</a:t>
            </a:r>
          </a:p>
        </p:txBody>
      </p:sp>
      <p:sp>
        <p:nvSpPr>
          <p:cNvPr id="5" name="dsl:ch1-title"/>
          <p:cNvSpPr txBox="1"/>
          <p:nvPr/>
        </p:nvSpPr>
        <p:spPr>
          <a:xfrm>
            <a:off x="1476375" y="1476375"/>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The SOC Challenge</a:t>
            </a:r>
          </a:p>
          <a:p>
            <a:pPr algn="l">
              <a:lnSpc>
                <a:spcPct val="140000"/>
              </a:lnSpc>
            </a:pPr>
            <a:r>
              <a:rPr sz="1050" noProof="1">
                <a:solidFill>
                  <a:srgbClr val="5C6B73"/>
                </a:solidFill>
                <a:latin typeface="Liter"/>
                <a:ea typeface="Liter"/>
              </a:rPr>
              <a:t>Problem statement &amp; identified gap</a:t>
            </a:r>
          </a:p>
        </p:txBody>
      </p:sp>
      <p:sp>
        <p:nvSpPr>
          <p:cNvPr id="6" name="dsl:ch1-line"/>
          <p:cNvSpPr/>
          <p:nvPr/>
        </p:nvSpPr>
        <p:spPr>
          <a:xfrm>
            <a:off x="571500" y="2190750"/>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ch2-num"/>
          <p:cNvSpPr txBox="1"/>
          <p:nvPr/>
        </p:nvSpPr>
        <p:spPr>
          <a:xfrm>
            <a:off x="571500" y="2476500"/>
            <a:ext cx="857250" cy="714375"/>
          </a:xfrm>
          <a:prstGeom prst="rect">
            <a:avLst/>
          </a:prstGeom>
          <a:noFill/>
        </p:spPr>
        <p:txBody>
          <a:bodyPr wrap="none" anchor="t">
            <a:noAutofit/>
          </a:bodyPr>
          <a:lstStyle/>
          <a:p>
            <a:pPr algn="l"/>
            <a:r>
              <a:rPr b="1" sz="3900" noProof="1">
                <a:solidFill>
                  <a:srgbClr val="2D6A6A"/>
                </a:solidFill>
                <a:latin typeface="Liter"/>
                <a:ea typeface="Liter"/>
              </a:rPr>
              <a:t>02</a:t>
            </a:r>
          </a:p>
        </p:txBody>
      </p:sp>
      <p:sp>
        <p:nvSpPr>
          <p:cNvPr id="8" name="dsl:ch2-title"/>
          <p:cNvSpPr txBox="1"/>
          <p:nvPr/>
        </p:nvSpPr>
        <p:spPr>
          <a:xfrm>
            <a:off x="1476375" y="2476500"/>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ARIA Overview &amp; Objectives</a:t>
            </a:r>
          </a:p>
          <a:p>
            <a:pPr algn="l">
              <a:lnSpc>
                <a:spcPct val="140000"/>
              </a:lnSpc>
            </a:pPr>
            <a:r>
              <a:rPr sz="1050" noProof="1">
                <a:solidFill>
                  <a:srgbClr val="5C6B73"/>
                </a:solidFill>
                <a:latin typeface="Liter"/>
                <a:ea typeface="Liter"/>
              </a:rPr>
              <a:t>Platform introduction &amp; goals</a:t>
            </a:r>
          </a:p>
        </p:txBody>
      </p:sp>
      <p:sp>
        <p:nvSpPr>
          <p:cNvPr id="9" name="dsl:ch2-line"/>
          <p:cNvSpPr/>
          <p:nvPr/>
        </p:nvSpPr>
        <p:spPr>
          <a:xfrm>
            <a:off x="571500" y="3190875"/>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l:ch3-num"/>
          <p:cNvSpPr txBox="1"/>
          <p:nvPr/>
        </p:nvSpPr>
        <p:spPr>
          <a:xfrm>
            <a:off x="571500" y="3476625"/>
            <a:ext cx="857250" cy="714375"/>
          </a:xfrm>
          <a:prstGeom prst="rect">
            <a:avLst/>
          </a:prstGeom>
          <a:noFill/>
        </p:spPr>
        <p:txBody>
          <a:bodyPr wrap="none" anchor="t">
            <a:noAutofit/>
          </a:bodyPr>
          <a:lstStyle/>
          <a:p>
            <a:pPr algn="l"/>
            <a:r>
              <a:rPr b="1" sz="3900" noProof="1">
                <a:solidFill>
                  <a:srgbClr val="2D6A6A"/>
                </a:solidFill>
                <a:latin typeface="Liter"/>
                <a:ea typeface="Liter"/>
              </a:rPr>
              <a:t>03</a:t>
            </a:r>
          </a:p>
        </p:txBody>
      </p:sp>
      <p:sp>
        <p:nvSpPr>
          <p:cNvPr id="11" name="dsl:ch3-title"/>
          <p:cNvSpPr txBox="1"/>
          <p:nvPr/>
        </p:nvSpPr>
        <p:spPr>
          <a:xfrm>
            <a:off x="1476375" y="3476625"/>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Data Collection &amp; Ingestion</a:t>
            </a:r>
          </a:p>
          <a:p>
            <a:pPr algn="l">
              <a:lnSpc>
                <a:spcPct val="140000"/>
              </a:lnSpc>
            </a:pPr>
            <a:r>
              <a:rPr sz="1050" noProof="1">
                <a:solidFill>
                  <a:srgbClr val="5C6B73"/>
                </a:solidFill>
                <a:latin typeface="Liter"/>
                <a:ea typeface="Liter"/>
              </a:rPr>
              <a:t>Multi-layer telemetry sources</a:t>
            </a:r>
          </a:p>
        </p:txBody>
      </p:sp>
      <p:sp>
        <p:nvSpPr>
          <p:cNvPr id="12" name="dsl:ch3-line"/>
          <p:cNvSpPr/>
          <p:nvPr/>
        </p:nvSpPr>
        <p:spPr>
          <a:xfrm>
            <a:off x="571500" y="4191000"/>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ch4-num"/>
          <p:cNvSpPr txBox="1"/>
          <p:nvPr/>
        </p:nvSpPr>
        <p:spPr>
          <a:xfrm>
            <a:off x="571500" y="4476750"/>
            <a:ext cx="857250" cy="714375"/>
          </a:xfrm>
          <a:prstGeom prst="rect">
            <a:avLst/>
          </a:prstGeom>
          <a:noFill/>
        </p:spPr>
        <p:txBody>
          <a:bodyPr wrap="none" anchor="t">
            <a:noAutofit/>
          </a:bodyPr>
          <a:lstStyle/>
          <a:p>
            <a:pPr algn="l"/>
            <a:r>
              <a:rPr b="1" sz="3900" noProof="1">
                <a:solidFill>
                  <a:srgbClr val="2D6A6A"/>
                </a:solidFill>
                <a:latin typeface="Liter"/>
                <a:ea typeface="Liter"/>
              </a:rPr>
              <a:t>04</a:t>
            </a:r>
          </a:p>
        </p:txBody>
      </p:sp>
      <p:sp>
        <p:nvSpPr>
          <p:cNvPr id="14" name="dsl:ch4-title"/>
          <p:cNvSpPr txBox="1"/>
          <p:nvPr/>
        </p:nvSpPr>
        <p:spPr>
          <a:xfrm>
            <a:off x="1476375" y="4476750"/>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Intelligence Pipeline</a:t>
            </a:r>
          </a:p>
          <a:p>
            <a:pPr algn="l">
              <a:lnSpc>
                <a:spcPct val="140000"/>
              </a:lnSpc>
            </a:pPr>
            <a:r>
              <a:rPr sz="1050" noProof="1">
                <a:solidFill>
                  <a:srgbClr val="5C6B73"/>
                </a:solidFill>
                <a:latin typeface="Liter"/>
                <a:ea typeface="Liter"/>
              </a:rPr>
              <a:t>From raw data to incidents</a:t>
            </a:r>
          </a:p>
        </p:txBody>
      </p:sp>
      <p:sp>
        <p:nvSpPr>
          <p:cNvPr id="15" name="dsl:ch4-line"/>
          <p:cNvSpPr/>
          <p:nvPr/>
        </p:nvSpPr>
        <p:spPr>
          <a:xfrm>
            <a:off x="571500" y="5191125"/>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h5-num"/>
          <p:cNvSpPr txBox="1"/>
          <p:nvPr/>
        </p:nvSpPr>
        <p:spPr>
          <a:xfrm>
            <a:off x="6477000" y="1476375"/>
            <a:ext cx="857250" cy="714375"/>
          </a:xfrm>
          <a:prstGeom prst="rect">
            <a:avLst/>
          </a:prstGeom>
          <a:noFill/>
        </p:spPr>
        <p:txBody>
          <a:bodyPr wrap="none" anchor="t">
            <a:noAutofit/>
          </a:bodyPr>
          <a:lstStyle/>
          <a:p>
            <a:pPr algn="l"/>
            <a:r>
              <a:rPr b="1" sz="3900" noProof="1">
                <a:solidFill>
                  <a:srgbClr val="2D6A6A"/>
                </a:solidFill>
                <a:latin typeface="Liter"/>
                <a:ea typeface="Liter"/>
              </a:rPr>
              <a:t>05</a:t>
            </a:r>
          </a:p>
        </p:txBody>
      </p:sp>
      <p:sp>
        <p:nvSpPr>
          <p:cNvPr id="17" name="dsl:ch5-title"/>
          <p:cNvSpPr txBox="1"/>
          <p:nvPr/>
        </p:nvSpPr>
        <p:spPr>
          <a:xfrm>
            <a:off x="7381875" y="1476375"/>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AI-Assisted Operations</a:t>
            </a:r>
          </a:p>
          <a:p>
            <a:pPr algn="l">
              <a:lnSpc>
                <a:spcPct val="140000"/>
              </a:lnSpc>
            </a:pPr>
            <a:r>
              <a:rPr sz="1050" noProof="1">
                <a:solidFill>
                  <a:srgbClr val="5C6B73"/>
                </a:solidFill>
                <a:latin typeface="Liter"/>
                <a:ea typeface="Liter"/>
              </a:rPr>
              <a:t>AI response &amp; remediation</a:t>
            </a:r>
          </a:p>
        </p:txBody>
      </p:sp>
      <p:sp>
        <p:nvSpPr>
          <p:cNvPr id="18" name="dsl:ch5-line"/>
          <p:cNvSpPr/>
          <p:nvPr/>
        </p:nvSpPr>
        <p:spPr>
          <a:xfrm>
            <a:off x="6477000" y="2190750"/>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ch6-num"/>
          <p:cNvSpPr txBox="1"/>
          <p:nvPr/>
        </p:nvSpPr>
        <p:spPr>
          <a:xfrm>
            <a:off x="6477000" y="2476500"/>
            <a:ext cx="857250" cy="714375"/>
          </a:xfrm>
          <a:prstGeom prst="rect">
            <a:avLst/>
          </a:prstGeom>
          <a:noFill/>
        </p:spPr>
        <p:txBody>
          <a:bodyPr wrap="none" anchor="t">
            <a:noAutofit/>
          </a:bodyPr>
          <a:lstStyle/>
          <a:p>
            <a:pPr algn="l"/>
            <a:r>
              <a:rPr b="1" sz="3900" noProof="1">
                <a:solidFill>
                  <a:srgbClr val="2D6A6A"/>
                </a:solidFill>
                <a:latin typeface="Liter"/>
                <a:ea typeface="Liter"/>
              </a:rPr>
              <a:t>06</a:t>
            </a:r>
          </a:p>
        </p:txBody>
      </p:sp>
      <p:sp>
        <p:nvSpPr>
          <p:cNvPr id="20" name="dsl:ch6-title"/>
          <p:cNvSpPr txBox="1"/>
          <p:nvPr/>
        </p:nvSpPr>
        <p:spPr>
          <a:xfrm>
            <a:off x="7381875" y="2476500"/>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Architecture &amp; Deployment</a:t>
            </a:r>
          </a:p>
          <a:p>
            <a:pPr algn="l">
              <a:lnSpc>
                <a:spcPct val="140000"/>
              </a:lnSpc>
            </a:pPr>
            <a:r>
              <a:rPr sz="1050" noProof="1">
                <a:solidFill>
                  <a:srgbClr val="5C6B73"/>
                </a:solidFill>
                <a:latin typeface="Liter"/>
                <a:ea typeface="Liter"/>
              </a:rPr>
              <a:t>System design &amp; CI/CD</a:t>
            </a:r>
          </a:p>
        </p:txBody>
      </p:sp>
      <p:sp>
        <p:nvSpPr>
          <p:cNvPr id="21" name="dsl:ch6-line"/>
          <p:cNvSpPr/>
          <p:nvPr/>
        </p:nvSpPr>
        <p:spPr>
          <a:xfrm>
            <a:off x="6477000" y="3190875"/>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h7-num"/>
          <p:cNvSpPr txBox="1"/>
          <p:nvPr/>
        </p:nvSpPr>
        <p:spPr>
          <a:xfrm>
            <a:off x="6477000" y="3476625"/>
            <a:ext cx="857250" cy="714375"/>
          </a:xfrm>
          <a:prstGeom prst="rect">
            <a:avLst/>
          </a:prstGeom>
          <a:noFill/>
        </p:spPr>
        <p:txBody>
          <a:bodyPr wrap="none" anchor="t">
            <a:noAutofit/>
          </a:bodyPr>
          <a:lstStyle/>
          <a:p>
            <a:pPr algn="l"/>
            <a:r>
              <a:rPr b="1" sz="3900" noProof="1">
                <a:solidFill>
                  <a:srgbClr val="2D6A6A"/>
                </a:solidFill>
                <a:latin typeface="Liter"/>
                <a:ea typeface="Liter"/>
              </a:rPr>
              <a:t>07</a:t>
            </a:r>
          </a:p>
        </p:txBody>
      </p:sp>
      <p:sp>
        <p:nvSpPr>
          <p:cNvPr id="23" name="dsl:ch7-title"/>
          <p:cNvSpPr txBox="1"/>
          <p:nvPr/>
        </p:nvSpPr>
        <p:spPr>
          <a:xfrm>
            <a:off x="7381875" y="3476625"/>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Security &amp; Validation</a:t>
            </a:r>
          </a:p>
          <a:p>
            <a:pPr algn="l">
              <a:lnSpc>
                <a:spcPct val="140000"/>
              </a:lnSpc>
            </a:pPr>
            <a:r>
              <a:rPr sz="1050" noProof="1">
                <a:solidFill>
                  <a:srgbClr val="5C6B73"/>
                </a:solidFill>
                <a:latin typeface="Liter"/>
                <a:ea typeface="Liter"/>
              </a:rPr>
              <a:t>Controls &amp; testing evidence</a:t>
            </a:r>
          </a:p>
        </p:txBody>
      </p:sp>
      <p:sp>
        <p:nvSpPr>
          <p:cNvPr id="24" name="dsl:ch7-line"/>
          <p:cNvSpPr/>
          <p:nvPr/>
        </p:nvSpPr>
        <p:spPr>
          <a:xfrm>
            <a:off x="6477000" y="4191000"/>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ch8-num"/>
          <p:cNvSpPr txBox="1"/>
          <p:nvPr/>
        </p:nvSpPr>
        <p:spPr>
          <a:xfrm>
            <a:off x="6477000" y="4476750"/>
            <a:ext cx="857250" cy="714375"/>
          </a:xfrm>
          <a:prstGeom prst="rect">
            <a:avLst/>
          </a:prstGeom>
          <a:noFill/>
        </p:spPr>
        <p:txBody>
          <a:bodyPr wrap="none" anchor="t">
            <a:noAutofit/>
          </a:bodyPr>
          <a:lstStyle/>
          <a:p>
            <a:pPr algn="l"/>
            <a:r>
              <a:rPr b="1" sz="3900" noProof="1">
                <a:solidFill>
                  <a:srgbClr val="2D6A6A"/>
                </a:solidFill>
                <a:latin typeface="Liter"/>
                <a:ea typeface="Liter"/>
              </a:rPr>
              <a:t>08</a:t>
            </a:r>
          </a:p>
        </p:txBody>
      </p:sp>
      <p:sp>
        <p:nvSpPr>
          <p:cNvPr id="26" name="dsl:ch8-title"/>
          <p:cNvSpPr txBox="1"/>
          <p:nvPr/>
        </p:nvSpPr>
        <p:spPr>
          <a:xfrm>
            <a:off x="7381875" y="4476750"/>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Value &amp; Roadmap</a:t>
            </a:r>
          </a:p>
          <a:p>
            <a:pPr algn="l">
              <a:lnSpc>
                <a:spcPct val="140000"/>
              </a:lnSpc>
            </a:pPr>
            <a:r>
              <a:rPr sz="1050" noProof="1">
                <a:solidFill>
                  <a:srgbClr val="5C6B73"/>
                </a:solidFill>
                <a:latin typeface="Liter"/>
                <a:ea typeface="Liter"/>
              </a:rPr>
              <a:t>Impact &amp; future enhancements</a:t>
            </a:r>
          </a:p>
        </p:txBody>
      </p:sp>
      <p:sp>
        <p:nvSpPr>
          <p:cNvPr id="27" name="dsl:ch8-line"/>
          <p:cNvSpPr/>
          <p:nvPr/>
        </p:nvSpPr>
        <p:spPr>
          <a:xfrm>
            <a:off x="6477000" y="5191125"/>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bottom-accent"/>
          <p:cNvSpPr/>
          <p:nvPr/>
        </p:nvSpPr>
        <p:spPr>
          <a:xfrm>
            <a:off x="571500" y="5857875"/>
            <a:ext cx="11049000" cy="190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l:author|s=$caption"/>
          <p:cNvSpPr txBox="1"/>
          <p:nvPr/>
        </p:nvSpPr>
        <p:spPr>
          <a:xfrm>
            <a:off x="571500" y="6096000"/>
            <a:ext cx="285750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number-bg"/>
          <p:cNvSpPr txBox="1"/>
          <p:nvPr/>
        </p:nvSpPr>
        <p:spPr>
          <a:xfrm>
            <a:off x="571500" y="762000"/>
            <a:ext cx="4762500" cy="2095500"/>
          </a:xfrm>
          <a:prstGeom prst="rect">
            <a:avLst/>
          </a:prstGeom>
          <a:noFill/>
        </p:spPr>
        <p:txBody>
          <a:bodyPr wrap="none" anchor="t">
            <a:noAutofit/>
          </a:bodyPr>
          <a:lstStyle/>
          <a:p>
            <a:pPr algn="l"/>
            <a:r>
              <a:rPr b="1" sz="15000" noProof="1">
                <a:solidFill>
                  <a:srgbClr val="2D6A6A">
                    <a:alpha val="8235"/>
                  </a:srgbClr>
                </a:solidFill>
                <a:latin typeface="Liter"/>
                <a:ea typeface="Liter"/>
              </a:rPr>
              <a:t>01</a:t>
            </a:r>
          </a:p>
        </p:txBody>
      </p:sp>
      <p:sp>
        <p:nvSpPr>
          <p:cNvPr id="3" name="dsl:accent-bar"/>
          <p:cNvSpPr/>
          <p:nvPr/>
        </p:nvSpPr>
        <p:spPr>
          <a:xfrm>
            <a:off x="762000" y="295275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label"/>
          <p:cNvSpPr txBox="1"/>
          <p:nvPr/>
        </p:nvSpPr>
        <p:spPr>
          <a:xfrm>
            <a:off x="762000" y="3143250"/>
            <a:ext cx="3810000" cy="285750"/>
          </a:xfrm>
          <a:prstGeom prst="rect">
            <a:avLst/>
          </a:prstGeom>
          <a:noFill/>
        </p:spPr>
        <p:txBody>
          <a:bodyPr wrap="none" anchor="t">
            <a:noAutofit/>
          </a:bodyPr>
          <a:lstStyle/>
          <a:p>
            <a:pPr algn="l"/>
            <a:r>
              <a:rPr b="1" sz="1200" noProof="1" spc="225">
                <a:solidFill>
                  <a:srgbClr val="D4A373"/>
                </a:solidFill>
                <a:latin typeface="Liter"/>
                <a:ea typeface="Liter"/>
              </a:rPr>
              <a:t>CHAPTER 01</a:t>
            </a:r>
          </a:p>
        </p:txBody>
      </p:sp>
      <p:sp>
        <p:nvSpPr>
          <p:cNvPr id="5" name="dsl:ch-title|s=$title"/>
          <p:cNvSpPr txBox="1"/>
          <p:nvPr/>
        </p:nvSpPr>
        <p:spPr>
          <a:xfrm>
            <a:off x="762000" y="3524250"/>
            <a:ext cx="7620000" cy="571500"/>
          </a:xfrm>
          <a:prstGeom prst="rect">
            <a:avLst/>
          </a:prstGeom>
          <a:noFill/>
        </p:spPr>
        <p:txBody>
          <a:bodyPr wrap="none" anchor="t">
            <a:noAutofit/>
          </a:bodyPr>
          <a:lstStyle/>
          <a:p>
            <a:pPr algn="l">
              <a:lnSpc>
                <a:spcPct val="120000"/>
              </a:lnSpc>
            </a:pPr>
            <a:r>
              <a:rPr b="1" sz="3300" noProof="1">
                <a:solidFill>
                  <a:srgbClr val="2D6A6A"/>
                </a:solidFill>
                <a:latin typeface="Liter"/>
                <a:ea typeface="Liter"/>
              </a:rPr>
              <a:t>The SOC Challenge</a:t>
            </a:r>
          </a:p>
        </p:txBody>
      </p:sp>
      <p:sp>
        <p:nvSpPr>
          <p:cNvPr id="6" name="dsl:ch-subtitle|s=$subtitle"/>
          <p:cNvSpPr txBox="1"/>
          <p:nvPr/>
        </p:nvSpPr>
        <p:spPr>
          <a:xfrm>
            <a:off x="762000" y="4191000"/>
            <a:ext cx="7620000" cy="381000"/>
          </a:xfrm>
          <a:prstGeom prst="rect">
            <a:avLst/>
          </a:prstGeom>
          <a:noFill/>
        </p:spPr>
        <p:txBody>
          <a:bodyPr wrap="square" anchor="t">
            <a:noAutofit/>
          </a:bodyPr>
          <a:lstStyle/>
          <a:p>
            <a:pPr algn="l">
              <a:lnSpc>
                <a:spcPct val="140000"/>
              </a:lnSpc>
            </a:pPr>
            <a:r>
              <a:rPr sz="1650" noProof="1">
                <a:solidFill>
                  <a:srgbClr val="5C6B73"/>
                </a:solidFill>
                <a:latin typeface="QuattrocentoSans"/>
                <a:ea typeface="QuattrocentoSans"/>
              </a:rPr>
              <a:t>Why modern SOC environments struggle to keep pace with threats</a:t>
            </a:r>
          </a:p>
        </p:txBody>
      </p:sp>
      <p:sp>
        <p:nvSpPr>
          <p:cNvPr id="7" name="dsl:deco-line"/>
          <p:cNvSpPr/>
          <p:nvPr/>
        </p:nvSpPr>
        <p:spPr>
          <a:xfrm>
            <a:off x="762000" y="4953000"/>
            <a:ext cx="2857500" cy="190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bottom-bar"/>
          <p:cNvSpPr/>
          <p:nvPr/>
        </p:nvSpPr>
        <p:spPr>
          <a:xfrm>
            <a:off x="0" y="6667500"/>
            <a:ext cx="12192000" cy="190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Active"/>
          <p:cNvSpPr txBox="1"/>
          <p:nvPr/>
        </p:nvSpPr>
        <p:spPr>
          <a:xfrm>
            <a:off x="5715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5715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57150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The Modern SOC Problem</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card1-bg"/>
          <p:cNvSpPr/>
          <p:nvPr/>
        </p:nvSpPr>
        <p:spPr>
          <a:xfrm>
            <a:off x="571500" y="1095375"/>
            <a:ext cx="3486150" cy="1619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ard1-icon|i=fas:puzzle-piece"/>
          <p:cNvSpPr/>
          <p:nvPr/>
        </p:nvSpPr>
        <p:spPr>
          <a:xfrm>
            <a:off x="762000" y="1219200"/>
            <a:ext cx="266700" cy="266700"/>
          </a:xfrm>
          <a:custGeom>
            <a:avLst/>
            <a:gdLst/>
            <a:ahLst/>
            <a:cxnLst/>
            <a:rect l="l" t="t" r="r" b="b"/>
            <a:pathLst>
              <a:path w="266700" h="266700">
                <a:moveTo>
                  <a:pt x="100012" y="54590"/>
                </a:moveTo>
                <a:cubicBezTo>
                  <a:pt x="100012" y="49797"/>
                  <a:pt x="96991" y="45578"/>
                  <a:pt x="93136" y="42713"/>
                </a:cubicBezTo>
                <a:cubicBezTo>
                  <a:pt x="87094" y="38181"/>
                  <a:pt x="83343" y="31931"/>
                  <a:pt x="83343" y="25003"/>
                </a:cubicBezTo>
                <a:cubicBezTo>
                  <a:pt x="83343" y="11199"/>
                  <a:pt x="98293" y="0"/>
                  <a:pt x="116681" y="0"/>
                </a:cubicBezTo>
                <a:cubicBezTo>
                  <a:pt x="135068" y="0"/>
                  <a:pt x="150018" y="11199"/>
                  <a:pt x="150018" y="25003"/>
                </a:cubicBezTo>
                <a:cubicBezTo>
                  <a:pt x="150018" y="31931"/>
                  <a:pt x="146268" y="38181"/>
                  <a:pt x="140225" y="42713"/>
                </a:cubicBezTo>
                <a:cubicBezTo>
                  <a:pt x="136371" y="45578"/>
                  <a:pt x="133350" y="49797"/>
                  <a:pt x="133350" y="54590"/>
                </a:cubicBezTo>
                <a:cubicBezTo>
                  <a:pt x="133350" y="61257"/>
                  <a:pt x="138767" y="66675"/>
                  <a:pt x="145434" y="66675"/>
                </a:cubicBezTo>
                <a:lnTo>
                  <a:pt x="175021" y="66675"/>
                </a:lnTo>
                <a:cubicBezTo>
                  <a:pt x="188825" y="66675"/>
                  <a:pt x="200025" y="77874"/>
                  <a:pt x="200025" y="91678"/>
                </a:cubicBezTo>
                <a:lnTo>
                  <a:pt x="200025" y="121265"/>
                </a:lnTo>
                <a:cubicBezTo>
                  <a:pt x="200025" y="127932"/>
                  <a:pt x="205442" y="133350"/>
                  <a:pt x="212109" y="133350"/>
                </a:cubicBezTo>
                <a:cubicBezTo>
                  <a:pt x="216902" y="133350"/>
                  <a:pt x="221121" y="130328"/>
                  <a:pt x="223986" y="126474"/>
                </a:cubicBezTo>
                <a:cubicBezTo>
                  <a:pt x="228518" y="120431"/>
                  <a:pt x="234768" y="116681"/>
                  <a:pt x="241696" y="116681"/>
                </a:cubicBezTo>
                <a:cubicBezTo>
                  <a:pt x="255500" y="116681"/>
                  <a:pt x="266700" y="131631"/>
                  <a:pt x="266700" y="150018"/>
                </a:cubicBezTo>
                <a:cubicBezTo>
                  <a:pt x="266700" y="168406"/>
                  <a:pt x="255500" y="183356"/>
                  <a:pt x="241696" y="183356"/>
                </a:cubicBezTo>
                <a:cubicBezTo>
                  <a:pt x="234768" y="183356"/>
                  <a:pt x="228518" y="179605"/>
                  <a:pt x="223986" y="173563"/>
                </a:cubicBezTo>
                <a:cubicBezTo>
                  <a:pt x="221121" y="169708"/>
                  <a:pt x="216902" y="166687"/>
                  <a:pt x="212109" y="166687"/>
                </a:cubicBezTo>
                <a:cubicBezTo>
                  <a:pt x="205442" y="166687"/>
                  <a:pt x="200025" y="172104"/>
                  <a:pt x="200025" y="178772"/>
                </a:cubicBezTo>
                <a:lnTo>
                  <a:pt x="200025" y="241696"/>
                </a:lnTo>
                <a:cubicBezTo>
                  <a:pt x="200025" y="255500"/>
                  <a:pt x="188825" y="266700"/>
                  <a:pt x="175021" y="266700"/>
                </a:cubicBezTo>
                <a:lnTo>
                  <a:pt x="145434" y="266700"/>
                </a:lnTo>
                <a:cubicBezTo>
                  <a:pt x="138767" y="266700"/>
                  <a:pt x="133350" y="261282"/>
                  <a:pt x="133350" y="254615"/>
                </a:cubicBezTo>
                <a:cubicBezTo>
                  <a:pt x="133350" y="249822"/>
                  <a:pt x="136371" y="245603"/>
                  <a:pt x="140225" y="242738"/>
                </a:cubicBezTo>
                <a:cubicBezTo>
                  <a:pt x="146268" y="238206"/>
                  <a:pt x="150018" y="231956"/>
                  <a:pt x="150018" y="225028"/>
                </a:cubicBezTo>
                <a:cubicBezTo>
                  <a:pt x="150018" y="211224"/>
                  <a:pt x="135068" y="200025"/>
                  <a:pt x="116681" y="200025"/>
                </a:cubicBezTo>
                <a:cubicBezTo>
                  <a:pt x="98293" y="200025"/>
                  <a:pt x="83343" y="211224"/>
                  <a:pt x="83343" y="225028"/>
                </a:cubicBezTo>
                <a:cubicBezTo>
                  <a:pt x="83343" y="231956"/>
                  <a:pt x="87094" y="238206"/>
                  <a:pt x="93136" y="242738"/>
                </a:cubicBezTo>
                <a:cubicBezTo>
                  <a:pt x="96991" y="245603"/>
                  <a:pt x="100012" y="249822"/>
                  <a:pt x="100012" y="254615"/>
                </a:cubicBezTo>
                <a:cubicBezTo>
                  <a:pt x="100012" y="261282"/>
                  <a:pt x="94595" y="266700"/>
                  <a:pt x="87927" y="266700"/>
                </a:cubicBezTo>
                <a:lnTo>
                  <a:pt x="25003" y="266700"/>
                </a:lnTo>
                <a:cubicBezTo>
                  <a:pt x="11199" y="266700"/>
                  <a:pt x="0" y="255500"/>
                  <a:pt x="0" y="241696"/>
                </a:cubicBezTo>
                <a:lnTo>
                  <a:pt x="0" y="178772"/>
                </a:lnTo>
                <a:cubicBezTo>
                  <a:pt x="0" y="172104"/>
                  <a:pt x="5417" y="166687"/>
                  <a:pt x="12084" y="166687"/>
                </a:cubicBezTo>
                <a:cubicBezTo>
                  <a:pt x="16877" y="166687"/>
                  <a:pt x="21096" y="169708"/>
                  <a:pt x="23961" y="173563"/>
                </a:cubicBezTo>
                <a:cubicBezTo>
                  <a:pt x="28493" y="179605"/>
                  <a:pt x="34743" y="183356"/>
                  <a:pt x="41671" y="183356"/>
                </a:cubicBezTo>
                <a:cubicBezTo>
                  <a:pt x="55475" y="183356"/>
                  <a:pt x="66675" y="168406"/>
                  <a:pt x="66675" y="150018"/>
                </a:cubicBezTo>
                <a:cubicBezTo>
                  <a:pt x="66675" y="131631"/>
                  <a:pt x="55475" y="116681"/>
                  <a:pt x="41671" y="116681"/>
                </a:cubicBezTo>
                <a:cubicBezTo>
                  <a:pt x="34743" y="116681"/>
                  <a:pt x="28493" y="120431"/>
                  <a:pt x="23961" y="126474"/>
                </a:cubicBezTo>
                <a:cubicBezTo>
                  <a:pt x="21096" y="130328"/>
                  <a:pt x="16877" y="133350"/>
                  <a:pt x="12084" y="133350"/>
                </a:cubicBezTo>
                <a:cubicBezTo>
                  <a:pt x="5417" y="133350"/>
                  <a:pt x="0" y="127932"/>
                  <a:pt x="0" y="121265"/>
                </a:cubicBezTo>
                <a:lnTo>
                  <a:pt x="0" y="91678"/>
                </a:lnTo>
                <a:cubicBezTo>
                  <a:pt x="0" y="77874"/>
                  <a:pt x="11199" y="66675"/>
                  <a:pt x="25003" y="66675"/>
                </a:cubicBezTo>
                <a:lnTo>
                  <a:pt x="87927" y="66675"/>
                </a:lnTo>
                <a:cubicBezTo>
                  <a:pt x="94595" y="66675"/>
                  <a:pt x="100012" y="61257"/>
                  <a:pt x="100012" y="54590"/>
                </a:cubicBezTo>
                <a:close/>
              </a:path>
            </a:pathLst>
          </a:custGeom>
          <a:solidFill>
            <a:srgbClr val="D4A373"/>
          </a:solidFill>
          <a:ln>
            <a:noFill/>
          </a:ln>
          <a:effectLst/>
        </p:spPr>
      </p:sp>
      <p:sp>
        <p:nvSpPr>
          <p:cNvPr id="16" name="dsl:card1-title"/>
          <p:cNvSpPr txBox="1"/>
          <p:nvPr/>
        </p:nvSpPr>
        <p:spPr>
          <a:xfrm>
            <a:off x="1104900" y="1219200"/>
            <a:ext cx="2762250" cy="266700"/>
          </a:xfrm>
          <a:prstGeom prst="rect">
            <a:avLst/>
          </a:prstGeom>
          <a:noFill/>
        </p:spPr>
        <p:txBody>
          <a:bodyPr wrap="none" anchor="ctr">
            <a:noAutofit/>
          </a:bodyPr>
          <a:lstStyle/>
          <a:p>
            <a:pPr algn="l"/>
            <a:r>
              <a:rPr b="1" sz="1350" noProof="1">
                <a:solidFill>
                  <a:srgbClr val="2B2D2F"/>
                </a:solidFill>
                <a:latin typeface="Liter"/>
                <a:ea typeface="Liter"/>
              </a:rPr>
              <a:t>Fragmented Tools</a:t>
            </a:r>
          </a:p>
        </p:txBody>
      </p:sp>
      <p:sp>
        <p:nvSpPr>
          <p:cNvPr id="17" name="dsl:card1-desc"/>
          <p:cNvSpPr txBox="1"/>
          <p:nvPr/>
        </p:nvSpPr>
        <p:spPr>
          <a:xfrm>
            <a:off x="762000" y="1562100"/>
            <a:ext cx="31051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Multiple disconnected security systems generate alerts in isolation, with no unified view of the threat landscape.</a:t>
            </a:r>
          </a:p>
        </p:txBody>
      </p:sp>
      <p:sp>
        <p:nvSpPr>
          <p:cNvPr id="18" name="dsl:card2-bg"/>
          <p:cNvSpPr/>
          <p:nvPr/>
        </p:nvSpPr>
        <p:spPr>
          <a:xfrm>
            <a:off x="4343400" y="1095375"/>
            <a:ext cx="3486150" cy="1619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card2-icon|i=fas:database"/>
          <p:cNvSpPr/>
          <p:nvPr/>
        </p:nvSpPr>
        <p:spPr>
          <a:xfrm>
            <a:off x="4550569" y="1219200"/>
            <a:ext cx="233362" cy="266700"/>
          </a:xfrm>
          <a:custGeom>
            <a:avLst/>
            <a:gdLst/>
            <a:ahLst/>
            <a:cxnLst/>
            <a:rect l="l" t="t" r="r" b="b"/>
            <a:pathLst>
              <a:path w="233362" h="266700">
                <a:moveTo>
                  <a:pt x="233362" y="41671"/>
                </a:moveTo>
                <a:lnTo>
                  <a:pt x="233362" y="66675"/>
                </a:lnTo>
                <a:cubicBezTo>
                  <a:pt x="233362" y="89698"/>
                  <a:pt x="181116" y="108346"/>
                  <a:pt x="116681" y="108346"/>
                </a:cubicBezTo>
                <a:cubicBezTo>
                  <a:pt x="52246" y="108346"/>
                  <a:pt x="0" y="89698"/>
                  <a:pt x="0" y="66675"/>
                </a:cubicBezTo>
                <a:lnTo>
                  <a:pt x="0" y="41671"/>
                </a:lnTo>
                <a:cubicBezTo>
                  <a:pt x="0" y="18648"/>
                  <a:pt x="52246" y="0"/>
                  <a:pt x="116681" y="0"/>
                </a:cubicBezTo>
                <a:cubicBezTo>
                  <a:pt x="181116" y="0"/>
                  <a:pt x="233362" y="18648"/>
                  <a:pt x="233362" y="41671"/>
                </a:cubicBezTo>
                <a:close/>
                <a:moveTo>
                  <a:pt x="204817" y="111836"/>
                </a:moveTo>
                <a:cubicBezTo>
                  <a:pt x="215651" y="107982"/>
                  <a:pt x="225601" y="103033"/>
                  <a:pt x="233362" y="96939"/>
                </a:cubicBezTo>
                <a:lnTo>
                  <a:pt x="233362" y="150018"/>
                </a:lnTo>
                <a:cubicBezTo>
                  <a:pt x="233362" y="173042"/>
                  <a:pt x="181116" y="191690"/>
                  <a:pt x="116681" y="191690"/>
                </a:cubicBezTo>
                <a:cubicBezTo>
                  <a:pt x="52246" y="191690"/>
                  <a:pt x="0" y="173042"/>
                  <a:pt x="0" y="150018"/>
                </a:cubicBezTo>
                <a:lnTo>
                  <a:pt x="0" y="96939"/>
                </a:lnTo>
                <a:cubicBezTo>
                  <a:pt x="7761" y="103085"/>
                  <a:pt x="17710" y="107982"/>
                  <a:pt x="28545" y="111836"/>
                </a:cubicBezTo>
                <a:cubicBezTo>
                  <a:pt x="51933" y="120171"/>
                  <a:pt x="83083" y="125015"/>
                  <a:pt x="116681" y="125015"/>
                </a:cubicBezTo>
                <a:cubicBezTo>
                  <a:pt x="150279" y="125015"/>
                  <a:pt x="181428" y="120171"/>
                  <a:pt x="204817" y="111836"/>
                </a:cubicBezTo>
                <a:close/>
                <a:moveTo>
                  <a:pt x="0" y="180282"/>
                </a:moveTo>
                <a:cubicBezTo>
                  <a:pt x="7761" y="186429"/>
                  <a:pt x="17710" y="191325"/>
                  <a:pt x="28545" y="195180"/>
                </a:cubicBezTo>
                <a:cubicBezTo>
                  <a:pt x="51933" y="203515"/>
                  <a:pt x="83083" y="208359"/>
                  <a:pt x="116681" y="208359"/>
                </a:cubicBezTo>
                <a:cubicBezTo>
                  <a:pt x="150279" y="208359"/>
                  <a:pt x="181428" y="203515"/>
                  <a:pt x="204817" y="195180"/>
                </a:cubicBezTo>
                <a:cubicBezTo>
                  <a:pt x="215651" y="191325"/>
                  <a:pt x="225601" y="186377"/>
                  <a:pt x="233362" y="180282"/>
                </a:cubicBezTo>
                <a:lnTo>
                  <a:pt x="233362" y="225028"/>
                </a:lnTo>
                <a:cubicBezTo>
                  <a:pt x="233362" y="248051"/>
                  <a:pt x="181116" y="266700"/>
                  <a:pt x="116681" y="266700"/>
                </a:cubicBezTo>
                <a:cubicBezTo>
                  <a:pt x="52246" y="266700"/>
                  <a:pt x="0" y="248051"/>
                  <a:pt x="0" y="225028"/>
                </a:cubicBezTo>
                <a:lnTo>
                  <a:pt x="0" y="180282"/>
                </a:lnTo>
                <a:close/>
              </a:path>
            </a:pathLst>
          </a:custGeom>
          <a:solidFill>
            <a:srgbClr val="D4A373"/>
          </a:solidFill>
          <a:ln>
            <a:noFill/>
          </a:ln>
          <a:effectLst/>
        </p:spPr>
      </p:sp>
      <p:sp>
        <p:nvSpPr>
          <p:cNvPr id="20" name="dsl:card2-title"/>
          <p:cNvSpPr txBox="1"/>
          <p:nvPr/>
        </p:nvSpPr>
        <p:spPr>
          <a:xfrm>
            <a:off x="4876800" y="1219200"/>
            <a:ext cx="2762250" cy="266700"/>
          </a:xfrm>
          <a:prstGeom prst="rect">
            <a:avLst/>
          </a:prstGeom>
          <a:noFill/>
        </p:spPr>
        <p:txBody>
          <a:bodyPr wrap="none" anchor="ctr">
            <a:noAutofit/>
          </a:bodyPr>
          <a:lstStyle/>
          <a:p>
            <a:pPr algn="l"/>
            <a:r>
              <a:rPr b="1" sz="1350" noProof="1">
                <a:solidFill>
                  <a:srgbClr val="2B2D2F"/>
                </a:solidFill>
                <a:latin typeface="Liter"/>
                <a:ea typeface="Liter"/>
              </a:rPr>
              <a:t>Heterogeneous Data</a:t>
            </a:r>
          </a:p>
        </p:txBody>
      </p:sp>
      <p:sp>
        <p:nvSpPr>
          <p:cNvPr id="21" name="dsl:card2-desc"/>
          <p:cNvSpPr txBox="1"/>
          <p:nvPr/>
        </p:nvSpPr>
        <p:spPr>
          <a:xfrm>
            <a:off x="4533900" y="1562100"/>
            <a:ext cx="31051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Different formats and schemas across network, host, and runtime sources make unified processing extremely difficult.</a:t>
            </a:r>
          </a:p>
        </p:txBody>
      </p:sp>
      <p:sp>
        <p:nvSpPr>
          <p:cNvPr id="22" name="dsl:card3-bg"/>
          <p:cNvSpPr/>
          <p:nvPr/>
        </p:nvSpPr>
        <p:spPr>
          <a:xfrm>
            <a:off x="8115300" y="1095375"/>
            <a:ext cx="3486150" cy="1619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ard3-icon|i=fas:bell"/>
          <p:cNvSpPr/>
          <p:nvPr/>
        </p:nvSpPr>
        <p:spPr>
          <a:xfrm>
            <a:off x="8322469" y="1219200"/>
            <a:ext cx="233362" cy="266700"/>
          </a:xfrm>
          <a:custGeom>
            <a:avLst/>
            <a:gdLst/>
            <a:ahLst/>
            <a:cxnLst/>
            <a:rect l="l" t="t" r="r" b="b"/>
            <a:pathLst>
              <a:path w="233362" h="266700">
                <a:moveTo>
                  <a:pt x="116681" y="0"/>
                </a:moveTo>
                <a:cubicBezTo>
                  <a:pt x="107461" y="0"/>
                  <a:pt x="100012" y="7448"/>
                  <a:pt x="100012" y="16668"/>
                </a:cubicBezTo>
                <a:lnTo>
                  <a:pt x="100012" y="26670"/>
                </a:lnTo>
                <a:cubicBezTo>
                  <a:pt x="61986" y="34379"/>
                  <a:pt x="33337" y="68029"/>
                  <a:pt x="33337" y="108346"/>
                </a:cubicBezTo>
                <a:lnTo>
                  <a:pt x="33337" y="118139"/>
                </a:lnTo>
                <a:cubicBezTo>
                  <a:pt x="33337" y="142621"/>
                  <a:pt x="24325" y="166270"/>
                  <a:pt x="8073" y="184606"/>
                </a:cubicBezTo>
                <a:lnTo>
                  <a:pt x="4219" y="188929"/>
                </a:lnTo>
                <a:cubicBezTo>
                  <a:pt x="-156" y="193826"/>
                  <a:pt x="-1198" y="200858"/>
                  <a:pt x="1458" y="206848"/>
                </a:cubicBezTo>
                <a:cubicBezTo>
                  <a:pt x="4115" y="212839"/>
                  <a:pt x="10105" y="216693"/>
                  <a:pt x="16668" y="216693"/>
                </a:cubicBezTo>
                <a:lnTo>
                  <a:pt x="216693" y="216693"/>
                </a:lnTo>
                <a:cubicBezTo>
                  <a:pt x="223257" y="216693"/>
                  <a:pt x="229195" y="212839"/>
                  <a:pt x="231903" y="206848"/>
                </a:cubicBezTo>
                <a:cubicBezTo>
                  <a:pt x="234612" y="200858"/>
                  <a:pt x="233518" y="193826"/>
                  <a:pt x="229143" y="188929"/>
                </a:cubicBezTo>
                <a:lnTo>
                  <a:pt x="225288" y="184606"/>
                </a:lnTo>
                <a:cubicBezTo>
                  <a:pt x="209036" y="166270"/>
                  <a:pt x="200025" y="142674"/>
                  <a:pt x="200025" y="118139"/>
                </a:cubicBezTo>
                <a:lnTo>
                  <a:pt x="200025" y="108346"/>
                </a:lnTo>
                <a:cubicBezTo>
                  <a:pt x="200025" y="68029"/>
                  <a:pt x="171375" y="34379"/>
                  <a:pt x="133350" y="26669"/>
                </a:cubicBezTo>
                <a:lnTo>
                  <a:pt x="133350" y="16668"/>
                </a:lnTo>
                <a:cubicBezTo>
                  <a:pt x="133350" y="7448"/>
                  <a:pt x="125901" y="0"/>
                  <a:pt x="116681" y="0"/>
                </a:cubicBezTo>
                <a:close/>
                <a:moveTo>
                  <a:pt x="140277" y="256959"/>
                </a:moveTo>
                <a:cubicBezTo>
                  <a:pt x="146528" y="250708"/>
                  <a:pt x="150018" y="242217"/>
                  <a:pt x="150018" y="233362"/>
                </a:cubicBezTo>
                <a:lnTo>
                  <a:pt x="116681" y="233362"/>
                </a:lnTo>
                <a:lnTo>
                  <a:pt x="83343" y="233362"/>
                </a:lnTo>
                <a:cubicBezTo>
                  <a:pt x="83343" y="242217"/>
                  <a:pt x="86833" y="250708"/>
                  <a:pt x="93084" y="256959"/>
                </a:cubicBezTo>
                <a:cubicBezTo>
                  <a:pt x="99335" y="263209"/>
                  <a:pt x="107825" y="266700"/>
                  <a:pt x="116681" y="266700"/>
                </a:cubicBezTo>
                <a:cubicBezTo>
                  <a:pt x="125536" y="266700"/>
                  <a:pt x="134027" y="263209"/>
                  <a:pt x="140277" y="256959"/>
                </a:cubicBezTo>
                <a:close/>
              </a:path>
            </a:pathLst>
          </a:custGeom>
          <a:solidFill>
            <a:srgbClr val="D4A373"/>
          </a:solidFill>
          <a:ln>
            <a:noFill/>
          </a:ln>
          <a:effectLst/>
        </p:spPr>
      </p:sp>
      <p:sp>
        <p:nvSpPr>
          <p:cNvPr id="24" name="dsl:card3-title"/>
          <p:cNvSpPr txBox="1"/>
          <p:nvPr/>
        </p:nvSpPr>
        <p:spPr>
          <a:xfrm>
            <a:off x="8648700" y="1219200"/>
            <a:ext cx="2762250" cy="266700"/>
          </a:xfrm>
          <a:prstGeom prst="rect">
            <a:avLst/>
          </a:prstGeom>
          <a:noFill/>
        </p:spPr>
        <p:txBody>
          <a:bodyPr wrap="none" anchor="ctr">
            <a:noAutofit/>
          </a:bodyPr>
          <a:lstStyle/>
          <a:p>
            <a:pPr algn="l"/>
            <a:r>
              <a:rPr b="1" sz="1350" noProof="1">
                <a:solidFill>
                  <a:srgbClr val="2B2D2F"/>
                </a:solidFill>
                <a:latin typeface="Liter"/>
                <a:ea typeface="Liter"/>
              </a:rPr>
              <a:t>Alert Fatigue</a:t>
            </a:r>
          </a:p>
        </p:txBody>
      </p:sp>
      <p:sp>
        <p:nvSpPr>
          <p:cNvPr id="25" name="dsl:card3-desc"/>
          <p:cNvSpPr txBox="1"/>
          <p:nvPr/>
        </p:nvSpPr>
        <p:spPr>
          <a:xfrm>
            <a:off x="8305800" y="1562100"/>
            <a:ext cx="31051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Thousands of noisy, low-value alerts overwhelm analysts, burying critical threats in a flood of false positives.</a:t>
            </a:r>
          </a:p>
        </p:txBody>
      </p:sp>
      <p:sp>
        <p:nvSpPr>
          <p:cNvPr id="26" name="dsl:card4-bg"/>
          <p:cNvSpPr/>
          <p:nvPr/>
        </p:nvSpPr>
        <p:spPr>
          <a:xfrm>
            <a:off x="571500" y="2905125"/>
            <a:ext cx="3486150" cy="1619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4-icon|i=fas:user-tie"/>
          <p:cNvSpPr/>
          <p:nvPr/>
        </p:nvSpPr>
        <p:spPr>
          <a:xfrm>
            <a:off x="778669" y="3028950"/>
            <a:ext cx="233362" cy="266700"/>
          </a:xfrm>
          <a:custGeom>
            <a:avLst/>
            <a:gdLst/>
            <a:ahLst/>
            <a:cxnLst/>
            <a:rect l="l" t="t" r="r" b="b"/>
            <a:pathLst>
              <a:path w="233362" h="266700">
                <a:moveTo>
                  <a:pt x="50006" y="66675"/>
                </a:moveTo>
                <a:cubicBezTo>
                  <a:pt x="50006" y="103251"/>
                  <a:pt x="80104" y="133350"/>
                  <a:pt x="116681" y="133350"/>
                </a:cubicBezTo>
                <a:cubicBezTo>
                  <a:pt x="153258" y="133350"/>
                  <a:pt x="183356" y="103251"/>
                  <a:pt x="183356" y="66675"/>
                </a:cubicBezTo>
                <a:cubicBezTo>
                  <a:pt x="183356" y="30098"/>
                  <a:pt x="153258" y="0"/>
                  <a:pt x="116681" y="0"/>
                </a:cubicBezTo>
                <a:cubicBezTo>
                  <a:pt x="80104" y="0"/>
                  <a:pt x="50006" y="30098"/>
                  <a:pt x="50006" y="66674"/>
                </a:cubicBezTo>
                <a:close/>
                <a:moveTo>
                  <a:pt x="99231" y="170958"/>
                </a:moveTo>
                <a:lnTo>
                  <a:pt x="108919" y="187106"/>
                </a:lnTo>
                <a:lnTo>
                  <a:pt x="91573" y="251646"/>
                </a:lnTo>
                <a:lnTo>
                  <a:pt x="72821" y="175126"/>
                </a:lnTo>
                <a:cubicBezTo>
                  <a:pt x="71779" y="170906"/>
                  <a:pt x="67716" y="168146"/>
                  <a:pt x="63497" y="169239"/>
                </a:cubicBezTo>
                <a:cubicBezTo>
                  <a:pt x="27034" y="178355"/>
                  <a:pt x="0" y="211380"/>
                  <a:pt x="0" y="250708"/>
                </a:cubicBezTo>
                <a:cubicBezTo>
                  <a:pt x="0" y="259563"/>
                  <a:pt x="7188" y="266700"/>
                  <a:pt x="15991" y="266700"/>
                </a:cubicBezTo>
                <a:lnTo>
                  <a:pt x="84645" y="266700"/>
                </a:lnTo>
                <a:cubicBezTo>
                  <a:pt x="84645" y="266700"/>
                  <a:pt x="84645" y="266700"/>
                  <a:pt x="85166" y="266700"/>
                </a:cubicBezTo>
                <a:lnTo>
                  <a:pt x="87510" y="266700"/>
                </a:lnTo>
                <a:lnTo>
                  <a:pt x="145851" y="266700"/>
                </a:lnTo>
                <a:lnTo>
                  <a:pt x="148716" y="266700"/>
                </a:lnTo>
                <a:cubicBezTo>
                  <a:pt x="148716" y="266700"/>
                  <a:pt x="148716" y="266700"/>
                  <a:pt x="149237" y="266700"/>
                </a:cubicBezTo>
                <a:lnTo>
                  <a:pt x="217370" y="266700"/>
                </a:lnTo>
                <a:cubicBezTo>
                  <a:pt x="226226" y="266700"/>
                  <a:pt x="233362" y="259511"/>
                  <a:pt x="233362" y="250708"/>
                </a:cubicBezTo>
                <a:cubicBezTo>
                  <a:pt x="233362" y="211380"/>
                  <a:pt x="206327" y="178355"/>
                  <a:pt x="169864" y="169239"/>
                </a:cubicBezTo>
                <a:cubicBezTo>
                  <a:pt x="165645" y="168198"/>
                  <a:pt x="161582" y="170958"/>
                  <a:pt x="160540" y="175126"/>
                </a:cubicBezTo>
                <a:lnTo>
                  <a:pt x="141788" y="251646"/>
                </a:lnTo>
                <a:lnTo>
                  <a:pt x="124442" y="187106"/>
                </a:lnTo>
                <a:lnTo>
                  <a:pt x="134131" y="170958"/>
                </a:lnTo>
                <a:cubicBezTo>
                  <a:pt x="137465" y="165385"/>
                  <a:pt x="133454" y="158353"/>
                  <a:pt x="126995" y="158353"/>
                </a:cubicBezTo>
                <a:lnTo>
                  <a:pt x="116681" y="158353"/>
                </a:lnTo>
                <a:lnTo>
                  <a:pt x="106419" y="158353"/>
                </a:lnTo>
                <a:cubicBezTo>
                  <a:pt x="99960" y="158353"/>
                  <a:pt x="95949" y="165437"/>
                  <a:pt x="99283" y="170958"/>
                </a:cubicBezTo>
                <a:close/>
              </a:path>
            </a:pathLst>
          </a:custGeom>
          <a:solidFill>
            <a:srgbClr val="D4A373"/>
          </a:solidFill>
          <a:ln>
            <a:noFill/>
          </a:ln>
          <a:effectLst/>
        </p:spPr>
      </p:sp>
      <p:sp>
        <p:nvSpPr>
          <p:cNvPr id="28" name="dsl:card4-title"/>
          <p:cNvSpPr txBox="1"/>
          <p:nvPr/>
        </p:nvSpPr>
        <p:spPr>
          <a:xfrm>
            <a:off x="1104900" y="3028950"/>
            <a:ext cx="2762250" cy="266700"/>
          </a:xfrm>
          <a:prstGeom prst="rect">
            <a:avLst/>
          </a:prstGeom>
          <a:noFill/>
        </p:spPr>
        <p:txBody>
          <a:bodyPr wrap="none" anchor="ctr">
            <a:noAutofit/>
          </a:bodyPr>
          <a:lstStyle/>
          <a:p>
            <a:pPr algn="l"/>
            <a:r>
              <a:rPr b="1" sz="1350" noProof="1">
                <a:solidFill>
                  <a:srgbClr val="2B2D2F"/>
                </a:solidFill>
                <a:latin typeface="Liter"/>
                <a:ea typeface="Liter"/>
              </a:rPr>
              <a:t>Expert Dependency</a:t>
            </a:r>
          </a:p>
        </p:txBody>
      </p:sp>
      <p:sp>
        <p:nvSpPr>
          <p:cNvPr id="29" name="dsl:card4-desc"/>
          <p:cNvSpPr txBox="1"/>
          <p:nvPr/>
        </p:nvSpPr>
        <p:spPr>
          <a:xfrm>
            <a:off x="762000" y="3371850"/>
            <a:ext cx="31051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Manual correlation across host, network, runtime, and metrics demands scarce senior analyst expertise.</a:t>
            </a:r>
          </a:p>
        </p:txBody>
      </p:sp>
      <p:sp>
        <p:nvSpPr>
          <p:cNvPr id="30" name="dsl:card5-bg"/>
          <p:cNvSpPr/>
          <p:nvPr/>
        </p:nvSpPr>
        <p:spPr>
          <a:xfrm>
            <a:off x="4343400" y="2905125"/>
            <a:ext cx="3486150" cy="1619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card5-icon|i=fas:hourglass-half"/>
          <p:cNvSpPr/>
          <p:nvPr/>
        </p:nvSpPr>
        <p:spPr>
          <a:xfrm>
            <a:off x="4567237" y="3028950"/>
            <a:ext cx="200025" cy="266700"/>
          </a:xfrm>
          <a:custGeom>
            <a:avLst/>
            <a:gdLst/>
            <a:ahLst/>
            <a:cxnLst/>
            <a:rect l="l" t="t" r="r" b="b"/>
            <a:pathLst>
              <a:path w="200025" h="266700">
                <a:moveTo>
                  <a:pt x="16668" y="0"/>
                </a:moveTo>
                <a:cubicBezTo>
                  <a:pt x="7448" y="0"/>
                  <a:pt x="0" y="7448"/>
                  <a:pt x="0" y="16668"/>
                </a:cubicBezTo>
                <a:cubicBezTo>
                  <a:pt x="0" y="25888"/>
                  <a:pt x="7448" y="33337"/>
                  <a:pt x="16668" y="33337"/>
                </a:cubicBezTo>
                <a:lnTo>
                  <a:pt x="16668" y="39067"/>
                </a:lnTo>
                <a:cubicBezTo>
                  <a:pt x="16668" y="61153"/>
                  <a:pt x="25471" y="82354"/>
                  <a:pt x="41098" y="97980"/>
                </a:cubicBezTo>
                <a:lnTo>
                  <a:pt x="76415" y="133350"/>
                </a:lnTo>
                <a:lnTo>
                  <a:pt x="41098" y="168719"/>
                </a:lnTo>
                <a:cubicBezTo>
                  <a:pt x="25471" y="184345"/>
                  <a:pt x="16668" y="205546"/>
                  <a:pt x="16668" y="227632"/>
                </a:cubicBezTo>
                <a:lnTo>
                  <a:pt x="16668" y="233362"/>
                </a:lnTo>
                <a:cubicBezTo>
                  <a:pt x="7448" y="233362"/>
                  <a:pt x="0" y="240811"/>
                  <a:pt x="0" y="250031"/>
                </a:cubicBezTo>
                <a:cubicBezTo>
                  <a:pt x="0" y="259251"/>
                  <a:pt x="7448" y="266700"/>
                  <a:pt x="16668" y="266700"/>
                </a:cubicBezTo>
                <a:lnTo>
                  <a:pt x="33337" y="266700"/>
                </a:lnTo>
                <a:lnTo>
                  <a:pt x="166687" y="266700"/>
                </a:lnTo>
                <a:lnTo>
                  <a:pt x="183356" y="266700"/>
                </a:lnTo>
                <a:cubicBezTo>
                  <a:pt x="192576" y="266700"/>
                  <a:pt x="200025" y="259251"/>
                  <a:pt x="200025" y="250031"/>
                </a:cubicBezTo>
                <a:cubicBezTo>
                  <a:pt x="200025" y="240811"/>
                  <a:pt x="192576" y="233362"/>
                  <a:pt x="183356" y="233362"/>
                </a:cubicBezTo>
                <a:lnTo>
                  <a:pt x="183356" y="227632"/>
                </a:lnTo>
                <a:cubicBezTo>
                  <a:pt x="183356" y="205546"/>
                  <a:pt x="174553" y="184345"/>
                  <a:pt x="158926" y="168719"/>
                </a:cubicBezTo>
                <a:lnTo>
                  <a:pt x="123609" y="133350"/>
                </a:lnTo>
                <a:lnTo>
                  <a:pt x="158978" y="97980"/>
                </a:lnTo>
                <a:cubicBezTo>
                  <a:pt x="174605" y="82354"/>
                  <a:pt x="183408" y="61153"/>
                  <a:pt x="183408" y="39067"/>
                </a:cubicBezTo>
                <a:lnTo>
                  <a:pt x="183408" y="33337"/>
                </a:lnTo>
                <a:cubicBezTo>
                  <a:pt x="192628" y="33337"/>
                  <a:pt x="200077" y="25888"/>
                  <a:pt x="200077" y="16668"/>
                </a:cubicBezTo>
                <a:cubicBezTo>
                  <a:pt x="200077" y="7448"/>
                  <a:pt x="192628" y="0"/>
                  <a:pt x="183408" y="0"/>
                </a:cubicBezTo>
                <a:lnTo>
                  <a:pt x="166687" y="0"/>
                </a:lnTo>
                <a:lnTo>
                  <a:pt x="33337" y="0"/>
                </a:lnTo>
                <a:lnTo>
                  <a:pt x="16668" y="0"/>
                </a:lnTo>
                <a:close/>
                <a:moveTo>
                  <a:pt x="50006" y="39067"/>
                </a:moveTo>
                <a:lnTo>
                  <a:pt x="50006" y="33337"/>
                </a:lnTo>
                <a:lnTo>
                  <a:pt x="150018" y="33337"/>
                </a:lnTo>
                <a:lnTo>
                  <a:pt x="150018" y="39067"/>
                </a:lnTo>
                <a:cubicBezTo>
                  <a:pt x="150018" y="48964"/>
                  <a:pt x="147101" y="58548"/>
                  <a:pt x="141684" y="66675"/>
                </a:cubicBezTo>
                <a:lnTo>
                  <a:pt x="58340" y="66675"/>
                </a:lnTo>
                <a:cubicBezTo>
                  <a:pt x="52975" y="58548"/>
                  <a:pt x="50006" y="48964"/>
                  <a:pt x="50006" y="39067"/>
                </a:cubicBezTo>
                <a:close/>
                <a:moveTo>
                  <a:pt x="58340" y="200025"/>
                </a:moveTo>
                <a:cubicBezTo>
                  <a:pt x="60163" y="197264"/>
                  <a:pt x="62299" y="194659"/>
                  <a:pt x="64643" y="192263"/>
                </a:cubicBezTo>
                <a:lnTo>
                  <a:pt x="100012" y="156946"/>
                </a:lnTo>
                <a:lnTo>
                  <a:pt x="135381" y="192315"/>
                </a:lnTo>
                <a:cubicBezTo>
                  <a:pt x="137777" y="194711"/>
                  <a:pt x="139861" y="197316"/>
                  <a:pt x="141684" y="200077"/>
                </a:cubicBezTo>
                <a:lnTo>
                  <a:pt x="58340" y="200077"/>
                </a:lnTo>
                <a:close/>
              </a:path>
            </a:pathLst>
          </a:custGeom>
          <a:solidFill>
            <a:srgbClr val="D4A373"/>
          </a:solidFill>
          <a:ln>
            <a:noFill/>
          </a:ln>
          <a:effectLst/>
        </p:spPr>
      </p:sp>
      <p:sp>
        <p:nvSpPr>
          <p:cNvPr id="32" name="dsl:card5-title"/>
          <p:cNvSpPr txBox="1"/>
          <p:nvPr/>
        </p:nvSpPr>
        <p:spPr>
          <a:xfrm>
            <a:off x="4876800" y="3028950"/>
            <a:ext cx="2762250" cy="266700"/>
          </a:xfrm>
          <a:prstGeom prst="rect">
            <a:avLst/>
          </a:prstGeom>
          <a:noFill/>
        </p:spPr>
        <p:txBody>
          <a:bodyPr wrap="none" anchor="ctr">
            <a:noAutofit/>
          </a:bodyPr>
          <a:lstStyle/>
          <a:p>
            <a:pPr algn="l"/>
            <a:r>
              <a:rPr b="1" sz="1350" noProof="1">
                <a:solidFill>
                  <a:srgbClr val="2B2D2F"/>
                </a:solidFill>
                <a:latin typeface="Liter"/>
                <a:ea typeface="Liter"/>
              </a:rPr>
              <a:t>Slow Response</a:t>
            </a:r>
          </a:p>
        </p:txBody>
      </p:sp>
      <p:sp>
        <p:nvSpPr>
          <p:cNvPr id="33" name="dsl:card5-desc"/>
          <p:cNvSpPr txBox="1"/>
          <p:nvPr/>
        </p:nvSpPr>
        <p:spPr>
          <a:xfrm>
            <a:off x="4533900" y="3371850"/>
            <a:ext cx="31051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Unverified manual fixes leave windows of exposure open for extended periods, increasing breach risk.</a:t>
            </a:r>
          </a:p>
        </p:txBody>
      </p:sp>
      <p:sp>
        <p:nvSpPr>
          <p:cNvPr id="34" name="dsl:card6-bg"/>
          <p:cNvSpPr/>
          <p:nvPr/>
        </p:nvSpPr>
        <p:spPr>
          <a:xfrm>
            <a:off x="8115300" y="2905125"/>
            <a:ext cx="3486150" cy="1619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card6-icon|i=fas:file-shield"/>
          <p:cNvSpPr/>
          <p:nvPr/>
        </p:nvSpPr>
        <p:spPr>
          <a:xfrm>
            <a:off x="8305800" y="3043767"/>
            <a:ext cx="266700" cy="237066"/>
          </a:xfrm>
          <a:custGeom>
            <a:avLst/>
            <a:gdLst/>
            <a:ahLst/>
            <a:cxnLst/>
            <a:rect l="l" t="t" r="r" b="b"/>
            <a:pathLst>
              <a:path w="266700" h="237066">
                <a:moveTo>
                  <a:pt x="0" y="29633"/>
                </a:moveTo>
                <a:cubicBezTo>
                  <a:pt x="0" y="13288"/>
                  <a:pt x="13288" y="0"/>
                  <a:pt x="29633" y="0"/>
                </a:cubicBezTo>
                <a:lnTo>
                  <a:pt x="103716" y="0"/>
                </a:lnTo>
                <a:lnTo>
                  <a:pt x="103716" y="59266"/>
                </a:lnTo>
                <a:cubicBezTo>
                  <a:pt x="103716" y="67462"/>
                  <a:pt x="110337" y="74083"/>
                  <a:pt x="118533" y="74083"/>
                </a:cubicBezTo>
                <a:lnTo>
                  <a:pt x="177800" y="74083"/>
                </a:lnTo>
                <a:lnTo>
                  <a:pt x="177800" y="95845"/>
                </a:lnTo>
                <a:lnTo>
                  <a:pt x="134831" y="113023"/>
                </a:lnTo>
                <a:cubicBezTo>
                  <a:pt x="124969" y="116959"/>
                  <a:pt x="118533" y="126497"/>
                  <a:pt x="118533" y="137100"/>
                </a:cubicBezTo>
                <a:cubicBezTo>
                  <a:pt x="118533" y="163307"/>
                  <a:pt x="127284" y="205627"/>
                  <a:pt x="162149" y="233547"/>
                </a:cubicBezTo>
                <a:cubicBezTo>
                  <a:pt x="157982" y="235770"/>
                  <a:pt x="153213" y="237066"/>
                  <a:pt x="148166" y="237066"/>
                </a:cubicBezTo>
                <a:lnTo>
                  <a:pt x="29633" y="237066"/>
                </a:lnTo>
                <a:cubicBezTo>
                  <a:pt x="13288" y="237066"/>
                  <a:pt x="0" y="223777"/>
                  <a:pt x="0" y="207433"/>
                </a:cubicBezTo>
                <a:lnTo>
                  <a:pt x="0" y="29633"/>
                </a:lnTo>
                <a:close/>
                <a:moveTo>
                  <a:pt x="177800" y="59266"/>
                </a:moveTo>
                <a:lnTo>
                  <a:pt x="118533" y="59266"/>
                </a:lnTo>
                <a:lnTo>
                  <a:pt x="118533" y="0"/>
                </a:lnTo>
                <a:lnTo>
                  <a:pt x="177800" y="59266"/>
                </a:lnTo>
                <a:close/>
                <a:moveTo>
                  <a:pt x="195904" y="104503"/>
                </a:moveTo>
                <a:cubicBezTo>
                  <a:pt x="198543" y="103438"/>
                  <a:pt x="201506" y="103438"/>
                  <a:pt x="204145" y="104503"/>
                </a:cubicBezTo>
                <a:lnTo>
                  <a:pt x="259708" y="126728"/>
                </a:lnTo>
                <a:cubicBezTo>
                  <a:pt x="263921" y="128441"/>
                  <a:pt x="266700" y="132516"/>
                  <a:pt x="266700" y="137054"/>
                </a:cubicBezTo>
                <a:cubicBezTo>
                  <a:pt x="266700" y="166363"/>
                  <a:pt x="254707" y="215212"/>
                  <a:pt x="204284" y="236233"/>
                </a:cubicBezTo>
                <a:cubicBezTo>
                  <a:pt x="201552" y="237390"/>
                  <a:pt x="198450" y="237390"/>
                  <a:pt x="195718" y="236233"/>
                </a:cubicBezTo>
                <a:cubicBezTo>
                  <a:pt x="145342" y="215212"/>
                  <a:pt x="133350" y="166363"/>
                  <a:pt x="133350" y="137054"/>
                </a:cubicBezTo>
                <a:cubicBezTo>
                  <a:pt x="133350" y="132516"/>
                  <a:pt x="136128" y="128441"/>
                  <a:pt x="140341" y="126728"/>
                </a:cubicBezTo>
                <a:lnTo>
                  <a:pt x="195904" y="104503"/>
                </a:lnTo>
                <a:close/>
                <a:moveTo>
                  <a:pt x="244197" y="144462"/>
                </a:moveTo>
                <a:lnTo>
                  <a:pt x="200025" y="126775"/>
                </a:lnTo>
                <a:lnTo>
                  <a:pt x="200025" y="213776"/>
                </a:lnTo>
                <a:cubicBezTo>
                  <a:pt x="231603" y="198497"/>
                  <a:pt x="242391" y="167937"/>
                  <a:pt x="244197" y="144462"/>
                </a:cubicBezTo>
                <a:close/>
              </a:path>
            </a:pathLst>
          </a:custGeom>
          <a:solidFill>
            <a:srgbClr val="D4A373"/>
          </a:solidFill>
          <a:ln>
            <a:noFill/>
          </a:ln>
          <a:effectLst/>
        </p:spPr>
      </p:sp>
      <p:sp>
        <p:nvSpPr>
          <p:cNvPr id="36" name="dsl:card6-title"/>
          <p:cNvSpPr txBox="1"/>
          <p:nvPr/>
        </p:nvSpPr>
        <p:spPr>
          <a:xfrm>
            <a:off x="8648700" y="3028950"/>
            <a:ext cx="2762250" cy="266700"/>
          </a:xfrm>
          <a:prstGeom prst="rect">
            <a:avLst/>
          </a:prstGeom>
          <a:noFill/>
        </p:spPr>
        <p:txBody>
          <a:bodyPr wrap="none" anchor="ctr">
            <a:noAutofit/>
          </a:bodyPr>
          <a:lstStyle/>
          <a:p>
            <a:pPr algn="l"/>
            <a:r>
              <a:rPr b="1" sz="1350" noProof="1">
                <a:solidFill>
                  <a:srgbClr val="2B2D2F"/>
                </a:solidFill>
                <a:latin typeface="Liter"/>
                <a:ea typeface="Liter"/>
              </a:rPr>
              <a:t>No Audit Trail</a:t>
            </a:r>
          </a:p>
        </p:txBody>
      </p:sp>
      <p:sp>
        <p:nvSpPr>
          <p:cNvPr id="37" name="dsl:card6-desc"/>
          <p:cNvSpPr txBox="1"/>
          <p:nvPr/>
        </p:nvSpPr>
        <p:spPr>
          <a:xfrm>
            <a:off x="8305800" y="3371850"/>
            <a:ext cx="31051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Inconsistent traceability makes compliance reporting difficult and post-incident analysis nearly impossible.</a:t>
            </a:r>
          </a:p>
        </p:txBody>
      </p:sp>
      <p:sp>
        <p:nvSpPr>
          <p:cNvPr id="38" name="dsl:summary-bg"/>
          <p:cNvSpPr/>
          <p:nvPr/>
        </p:nvSpPr>
        <p:spPr>
          <a:xfrm>
            <a:off x="571500" y="4762500"/>
            <a:ext cx="11049000"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sl:summary-text"/>
          <p:cNvSpPr txBox="1"/>
          <p:nvPr/>
        </p:nvSpPr>
        <p:spPr>
          <a:xfrm>
            <a:off x="762000" y="4762500"/>
            <a:ext cx="10668000" cy="571500"/>
          </a:xfrm>
          <a:prstGeom prst="rect">
            <a:avLst/>
          </a:prstGeom>
          <a:noFill/>
        </p:spPr>
        <p:txBody>
          <a:bodyPr wrap="none" anchor="ctr">
            <a:noAutofit/>
          </a:bodyPr>
          <a:lstStyle/>
          <a:p>
            <a:pPr algn="ctr"/>
            <a:r>
              <a:rPr b="1" sz="1200" noProof="1">
                <a:solidFill>
                  <a:srgbClr val="FFFFFF"/>
                </a:solidFill>
                <a:latin typeface="QuattrocentoSans"/>
                <a:ea typeface="QuattrocentoSans"/>
              </a:rPr>
              <a:t>Result:</a:t>
            </a:r>
            <a:r>
              <a:rPr sz="1200" noProof="1">
                <a:solidFill>
                  <a:srgbClr val="FFFFFF"/>
                </a:solidFill>
                <a:latin typeface="QuattrocentoSans"/>
                <a:ea typeface="QuattrocentoSans"/>
              </a:rPr>
              <a:t> SOC teams waste 80% of their time on repetitive tasks instead of strategic threat hunting.</a:t>
            </a:r>
          </a:p>
        </p:txBody>
      </p:sp>
      <p:sp>
        <p:nvSpPr>
          <p:cNvPr id="40"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41"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Active"/>
          <p:cNvSpPr txBox="1"/>
          <p:nvPr/>
        </p:nvSpPr>
        <p:spPr>
          <a:xfrm>
            <a:off x="5715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5715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66675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State of the Art &amp; Identified Gap</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dsl:comparison-table"/>
          <p:cNvGraphicFramePr>
            <a:graphicFrameLocks noGrp="1"/>
          </p:cNvGraphicFramePr>
          <p:nvPr/>
        </p:nvGraphicFramePr>
        <p:xfrm>
          <a:off x="571500" y="1095375"/>
          <a:ext cx="11048999" cy="2952745"/>
        </p:xfrm>
        <a:graphic>
          <a:graphicData uri="http://schemas.openxmlformats.org/drawingml/2006/table">
            <a:tbl>
              <a:tblPr firstRow="0" bandRow="0" lastRow="0" firstCol="0" lastCol="0" bandCol="0">
                <a:tableStyleId>{2D5ABB26-0587-4C30-8999-92F81FD0307C}</a:tableStyleId>
              </a:tblPr>
              <a:tblGrid>
                <a:gridCol w="1988819"/>
                <a:gridCol w="2430780"/>
                <a:gridCol w="3314700"/>
                <a:gridCol w="3314700"/>
              </a:tblGrid>
              <a:tr h="413385">
                <a:tc>
                  <a:txBody>
                    <a:bodyPr wrap="square" anchor="ctr">
                      <a:noAutofit/>
                    </a:bodyPr>
                    <a:lstStyle/>
                    <a:p>
                      <a:pPr algn="ctr"/>
                      <a:r>
                        <a:rPr sz="1050" noProof="1" b="1">
                          <a:solidFill>
                            <a:srgbClr val="FFFFFF"/>
                          </a:solidFill>
                          <a:latin typeface="QuattrocentoSans"/>
                          <a:ea typeface="QuattrocentoSans"/>
                        </a:rPr>
                        <a:t>Category</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c>
                  <a:txBody>
                    <a:bodyPr wrap="square" anchor="ctr">
                      <a:noAutofit/>
                    </a:bodyPr>
                    <a:lstStyle/>
                    <a:p>
                      <a:pPr algn="ctr"/>
                      <a:r>
                        <a:rPr sz="1050" noProof="1" b="1">
                          <a:solidFill>
                            <a:srgbClr val="FFFFFF"/>
                          </a:solidFill>
                          <a:latin typeface="QuattrocentoSans"/>
                          <a:ea typeface="QuattrocentoSans"/>
                        </a:rPr>
                        <a:t>Examples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c>
                  <a:txBody>
                    <a:bodyPr wrap="square" anchor="ctr">
                      <a:noAutofit/>
                    </a:bodyPr>
                    <a:lstStyle/>
                    <a:p>
                      <a:pPr algn="ctr"/>
                      <a:r>
                        <a:rPr sz="1050" noProof="1" b="1">
                          <a:solidFill>
                            <a:srgbClr val="FFFFFF"/>
                          </a:solidFill>
                          <a:latin typeface="QuattrocentoSans"/>
                          <a:ea typeface="QuattrocentoSans"/>
                        </a:rPr>
                        <a:t>Strengths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c>
                  <a:txBody>
                    <a:bodyPr wrap="square" anchor="ctr">
                      <a:noAutofit/>
                    </a:bodyPr>
                    <a:lstStyle/>
                    <a:p>
                      <a:pPr algn="ctr"/>
                      <a:r>
                        <a:rPr sz="1050" noProof="1" b="1">
                          <a:solidFill>
                            <a:srgbClr val="FFFFFF"/>
                          </a:solidFill>
                          <a:latin typeface="QuattrocentoSans"/>
                          <a:ea typeface="QuattrocentoSans"/>
                        </a:rPr>
                        <a:t>Limitations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r>
              <a:tr h="507872">
                <a:tc>
                  <a:txBody>
                    <a:bodyPr wrap="square" anchor="ctr">
                      <a:noAutofit/>
                    </a:bodyPr>
                    <a:lstStyle/>
                    <a:p>
                      <a:pPr algn="ctr"/>
                      <a:r>
                        <a:rPr sz="1050" noProof="1" b="1">
                          <a:solidFill>
                            <a:srgbClr val="2B2D2F"/>
                          </a:solidFill>
                          <a:latin typeface="QuattrocentoSans"/>
                          <a:ea typeface="QuattrocentoSans"/>
                        </a:rPr>
                        <a:t>Traditional SIEM</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Splunk, IBM QRadar</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Mature, comprehensive log management</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Expensive licensing; complex deployment</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507872">
                <a:tc>
                  <a:txBody>
                    <a:bodyPr wrap="square" anchor="ctr">
                      <a:noAutofit/>
                    </a:bodyPr>
                    <a:lstStyle/>
                    <a:p>
                      <a:pPr algn="ctr"/>
                      <a:r>
                        <a:rPr sz="1050" noProof="1" b="1">
                          <a:solidFill>
                            <a:srgbClr val="2B2D2F"/>
                          </a:solidFill>
                          <a:latin typeface="QuattrocentoSans"/>
                          <a:ea typeface="QuattrocentoSans"/>
                        </a:rPr>
                        <a:t>EDR / XDR</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CrowdStrike, SentinelOne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Advanced endpoint threat detection</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Endpoint-only; no network/runtime view</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r h="507872">
                <a:tc>
                  <a:txBody>
                    <a:bodyPr wrap="square" anchor="ctr">
                      <a:noAutofit/>
                    </a:bodyPr>
                    <a:lstStyle/>
                    <a:p>
                      <a:pPr algn="ctr"/>
                      <a:r>
                        <a:rPr sz="1050" noProof="1" b="1">
                          <a:solidFill>
                            <a:srgbClr val="2B2D2F"/>
                          </a:solidFill>
                          <a:latin typeface="QuattrocentoSans"/>
                          <a:ea typeface="QuattrocentoSans"/>
                        </a:rPr>
                        <a:t>SOAR Platform</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Palo Alto XSOAR</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Rich automation &amp; playbook ecosystem</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Costly integration; steep learning curve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507872">
                <a:tc>
                  <a:txBody>
                    <a:bodyPr wrap="square" anchor="ctr">
                      <a:noAutofit/>
                    </a:bodyPr>
                    <a:lstStyle/>
                    <a:p>
                      <a:pPr algn="ctr"/>
                      <a:r>
                        <a:rPr sz="1050" noProof="1" b="1">
                          <a:solidFill>
                            <a:srgbClr val="2B2D2F"/>
                          </a:solidFill>
                          <a:latin typeface="QuattrocentoSans"/>
                          <a:ea typeface="QuattrocentoSans"/>
                        </a:rPr>
                        <a:t>Open-Source Stack</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Wazuh + ELK</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Free, flexible, community-driven</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No built-in SOAR or AI capabilities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r h="507872">
                <a:tc>
                  <a:txBody>
                    <a:bodyPr wrap="square" anchor="ctr">
                      <a:noAutofit/>
                    </a:bodyPr>
                    <a:lstStyle/>
                    <a:p>
                      <a:pPr algn="ctr"/>
                      <a:r>
                        <a:rPr sz="1050" noProof="1" b="1">
                          <a:solidFill>
                            <a:srgbClr val="2B2D2F"/>
                          </a:solidFill>
                          <a:latin typeface="QuattrocentoSans"/>
                          <a:ea typeface="QuattrocentoSans"/>
                        </a:rPr>
                        <a:t>Cloud-Native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Azure Sentinel</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Tight cloud integration, scalable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Vendor lock-in; cloud-only architecture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bl>
          </a:graphicData>
        </a:graphic>
      </p:graphicFrame>
      <p:sp>
        <p:nvSpPr>
          <p:cNvPr id="15" name="dsl:callout-bg"/>
          <p:cNvSpPr/>
          <p:nvPr/>
        </p:nvSpPr>
        <p:spPr>
          <a:xfrm>
            <a:off x="571500" y="4286250"/>
            <a:ext cx="11049000" cy="11430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allout-accent"/>
          <p:cNvSpPr/>
          <p:nvPr/>
        </p:nvSpPr>
        <p:spPr>
          <a:xfrm>
            <a:off x="571500" y="4286250"/>
            <a:ext cx="57150" cy="11430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allout-label"/>
          <p:cNvSpPr txBox="1"/>
          <p:nvPr/>
        </p:nvSpPr>
        <p:spPr>
          <a:xfrm>
            <a:off x="819150" y="4362450"/>
            <a:ext cx="1905000" cy="228600"/>
          </a:xfrm>
          <a:prstGeom prst="rect">
            <a:avLst/>
          </a:prstGeom>
          <a:noFill/>
        </p:spPr>
        <p:txBody>
          <a:bodyPr wrap="none" anchor="t">
            <a:noAutofit/>
          </a:bodyPr>
          <a:lstStyle/>
          <a:p>
            <a:pPr algn="l"/>
            <a:r>
              <a:rPr b="1" sz="975" noProof="1" spc="150">
                <a:solidFill>
                  <a:srgbClr val="D4A373"/>
                </a:solidFill>
                <a:latin typeface="Liter"/>
                <a:ea typeface="Liter"/>
              </a:rPr>
              <a:t>IDENTIFIED GAP</a:t>
            </a:r>
          </a:p>
        </p:txBody>
      </p:sp>
      <p:sp>
        <p:nvSpPr>
          <p:cNvPr id="18" name="dsl:callout-text"/>
          <p:cNvSpPr txBox="1"/>
          <p:nvPr/>
        </p:nvSpPr>
        <p:spPr>
          <a:xfrm>
            <a:off x="819150" y="4629150"/>
            <a:ext cx="10572750" cy="685800"/>
          </a:xfrm>
          <a:prstGeom prst="rect">
            <a:avLst/>
          </a:prstGeom>
          <a:noFill/>
        </p:spPr>
        <p:txBody>
          <a:bodyPr wrap="square" anchor="t">
            <a:noAutofit/>
          </a:bodyPr>
          <a:lstStyle/>
          <a:p>
            <a:pPr algn="l">
              <a:lnSpc>
                <a:spcPct val="150000"/>
              </a:lnSpc>
            </a:pPr>
            <a:r>
              <a:rPr sz="1275" noProof="1">
                <a:solidFill>
                  <a:srgbClr val="FFFFFF"/>
                </a:solidFill>
                <a:latin typeface="QuattrocentoSans"/>
                <a:ea typeface="QuattrocentoSans"/>
              </a:rPr>
              <a:t>No open, integrated solution combines </a:t>
            </a:r>
            <a:r>
              <a:rPr b="1" sz="1275" noProof="1">
                <a:solidFill>
                  <a:srgbClr val="FFFFFF"/>
                </a:solidFill>
                <a:latin typeface="QuattrocentoSans"/>
                <a:ea typeface="QuattrocentoSans"/>
              </a:rPr>
              <a:t>multi-layer monitoring</a:t>
            </a:r>
            <a:r>
              <a:rPr sz="1275" noProof="1">
                <a:solidFill>
                  <a:srgbClr val="FFFFFF"/>
                </a:solidFill>
                <a:latin typeface="QuattrocentoSans"/>
                <a:ea typeface="QuattrocentoSans"/>
              </a:rPr>
              <a:t> + </a:t>
            </a:r>
            <a:r>
              <a:rPr b="1" sz="1275" noProof="1">
                <a:solidFill>
                  <a:srgbClr val="FFFFFF"/>
                </a:solidFill>
                <a:latin typeface="QuattrocentoSans"/>
                <a:ea typeface="QuattrocentoSans"/>
              </a:rPr>
              <a:t>automatic enrichment</a:t>
            </a:r>
            <a:r>
              <a:rPr sz="1275" noProof="1">
                <a:solidFill>
                  <a:srgbClr val="FFFFFF"/>
                </a:solidFill>
                <a:latin typeface="QuattrocentoSans"/>
                <a:ea typeface="QuattrocentoSans"/>
              </a:rPr>
              <a:t> + </a:t>
            </a:r>
            <a:r>
              <a:rPr b="1" sz="1275" noProof="1">
                <a:solidFill>
                  <a:srgbClr val="FFFFFF"/>
                </a:solidFill>
                <a:latin typeface="QuattrocentoSans"/>
                <a:ea typeface="QuattrocentoSans"/>
              </a:rPr>
              <a:t>AI analysis</a:t>
            </a:r>
            <a:r>
              <a:rPr sz="1275" noProof="1">
                <a:solidFill>
                  <a:srgbClr val="FFFFFF"/>
                </a:solidFill>
                <a:latin typeface="QuattrocentoSans"/>
                <a:ea typeface="QuattrocentoSans"/>
              </a:rPr>
              <a:t> + </a:t>
            </a:r>
            <a:r>
              <a:rPr b="1" sz="1275" noProof="1">
                <a:solidFill>
                  <a:srgbClr val="FFFFFF"/>
                </a:solidFill>
                <a:latin typeface="QuattrocentoSans"/>
                <a:ea typeface="QuattrocentoSans"/>
              </a:rPr>
              <a:t>human-controlled remediation</a:t>
            </a:r>
            <a:r>
              <a:rPr sz="1275" noProof="1">
                <a:solidFill>
                  <a:srgbClr val="FFFFFF"/>
                </a:solidFill>
                <a:latin typeface="QuattrocentoSans"/>
                <a:ea typeface="QuattrocentoSans"/>
              </a:rPr>
              <a:t> in a single deployable platform.</a:t>
            </a:r>
          </a:p>
        </p:txBody>
      </p:sp>
      <p:sp>
        <p:nvSpPr>
          <p:cNvPr id="19"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20"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number-bg"/>
          <p:cNvSpPr txBox="1"/>
          <p:nvPr/>
        </p:nvSpPr>
        <p:spPr>
          <a:xfrm>
            <a:off x="571500" y="762000"/>
            <a:ext cx="4762500" cy="2095500"/>
          </a:xfrm>
          <a:prstGeom prst="rect">
            <a:avLst/>
          </a:prstGeom>
          <a:noFill/>
        </p:spPr>
        <p:txBody>
          <a:bodyPr wrap="none" anchor="t">
            <a:noAutofit/>
          </a:bodyPr>
          <a:lstStyle/>
          <a:p>
            <a:pPr algn="l"/>
            <a:r>
              <a:rPr b="1" sz="15000" noProof="1">
                <a:solidFill>
                  <a:srgbClr val="2D6A6A">
                    <a:alpha val="8235"/>
                  </a:srgbClr>
                </a:solidFill>
                <a:latin typeface="Liter"/>
                <a:ea typeface="Liter"/>
              </a:rPr>
              <a:t>02</a:t>
            </a:r>
          </a:p>
        </p:txBody>
      </p:sp>
      <p:sp>
        <p:nvSpPr>
          <p:cNvPr id="3" name="dsl:accent-bar"/>
          <p:cNvSpPr/>
          <p:nvPr/>
        </p:nvSpPr>
        <p:spPr>
          <a:xfrm>
            <a:off x="762000" y="295275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label"/>
          <p:cNvSpPr txBox="1"/>
          <p:nvPr/>
        </p:nvSpPr>
        <p:spPr>
          <a:xfrm>
            <a:off x="762000" y="3143250"/>
            <a:ext cx="3810000" cy="285750"/>
          </a:xfrm>
          <a:prstGeom prst="rect">
            <a:avLst/>
          </a:prstGeom>
          <a:noFill/>
        </p:spPr>
        <p:txBody>
          <a:bodyPr wrap="none" anchor="t">
            <a:noAutofit/>
          </a:bodyPr>
          <a:lstStyle/>
          <a:p>
            <a:pPr algn="l"/>
            <a:r>
              <a:rPr b="1" sz="1200" noProof="1" spc="225">
                <a:solidFill>
                  <a:srgbClr val="D4A373"/>
                </a:solidFill>
                <a:latin typeface="Liter"/>
                <a:ea typeface="Liter"/>
              </a:rPr>
              <a:t>CHAPTER 02</a:t>
            </a:r>
          </a:p>
        </p:txBody>
      </p:sp>
      <p:sp>
        <p:nvSpPr>
          <p:cNvPr id="5" name="dsl:ch-title|s=$title"/>
          <p:cNvSpPr txBox="1"/>
          <p:nvPr/>
        </p:nvSpPr>
        <p:spPr>
          <a:xfrm>
            <a:off x="762000" y="3524250"/>
            <a:ext cx="8572500" cy="571500"/>
          </a:xfrm>
          <a:prstGeom prst="rect">
            <a:avLst/>
          </a:prstGeom>
          <a:noFill/>
        </p:spPr>
        <p:txBody>
          <a:bodyPr wrap="none" anchor="t">
            <a:noAutofit/>
          </a:bodyPr>
          <a:lstStyle/>
          <a:p>
            <a:pPr algn="l">
              <a:lnSpc>
                <a:spcPct val="120000"/>
              </a:lnSpc>
            </a:pPr>
            <a:r>
              <a:rPr b="1" sz="3300" noProof="1">
                <a:solidFill>
                  <a:srgbClr val="2D6A6A"/>
                </a:solidFill>
                <a:latin typeface="Liter"/>
                <a:ea typeface="Liter"/>
              </a:rPr>
              <a:t>ARIA Overview &amp; Objectives</a:t>
            </a:r>
          </a:p>
        </p:txBody>
      </p:sp>
      <p:sp>
        <p:nvSpPr>
          <p:cNvPr id="6" name="dsl:ch-subtitle|s=$subtitle"/>
          <p:cNvSpPr txBox="1"/>
          <p:nvPr/>
        </p:nvSpPr>
        <p:spPr>
          <a:xfrm>
            <a:off x="762000" y="4191000"/>
            <a:ext cx="7620000" cy="381000"/>
          </a:xfrm>
          <a:prstGeom prst="rect">
            <a:avLst/>
          </a:prstGeom>
          <a:noFill/>
        </p:spPr>
        <p:txBody>
          <a:bodyPr wrap="square" anchor="t">
            <a:noAutofit/>
          </a:bodyPr>
          <a:lstStyle/>
          <a:p>
            <a:pPr algn="l">
              <a:lnSpc>
                <a:spcPct val="140000"/>
              </a:lnSpc>
            </a:pPr>
            <a:r>
              <a:rPr sz="1650" noProof="1">
                <a:solidFill>
                  <a:srgbClr val="5C6B73"/>
                </a:solidFill>
                <a:latin typeface="QuattrocentoSans"/>
                <a:ea typeface="QuattrocentoSans"/>
              </a:rPr>
              <a:t>An intelligent, open SOAR/SOC automation platform</a:t>
            </a:r>
          </a:p>
        </p:txBody>
      </p:sp>
      <p:sp>
        <p:nvSpPr>
          <p:cNvPr id="7" name="dsl:deco-line"/>
          <p:cNvSpPr/>
          <p:nvPr/>
        </p:nvSpPr>
        <p:spPr>
          <a:xfrm>
            <a:off x="762000" y="4953000"/>
            <a:ext cx="2857500" cy="190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bottom-bar"/>
          <p:cNvSpPr/>
          <p:nvPr/>
        </p:nvSpPr>
        <p:spPr>
          <a:xfrm>
            <a:off x="0" y="6667500"/>
            <a:ext cx="12192000" cy="190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Active"/>
          <p:cNvSpPr txBox="1"/>
          <p:nvPr/>
        </p:nvSpPr>
        <p:spPr>
          <a:xfrm>
            <a:off x="18669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18669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47625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What is ARIA?</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intro"/>
          <p:cNvSpPr txBox="1"/>
          <p:nvPr/>
        </p:nvSpPr>
        <p:spPr>
          <a:xfrm>
            <a:off x="571500" y="1028700"/>
            <a:ext cx="11049000" cy="285750"/>
          </a:xfrm>
          <a:prstGeom prst="rect">
            <a:avLst/>
          </a:prstGeom>
          <a:noFill/>
        </p:spPr>
        <p:txBody>
          <a:bodyPr wrap="square" anchor="t">
            <a:noAutofit/>
          </a:bodyPr>
          <a:lstStyle/>
          <a:p>
            <a:pPr algn="l"/>
            <a:r>
              <a:rPr sz="1200" noProof="1">
                <a:solidFill>
                  <a:srgbClr val="5C6B73"/>
                </a:solidFill>
                <a:latin typeface="QuattrocentoSans"/>
                <a:ea typeface="QuattrocentoSans"/>
              </a:rPr>
              <a:t>ARIA is an intelligent SOC/SOAR platform connecting monitoring foundation to backend intelligence and a Next.js dashboard.</a:t>
            </a:r>
          </a:p>
        </p:txBody>
      </p:sp>
      <p:sp>
        <p:nvSpPr>
          <p:cNvPr id="15" name="dsl:card1-bg"/>
          <p:cNvSpPr/>
          <p:nvPr/>
        </p:nvSpPr>
        <p:spPr>
          <a:xfrm>
            <a:off x="571500" y="1476375"/>
            <a:ext cx="2571750" cy="3619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ard1-top"/>
          <p:cNvSpPr/>
          <p:nvPr/>
        </p:nvSpPr>
        <p:spPr>
          <a:xfrm>
            <a:off x="571500" y="1476375"/>
            <a:ext cx="2571750"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ard1-icon|i=fas:download"/>
          <p:cNvSpPr/>
          <p:nvPr/>
        </p:nvSpPr>
        <p:spPr>
          <a:xfrm>
            <a:off x="762000" y="1714500"/>
            <a:ext cx="342900" cy="342900"/>
          </a:xfrm>
          <a:custGeom>
            <a:avLst/>
            <a:gdLst/>
            <a:ahLst/>
            <a:cxnLst/>
            <a:rect l="l" t="t" r="r" b="b"/>
            <a:pathLst>
              <a:path w="342900" h="342900">
                <a:moveTo>
                  <a:pt x="192881" y="21431"/>
                </a:moveTo>
                <a:cubicBezTo>
                  <a:pt x="192881" y="9577"/>
                  <a:pt x="183304" y="0"/>
                  <a:pt x="171450" y="0"/>
                </a:cubicBezTo>
                <a:cubicBezTo>
                  <a:pt x="159595" y="0"/>
                  <a:pt x="150018" y="9577"/>
                  <a:pt x="150018" y="21431"/>
                </a:cubicBezTo>
                <a:lnTo>
                  <a:pt x="150018" y="183973"/>
                </a:lnTo>
                <a:lnTo>
                  <a:pt x="100860" y="134815"/>
                </a:lnTo>
                <a:cubicBezTo>
                  <a:pt x="92489" y="126444"/>
                  <a:pt x="78893" y="126444"/>
                  <a:pt x="70522" y="134815"/>
                </a:cubicBezTo>
                <a:cubicBezTo>
                  <a:pt x="62150" y="143187"/>
                  <a:pt x="62150" y="156782"/>
                  <a:pt x="70522" y="165154"/>
                </a:cubicBezTo>
                <a:lnTo>
                  <a:pt x="156247" y="250879"/>
                </a:lnTo>
                <a:cubicBezTo>
                  <a:pt x="164618" y="259251"/>
                  <a:pt x="178214" y="259251"/>
                  <a:pt x="186585" y="250879"/>
                </a:cubicBezTo>
                <a:lnTo>
                  <a:pt x="272310" y="165154"/>
                </a:lnTo>
                <a:cubicBezTo>
                  <a:pt x="280682" y="156782"/>
                  <a:pt x="280682" y="143187"/>
                  <a:pt x="272310" y="134815"/>
                </a:cubicBezTo>
                <a:cubicBezTo>
                  <a:pt x="263939" y="126444"/>
                  <a:pt x="250343" y="126444"/>
                  <a:pt x="241972" y="134815"/>
                </a:cubicBezTo>
                <a:lnTo>
                  <a:pt x="192881" y="183973"/>
                </a:lnTo>
                <a:lnTo>
                  <a:pt x="192881" y="21431"/>
                </a:lnTo>
                <a:close/>
                <a:moveTo>
                  <a:pt x="42862" y="235743"/>
                </a:moveTo>
                <a:cubicBezTo>
                  <a:pt x="19221" y="235743"/>
                  <a:pt x="0" y="254964"/>
                  <a:pt x="0" y="278606"/>
                </a:cubicBezTo>
                <a:lnTo>
                  <a:pt x="0" y="300037"/>
                </a:lnTo>
                <a:cubicBezTo>
                  <a:pt x="0" y="323678"/>
                  <a:pt x="19221" y="342900"/>
                  <a:pt x="42862" y="342900"/>
                </a:cubicBezTo>
                <a:lnTo>
                  <a:pt x="300037" y="342900"/>
                </a:lnTo>
                <a:cubicBezTo>
                  <a:pt x="323678" y="342900"/>
                  <a:pt x="342900" y="323678"/>
                  <a:pt x="342900" y="300037"/>
                </a:cubicBezTo>
                <a:lnTo>
                  <a:pt x="342900" y="278606"/>
                </a:lnTo>
                <a:cubicBezTo>
                  <a:pt x="342900" y="254964"/>
                  <a:pt x="323678" y="235743"/>
                  <a:pt x="300037" y="235743"/>
                </a:cubicBezTo>
                <a:lnTo>
                  <a:pt x="232060" y="235743"/>
                </a:lnTo>
                <a:lnTo>
                  <a:pt x="201721" y="266082"/>
                </a:lnTo>
                <a:cubicBezTo>
                  <a:pt x="184978" y="282825"/>
                  <a:pt x="157854" y="282825"/>
                  <a:pt x="141111" y="266082"/>
                </a:cubicBezTo>
                <a:lnTo>
                  <a:pt x="110839" y="235743"/>
                </a:lnTo>
                <a:lnTo>
                  <a:pt x="42862" y="235743"/>
                </a:lnTo>
                <a:close/>
                <a:moveTo>
                  <a:pt x="289321" y="273248"/>
                </a:moveTo>
                <a:cubicBezTo>
                  <a:pt x="298139" y="273248"/>
                  <a:pt x="305395" y="280504"/>
                  <a:pt x="305395" y="289321"/>
                </a:cubicBezTo>
                <a:cubicBezTo>
                  <a:pt x="305395" y="298139"/>
                  <a:pt x="298139" y="305395"/>
                  <a:pt x="289321" y="305395"/>
                </a:cubicBezTo>
                <a:cubicBezTo>
                  <a:pt x="280504" y="305395"/>
                  <a:pt x="273248" y="298139"/>
                  <a:pt x="273248" y="289321"/>
                </a:cubicBezTo>
                <a:cubicBezTo>
                  <a:pt x="273248" y="280504"/>
                  <a:pt x="280504" y="273248"/>
                  <a:pt x="289321" y="273248"/>
                </a:cubicBezTo>
                <a:close/>
              </a:path>
            </a:pathLst>
          </a:custGeom>
          <a:solidFill>
            <a:srgbClr val="2D6A6A"/>
          </a:solidFill>
          <a:ln>
            <a:noFill/>
          </a:ln>
          <a:effectLst/>
        </p:spPr>
      </p:sp>
      <p:sp>
        <p:nvSpPr>
          <p:cNvPr id="18" name="dsl:card1-title"/>
          <p:cNvSpPr txBox="1"/>
          <p:nvPr/>
        </p:nvSpPr>
        <p:spPr>
          <a:xfrm>
            <a:off x="762000" y="2171700"/>
            <a:ext cx="2190750" cy="285750"/>
          </a:xfrm>
          <a:prstGeom prst="rect">
            <a:avLst/>
          </a:prstGeom>
          <a:noFill/>
        </p:spPr>
        <p:txBody>
          <a:bodyPr wrap="none" anchor="t">
            <a:noAutofit/>
          </a:bodyPr>
          <a:lstStyle/>
          <a:p>
            <a:pPr algn="l"/>
            <a:r>
              <a:rPr b="1" sz="1650" noProof="1">
                <a:solidFill>
                  <a:srgbClr val="2D6A6A"/>
                </a:solidFill>
                <a:latin typeface="Liter"/>
                <a:ea typeface="Liter"/>
              </a:rPr>
              <a:t>INGEST</a:t>
            </a:r>
          </a:p>
        </p:txBody>
      </p:sp>
      <p:sp>
        <p:nvSpPr>
          <p:cNvPr id="19" name="dsl:card1-desc"/>
          <p:cNvSpPr txBox="1"/>
          <p:nvPr/>
        </p:nvSpPr>
        <p:spPr>
          <a:xfrm>
            <a:off x="762000" y="2524125"/>
            <a:ext cx="2190750" cy="2381250"/>
          </a:xfrm>
          <a:prstGeom prst="rect">
            <a:avLst/>
          </a:prstGeom>
          <a:noFill/>
        </p:spPr>
        <p:txBody>
          <a:bodyPr wrap="square" anchor="t">
            <a:noAutofit/>
          </a:bodyPr>
          <a:lstStyle/>
          <a:p>
            <a:pPr algn="l">
              <a:lnSpc>
                <a:spcPct val="160000"/>
              </a:lnSpc>
            </a:pPr>
            <a:r>
              <a:rPr sz="1125" noProof="1">
                <a:solidFill>
                  <a:srgbClr val="2B2D2F"/>
                </a:solidFill>
                <a:latin typeface="QuattrocentoSans"/>
                <a:ea typeface="QuattrocentoSans"/>
              </a:rPr>
              <a:t>Poll Elasticsearch indices continuously. Transform heterogeneous raw documents into a unified common alert model.</a:t>
            </a:r>
          </a:p>
          <a:p>
            <a:pPr algn="l">
              <a:lnSpc>
                <a:spcPct val="160000"/>
              </a:lnSpc>
              <a:spcBef>
                <a:spcPts val="600"/>
              </a:spcBef>
            </a:pPr>
            <a:r>
              <a:rPr sz="975" noProof="1">
                <a:solidFill>
                  <a:srgbClr val="5C6B73"/>
                </a:solidFill>
                <a:latin typeface="QuattrocentoSans"/>
                <a:ea typeface="QuattrocentoSans"/>
              </a:rPr>
              <a:t>Sources: Wazuh, Suricata, Falco, Telegraf</a:t>
            </a:r>
          </a:p>
        </p:txBody>
      </p:sp>
      <p:sp>
        <p:nvSpPr>
          <p:cNvPr id="20" name="dsl:card2-bg"/>
          <p:cNvSpPr/>
          <p:nvPr/>
        </p:nvSpPr>
        <p:spPr>
          <a:xfrm>
            <a:off x="3390900" y="1476375"/>
            <a:ext cx="2571750" cy="3619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card2-top"/>
          <p:cNvSpPr/>
          <p:nvPr/>
        </p:nvSpPr>
        <p:spPr>
          <a:xfrm>
            <a:off x="3390900" y="1476375"/>
            <a:ext cx="2571750"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ard2-icon|i=fas:magnifying-glass-chart"/>
          <p:cNvSpPr/>
          <p:nvPr/>
        </p:nvSpPr>
        <p:spPr>
          <a:xfrm>
            <a:off x="3581400" y="1714500"/>
            <a:ext cx="342900" cy="342900"/>
          </a:xfrm>
          <a:custGeom>
            <a:avLst/>
            <a:gdLst/>
            <a:ahLst/>
            <a:cxnLst/>
            <a:rect l="l" t="t" r="r" b="b"/>
            <a:pathLst>
              <a:path w="342900" h="342900">
                <a:moveTo>
                  <a:pt x="278606" y="139303"/>
                </a:moveTo>
                <a:cubicBezTo>
                  <a:pt x="278606" y="170043"/>
                  <a:pt x="268627" y="198439"/>
                  <a:pt x="251817" y="221478"/>
                </a:cubicBezTo>
                <a:lnTo>
                  <a:pt x="336604" y="306332"/>
                </a:lnTo>
                <a:cubicBezTo>
                  <a:pt x="344976" y="314704"/>
                  <a:pt x="344976" y="328299"/>
                  <a:pt x="336604" y="336671"/>
                </a:cubicBezTo>
                <a:cubicBezTo>
                  <a:pt x="328232" y="345043"/>
                  <a:pt x="314637" y="345043"/>
                  <a:pt x="306265" y="336671"/>
                </a:cubicBezTo>
                <a:lnTo>
                  <a:pt x="221478" y="251817"/>
                </a:lnTo>
                <a:cubicBezTo>
                  <a:pt x="198439" y="268694"/>
                  <a:pt x="170043" y="278606"/>
                  <a:pt x="139303" y="278606"/>
                </a:cubicBezTo>
                <a:cubicBezTo>
                  <a:pt x="62351" y="278606"/>
                  <a:pt x="0" y="216254"/>
                  <a:pt x="0" y="139303"/>
                </a:cubicBezTo>
                <a:cubicBezTo>
                  <a:pt x="0" y="62351"/>
                  <a:pt x="62351" y="0"/>
                  <a:pt x="139303" y="0"/>
                </a:cubicBezTo>
                <a:cubicBezTo>
                  <a:pt x="216254" y="0"/>
                  <a:pt x="278606" y="62351"/>
                  <a:pt x="278606" y="139303"/>
                </a:cubicBezTo>
                <a:close/>
                <a:moveTo>
                  <a:pt x="69651" y="144660"/>
                </a:moveTo>
                <a:lnTo>
                  <a:pt x="69651" y="187523"/>
                </a:lnTo>
                <a:cubicBezTo>
                  <a:pt x="69651" y="196430"/>
                  <a:pt x="76817" y="203596"/>
                  <a:pt x="85725" y="203596"/>
                </a:cubicBezTo>
                <a:cubicBezTo>
                  <a:pt x="94632" y="203596"/>
                  <a:pt x="101798" y="196430"/>
                  <a:pt x="101798" y="187523"/>
                </a:cubicBezTo>
                <a:lnTo>
                  <a:pt x="101798" y="144660"/>
                </a:lnTo>
                <a:cubicBezTo>
                  <a:pt x="101798" y="135753"/>
                  <a:pt x="94632" y="128587"/>
                  <a:pt x="85725" y="128587"/>
                </a:cubicBezTo>
                <a:cubicBezTo>
                  <a:pt x="76817" y="128587"/>
                  <a:pt x="69651" y="135753"/>
                  <a:pt x="69651" y="144660"/>
                </a:cubicBezTo>
                <a:close/>
                <a:moveTo>
                  <a:pt x="123229" y="80367"/>
                </a:moveTo>
                <a:lnTo>
                  <a:pt x="123229" y="187523"/>
                </a:lnTo>
                <a:cubicBezTo>
                  <a:pt x="123229" y="196430"/>
                  <a:pt x="130395" y="203596"/>
                  <a:pt x="139303" y="203596"/>
                </a:cubicBezTo>
                <a:cubicBezTo>
                  <a:pt x="148210" y="203596"/>
                  <a:pt x="155376" y="196430"/>
                  <a:pt x="155376" y="187523"/>
                </a:cubicBezTo>
                <a:lnTo>
                  <a:pt x="155376" y="80367"/>
                </a:lnTo>
                <a:cubicBezTo>
                  <a:pt x="155376" y="71459"/>
                  <a:pt x="148210" y="64293"/>
                  <a:pt x="139303" y="64293"/>
                </a:cubicBezTo>
                <a:cubicBezTo>
                  <a:pt x="130395" y="64293"/>
                  <a:pt x="123229" y="71459"/>
                  <a:pt x="123229" y="80367"/>
                </a:cubicBezTo>
                <a:close/>
                <a:moveTo>
                  <a:pt x="176807" y="123229"/>
                </a:moveTo>
                <a:lnTo>
                  <a:pt x="176807" y="187523"/>
                </a:lnTo>
                <a:cubicBezTo>
                  <a:pt x="176807" y="196430"/>
                  <a:pt x="183973" y="203596"/>
                  <a:pt x="192881" y="203596"/>
                </a:cubicBezTo>
                <a:cubicBezTo>
                  <a:pt x="201788" y="203596"/>
                  <a:pt x="208954" y="196430"/>
                  <a:pt x="208954" y="187523"/>
                </a:cubicBezTo>
                <a:lnTo>
                  <a:pt x="208954" y="123229"/>
                </a:lnTo>
                <a:cubicBezTo>
                  <a:pt x="208954" y="114322"/>
                  <a:pt x="201788" y="107156"/>
                  <a:pt x="192881" y="107156"/>
                </a:cubicBezTo>
                <a:cubicBezTo>
                  <a:pt x="183973" y="107156"/>
                  <a:pt x="176807" y="114322"/>
                  <a:pt x="176807" y="123229"/>
                </a:cubicBezTo>
                <a:close/>
              </a:path>
            </a:pathLst>
          </a:custGeom>
          <a:solidFill>
            <a:srgbClr val="D4A373"/>
          </a:solidFill>
          <a:ln>
            <a:noFill/>
          </a:ln>
          <a:effectLst/>
        </p:spPr>
      </p:sp>
      <p:sp>
        <p:nvSpPr>
          <p:cNvPr id="23" name="dsl:card2-title"/>
          <p:cNvSpPr txBox="1"/>
          <p:nvPr/>
        </p:nvSpPr>
        <p:spPr>
          <a:xfrm>
            <a:off x="3581400" y="2171700"/>
            <a:ext cx="2190750" cy="285750"/>
          </a:xfrm>
          <a:prstGeom prst="rect">
            <a:avLst/>
          </a:prstGeom>
          <a:noFill/>
        </p:spPr>
        <p:txBody>
          <a:bodyPr wrap="none" anchor="t">
            <a:noAutofit/>
          </a:bodyPr>
          <a:lstStyle/>
          <a:p>
            <a:pPr algn="l"/>
            <a:r>
              <a:rPr b="1" sz="1650" noProof="1">
                <a:solidFill>
                  <a:srgbClr val="D4A373"/>
                </a:solidFill>
                <a:latin typeface="Liter"/>
                <a:ea typeface="Liter"/>
              </a:rPr>
              <a:t>ENRICH</a:t>
            </a:r>
          </a:p>
        </p:txBody>
      </p:sp>
      <p:sp>
        <p:nvSpPr>
          <p:cNvPr id="24" name="dsl:card2-desc"/>
          <p:cNvSpPr txBox="1"/>
          <p:nvPr/>
        </p:nvSpPr>
        <p:spPr>
          <a:xfrm>
            <a:off x="3581400" y="2524125"/>
            <a:ext cx="2190750" cy="2381250"/>
          </a:xfrm>
          <a:prstGeom prst="rect">
            <a:avLst/>
          </a:prstGeom>
          <a:noFill/>
        </p:spPr>
        <p:txBody>
          <a:bodyPr wrap="square" anchor="t">
            <a:noAutofit/>
          </a:bodyPr>
          <a:lstStyle/>
          <a:p>
            <a:pPr algn="l">
              <a:lnSpc>
                <a:spcPct val="160000"/>
              </a:lnSpc>
            </a:pPr>
            <a:r>
              <a:rPr sz="1125" noProof="1">
                <a:solidFill>
                  <a:srgbClr val="2B2D2F"/>
                </a:solidFill>
                <a:latin typeface="QuattrocentoSans"/>
                <a:ea typeface="QuattrocentoSans"/>
              </a:rPr>
              <a:t>Add GeoIP location, MITRE ATT&amp;CK context. Remove duplicates and filter noise. Group related alerts into incidents.</a:t>
            </a:r>
          </a:p>
          <a:p>
            <a:pPr algn="l">
              <a:lnSpc>
                <a:spcPct val="160000"/>
              </a:lnSpc>
              <a:spcBef>
                <a:spcPts val="600"/>
              </a:spcBef>
            </a:pPr>
            <a:r>
              <a:rPr sz="975" noProof="1">
                <a:solidFill>
                  <a:srgbClr val="5C6B73"/>
                </a:solidFill>
                <a:latin typeface="QuattrocentoSans"/>
                <a:ea typeface="QuattrocentoSans"/>
              </a:rPr>
              <a:t>GeoIP, MITRE, dedup, correlation</a:t>
            </a:r>
          </a:p>
        </p:txBody>
      </p:sp>
      <p:sp>
        <p:nvSpPr>
          <p:cNvPr id="25" name="dsl:card3-bg"/>
          <p:cNvSpPr/>
          <p:nvPr/>
        </p:nvSpPr>
        <p:spPr>
          <a:xfrm>
            <a:off x="6210300" y="1476375"/>
            <a:ext cx="2571750" cy="3619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ard3-top"/>
          <p:cNvSpPr/>
          <p:nvPr/>
        </p:nvSpPr>
        <p:spPr>
          <a:xfrm>
            <a:off x="6210300" y="1476375"/>
            <a:ext cx="2571750"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3-icon|i=fas:robot"/>
          <p:cNvSpPr/>
          <p:nvPr/>
        </p:nvSpPr>
        <p:spPr>
          <a:xfrm>
            <a:off x="6400800" y="1748790"/>
            <a:ext cx="342900" cy="274320"/>
          </a:xfrm>
          <a:custGeom>
            <a:avLst/>
            <a:gdLst/>
            <a:ahLst/>
            <a:cxnLst/>
            <a:rect l="l" t="t" r="r" b="b"/>
            <a:pathLst>
              <a:path w="342900" h="274320">
                <a:moveTo>
                  <a:pt x="171450" y="0"/>
                </a:moveTo>
                <a:cubicBezTo>
                  <a:pt x="180933" y="0"/>
                  <a:pt x="188595" y="7661"/>
                  <a:pt x="188595" y="17145"/>
                </a:cubicBezTo>
                <a:lnTo>
                  <a:pt x="188595" y="51435"/>
                </a:lnTo>
                <a:lnTo>
                  <a:pt x="252888" y="51435"/>
                </a:lnTo>
                <a:cubicBezTo>
                  <a:pt x="274212" y="51435"/>
                  <a:pt x="291465" y="68687"/>
                  <a:pt x="291465" y="90011"/>
                </a:cubicBezTo>
                <a:lnTo>
                  <a:pt x="291465" y="235743"/>
                </a:lnTo>
                <a:cubicBezTo>
                  <a:pt x="291465" y="257067"/>
                  <a:pt x="274212" y="274320"/>
                  <a:pt x="252888" y="274320"/>
                </a:cubicBezTo>
                <a:lnTo>
                  <a:pt x="90011" y="274320"/>
                </a:lnTo>
                <a:cubicBezTo>
                  <a:pt x="68687" y="274320"/>
                  <a:pt x="51435" y="257067"/>
                  <a:pt x="51435" y="235743"/>
                </a:cubicBezTo>
                <a:lnTo>
                  <a:pt x="51435" y="90011"/>
                </a:lnTo>
                <a:cubicBezTo>
                  <a:pt x="51435" y="68687"/>
                  <a:pt x="68687" y="51435"/>
                  <a:pt x="90011" y="51435"/>
                </a:cubicBezTo>
                <a:lnTo>
                  <a:pt x="154305" y="51435"/>
                </a:lnTo>
                <a:lnTo>
                  <a:pt x="154305" y="17145"/>
                </a:lnTo>
                <a:cubicBezTo>
                  <a:pt x="154305" y="7661"/>
                  <a:pt x="161966" y="0"/>
                  <a:pt x="171450" y="0"/>
                </a:cubicBezTo>
                <a:close/>
                <a:moveTo>
                  <a:pt x="111442" y="205740"/>
                </a:moveTo>
                <a:cubicBezTo>
                  <a:pt x="106727" y="205740"/>
                  <a:pt x="102870" y="209597"/>
                  <a:pt x="102870" y="214312"/>
                </a:cubicBezTo>
                <a:cubicBezTo>
                  <a:pt x="102870" y="219027"/>
                  <a:pt x="106727" y="222885"/>
                  <a:pt x="111442" y="222885"/>
                </a:cubicBezTo>
                <a:lnTo>
                  <a:pt x="128587" y="222885"/>
                </a:lnTo>
                <a:cubicBezTo>
                  <a:pt x="133302" y="222885"/>
                  <a:pt x="137160" y="219027"/>
                  <a:pt x="137160" y="214312"/>
                </a:cubicBezTo>
                <a:cubicBezTo>
                  <a:pt x="137160" y="209597"/>
                  <a:pt x="133302" y="205740"/>
                  <a:pt x="128587" y="205740"/>
                </a:cubicBezTo>
                <a:lnTo>
                  <a:pt x="111442" y="205740"/>
                </a:lnTo>
                <a:close/>
                <a:moveTo>
                  <a:pt x="162877" y="205740"/>
                </a:moveTo>
                <a:cubicBezTo>
                  <a:pt x="158162" y="205740"/>
                  <a:pt x="154305" y="209597"/>
                  <a:pt x="154305" y="214312"/>
                </a:cubicBezTo>
                <a:cubicBezTo>
                  <a:pt x="154305" y="219027"/>
                  <a:pt x="158162" y="222885"/>
                  <a:pt x="162877" y="222885"/>
                </a:cubicBezTo>
                <a:lnTo>
                  <a:pt x="180022" y="222885"/>
                </a:lnTo>
                <a:cubicBezTo>
                  <a:pt x="184737" y="222885"/>
                  <a:pt x="188595" y="219027"/>
                  <a:pt x="188595" y="214312"/>
                </a:cubicBezTo>
                <a:cubicBezTo>
                  <a:pt x="188595" y="209597"/>
                  <a:pt x="184737" y="205740"/>
                  <a:pt x="180022" y="205740"/>
                </a:cubicBezTo>
                <a:lnTo>
                  <a:pt x="162877" y="205740"/>
                </a:lnTo>
                <a:close/>
                <a:moveTo>
                  <a:pt x="214312" y="205740"/>
                </a:moveTo>
                <a:cubicBezTo>
                  <a:pt x="209597" y="205740"/>
                  <a:pt x="205740" y="209597"/>
                  <a:pt x="205740" y="214312"/>
                </a:cubicBezTo>
                <a:cubicBezTo>
                  <a:pt x="205740" y="219027"/>
                  <a:pt x="209597" y="222885"/>
                  <a:pt x="214312" y="222885"/>
                </a:cubicBezTo>
                <a:lnTo>
                  <a:pt x="231457" y="222885"/>
                </a:lnTo>
                <a:cubicBezTo>
                  <a:pt x="236172" y="222885"/>
                  <a:pt x="240030" y="219027"/>
                  <a:pt x="240030" y="214312"/>
                </a:cubicBezTo>
                <a:cubicBezTo>
                  <a:pt x="240030" y="209597"/>
                  <a:pt x="236172" y="205740"/>
                  <a:pt x="231457" y="205740"/>
                </a:cubicBezTo>
                <a:lnTo>
                  <a:pt x="214312" y="205740"/>
                </a:lnTo>
                <a:close/>
                <a:moveTo>
                  <a:pt x="141446" y="137160"/>
                </a:moveTo>
                <a:cubicBezTo>
                  <a:pt x="141446" y="125403"/>
                  <a:pt x="131771" y="115728"/>
                  <a:pt x="120015" y="115728"/>
                </a:cubicBezTo>
                <a:cubicBezTo>
                  <a:pt x="108258" y="115728"/>
                  <a:pt x="98583" y="125403"/>
                  <a:pt x="98583" y="137160"/>
                </a:cubicBezTo>
                <a:cubicBezTo>
                  <a:pt x="98583" y="148916"/>
                  <a:pt x="108258" y="158591"/>
                  <a:pt x="120015" y="158591"/>
                </a:cubicBezTo>
                <a:cubicBezTo>
                  <a:pt x="131771" y="158591"/>
                  <a:pt x="141446" y="148916"/>
                  <a:pt x="141446" y="137160"/>
                </a:cubicBezTo>
                <a:close/>
                <a:moveTo>
                  <a:pt x="222885" y="158591"/>
                </a:moveTo>
                <a:cubicBezTo>
                  <a:pt x="234641" y="158591"/>
                  <a:pt x="244316" y="148916"/>
                  <a:pt x="244316" y="137160"/>
                </a:cubicBezTo>
                <a:cubicBezTo>
                  <a:pt x="244316" y="125403"/>
                  <a:pt x="234641" y="115728"/>
                  <a:pt x="222885" y="115728"/>
                </a:cubicBezTo>
                <a:cubicBezTo>
                  <a:pt x="211128" y="115728"/>
                  <a:pt x="201453" y="125403"/>
                  <a:pt x="201453" y="137160"/>
                </a:cubicBezTo>
                <a:cubicBezTo>
                  <a:pt x="201453" y="148916"/>
                  <a:pt x="211128" y="158591"/>
                  <a:pt x="222885" y="158591"/>
                </a:cubicBezTo>
                <a:close/>
                <a:moveTo>
                  <a:pt x="25717" y="120015"/>
                </a:moveTo>
                <a:lnTo>
                  <a:pt x="34290" y="120015"/>
                </a:lnTo>
                <a:lnTo>
                  <a:pt x="34290" y="222885"/>
                </a:lnTo>
                <a:lnTo>
                  <a:pt x="25717" y="222885"/>
                </a:lnTo>
                <a:cubicBezTo>
                  <a:pt x="11519" y="222885"/>
                  <a:pt x="0" y="211365"/>
                  <a:pt x="0" y="197167"/>
                </a:cubicBezTo>
                <a:lnTo>
                  <a:pt x="0" y="145732"/>
                </a:lnTo>
                <a:cubicBezTo>
                  <a:pt x="0" y="131534"/>
                  <a:pt x="11519" y="120015"/>
                  <a:pt x="25717" y="120015"/>
                </a:cubicBezTo>
                <a:close/>
                <a:moveTo>
                  <a:pt x="317182" y="120015"/>
                </a:moveTo>
                <a:cubicBezTo>
                  <a:pt x="331380" y="120015"/>
                  <a:pt x="342900" y="131534"/>
                  <a:pt x="342900" y="145732"/>
                </a:cubicBezTo>
                <a:lnTo>
                  <a:pt x="342900" y="197167"/>
                </a:lnTo>
                <a:cubicBezTo>
                  <a:pt x="342900" y="211365"/>
                  <a:pt x="331380" y="222885"/>
                  <a:pt x="317182" y="222885"/>
                </a:cubicBezTo>
                <a:lnTo>
                  <a:pt x="308610" y="222885"/>
                </a:lnTo>
                <a:lnTo>
                  <a:pt x="308610" y="120015"/>
                </a:lnTo>
                <a:lnTo>
                  <a:pt x="317182" y="120015"/>
                </a:lnTo>
                <a:close/>
              </a:path>
            </a:pathLst>
          </a:custGeom>
          <a:solidFill>
            <a:srgbClr val="2D6A6A"/>
          </a:solidFill>
          <a:ln>
            <a:noFill/>
          </a:ln>
          <a:effectLst/>
        </p:spPr>
      </p:sp>
      <p:sp>
        <p:nvSpPr>
          <p:cNvPr id="28" name="dsl:card3-title"/>
          <p:cNvSpPr txBox="1"/>
          <p:nvPr/>
        </p:nvSpPr>
        <p:spPr>
          <a:xfrm>
            <a:off x="6400800" y="2171700"/>
            <a:ext cx="2190750" cy="285750"/>
          </a:xfrm>
          <a:prstGeom prst="rect">
            <a:avLst/>
          </a:prstGeom>
          <a:noFill/>
        </p:spPr>
        <p:txBody>
          <a:bodyPr wrap="none" anchor="t">
            <a:noAutofit/>
          </a:bodyPr>
          <a:lstStyle/>
          <a:p>
            <a:pPr algn="l"/>
            <a:r>
              <a:rPr b="1" sz="1650" noProof="1">
                <a:solidFill>
                  <a:srgbClr val="2D6A6A"/>
                </a:solidFill>
                <a:latin typeface="Liter"/>
                <a:ea typeface="Liter"/>
              </a:rPr>
              <a:t>ASSIST</a:t>
            </a:r>
          </a:p>
        </p:txBody>
      </p:sp>
      <p:sp>
        <p:nvSpPr>
          <p:cNvPr id="29" name="dsl:card3-desc"/>
          <p:cNvSpPr txBox="1"/>
          <p:nvPr/>
        </p:nvSpPr>
        <p:spPr>
          <a:xfrm>
            <a:off x="6400800" y="2524125"/>
            <a:ext cx="2190750" cy="2381250"/>
          </a:xfrm>
          <a:prstGeom prst="rect">
            <a:avLst/>
          </a:prstGeom>
          <a:noFill/>
        </p:spPr>
        <p:txBody>
          <a:bodyPr wrap="square" anchor="t">
            <a:noAutofit/>
          </a:bodyPr>
          <a:lstStyle/>
          <a:p>
            <a:pPr algn="l">
              <a:lnSpc>
                <a:spcPct val="160000"/>
              </a:lnSpc>
            </a:pPr>
            <a:r>
              <a:rPr sz="1125" noProof="1">
                <a:solidFill>
                  <a:srgbClr val="2B2D2F"/>
                </a:solidFill>
                <a:latin typeface="QuattrocentoSans"/>
                <a:ea typeface="QuattrocentoSans"/>
              </a:rPr>
              <a:t>Generate AI-powered investigation summaries, risk scores, and narratives. Propose Ansible playbooks with analyst approval gates.</a:t>
            </a:r>
          </a:p>
          <a:p>
            <a:pPr algn="l">
              <a:lnSpc>
                <a:spcPct val="160000"/>
              </a:lnSpc>
              <a:spcBef>
                <a:spcPts val="600"/>
              </a:spcBef>
            </a:pPr>
            <a:r>
              <a:rPr sz="975" noProof="1">
                <a:solidFill>
                  <a:srgbClr val="5C6B73"/>
                </a:solidFill>
                <a:latin typeface="QuattrocentoSans"/>
                <a:ea typeface="QuattrocentoSans"/>
              </a:rPr>
              <a:t>LLM-powered, human-in-the-loop</a:t>
            </a:r>
          </a:p>
        </p:txBody>
      </p:sp>
      <p:sp>
        <p:nvSpPr>
          <p:cNvPr id="30" name="dsl:card4-bg"/>
          <p:cNvSpPr/>
          <p:nvPr/>
        </p:nvSpPr>
        <p:spPr>
          <a:xfrm>
            <a:off x="9029700" y="1476375"/>
            <a:ext cx="2571750" cy="3619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card4-top"/>
          <p:cNvSpPr/>
          <p:nvPr/>
        </p:nvSpPr>
        <p:spPr>
          <a:xfrm>
            <a:off x="9029700" y="1476375"/>
            <a:ext cx="2571750"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card4-icon|i=fas:clipboard-check"/>
          <p:cNvSpPr/>
          <p:nvPr/>
        </p:nvSpPr>
        <p:spPr>
          <a:xfrm>
            <a:off x="9263062" y="1714500"/>
            <a:ext cx="257175" cy="342900"/>
          </a:xfrm>
          <a:custGeom>
            <a:avLst/>
            <a:gdLst/>
            <a:ahLst/>
            <a:cxnLst/>
            <a:rect l="l" t="t" r="r" b="b"/>
            <a:pathLst>
              <a:path w="257175" h="342900">
                <a:moveTo>
                  <a:pt x="128587" y="0"/>
                </a:moveTo>
                <a:cubicBezTo>
                  <a:pt x="100592" y="0"/>
                  <a:pt x="76750" y="17881"/>
                  <a:pt x="67977" y="42862"/>
                </a:cubicBezTo>
                <a:lnTo>
                  <a:pt x="42862" y="42862"/>
                </a:lnTo>
                <a:cubicBezTo>
                  <a:pt x="19221" y="42862"/>
                  <a:pt x="0" y="62083"/>
                  <a:pt x="0" y="85725"/>
                </a:cubicBezTo>
                <a:lnTo>
                  <a:pt x="0" y="300037"/>
                </a:lnTo>
                <a:cubicBezTo>
                  <a:pt x="0" y="323678"/>
                  <a:pt x="19221" y="342900"/>
                  <a:pt x="42862" y="342900"/>
                </a:cubicBezTo>
                <a:lnTo>
                  <a:pt x="214312" y="342900"/>
                </a:lnTo>
                <a:cubicBezTo>
                  <a:pt x="237953" y="342900"/>
                  <a:pt x="257175" y="323678"/>
                  <a:pt x="257175" y="300037"/>
                </a:cubicBezTo>
                <a:lnTo>
                  <a:pt x="257175" y="85725"/>
                </a:lnTo>
                <a:cubicBezTo>
                  <a:pt x="257175" y="62083"/>
                  <a:pt x="237953" y="42862"/>
                  <a:pt x="214312" y="42862"/>
                </a:cubicBezTo>
                <a:lnTo>
                  <a:pt x="189197" y="42862"/>
                </a:lnTo>
                <a:cubicBezTo>
                  <a:pt x="180424" y="17881"/>
                  <a:pt x="156582" y="0"/>
                  <a:pt x="128587" y="0"/>
                </a:cubicBezTo>
                <a:close/>
                <a:moveTo>
                  <a:pt x="128587" y="42862"/>
                </a:moveTo>
                <a:cubicBezTo>
                  <a:pt x="140344" y="42862"/>
                  <a:pt x="150018" y="52536"/>
                  <a:pt x="150018" y="64293"/>
                </a:cubicBezTo>
                <a:cubicBezTo>
                  <a:pt x="150018" y="76050"/>
                  <a:pt x="140344" y="85725"/>
                  <a:pt x="128587" y="85725"/>
                </a:cubicBezTo>
                <a:cubicBezTo>
                  <a:pt x="116830" y="85725"/>
                  <a:pt x="107156" y="76050"/>
                  <a:pt x="107156" y="64293"/>
                </a:cubicBezTo>
                <a:cubicBezTo>
                  <a:pt x="107156" y="52536"/>
                  <a:pt x="116830" y="42862"/>
                  <a:pt x="128587" y="42862"/>
                </a:cubicBezTo>
                <a:close/>
                <a:moveTo>
                  <a:pt x="204266" y="182835"/>
                </a:moveTo>
                <a:lnTo>
                  <a:pt x="118541" y="268560"/>
                </a:lnTo>
                <a:cubicBezTo>
                  <a:pt x="112246" y="274855"/>
                  <a:pt x="102066" y="274855"/>
                  <a:pt x="95837" y="268560"/>
                </a:cubicBezTo>
                <a:lnTo>
                  <a:pt x="52908" y="225697"/>
                </a:lnTo>
                <a:cubicBezTo>
                  <a:pt x="46612" y="219402"/>
                  <a:pt x="46612" y="209222"/>
                  <a:pt x="52908" y="202994"/>
                </a:cubicBezTo>
                <a:cubicBezTo>
                  <a:pt x="59203" y="196765"/>
                  <a:pt x="69383" y="196698"/>
                  <a:pt x="75612" y="202994"/>
                </a:cubicBezTo>
                <a:lnTo>
                  <a:pt x="107089" y="234471"/>
                </a:lnTo>
                <a:lnTo>
                  <a:pt x="181495" y="160064"/>
                </a:lnTo>
                <a:cubicBezTo>
                  <a:pt x="187791" y="153769"/>
                  <a:pt x="197971" y="153769"/>
                  <a:pt x="204199" y="160064"/>
                </a:cubicBezTo>
                <a:cubicBezTo>
                  <a:pt x="210428" y="166360"/>
                  <a:pt x="210495" y="176539"/>
                  <a:pt x="204199" y="182768"/>
                </a:cubicBezTo>
                <a:close/>
              </a:path>
            </a:pathLst>
          </a:custGeom>
          <a:solidFill>
            <a:srgbClr val="D4A373"/>
          </a:solidFill>
          <a:ln>
            <a:noFill/>
          </a:ln>
          <a:effectLst/>
        </p:spPr>
      </p:sp>
      <p:sp>
        <p:nvSpPr>
          <p:cNvPr id="33" name="dsl:card4-title"/>
          <p:cNvSpPr txBox="1"/>
          <p:nvPr/>
        </p:nvSpPr>
        <p:spPr>
          <a:xfrm>
            <a:off x="9220200" y="2171700"/>
            <a:ext cx="2190750" cy="285750"/>
          </a:xfrm>
          <a:prstGeom prst="rect">
            <a:avLst/>
          </a:prstGeom>
          <a:noFill/>
        </p:spPr>
        <p:txBody>
          <a:bodyPr wrap="none" anchor="t">
            <a:noAutofit/>
          </a:bodyPr>
          <a:lstStyle/>
          <a:p>
            <a:pPr algn="l"/>
            <a:r>
              <a:rPr b="1" sz="1650" noProof="1">
                <a:solidFill>
                  <a:srgbClr val="D4A373"/>
                </a:solidFill>
                <a:latin typeface="Liter"/>
                <a:ea typeface="Liter"/>
              </a:rPr>
              <a:t>VERIFY</a:t>
            </a:r>
          </a:p>
        </p:txBody>
      </p:sp>
      <p:sp>
        <p:nvSpPr>
          <p:cNvPr id="34" name="dsl:card4-desc"/>
          <p:cNvSpPr txBox="1"/>
          <p:nvPr/>
        </p:nvSpPr>
        <p:spPr>
          <a:xfrm>
            <a:off x="9220200" y="2524125"/>
            <a:ext cx="2190750" cy="2381250"/>
          </a:xfrm>
          <a:prstGeom prst="rect">
            <a:avLst/>
          </a:prstGeom>
          <a:noFill/>
        </p:spPr>
        <p:txBody>
          <a:bodyPr wrap="square" anchor="t">
            <a:noAutofit/>
          </a:bodyPr>
          <a:lstStyle/>
          <a:p>
            <a:pPr algn="l">
              <a:lnSpc>
                <a:spcPct val="160000"/>
              </a:lnSpc>
            </a:pPr>
            <a:r>
              <a:rPr sz="1125" noProof="1">
                <a:solidFill>
                  <a:srgbClr val="2B2D2F"/>
                </a:solidFill>
                <a:latin typeface="QuattrocentoSans"/>
                <a:ea typeface="QuattrocentoSans"/>
              </a:rPr>
              <a:t>Execute playbooks, re-check evidence, archive closed cases with complete audit trail for compliance.</a:t>
            </a:r>
          </a:p>
          <a:p>
            <a:pPr algn="l">
              <a:lnSpc>
                <a:spcPct val="160000"/>
              </a:lnSpc>
              <a:spcBef>
                <a:spcPts val="600"/>
              </a:spcBef>
            </a:pPr>
            <a:r>
              <a:rPr sz="975" noProof="1">
                <a:solidFill>
                  <a:srgbClr val="5C6B73"/>
                </a:solidFill>
                <a:latin typeface="QuattrocentoSans"/>
                <a:ea typeface="QuattrocentoSans"/>
              </a:rPr>
              <a:t>Execute, verify, archive, audit</a:t>
            </a:r>
          </a:p>
        </p:txBody>
      </p:sp>
      <p:cxnSp>
        <p:nvCxnSpPr>
          <p:cNvPr id="35" name="dsl:arrow1"/>
          <p:cNvCxnSpPr/>
          <p:nvPr/>
        </p:nvCxnSpPr>
        <p:spPr>
          <a:xfrm>
            <a:off x="3143250" y="3238500"/>
            <a:ext cx="247650" cy="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36" name="dsl:arrow2"/>
          <p:cNvCxnSpPr/>
          <p:nvPr/>
        </p:nvCxnSpPr>
        <p:spPr>
          <a:xfrm>
            <a:off x="5962650" y="3238500"/>
            <a:ext cx="247650" cy="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37" name="dsl:arrow3"/>
          <p:cNvCxnSpPr/>
          <p:nvPr/>
        </p:nvCxnSpPr>
        <p:spPr>
          <a:xfrm>
            <a:off x="8782050" y="3238500"/>
            <a:ext cx="247650" cy="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8"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39"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Active"/>
          <p:cNvSpPr txBox="1"/>
          <p:nvPr/>
        </p:nvSpPr>
        <p:spPr>
          <a:xfrm>
            <a:off x="18669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18669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47625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Key Objectives</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obj1-bg"/>
          <p:cNvSpPr/>
          <p:nvPr/>
        </p:nvSpPr>
        <p:spPr>
          <a:xfrm>
            <a:off x="5715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obj1-icon|i=fas:eye"/>
          <p:cNvSpPr/>
          <p:nvPr/>
        </p:nvSpPr>
        <p:spPr>
          <a:xfrm>
            <a:off x="762000" y="1301750"/>
            <a:ext cx="285750" cy="254000"/>
          </a:xfrm>
          <a:custGeom>
            <a:avLst/>
            <a:gdLst/>
            <a:ahLst/>
            <a:cxnLst/>
            <a:rect l="l" t="t" r="r" b="b"/>
            <a:pathLst>
              <a:path w="285750" h="254000">
                <a:moveTo>
                  <a:pt x="142875" y="39687"/>
                </a:moveTo>
                <a:cubicBezTo>
                  <a:pt x="110529" y="39687"/>
                  <a:pt x="83939" y="54371"/>
                  <a:pt x="63549" y="73273"/>
                </a:cubicBezTo>
                <a:cubicBezTo>
                  <a:pt x="44450" y="91033"/>
                  <a:pt x="31253" y="112117"/>
                  <a:pt x="24507" y="127000"/>
                </a:cubicBezTo>
                <a:cubicBezTo>
                  <a:pt x="31253" y="141882"/>
                  <a:pt x="44450" y="162966"/>
                  <a:pt x="63500" y="180726"/>
                </a:cubicBezTo>
                <a:cubicBezTo>
                  <a:pt x="83939" y="199628"/>
                  <a:pt x="110529" y="214312"/>
                  <a:pt x="142875" y="214312"/>
                </a:cubicBezTo>
                <a:cubicBezTo>
                  <a:pt x="175220" y="214312"/>
                  <a:pt x="201810" y="199628"/>
                  <a:pt x="222200" y="180726"/>
                </a:cubicBezTo>
                <a:cubicBezTo>
                  <a:pt x="241300" y="162966"/>
                  <a:pt x="254496" y="141882"/>
                  <a:pt x="261242" y="127000"/>
                </a:cubicBezTo>
                <a:cubicBezTo>
                  <a:pt x="254496" y="112117"/>
                  <a:pt x="241300" y="91033"/>
                  <a:pt x="222250" y="73273"/>
                </a:cubicBezTo>
                <a:cubicBezTo>
                  <a:pt x="201810" y="54371"/>
                  <a:pt x="175220" y="39687"/>
                  <a:pt x="142875" y="39687"/>
                </a:cubicBezTo>
                <a:close/>
                <a:moveTo>
                  <a:pt x="47327" y="55860"/>
                </a:moveTo>
                <a:cubicBezTo>
                  <a:pt x="70693" y="34131"/>
                  <a:pt x="102790" y="15875"/>
                  <a:pt x="142875" y="15875"/>
                </a:cubicBezTo>
                <a:cubicBezTo>
                  <a:pt x="182959" y="15875"/>
                  <a:pt x="215056" y="34131"/>
                  <a:pt x="238422" y="55860"/>
                </a:cubicBezTo>
                <a:cubicBezTo>
                  <a:pt x="261639" y="77440"/>
                  <a:pt x="277167" y="103187"/>
                  <a:pt x="284559" y="120898"/>
                </a:cubicBezTo>
                <a:cubicBezTo>
                  <a:pt x="286196" y="124817"/>
                  <a:pt x="286196" y="129182"/>
                  <a:pt x="284559" y="133101"/>
                </a:cubicBezTo>
                <a:cubicBezTo>
                  <a:pt x="277167" y="150812"/>
                  <a:pt x="261639" y="176609"/>
                  <a:pt x="238422" y="198139"/>
                </a:cubicBezTo>
                <a:cubicBezTo>
                  <a:pt x="215056" y="219868"/>
                  <a:pt x="182959" y="238125"/>
                  <a:pt x="142875" y="238125"/>
                </a:cubicBezTo>
                <a:cubicBezTo>
                  <a:pt x="102790" y="238125"/>
                  <a:pt x="70693" y="219868"/>
                  <a:pt x="47327" y="198139"/>
                </a:cubicBezTo>
                <a:cubicBezTo>
                  <a:pt x="24110" y="176609"/>
                  <a:pt x="8582" y="150812"/>
                  <a:pt x="1240" y="133101"/>
                </a:cubicBezTo>
                <a:cubicBezTo>
                  <a:pt x="-396" y="129182"/>
                  <a:pt x="-396" y="124817"/>
                  <a:pt x="1240" y="120898"/>
                </a:cubicBezTo>
                <a:cubicBezTo>
                  <a:pt x="8582" y="103187"/>
                  <a:pt x="24110" y="77390"/>
                  <a:pt x="47327" y="55860"/>
                </a:cubicBezTo>
                <a:close/>
                <a:moveTo>
                  <a:pt x="142875" y="166687"/>
                </a:moveTo>
                <a:cubicBezTo>
                  <a:pt x="164802" y="166687"/>
                  <a:pt x="182562" y="148927"/>
                  <a:pt x="182562" y="127000"/>
                </a:cubicBezTo>
                <a:cubicBezTo>
                  <a:pt x="182562" y="105072"/>
                  <a:pt x="164802" y="87312"/>
                  <a:pt x="142875" y="87312"/>
                </a:cubicBezTo>
                <a:cubicBezTo>
                  <a:pt x="146347" y="87312"/>
                  <a:pt x="142230" y="87312"/>
                  <a:pt x="141882" y="87312"/>
                </a:cubicBezTo>
                <a:cubicBezTo>
                  <a:pt x="142527" y="89842"/>
                  <a:pt x="142875" y="92521"/>
                  <a:pt x="142875" y="95250"/>
                </a:cubicBezTo>
                <a:cubicBezTo>
                  <a:pt x="142875" y="112762"/>
                  <a:pt x="128637" y="127000"/>
                  <a:pt x="111125" y="127000"/>
                </a:cubicBezTo>
                <a:cubicBezTo>
                  <a:pt x="108396" y="127000"/>
                  <a:pt x="105717" y="130472"/>
                  <a:pt x="103187" y="126007"/>
                </a:cubicBezTo>
                <a:cubicBezTo>
                  <a:pt x="103187" y="129480"/>
                  <a:pt x="103187" y="126652"/>
                  <a:pt x="103187" y="127000"/>
                </a:cubicBezTo>
                <a:cubicBezTo>
                  <a:pt x="103187" y="148927"/>
                  <a:pt x="120947" y="166687"/>
                  <a:pt x="142875" y="166687"/>
                </a:cubicBezTo>
                <a:close/>
                <a:moveTo>
                  <a:pt x="142875" y="63500"/>
                </a:moveTo>
                <a:cubicBezTo>
                  <a:pt x="177710" y="63500"/>
                  <a:pt x="206375" y="92164"/>
                  <a:pt x="206375" y="127000"/>
                </a:cubicBezTo>
                <a:cubicBezTo>
                  <a:pt x="206375" y="161835"/>
                  <a:pt x="177710" y="190500"/>
                  <a:pt x="142875" y="190500"/>
                </a:cubicBezTo>
                <a:cubicBezTo>
                  <a:pt x="108039" y="190500"/>
                  <a:pt x="79375" y="161835"/>
                  <a:pt x="79375" y="127000"/>
                </a:cubicBezTo>
                <a:cubicBezTo>
                  <a:pt x="79375" y="92164"/>
                  <a:pt x="108039" y="63500"/>
                  <a:pt x="142875" y="63500"/>
                </a:cubicBezTo>
                <a:close/>
              </a:path>
            </a:pathLst>
          </a:custGeom>
          <a:solidFill>
            <a:srgbClr val="2D6A6A"/>
          </a:solidFill>
          <a:ln>
            <a:noFill/>
          </a:ln>
          <a:effectLst/>
        </p:spPr>
      </p:sp>
      <p:sp>
        <p:nvSpPr>
          <p:cNvPr id="16" name="dsl:obj1-title"/>
          <p:cNvSpPr txBox="1"/>
          <p:nvPr/>
        </p:nvSpPr>
        <p:spPr>
          <a:xfrm>
            <a:off x="762000" y="1666875"/>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Centralized Visibility</a:t>
            </a:r>
          </a:p>
        </p:txBody>
      </p:sp>
      <p:sp>
        <p:nvSpPr>
          <p:cNvPr id="17" name="dsl:obj1-desc"/>
          <p:cNvSpPr txBox="1"/>
          <p:nvPr/>
        </p:nvSpPr>
        <p:spPr>
          <a:xfrm>
            <a:off x="762000" y="2171700"/>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Multi-layer monitoring across network, host, runtime, and infrastructure in one unified view</a:t>
            </a:r>
          </a:p>
        </p:txBody>
      </p:sp>
      <p:sp>
        <p:nvSpPr>
          <p:cNvPr id="18" name="dsl:obj2-bg"/>
          <p:cNvSpPr/>
          <p:nvPr/>
        </p:nvSpPr>
        <p:spPr>
          <a:xfrm>
            <a:off x="33909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obj2-icon|i=fas:arrow-right-to-bracket"/>
          <p:cNvSpPr/>
          <p:nvPr/>
        </p:nvSpPr>
        <p:spPr>
          <a:xfrm>
            <a:off x="3581400" y="1285875"/>
            <a:ext cx="285750" cy="285750"/>
          </a:xfrm>
          <a:custGeom>
            <a:avLst/>
            <a:gdLst/>
            <a:ahLst/>
            <a:cxnLst/>
            <a:rect l="l" t="t" r="r" b="b"/>
            <a:pathLst>
              <a:path w="285750" h="285750">
                <a:moveTo>
                  <a:pt x="196453" y="53578"/>
                </a:moveTo>
                <a:lnTo>
                  <a:pt x="232171" y="53578"/>
                </a:lnTo>
                <a:cubicBezTo>
                  <a:pt x="242050" y="53578"/>
                  <a:pt x="250031" y="61559"/>
                  <a:pt x="250031" y="71437"/>
                </a:cubicBezTo>
                <a:lnTo>
                  <a:pt x="250031" y="214312"/>
                </a:lnTo>
                <a:cubicBezTo>
                  <a:pt x="250031" y="224190"/>
                  <a:pt x="242050" y="232171"/>
                  <a:pt x="232171" y="232171"/>
                </a:cubicBezTo>
                <a:lnTo>
                  <a:pt x="196453" y="232171"/>
                </a:lnTo>
                <a:cubicBezTo>
                  <a:pt x="186574" y="232171"/>
                  <a:pt x="178593" y="240152"/>
                  <a:pt x="178593" y="250031"/>
                </a:cubicBezTo>
                <a:cubicBezTo>
                  <a:pt x="178593" y="259909"/>
                  <a:pt x="186574" y="267890"/>
                  <a:pt x="196453" y="267890"/>
                </a:cubicBezTo>
                <a:lnTo>
                  <a:pt x="232171" y="267890"/>
                </a:lnTo>
                <a:cubicBezTo>
                  <a:pt x="261751" y="267890"/>
                  <a:pt x="285750" y="243892"/>
                  <a:pt x="285750" y="214312"/>
                </a:cubicBezTo>
                <a:lnTo>
                  <a:pt x="285750" y="71437"/>
                </a:lnTo>
                <a:cubicBezTo>
                  <a:pt x="285750" y="41857"/>
                  <a:pt x="261751" y="17859"/>
                  <a:pt x="232171" y="17859"/>
                </a:cubicBezTo>
                <a:lnTo>
                  <a:pt x="196453" y="17859"/>
                </a:lnTo>
                <a:cubicBezTo>
                  <a:pt x="186574" y="17859"/>
                  <a:pt x="178593" y="25840"/>
                  <a:pt x="178593" y="35718"/>
                </a:cubicBezTo>
                <a:cubicBezTo>
                  <a:pt x="178593" y="45597"/>
                  <a:pt x="186574" y="53578"/>
                  <a:pt x="196453" y="53578"/>
                </a:cubicBezTo>
                <a:close/>
                <a:moveTo>
                  <a:pt x="191206" y="155488"/>
                </a:moveTo>
                <a:cubicBezTo>
                  <a:pt x="198183" y="148511"/>
                  <a:pt x="198183" y="137182"/>
                  <a:pt x="191206" y="130206"/>
                </a:cubicBezTo>
                <a:lnTo>
                  <a:pt x="119769" y="58768"/>
                </a:lnTo>
                <a:cubicBezTo>
                  <a:pt x="112793" y="51792"/>
                  <a:pt x="101463" y="51792"/>
                  <a:pt x="94487" y="58768"/>
                </a:cubicBezTo>
                <a:cubicBezTo>
                  <a:pt x="87510" y="65744"/>
                  <a:pt x="87510" y="77074"/>
                  <a:pt x="94487" y="84050"/>
                </a:cubicBezTo>
                <a:lnTo>
                  <a:pt x="135452" y="125015"/>
                </a:lnTo>
                <a:lnTo>
                  <a:pt x="17859" y="125015"/>
                </a:lnTo>
                <a:cubicBezTo>
                  <a:pt x="7980" y="125015"/>
                  <a:pt x="0" y="132996"/>
                  <a:pt x="0" y="142875"/>
                </a:cubicBezTo>
                <a:cubicBezTo>
                  <a:pt x="0" y="152753"/>
                  <a:pt x="7980" y="160734"/>
                  <a:pt x="17859" y="160734"/>
                </a:cubicBezTo>
                <a:lnTo>
                  <a:pt x="135452" y="160734"/>
                </a:lnTo>
                <a:lnTo>
                  <a:pt x="94487" y="201699"/>
                </a:lnTo>
                <a:cubicBezTo>
                  <a:pt x="87510" y="208675"/>
                  <a:pt x="87510" y="220005"/>
                  <a:pt x="94487" y="226981"/>
                </a:cubicBezTo>
                <a:cubicBezTo>
                  <a:pt x="101463" y="233957"/>
                  <a:pt x="112793" y="233957"/>
                  <a:pt x="119769" y="226981"/>
                </a:cubicBezTo>
                <a:lnTo>
                  <a:pt x="191206" y="155543"/>
                </a:lnTo>
                <a:close/>
              </a:path>
            </a:pathLst>
          </a:custGeom>
          <a:solidFill>
            <a:srgbClr val="2D6A6A"/>
          </a:solidFill>
          <a:ln>
            <a:noFill/>
          </a:ln>
          <a:effectLst/>
        </p:spPr>
      </p:sp>
      <p:sp>
        <p:nvSpPr>
          <p:cNvPr id="20" name="dsl:obj2-title"/>
          <p:cNvSpPr txBox="1"/>
          <p:nvPr/>
        </p:nvSpPr>
        <p:spPr>
          <a:xfrm>
            <a:off x="3581400" y="1666875"/>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Event Ingestion</a:t>
            </a:r>
          </a:p>
        </p:txBody>
      </p:sp>
      <p:sp>
        <p:nvSpPr>
          <p:cNvPr id="21" name="dsl:obj2-desc"/>
          <p:cNvSpPr txBox="1"/>
          <p:nvPr/>
        </p:nvSpPr>
        <p:spPr>
          <a:xfrm>
            <a:off x="3581400" y="2171700"/>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Multi-source pipeline ingesting alerts from Wazuh, Suricata, Falco, and Telegraf via Elasticsearch</a:t>
            </a:r>
          </a:p>
        </p:txBody>
      </p:sp>
      <p:sp>
        <p:nvSpPr>
          <p:cNvPr id="22" name="dsl:obj3-bg"/>
          <p:cNvSpPr/>
          <p:nvPr/>
        </p:nvSpPr>
        <p:spPr>
          <a:xfrm>
            <a:off x="62103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obj3-icon|i=fas:wand-magic-sparkles"/>
          <p:cNvSpPr/>
          <p:nvPr/>
        </p:nvSpPr>
        <p:spPr>
          <a:xfrm>
            <a:off x="6400800" y="1301750"/>
            <a:ext cx="285750" cy="254000"/>
          </a:xfrm>
          <a:custGeom>
            <a:avLst/>
            <a:gdLst/>
            <a:ahLst/>
            <a:cxnLst/>
            <a:rect l="l" t="t" r="r" b="b"/>
            <a:pathLst>
              <a:path w="285750" h="254000">
                <a:moveTo>
                  <a:pt x="116433" y="21183"/>
                </a:moveTo>
                <a:lnTo>
                  <a:pt x="97730" y="28178"/>
                </a:lnTo>
                <a:cubicBezTo>
                  <a:pt x="96242" y="28723"/>
                  <a:pt x="95250" y="30162"/>
                  <a:pt x="95250" y="31750"/>
                </a:cubicBezTo>
                <a:cubicBezTo>
                  <a:pt x="95250" y="33337"/>
                  <a:pt x="96242" y="34776"/>
                  <a:pt x="97730" y="35321"/>
                </a:cubicBezTo>
                <a:lnTo>
                  <a:pt x="116433" y="42316"/>
                </a:lnTo>
                <a:lnTo>
                  <a:pt x="123428" y="61019"/>
                </a:lnTo>
                <a:cubicBezTo>
                  <a:pt x="123973" y="62507"/>
                  <a:pt x="125412" y="63500"/>
                  <a:pt x="127000" y="63500"/>
                </a:cubicBezTo>
                <a:cubicBezTo>
                  <a:pt x="128587" y="63500"/>
                  <a:pt x="130026" y="62507"/>
                  <a:pt x="130571" y="61019"/>
                </a:cubicBezTo>
                <a:lnTo>
                  <a:pt x="137566" y="42316"/>
                </a:lnTo>
                <a:lnTo>
                  <a:pt x="156269" y="35321"/>
                </a:lnTo>
                <a:cubicBezTo>
                  <a:pt x="157757" y="34776"/>
                  <a:pt x="158750" y="33337"/>
                  <a:pt x="158750" y="31750"/>
                </a:cubicBezTo>
                <a:cubicBezTo>
                  <a:pt x="158750" y="30162"/>
                  <a:pt x="157757" y="28723"/>
                  <a:pt x="156269" y="28178"/>
                </a:cubicBezTo>
                <a:lnTo>
                  <a:pt x="137566" y="21183"/>
                </a:lnTo>
                <a:lnTo>
                  <a:pt x="130571" y="2480"/>
                </a:lnTo>
                <a:cubicBezTo>
                  <a:pt x="130026" y="992"/>
                  <a:pt x="128587" y="0"/>
                  <a:pt x="127000" y="0"/>
                </a:cubicBezTo>
                <a:cubicBezTo>
                  <a:pt x="125412" y="0"/>
                  <a:pt x="123973" y="992"/>
                  <a:pt x="123428" y="2480"/>
                </a:cubicBezTo>
                <a:lnTo>
                  <a:pt x="116433" y="21183"/>
                </a:lnTo>
                <a:close/>
                <a:moveTo>
                  <a:pt x="22869" y="196155"/>
                </a:moveTo>
                <a:cubicBezTo>
                  <a:pt x="13592" y="205432"/>
                  <a:pt x="13592" y="220513"/>
                  <a:pt x="22869" y="229840"/>
                </a:cubicBezTo>
                <a:lnTo>
                  <a:pt x="40034" y="247005"/>
                </a:lnTo>
                <a:cubicBezTo>
                  <a:pt x="49311" y="256282"/>
                  <a:pt x="64392" y="256282"/>
                  <a:pt x="73719" y="247005"/>
                </a:cubicBezTo>
                <a:lnTo>
                  <a:pt x="262880" y="57794"/>
                </a:lnTo>
                <a:cubicBezTo>
                  <a:pt x="272157" y="48517"/>
                  <a:pt x="272157" y="33436"/>
                  <a:pt x="262880" y="24110"/>
                </a:cubicBezTo>
                <a:lnTo>
                  <a:pt x="245715" y="6994"/>
                </a:lnTo>
                <a:cubicBezTo>
                  <a:pt x="236438" y="-2282"/>
                  <a:pt x="221357" y="-2282"/>
                  <a:pt x="212030" y="6994"/>
                </a:cubicBezTo>
                <a:lnTo>
                  <a:pt x="22869" y="196155"/>
                </a:lnTo>
                <a:close/>
                <a:moveTo>
                  <a:pt x="240407" y="40977"/>
                </a:moveTo>
                <a:lnTo>
                  <a:pt x="188317" y="93067"/>
                </a:lnTo>
                <a:lnTo>
                  <a:pt x="176758" y="81508"/>
                </a:lnTo>
                <a:lnTo>
                  <a:pt x="228848" y="29418"/>
                </a:lnTo>
                <a:lnTo>
                  <a:pt x="240407" y="40977"/>
                </a:lnTo>
                <a:close/>
                <a:moveTo>
                  <a:pt x="3720" y="58142"/>
                </a:moveTo>
                <a:cubicBezTo>
                  <a:pt x="1488" y="58985"/>
                  <a:pt x="0" y="61118"/>
                  <a:pt x="0" y="63500"/>
                </a:cubicBezTo>
                <a:cubicBezTo>
                  <a:pt x="0" y="65881"/>
                  <a:pt x="1488" y="68014"/>
                  <a:pt x="3720" y="68857"/>
                </a:cubicBezTo>
                <a:lnTo>
                  <a:pt x="31750" y="79375"/>
                </a:lnTo>
                <a:lnTo>
                  <a:pt x="42267" y="107404"/>
                </a:lnTo>
                <a:cubicBezTo>
                  <a:pt x="43110" y="109636"/>
                  <a:pt x="45243" y="111125"/>
                  <a:pt x="47625" y="111125"/>
                </a:cubicBezTo>
                <a:cubicBezTo>
                  <a:pt x="50006" y="111125"/>
                  <a:pt x="52139" y="109636"/>
                  <a:pt x="52982" y="107404"/>
                </a:cubicBezTo>
                <a:lnTo>
                  <a:pt x="63500" y="79375"/>
                </a:lnTo>
                <a:lnTo>
                  <a:pt x="91529" y="68857"/>
                </a:lnTo>
                <a:cubicBezTo>
                  <a:pt x="93761" y="68014"/>
                  <a:pt x="95250" y="65881"/>
                  <a:pt x="95250" y="63500"/>
                </a:cubicBezTo>
                <a:cubicBezTo>
                  <a:pt x="95250" y="61118"/>
                  <a:pt x="93761" y="58985"/>
                  <a:pt x="91529" y="58142"/>
                </a:cubicBezTo>
                <a:lnTo>
                  <a:pt x="63500" y="47625"/>
                </a:lnTo>
                <a:lnTo>
                  <a:pt x="52982" y="19595"/>
                </a:lnTo>
                <a:cubicBezTo>
                  <a:pt x="52139" y="17363"/>
                  <a:pt x="50006" y="15875"/>
                  <a:pt x="47625" y="15875"/>
                </a:cubicBezTo>
                <a:cubicBezTo>
                  <a:pt x="45243" y="15875"/>
                  <a:pt x="43110" y="17363"/>
                  <a:pt x="42267" y="19595"/>
                </a:cubicBezTo>
                <a:lnTo>
                  <a:pt x="31750" y="47625"/>
                </a:lnTo>
                <a:lnTo>
                  <a:pt x="3720" y="58142"/>
                </a:lnTo>
                <a:close/>
                <a:moveTo>
                  <a:pt x="178345" y="185142"/>
                </a:moveTo>
                <a:cubicBezTo>
                  <a:pt x="176113" y="185985"/>
                  <a:pt x="174625" y="188118"/>
                  <a:pt x="174625" y="190500"/>
                </a:cubicBezTo>
                <a:cubicBezTo>
                  <a:pt x="174625" y="192881"/>
                  <a:pt x="176113" y="195014"/>
                  <a:pt x="178345" y="195857"/>
                </a:cubicBezTo>
                <a:lnTo>
                  <a:pt x="206375" y="206375"/>
                </a:lnTo>
                <a:lnTo>
                  <a:pt x="216892" y="234404"/>
                </a:lnTo>
                <a:cubicBezTo>
                  <a:pt x="217735" y="236636"/>
                  <a:pt x="219868" y="238125"/>
                  <a:pt x="222250" y="238125"/>
                </a:cubicBezTo>
                <a:cubicBezTo>
                  <a:pt x="224631" y="238125"/>
                  <a:pt x="226764" y="236636"/>
                  <a:pt x="227607" y="234404"/>
                </a:cubicBezTo>
                <a:lnTo>
                  <a:pt x="238125" y="206375"/>
                </a:lnTo>
                <a:lnTo>
                  <a:pt x="266154" y="195857"/>
                </a:lnTo>
                <a:cubicBezTo>
                  <a:pt x="268386" y="195014"/>
                  <a:pt x="269875" y="192881"/>
                  <a:pt x="269875" y="190500"/>
                </a:cubicBezTo>
                <a:cubicBezTo>
                  <a:pt x="269875" y="188118"/>
                  <a:pt x="268386" y="185985"/>
                  <a:pt x="266154" y="185142"/>
                </a:cubicBezTo>
                <a:lnTo>
                  <a:pt x="238125" y="174625"/>
                </a:lnTo>
                <a:lnTo>
                  <a:pt x="227607" y="146595"/>
                </a:lnTo>
                <a:cubicBezTo>
                  <a:pt x="226764" y="144363"/>
                  <a:pt x="224631" y="142875"/>
                  <a:pt x="222250" y="142875"/>
                </a:cubicBezTo>
                <a:cubicBezTo>
                  <a:pt x="219868" y="142875"/>
                  <a:pt x="217735" y="144363"/>
                  <a:pt x="216892" y="146595"/>
                </a:cubicBezTo>
                <a:lnTo>
                  <a:pt x="206375" y="174625"/>
                </a:lnTo>
                <a:lnTo>
                  <a:pt x="178345" y="185142"/>
                </a:lnTo>
                <a:close/>
              </a:path>
            </a:pathLst>
          </a:custGeom>
          <a:solidFill>
            <a:srgbClr val="2D6A6A"/>
          </a:solidFill>
          <a:ln>
            <a:noFill/>
          </a:ln>
          <a:effectLst/>
        </p:spPr>
      </p:sp>
      <p:sp>
        <p:nvSpPr>
          <p:cNvPr id="24" name="dsl:obj3-title"/>
          <p:cNvSpPr txBox="1"/>
          <p:nvPr/>
        </p:nvSpPr>
        <p:spPr>
          <a:xfrm>
            <a:off x="6400800" y="1666875"/>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Normalization &amp; Enrichment</a:t>
            </a:r>
          </a:p>
        </p:txBody>
      </p:sp>
      <p:sp>
        <p:nvSpPr>
          <p:cNvPr id="25" name="dsl:obj3-desc"/>
          <p:cNvSpPr txBox="1"/>
          <p:nvPr/>
        </p:nvSpPr>
        <p:spPr>
          <a:xfrm>
            <a:off x="6400800" y="2171700"/>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Common alert model with GeoIP, MITRE ATT&amp;CK mapping, and contextual enrichment</a:t>
            </a:r>
          </a:p>
        </p:txBody>
      </p:sp>
      <p:sp>
        <p:nvSpPr>
          <p:cNvPr id="26" name="dsl:obj4-bg"/>
          <p:cNvSpPr/>
          <p:nvPr/>
        </p:nvSpPr>
        <p:spPr>
          <a:xfrm>
            <a:off x="90297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obj4-icon|i=fas:link"/>
          <p:cNvSpPr/>
          <p:nvPr/>
        </p:nvSpPr>
        <p:spPr>
          <a:xfrm>
            <a:off x="9220200" y="1314450"/>
            <a:ext cx="285750" cy="228600"/>
          </a:xfrm>
          <a:custGeom>
            <a:avLst/>
            <a:gdLst/>
            <a:ahLst/>
            <a:cxnLst/>
            <a:rect l="l" t="t" r="r" b="b"/>
            <a:pathLst>
              <a:path w="285750" h="228600">
                <a:moveTo>
                  <a:pt x="258871" y="119523"/>
                </a:moveTo>
                <a:cubicBezTo>
                  <a:pt x="284098" y="94297"/>
                  <a:pt x="284098" y="53444"/>
                  <a:pt x="258871" y="28217"/>
                </a:cubicBezTo>
                <a:cubicBezTo>
                  <a:pt x="236547" y="5893"/>
                  <a:pt x="201364" y="2991"/>
                  <a:pt x="175691" y="21341"/>
                </a:cubicBezTo>
                <a:lnTo>
                  <a:pt x="174977" y="21833"/>
                </a:lnTo>
                <a:cubicBezTo>
                  <a:pt x="168547" y="26431"/>
                  <a:pt x="167074" y="35361"/>
                  <a:pt x="171673" y="41746"/>
                </a:cubicBezTo>
                <a:cubicBezTo>
                  <a:pt x="176272" y="48131"/>
                  <a:pt x="185201" y="49649"/>
                  <a:pt x="191586" y="45050"/>
                </a:cubicBezTo>
                <a:lnTo>
                  <a:pt x="192300" y="44559"/>
                </a:lnTo>
                <a:cubicBezTo>
                  <a:pt x="206632" y="34334"/>
                  <a:pt x="226233" y="35941"/>
                  <a:pt x="238645" y="48398"/>
                </a:cubicBezTo>
                <a:cubicBezTo>
                  <a:pt x="252710" y="62463"/>
                  <a:pt x="252710" y="85233"/>
                  <a:pt x="238645" y="99298"/>
                </a:cubicBezTo>
                <a:lnTo>
                  <a:pt x="188550" y="149482"/>
                </a:lnTo>
                <a:cubicBezTo>
                  <a:pt x="174486" y="163547"/>
                  <a:pt x="151715" y="163547"/>
                  <a:pt x="137651" y="149482"/>
                </a:cubicBezTo>
                <a:cubicBezTo>
                  <a:pt x="125194" y="137026"/>
                  <a:pt x="123586" y="117425"/>
                  <a:pt x="133811" y="103137"/>
                </a:cubicBezTo>
                <a:lnTo>
                  <a:pt x="134302" y="102423"/>
                </a:lnTo>
                <a:cubicBezTo>
                  <a:pt x="138901" y="95994"/>
                  <a:pt x="137383" y="87064"/>
                  <a:pt x="130998" y="82510"/>
                </a:cubicBezTo>
                <a:cubicBezTo>
                  <a:pt x="124613" y="77956"/>
                  <a:pt x="115639" y="79429"/>
                  <a:pt x="111085" y="85814"/>
                </a:cubicBezTo>
                <a:lnTo>
                  <a:pt x="110594" y="86528"/>
                </a:lnTo>
                <a:cubicBezTo>
                  <a:pt x="92199" y="112156"/>
                  <a:pt x="95101" y="147339"/>
                  <a:pt x="117425" y="169664"/>
                </a:cubicBezTo>
                <a:cubicBezTo>
                  <a:pt x="142651" y="194890"/>
                  <a:pt x="183505" y="194890"/>
                  <a:pt x="208731" y="169664"/>
                </a:cubicBezTo>
                <a:lnTo>
                  <a:pt x="258871" y="119523"/>
                </a:lnTo>
                <a:close/>
                <a:moveTo>
                  <a:pt x="26878" y="109076"/>
                </a:moveTo>
                <a:cubicBezTo>
                  <a:pt x="1651" y="134302"/>
                  <a:pt x="1651" y="175155"/>
                  <a:pt x="26878" y="200382"/>
                </a:cubicBezTo>
                <a:cubicBezTo>
                  <a:pt x="49202" y="222706"/>
                  <a:pt x="84385" y="225608"/>
                  <a:pt x="110058" y="207258"/>
                </a:cubicBezTo>
                <a:lnTo>
                  <a:pt x="110772" y="206766"/>
                </a:lnTo>
                <a:cubicBezTo>
                  <a:pt x="117202" y="202168"/>
                  <a:pt x="118675" y="193238"/>
                  <a:pt x="114076" y="186853"/>
                </a:cubicBezTo>
                <a:cubicBezTo>
                  <a:pt x="109477" y="180468"/>
                  <a:pt x="100548" y="178950"/>
                  <a:pt x="94163" y="183549"/>
                </a:cubicBezTo>
                <a:lnTo>
                  <a:pt x="93449" y="184040"/>
                </a:lnTo>
                <a:cubicBezTo>
                  <a:pt x="79117" y="194265"/>
                  <a:pt x="59516" y="192658"/>
                  <a:pt x="47104" y="180201"/>
                </a:cubicBezTo>
                <a:cubicBezTo>
                  <a:pt x="33039" y="166092"/>
                  <a:pt x="33039" y="143321"/>
                  <a:pt x="47104" y="129257"/>
                </a:cubicBezTo>
                <a:lnTo>
                  <a:pt x="97199" y="79117"/>
                </a:lnTo>
                <a:cubicBezTo>
                  <a:pt x="111263" y="65052"/>
                  <a:pt x="134034" y="65052"/>
                  <a:pt x="148098" y="79117"/>
                </a:cubicBezTo>
                <a:cubicBezTo>
                  <a:pt x="160555" y="91573"/>
                  <a:pt x="162163" y="111174"/>
                  <a:pt x="151938" y="125506"/>
                </a:cubicBezTo>
                <a:lnTo>
                  <a:pt x="151447" y="126221"/>
                </a:lnTo>
                <a:cubicBezTo>
                  <a:pt x="146848" y="132650"/>
                  <a:pt x="148366" y="141580"/>
                  <a:pt x="154751" y="146134"/>
                </a:cubicBezTo>
                <a:cubicBezTo>
                  <a:pt x="161136" y="150688"/>
                  <a:pt x="170110" y="149215"/>
                  <a:pt x="174664" y="142830"/>
                </a:cubicBezTo>
                <a:lnTo>
                  <a:pt x="175155" y="142115"/>
                </a:lnTo>
                <a:cubicBezTo>
                  <a:pt x="193550" y="116443"/>
                  <a:pt x="190648" y="81260"/>
                  <a:pt x="168324" y="58935"/>
                </a:cubicBezTo>
                <a:cubicBezTo>
                  <a:pt x="143098" y="33709"/>
                  <a:pt x="102244" y="33709"/>
                  <a:pt x="77018" y="58935"/>
                </a:cubicBezTo>
                <a:lnTo>
                  <a:pt x="26878" y="109076"/>
                </a:lnTo>
                <a:close/>
              </a:path>
            </a:pathLst>
          </a:custGeom>
          <a:solidFill>
            <a:srgbClr val="2D6A6A"/>
          </a:solidFill>
          <a:ln>
            <a:noFill/>
          </a:ln>
          <a:effectLst/>
        </p:spPr>
      </p:sp>
      <p:sp>
        <p:nvSpPr>
          <p:cNvPr id="28" name="dsl:obj4-title"/>
          <p:cNvSpPr txBox="1"/>
          <p:nvPr/>
        </p:nvSpPr>
        <p:spPr>
          <a:xfrm>
            <a:off x="9220200" y="1666875"/>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Correlation &amp; Detection</a:t>
            </a:r>
          </a:p>
        </p:txBody>
      </p:sp>
      <p:sp>
        <p:nvSpPr>
          <p:cNvPr id="29" name="dsl:obj4-desc"/>
          <p:cNvSpPr txBox="1"/>
          <p:nvPr/>
        </p:nvSpPr>
        <p:spPr>
          <a:xfrm>
            <a:off x="9220200" y="2171700"/>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Time-windowed and indicator-based incident grouping to reconstruct attack chains</a:t>
            </a:r>
          </a:p>
        </p:txBody>
      </p:sp>
      <p:sp>
        <p:nvSpPr>
          <p:cNvPr id="30" name="dsl:obj5-bg"/>
          <p:cNvSpPr/>
          <p:nvPr/>
        </p:nvSpPr>
        <p:spPr>
          <a:xfrm>
            <a:off x="571500" y="3714750"/>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obj5-icon|i=fas:brain"/>
          <p:cNvSpPr/>
          <p:nvPr/>
        </p:nvSpPr>
        <p:spPr>
          <a:xfrm>
            <a:off x="762000" y="3905250"/>
            <a:ext cx="285750" cy="285750"/>
          </a:xfrm>
          <a:custGeom>
            <a:avLst/>
            <a:gdLst/>
            <a:ahLst/>
            <a:cxnLst/>
            <a:rect l="l" t="t" r="r" b="b"/>
            <a:pathLst>
              <a:path w="285750" h="285750">
                <a:moveTo>
                  <a:pt x="102691" y="0"/>
                </a:moveTo>
                <a:cubicBezTo>
                  <a:pt x="119936" y="0"/>
                  <a:pt x="133945" y="14008"/>
                  <a:pt x="133945" y="31253"/>
                </a:cubicBezTo>
                <a:lnTo>
                  <a:pt x="133945" y="254496"/>
                </a:lnTo>
                <a:cubicBezTo>
                  <a:pt x="133945" y="271741"/>
                  <a:pt x="119936" y="285750"/>
                  <a:pt x="102691" y="285750"/>
                </a:cubicBezTo>
                <a:cubicBezTo>
                  <a:pt x="86562" y="285750"/>
                  <a:pt x="73279" y="273527"/>
                  <a:pt x="71604" y="257788"/>
                </a:cubicBezTo>
                <a:cubicBezTo>
                  <a:pt x="68702" y="258570"/>
                  <a:pt x="65633" y="258960"/>
                  <a:pt x="62507" y="258960"/>
                </a:cubicBezTo>
                <a:cubicBezTo>
                  <a:pt x="42806" y="258960"/>
                  <a:pt x="26789" y="242943"/>
                  <a:pt x="26789" y="223242"/>
                </a:cubicBezTo>
                <a:cubicBezTo>
                  <a:pt x="26789" y="219112"/>
                  <a:pt x="27514" y="215093"/>
                  <a:pt x="28798" y="211410"/>
                </a:cubicBezTo>
                <a:cubicBezTo>
                  <a:pt x="11943" y="205047"/>
                  <a:pt x="0" y="188751"/>
                  <a:pt x="0" y="169664"/>
                </a:cubicBezTo>
                <a:cubicBezTo>
                  <a:pt x="0" y="151860"/>
                  <a:pt x="10436" y="136456"/>
                  <a:pt x="25561" y="129313"/>
                </a:cubicBezTo>
                <a:cubicBezTo>
                  <a:pt x="20705" y="123229"/>
                  <a:pt x="17859" y="115527"/>
                  <a:pt x="17859" y="107156"/>
                </a:cubicBezTo>
                <a:cubicBezTo>
                  <a:pt x="17859" y="90022"/>
                  <a:pt x="29914" y="75734"/>
                  <a:pt x="45987" y="72218"/>
                </a:cubicBezTo>
                <a:cubicBezTo>
                  <a:pt x="45094" y="69149"/>
                  <a:pt x="44648" y="65856"/>
                  <a:pt x="44648" y="62507"/>
                </a:cubicBezTo>
                <a:cubicBezTo>
                  <a:pt x="44648" y="45820"/>
                  <a:pt x="56145" y="31756"/>
                  <a:pt x="71604" y="27849"/>
                </a:cubicBezTo>
                <a:cubicBezTo>
                  <a:pt x="73279" y="12222"/>
                  <a:pt x="86562" y="0"/>
                  <a:pt x="102691" y="0"/>
                </a:cubicBezTo>
                <a:close/>
                <a:moveTo>
                  <a:pt x="183058" y="0"/>
                </a:moveTo>
                <a:cubicBezTo>
                  <a:pt x="199187" y="0"/>
                  <a:pt x="212414" y="12222"/>
                  <a:pt x="214145" y="27849"/>
                </a:cubicBezTo>
                <a:cubicBezTo>
                  <a:pt x="229660" y="31756"/>
                  <a:pt x="241101" y="45764"/>
                  <a:pt x="241101" y="62507"/>
                </a:cubicBezTo>
                <a:cubicBezTo>
                  <a:pt x="241101" y="65856"/>
                  <a:pt x="245566" y="69149"/>
                  <a:pt x="239762" y="72218"/>
                </a:cubicBezTo>
                <a:cubicBezTo>
                  <a:pt x="255835" y="75679"/>
                  <a:pt x="267890" y="90022"/>
                  <a:pt x="267890" y="107156"/>
                </a:cubicBezTo>
                <a:cubicBezTo>
                  <a:pt x="267890" y="115527"/>
                  <a:pt x="265044" y="123229"/>
                  <a:pt x="260188" y="129313"/>
                </a:cubicBezTo>
                <a:cubicBezTo>
                  <a:pt x="275313" y="136456"/>
                  <a:pt x="285750" y="151860"/>
                  <a:pt x="285750" y="169664"/>
                </a:cubicBezTo>
                <a:cubicBezTo>
                  <a:pt x="285750" y="188751"/>
                  <a:pt x="273806" y="205047"/>
                  <a:pt x="256951" y="211410"/>
                </a:cubicBezTo>
                <a:cubicBezTo>
                  <a:pt x="258235" y="215093"/>
                  <a:pt x="258960" y="219112"/>
                  <a:pt x="258960" y="223242"/>
                </a:cubicBezTo>
                <a:cubicBezTo>
                  <a:pt x="258960" y="242943"/>
                  <a:pt x="242943" y="258960"/>
                  <a:pt x="223242" y="258960"/>
                </a:cubicBezTo>
                <a:cubicBezTo>
                  <a:pt x="220116" y="258960"/>
                  <a:pt x="217047" y="262867"/>
                  <a:pt x="214145" y="257788"/>
                </a:cubicBezTo>
                <a:cubicBezTo>
                  <a:pt x="212470" y="273527"/>
                  <a:pt x="199187" y="285750"/>
                  <a:pt x="183058" y="285750"/>
                </a:cubicBezTo>
                <a:cubicBezTo>
                  <a:pt x="165813" y="285750"/>
                  <a:pt x="151804" y="271741"/>
                  <a:pt x="151804" y="254496"/>
                </a:cubicBezTo>
                <a:lnTo>
                  <a:pt x="151804" y="31253"/>
                </a:lnTo>
                <a:cubicBezTo>
                  <a:pt x="151804" y="14008"/>
                  <a:pt x="165813" y="0"/>
                  <a:pt x="183058" y="0"/>
                </a:cubicBezTo>
                <a:close/>
              </a:path>
            </a:pathLst>
          </a:custGeom>
          <a:solidFill>
            <a:srgbClr val="D4A373"/>
          </a:solidFill>
          <a:ln>
            <a:noFill/>
          </a:ln>
          <a:effectLst/>
        </p:spPr>
      </p:sp>
      <p:sp>
        <p:nvSpPr>
          <p:cNvPr id="32" name="dsl:obj5-title"/>
          <p:cNvSpPr txBox="1"/>
          <p:nvPr/>
        </p:nvSpPr>
        <p:spPr>
          <a:xfrm>
            <a:off x="762000" y="4286250"/>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AI-Assisted Investigation</a:t>
            </a:r>
          </a:p>
        </p:txBody>
      </p:sp>
      <p:sp>
        <p:nvSpPr>
          <p:cNvPr id="33" name="dsl:obj5-desc"/>
          <p:cNvSpPr txBox="1"/>
          <p:nvPr/>
        </p:nvSpPr>
        <p:spPr>
          <a:xfrm>
            <a:off x="762000" y="4791075"/>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LLM-powered analysis generating summaries, risk scores, and remediation narratives</a:t>
            </a:r>
          </a:p>
        </p:txBody>
      </p:sp>
      <p:sp>
        <p:nvSpPr>
          <p:cNvPr id="34" name="dsl:obj6-bg"/>
          <p:cNvSpPr/>
          <p:nvPr/>
        </p:nvSpPr>
        <p:spPr>
          <a:xfrm>
            <a:off x="3390900" y="3714750"/>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obj6-icon|i=fas:list-check"/>
          <p:cNvSpPr/>
          <p:nvPr/>
        </p:nvSpPr>
        <p:spPr>
          <a:xfrm>
            <a:off x="3581400" y="3905250"/>
            <a:ext cx="285750" cy="285750"/>
          </a:xfrm>
          <a:custGeom>
            <a:avLst/>
            <a:gdLst/>
            <a:ahLst/>
            <a:cxnLst/>
            <a:rect l="l" t="t" r="r" b="b"/>
            <a:pathLst>
              <a:path w="285750" h="285750">
                <a:moveTo>
                  <a:pt x="84887" y="21319"/>
                </a:moveTo>
                <a:cubicBezTo>
                  <a:pt x="90413" y="26286"/>
                  <a:pt x="90859" y="34714"/>
                  <a:pt x="85892" y="40239"/>
                </a:cubicBezTo>
                <a:lnTo>
                  <a:pt x="45708" y="84887"/>
                </a:lnTo>
                <a:cubicBezTo>
                  <a:pt x="43253" y="87622"/>
                  <a:pt x="39792" y="89241"/>
                  <a:pt x="36109" y="89296"/>
                </a:cubicBezTo>
                <a:cubicBezTo>
                  <a:pt x="32425" y="89352"/>
                  <a:pt x="28909" y="87957"/>
                  <a:pt x="26286" y="85390"/>
                </a:cubicBezTo>
                <a:lnTo>
                  <a:pt x="3906" y="63065"/>
                </a:lnTo>
                <a:cubicBezTo>
                  <a:pt x="-1283" y="57819"/>
                  <a:pt x="-1283" y="49336"/>
                  <a:pt x="3906" y="44090"/>
                </a:cubicBezTo>
                <a:cubicBezTo>
                  <a:pt x="9097" y="38844"/>
                  <a:pt x="17636" y="38844"/>
                  <a:pt x="22826" y="44090"/>
                </a:cubicBezTo>
                <a:lnTo>
                  <a:pt x="35160" y="56424"/>
                </a:lnTo>
                <a:lnTo>
                  <a:pt x="65912" y="22268"/>
                </a:lnTo>
                <a:cubicBezTo>
                  <a:pt x="70879" y="16743"/>
                  <a:pt x="79306" y="16296"/>
                  <a:pt x="84832" y="21263"/>
                </a:cubicBezTo>
                <a:close/>
                <a:moveTo>
                  <a:pt x="84887" y="110616"/>
                </a:moveTo>
                <a:cubicBezTo>
                  <a:pt x="90413" y="115583"/>
                  <a:pt x="90859" y="124011"/>
                  <a:pt x="85892" y="129536"/>
                </a:cubicBezTo>
                <a:lnTo>
                  <a:pt x="45708" y="174184"/>
                </a:lnTo>
                <a:cubicBezTo>
                  <a:pt x="43253" y="176919"/>
                  <a:pt x="39792" y="178537"/>
                  <a:pt x="36109" y="178593"/>
                </a:cubicBezTo>
                <a:cubicBezTo>
                  <a:pt x="32425" y="178649"/>
                  <a:pt x="28909" y="177254"/>
                  <a:pt x="26286" y="174687"/>
                </a:cubicBezTo>
                <a:lnTo>
                  <a:pt x="3906" y="152362"/>
                </a:lnTo>
                <a:cubicBezTo>
                  <a:pt x="-1339" y="147116"/>
                  <a:pt x="-1339" y="138633"/>
                  <a:pt x="3906" y="133443"/>
                </a:cubicBezTo>
                <a:cubicBezTo>
                  <a:pt x="9152" y="128252"/>
                  <a:pt x="17636" y="128196"/>
                  <a:pt x="22826" y="133443"/>
                </a:cubicBezTo>
                <a:lnTo>
                  <a:pt x="35160" y="145777"/>
                </a:lnTo>
                <a:lnTo>
                  <a:pt x="65912" y="111621"/>
                </a:lnTo>
                <a:cubicBezTo>
                  <a:pt x="70879" y="106095"/>
                  <a:pt x="79306" y="105649"/>
                  <a:pt x="84832" y="110616"/>
                </a:cubicBezTo>
                <a:close/>
                <a:moveTo>
                  <a:pt x="125015" y="53578"/>
                </a:moveTo>
                <a:cubicBezTo>
                  <a:pt x="125015" y="43699"/>
                  <a:pt x="132996" y="35718"/>
                  <a:pt x="142875" y="35718"/>
                </a:cubicBezTo>
                <a:lnTo>
                  <a:pt x="267890" y="35718"/>
                </a:lnTo>
                <a:cubicBezTo>
                  <a:pt x="277769" y="35718"/>
                  <a:pt x="285750" y="43699"/>
                  <a:pt x="285750" y="53578"/>
                </a:cubicBezTo>
                <a:cubicBezTo>
                  <a:pt x="285750" y="63456"/>
                  <a:pt x="277769" y="71437"/>
                  <a:pt x="267890" y="71437"/>
                </a:cubicBezTo>
                <a:lnTo>
                  <a:pt x="142875" y="71437"/>
                </a:lnTo>
                <a:cubicBezTo>
                  <a:pt x="132996" y="71437"/>
                  <a:pt x="125015" y="63456"/>
                  <a:pt x="125015" y="53578"/>
                </a:cubicBezTo>
                <a:close/>
                <a:moveTo>
                  <a:pt x="125015" y="142875"/>
                </a:moveTo>
                <a:cubicBezTo>
                  <a:pt x="125015" y="132996"/>
                  <a:pt x="132996" y="125015"/>
                  <a:pt x="142875" y="125015"/>
                </a:cubicBezTo>
                <a:lnTo>
                  <a:pt x="267890" y="125015"/>
                </a:lnTo>
                <a:cubicBezTo>
                  <a:pt x="277769" y="125015"/>
                  <a:pt x="285750" y="132996"/>
                  <a:pt x="285750" y="142875"/>
                </a:cubicBezTo>
                <a:cubicBezTo>
                  <a:pt x="285750" y="152753"/>
                  <a:pt x="277769" y="160734"/>
                  <a:pt x="267890" y="160734"/>
                </a:cubicBezTo>
                <a:lnTo>
                  <a:pt x="142875" y="160734"/>
                </a:lnTo>
                <a:cubicBezTo>
                  <a:pt x="132996" y="160734"/>
                  <a:pt x="125015" y="152753"/>
                  <a:pt x="125015" y="142875"/>
                </a:cubicBezTo>
                <a:close/>
                <a:moveTo>
                  <a:pt x="89296" y="232171"/>
                </a:moveTo>
                <a:cubicBezTo>
                  <a:pt x="89296" y="222293"/>
                  <a:pt x="97277" y="214312"/>
                  <a:pt x="107156" y="214312"/>
                </a:cubicBezTo>
                <a:lnTo>
                  <a:pt x="267890" y="214312"/>
                </a:lnTo>
                <a:cubicBezTo>
                  <a:pt x="277769" y="214312"/>
                  <a:pt x="285750" y="222293"/>
                  <a:pt x="285750" y="232171"/>
                </a:cubicBezTo>
                <a:cubicBezTo>
                  <a:pt x="285750" y="242050"/>
                  <a:pt x="277769" y="250031"/>
                  <a:pt x="267890" y="250031"/>
                </a:cubicBezTo>
                <a:lnTo>
                  <a:pt x="107156" y="250031"/>
                </a:lnTo>
                <a:cubicBezTo>
                  <a:pt x="97277" y="250031"/>
                  <a:pt x="89296" y="242050"/>
                  <a:pt x="89296" y="232171"/>
                </a:cubicBezTo>
                <a:close/>
                <a:moveTo>
                  <a:pt x="26789" y="205382"/>
                </a:moveTo>
                <a:cubicBezTo>
                  <a:pt x="41485" y="205382"/>
                  <a:pt x="53578" y="217475"/>
                  <a:pt x="53578" y="232171"/>
                </a:cubicBezTo>
                <a:cubicBezTo>
                  <a:pt x="53578" y="246867"/>
                  <a:pt x="41485" y="258960"/>
                  <a:pt x="26789" y="258960"/>
                </a:cubicBezTo>
                <a:cubicBezTo>
                  <a:pt x="12093" y="258960"/>
                  <a:pt x="0" y="246867"/>
                  <a:pt x="0" y="232171"/>
                </a:cubicBezTo>
                <a:cubicBezTo>
                  <a:pt x="0" y="217475"/>
                  <a:pt x="12093" y="205382"/>
                  <a:pt x="26789" y="205382"/>
                </a:cubicBezTo>
                <a:close/>
              </a:path>
            </a:pathLst>
          </a:custGeom>
          <a:solidFill>
            <a:srgbClr val="D4A373"/>
          </a:solidFill>
          <a:ln>
            <a:noFill/>
          </a:ln>
          <a:effectLst/>
        </p:spPr>
      </p:sp>
      <p:sp>
        <p:nvSpPr>
          <p:cNvPr id="36" name="dsl:obj6-title"/>
          <p:cNvSpPr txBox="1"/>
          <p:nvPr/>
        </p:nvSpPr>
        <p:spPr>
          <a:xfrm>
            <a:off x="3581400" y="4286250"/>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Incident Management</a:t>
            </a:r>
          </a:p>
        </p:txBody>
      </p:sp>
      <p:sp>
        <p:nvSpPr>
          <p:cNvPr id="37" name="dsl:obj6-desc"/>
          <p:cNvSpPr txBox="1"/>
          <p:nvPr/>
        </p:nvSpPr>
        <p:spPr>
          <a:xfrm>
            <a:off x="3581400" y="4791075"/>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Full lifecycle tracking: open, investigating, resolved, archived with status controls</a:t>
            </a:r>
          </a:p>
        </p:txBody>
      </p:sp>
      <p:sp>
        <p:nvSpPr>
          <p:cNvPr id="38" name="dsl:obj7-bg"/>
          <p:cNvSpPr/>
          <p:nvPr/>
        </p:nvSpPr>
        <p:spPr>
          <a:xfrm>
            <a:off x="6210300" y="3714750"/>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sl:obj7-icon|i=fas:gears"/>
          <p:cNvSpPr/>
          <p:nvPr/>
        </p:nvSpPr>
        <p:spPr>
          <a:xfrm>
            <a:off x="6400800" y="3933825"/>
            <a:ext cx="285750" cy="228600"/>
          </a:xfrm>
          <a:custGeom>
            <a:avLst/>
            <a:gdLst/>
            <a:ahLst/>
            <a:cxnLst/>
            <a:rect l="l" t="t" r="r" b="b"/>
            <a:pathLst>
              <a:path w="285750" h="228600">
                <a:moveTo>
                  <a:pt x="137740" y="60409"/>
                </a:moveTo>
                <a:cubicBezTo>
                  <a:pt x="140910" y="57596"/>
                  <a:pt x="142160" y="53176"/>
                  <a:pt x="140508" y="49247"/>
                </a:cubicBezTo>
                <a:cubicBezTo>
                  <a:pt x="139481" y="46880"/>
                  <a:pt x="138365" y="44559"/>
                  <a:pt x="137115" y="42326"/>
                </a:cubicBezTo>
                <a:lnTo>
                  <a:pt x="135731" y="39915"/>
                </a:lnTo>
                <a:cubicBezTo>
                  <a:pt x="134391" y="37683"/>
                  <a:pt x="132918" y="35495"/>
                  <a:pt x="131355" y="33397"/>
                </a:cubicBezTo>
                <a:cubicBezTo>
                  <a:pt x="128810" y="30003"/>
                  <a:pt x="124345" y="28887"/>
                  <a:pt x="120327" y="30226"/>
                </a:cubicBezTo>
                <a:lnTo>
                  <a:pt x="107736" y="34379"/>
                </a:lnTo>
                <a:cubicBezTo>
                  <a:pt x="102959" y="30450"/>
                  <a:pt x="97467" y="27235"/>
                  <a:pt x="91573" y="25047"/>
                </a:cubicBezTo>
                <a:lnTo>
                  <a:pt x="88850" y="12099"/>
                </a:lnTo>
                <a:cubicBezTo>
                  <a:pt x="88002" y="7947"/>
                  <a:pt x="84787" y="4643"/>
                  <a:pt x="80590" y="4152"/>
                </a:cubicBezTo>
                <a:cubicBezTo>
                  <a:pt x="77643" y="3750"/>
                  <a:pt x="74652" y="3571"/>
                  <a:pt x="71616" y="3571"/>
                </a:cubicBezTo>
                <a:lnTo>
                  <a:pt x="74741" y="3571"/>
                </a:lnTo>
                <a:cubicBezTo>
                  <a:pt x="71705" y="3571"/>
                  <a:pt x="68713" y="5357"/>
                  <a:pt x="65767" y="4107"/>
                </a:cubicBezTo>
                <a:cubicBezTo>
                  <a:pt x="61570" y="4598"/>
                  <a:pt x="58355" y="7947"/>
                  <a:pt x="57507" y="12055"/>
                </a:cubicBezTo>
                <a:lnTo>
                  <a:pt x="51345" y="25047"/>
                </a:lnTo>
                <a:cubicBezTo>
                  <a:pt x="45407" y="27280"/>
                  <a:pt x="39960" y="30450"/>
                  <a:pt x="35182" y="34379"/>
                </a:cubicBezTo>
                <a:lnTo>
                  <a:pt x="22547" y="30271"/>
                </a:lnTo>
                <a:cubicBezTo>
                  <a:pt x="18529" y="28932"/>
                  <a:pt x="14064" y="32504"/>
                  <a:pt x="11519" y="33441"/>
                </a:cubicBezTo>
                <a:cubicBezTo>
                  <a:pt x="9956" y="35540"/>
                  <a:pt x="8483" y="37727"/>
                  <a:pt x="7099" y="39960"/>
                </a:cubicBezTo>
                <a:lnTo>
                  <a:pt x="5759" y="42326"/>
                </a:lnTo>
                <a:cubicBezTo>
                  <a:pt x="4509" y="44559"/>
                  <a:pt x="3393" y="46880"/>
                  <a:pt x="2366" y="49291"/>
                </a:cubicBezTo>
                <a:cubicBezTo>
                  <a:pt x="714" y="53176"/>
                  <a:pt x="6384" y="57596"/>
                  <a:pt x="5134" y="60453"/>
                </a:cubicBezTo>
                <a:lnTo>
                  <a:pt x="15046" y="69294"/>
                </a:lnTo>
                <a:cubicBezTo>
                  <a:pt x="14555" y="72285"/>
                  <a:pt x="14287" y="75411"/>
                  <a:pt x="14287" y="78581"/>
                </a:cubicBezTo>
                <a:cubicBezTo>
                  <a:pt x="14287" y="81751"/>
                  <a:pt x="16966" y="84876"/>
                  <a:pt x="15046" y="87912"/>
                </a:cubicBezTo>
                <a:lnTo>
                  <a:pt x="5134" y="96753"/>
                </a:lnTo>
                <a:cubicBezTo>
                  <a:pt x="1964" y="99566"/>
                  <a:pt x="714" y="103986"/>
                  <a:pt x="2366" y="107915"/>
                </a:cubicBezTo>
                <a:cubicBezTo>
                  <a:pt x="3393" y="110281"/>
                  <a:pt x="4509" y="112603"/>
                  <a:pt x="5759" y="114880"/>
                </a:cubicBezTo>
                <a:lnTo>
                  <a:pt x="7099" y="117202"/>
                </a:lnTo>
                <a:cubicBezTo>
                  <a:pt x="8438" y="119479"/>
                  <a:pt x="9911" y="121622"/>
                  <a:pt x="11519" y="123720"/>
                </a:cubicBezTo>
                <a:cubicBezTo>
                  <a:pt x="14064" y="127114"/>
                  <a:pt x="18529" y="128230"/>
                  <a:pt x="22547" y="126890"/>
                </a:cubicBezTo>
                <a:lnTo>
                  <a:pt x="35138" y="122738"/>
                </a:lnTo>
                <a:cubicBezTo>
                  <a:pt x="39915" y="126667"/>
                  <a:pt x="45407" y="129882"/>
                  <a:pt x="51301" y="132070"/>
                </a:cubicBezTo>
                <a:lnTo>
                  <a:pt x="54024" y="145062"/>
                </a:lnTo>
                <a:cubicBezTo>
                  <a:pt x="54872" y="149215"/>
                  <a:pt x="58087" y="152519"/>
                  <a:pt x="62284" y="153010"/>
                </a:cubicBezTo>
                <a:cubicBezTo>
                  <a:pt x="65276" y="156582"/>
                  <a:pt x="68312" y="153545"/>
                  <a:pt x="71392" y="153545"/>
                </a:cubicBezTo>
                <a:cubicBezTo>
                  <a:pt x="74473" y="153545"/>
                  <a:pt x="77509" y="155331"/>
                  <a:pt x="80501" y="153010"/>
                </a:cubicBezTo>
                <a:cubicBezTo>
                  <a:pt x="84698" y="152519"/>
                  <a:pt x="87912" y="149170"/>
                  <a:pt x="88761" y="145062"/>
                </a:cubicBezTo>
                <a:lnTo>
                  <a:pt x="91484" y="132070"/>
                </a:lnTo>
                <a:cubicBezTo>
                  <a:pt x="97422" y="129837"/>
                  <a:pt x="102870" y="126667"/>
                  <a:pt x="107647" y="122738"/>
                </a:cubicBezTo>
                <a:lnTo>
                  <a:pt x="120238" y="126890"/>
                </a:lnTo>
                <a:cubicBezTo>
                  <a:pt x="124256" y="128230"/>
                  <a:pt x="128721" y="129123"/>
                  <a:pt x="131266" y="123720"/>
                </a:cubicBezTo>
                <a:cubicBezTo>
                  <a:pt x="132829" y="121622"/>
                  <a:pt x="134302" y="119479"/>
                  <a:pt x="135641" y="117202"/>
                </a:cubicBezTo>
                <a:lnTo>
                  <a:pt x="137026" y="114791"/>
                </a:lnTo>
                <a:cubicBezTo>
                  <a:pt x="138276" y="112558"/>
                  <a:pt x="139392" y="110236"/>
                  <a:pt x="140419" y="107870"/>
                </a:cubicBezTo>
                <a:cubicBezTo>
                  <a:pt x="142071" y="103986"/>
                  <a:pt x="144437" y="99566"/>
                  <a:pt x="137651" y="96708"/>
                </a:cubicBezTo>
                <a:lnTo>
                  <a:pt x="127739" y="87868"/>
                </a:lnTo>
                <a:cubicBezTo>
                  <a:pt x="128230" y="84832"/>
                  <a:pt x="128498" y="81706"/>
                  <a:pt x="128498" y="78536"/>
                </a:cubicBezTo>
                <a:cubicBezTo>
                  <a:pt x="128498" y="75366"/>
                  <a:pt x="131177" y="72241"/>
                  <a:pt x="127739" y="69205"/>
                </a:cubicBezTo>
                <a:lnTo>
                  <a:pt x="137651" y="60364"/>
                </a:lnTo>
                <a:close/>
                <a:moveTo>
                  <a:pt x="50006" y="78581"/>
                </a:moveTo>
                <a:cubicBezTo>
                  <a:pt x="50006" y="66824"/>
                  <a:pt x="59680" y="57150"/>
                  <a:pt x="71437" y="57150"/>
                </a:cubicBezTo>
                <a:cubicBezTo>
                  <a:pt x="83194" y="57150"/>
                  <a:pt x="92868" y="66824"/>
                  <a:pt x="92868" y="78581"/>
                </a:cubicBezTo>
                <a:cubicBezTo>
                  <a:pt x="92868" y="90338"/>
                  <a:pt x="83194" y="100012"/>
                  <a:pt x="71437" y="100012"/>
                </a:cubicBezTo>
                <a:cubicBezTo>
                  <a:pt x="59680" y="100012"/>
                  <a:pt x="50006" y="90338"/>
                  <a:pt x="50006" y="78581"/>
                </a:cubicBezTo>
                <a:close/>
                <a:moveTo>
                  <a:pt x="225340" y="223465"/>
                </a:moveTo>
                <a:cubicBezTo>
                  <a:pt x="228153" y="226635"/>
                  <a:pt x="232573" y="227885"/>
                  <a:pt x="236502" y="226233"/>
                </a:cubicBezTo>
                <a:cubicBezTo>
                  <a:pt x="238869" y="225206"/>
                  <a:pt x="241190" y="224090"/>
                  <a:pt x="243423" y="222840"/>
                </a:cubicBezTo>
                <a:lnTo>
                  <a:pt x="245834" y="221456"/>
                </a:lnTo>
                <a:cubicBezTo>
                  <a:pt x="248066" y="220116"/>
                  <a:pt x="250254" y="218643"/>
                  <a:pt x="252352" y="217080"/>
                </a:cubicBezTo>
                <a:cubicBezTo>
                  <a:pt x="255746" y="214535"/>
                  <a:pt x="256862" y="210070"/>
                  <a:pt x="255523" y="206052"/>
                </a:cubicBezTo>
                <a:lnTo>
                  <a:pt x="251370" y="193461"/>
                </a:lnTo>
                <a:cubicBezTo>
                  <a:pt x="255299" y="188684"/>
                  <a:pt x="258514" y="183192"/>
                  <a:pt x="260702" y="177298"/>
                </a:cubicBezTo>
                <a:lnTo>
                  <a:pt x="273694" y="174575"/>
                </a:lnTo>
                <a:cubicBezTo>
                  <a:pt x="277847" y="173727"/>
                  <a:pt x="281151" y="170512"/>
                  <a:pt x="281642" y="166315"/>
                </a:cubicBezTo>
                <a:cubicBezTo>
                  <a:pt x="285214" y="163323"/>
                  <a:pt x="282178" y="160287"/>
                  <a:pt x="282178" y="157207"/>
                </a:cubicBezTo>
                <a:cubicBezTo>
                  <a:pt x="282178" y="154126"/>
                  <a:pt x="283964" y="151090"/>
                  <a:pt x="281642" y="148098"/>
                </a:cubicBezTo>
                <a:cubicBezTo>
                  <a:pt x="281151" y="143901"/>
                  <a:pt x="277802" y="140687"/>
                  <a:pt x="273694" y="139838"/>
                </a:cubicBezTo>
                <a:lnTo>
                  <a:pt x="260702" y="137070"/>
                </a:lnTo>
                <a:cubicBezTo>
                  <a:pt x="258469" y="131132"/>
                  <a:pt x="255299" y="125685"/>
                  <a:pt x="251370" y="120907"/>
                </a:cubicBezTo>
                <a:lnTo>
                  <a:pt x="255523" y="108317"/>
                </a:lnTo>
                <a:cubicBezTo>
                  <a:pt x="256862" y="104298"/>
                  <a:pt x="257755" y="99833"/>
                  <a:pt x="252352" y="97288"/>
                </a:cubicBezTo>
                <a:cubicBezTo>
                  <a:pt x="250254" y="95726"/>
                  <a:pt x="248066" y="94252"/>
                  <a:pt x="245834" y="92868"/>
                </a:cubicBezTo>
                <a:lnTo>
                  <a:pt x="243467" y="91529"/>
                </a:lnTo>
                <a:cubicBezTo>
                  <a:pt x="241235" y="90279"/>
                  <a:pt x="238913" y="89162"/>
                  <a:pt x="236502" y="88136"/>
                </a:cubicBezTo>
                <a:cubicBezTo>
                  <a:pt x="232618" y="86484"/>
                  <a:pt x="228198" y="92154"/>
                  <a:pt x="225340" y="90904"/>
                </a:cubicBezTo>
                <a:lnTo>
                  <a:pt x="216500" y="100816"/>
                </a:lnTo>
                <a:cubicBezTo>
                  <a:pt x="213464" y="100325"/>
                  <a:pt x="210338" y="100057"/>
                  <a:pt x="207168" y="100057"/>
                </a:cubicBezTo>
                <a:cubicBezTo>
                  <a:pt x="203998" y="100057"/>
                  <a:pt x="200873" y="102736"/>
                  <a:pt x="197837" y="100816"/>
                </a:cubicBezTo>
                <a:lnTo>
                  <a:pt x="188996" y="90904"/>
                </a:lnTo>
                <a:cubicBezTo>
                  <a:pt x="186183" y="87734"/>
                  <a:pt x="181763" y="86484"/>
                  <a:pt x="177834" y="88136"/>
                </a:cubicBezTo>
                <a:cubicBezTo>
                  <a:pt x="175468" y="89162"/>
                  <a:pt x="173146" y="90279"/>
                  <a:pt x="170869" y="91529"/>
                </a:cubicBezTo>
                <a:lnTo>
                  <a:pt x="168547" y="92868"/>
                </a:lnTo>
                <a:cubicBezTo>
                  <a:pt x="166270" y="94208"/>
                  <a:pt x="164127" y="95681"/>
                  <a:pt x="162029" y="97288"/>
                </a:cubicBezTo>
                <a:cubicBezTo>
                  <a:pt x="158635" y="99833"/>
                  <a:pt x="157519" y="104298"/>
                  <a:pt x="158859" y="108317"/>
                </a:cubicBezTo>
                <a:lnTo>
                  <a:pt x="163011" y="120907"/>
                </a:lnTo>
                <a:cubicBezTo>
                  <a:pt x="159082" y="125685"/>
                  <a:pt x="155867" y="131177"/>
                  <a:pt x="153679" y="137070"/>
                </a:cubicBezTo>
                <a:lnTo>
                  <a:pt x="140687" y="139749"/>
                </a:lnTo>
                <a:cubicBezTo>
                  <a:pt x="136534" y="140597"/>
                  <a:pt x="133230" y="143812"/>
                  <a:pt x="132739" y="148009"/>
                </a:cubicBezTo>
                <a:cubicBezTo>
                  <a:pt x="136311" y="151001"/>
                  <a:pt x="132204" y="154037"/>
                  <a:pt x="132204" y="157117"/>
                </a:cubicBezTo>
                <a:cubicBezTo>
                  <a:pt x="132204" y="160198"/>
                  <a:pt x="133989" y="163234"/>
                  <a:pt x="132739" y="166226"/>
                </a:cubicBezTo>
                <a:cubicBezTo>
                  <a:pt x="133230" y="170423"/>
                  <a:pt x="136579" y="173637"/>
                  <a:pt x="140687" y="174486"/>
                </a:cubicBezTo>
                <a:lnTo>
                  <a:pt x="153679" y="177209"/>
                </a:lnTo>
                <a:cubicBezTo>
                  <a:pt x="155912" y="183147"/>
                  <a:pt x="159082" y="188595"/>
                  <a:pt x="163011" y="193372"/>
                </a:cubicBezTo>
                <a:lnTo>
                  <a:pt x="158859" y="205963"/>
                </a:lnTo>
                <a:cubicBezTo>
                  <a:pt x="157519" y="209981"/>
                  <a:pt x="161091" y="214446"/>
                  <a:pt x="162029" y="216991"/>
                </a:cubicBezTo>
                <a:cubicBezTo>
                  <a:pt x="164127" y="218554"/>
                  <a:pt x="166270" y="220027"/>
                  <a:pt x="168547" y="221366"/>
                </a:cubicBezTo>
                <a:lnTo>
                  <a:pt x="170958" y="222751"/>
                </a:lnTo>
                <a:cubicBezTo>
                  <a:pt x="173191" y="224001"/>
                  <a:pt x="175513" y="225117"/>
                  <a:pt x="177879" y="226144"/>
                </a:cubicBezTo>
                <a:cubicBezTo>
                  <a:pt x="181763" y="227796"/>
                  <a:pt x="186183" y="230162"/>
                  <a:pt x="189041" y="223376"/>
                </a:cubicBezTo>
                <a:lnTo>
                  <a:pt x="197881" y="213464"/>
                </a:lnTo>
                <a:cubicBezTo>
                  <a:pt x="200917" y="213955"/>
                  <a:pt x="204043" y="214223"/>
                  <a:pt x="207213" y="214223"/>
                </a:cubicBezTo>
                <a:cubicBezTo>
                  <a:pt x="210383" y="214223"/>
                  <a:pt x="213508" y="216902"/>
                  <a:pt x="216544" y="213464"/>
                </a:cubicBezTo>
                <a:lnTo>
                  <a:pt x="225385" y="223376"/>
                </a:lnTo>
                <a:close/>
                <a:moveTo>
                  <a:pt x="207168" y="135731"/>
                </a:moveTo>
                <a:cubicBezTo>
                  <a:pt x="218925" y="135731"/>
                  <a:pt x="228600" y="145405"/>
                  <a:pt x="228600" y="157162"/>
                </a:cubicBezTo>
                <a:cubicBezTo>
                  <a:pt x="228600" y="168919"/>
                  <a:pt x="218925" y="178593"/>
                  <a:pt x="207168" y="178593"/>
                </a:cubicBezTo>
                <a:cubicBezTo>
                  <a:pt x="195411" y="178593"/>
                  <a:pt x="185737" y="168919"/>
                  <a:pt x="185737" y="157162"/>
                </a:cubicBezTo>
                <a:cubicBezTo>
                  <a:pt x="185737" y="145405"/>
                  <a:pt x="195411" y="135731"/>
                  <a:pt x="207168" y="135731"/>
                </a:cubicBezTo>
                <a:close/>
              </a:path>
            </a:pathLst>
          </a:custGeom>
          <a:solidFill>
            <a:srgbClr val="D4A373"/>
          </a:solidFill>
          <a:ln>
            <a:noFill/>
          </a:ln>
          <a:effectLst/>
        </p:spPr>
      </p:sp>
      <p:sp>
        <p:nvSpPr>
          <p:cNvPr id="40" name="dsl:obj7-title"/>
          <p:cNvSpPr txBox="1"/>
          <p:nvPr/>
        </p:nvSpPr>
        <p:spPr>
          <a:xfrm>
            <a:off x="6400800" y="4286250"/>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Automated Response</a:t>
            </a:r>
          </a:p>
        </p:txBody>
      </p:sp>
      <p:sp>
        <p:nvSpPr>
          <p:cNvPr id="41" name="dsl:obj7-desc"/>
          <p:cNvSpPr txBox="1"/>
          <p:nvPr/>
        </p:nvSpPr>
        <p:spPr>
          <a:xfrm>
            <a:off x="6400800" y="4791075"/>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Ansible playbooks with analyst approval gates for safe, controlled remediation</a:t>
            </a:r>
          </a:p>
        </p:txBody>
      </p:sp>
      <p:sp>
        <p:nvSpPr>
          <p:cNvPr id="42" name="dsl:obj8-bg"/>
          <p:cNvSpPr/>
          <p:nvPr/>
        </p:nvSpPr>
        <p:spPr>
          <a:xfrm>
            <a:off x="9029700" y="3714750"/>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sl:obj8-icon|i=fas:shield-halved"/>
          <p:cNvSpPr/>
          <p:nvPr/>
        </p:nvSpPr>
        <p:spPr>
          <a:xfrm>
            <a:off x="9220200" y="3905250"/>
            <a:ext cx="285750" cy="285750"/>
          </a:xfrm>
          <a:custGeom>
            <a:avLst/>
            <a:gdLst/>
            <a:ahLst/>
            <a:cxnLst/>
            <a:rect l="l" t="t" r="r" b="b"/>
            <a:pathLst>
              <a:path w="285750" h="285750">
                <a:moveTo>
                  <a:pt x="142875" y="0"/>
                </a:moveTo>
                <a:cubicBezTo>
                  <a:pt x="145442" y="0"/>
                  <a:pt x="148009" y="558"/>
                  <a:pt x="150353" y="1618"/>
                </a:cubicBezTo>
                <a:lnTo>
                  <a:pt x="255444" y="46211"/>
                </a:lnTo>
                <a:cubicBezTo>
                  <a:pt x="267723" y="51401"/>
                  <a:pt x="276876" y="63512"/>
                  <a:pt x="276820" y="78134"/>
                </a:cubicBezTo>
                <a:cubicBezTo>
                  <a:pt x="279610" y="133498"/>
                  <a:pt x="253770" y="234794"/>
                  <a:pt x="157608" y="280838"/>
                </a:cubicBezTo>
                <a:cubicBezTo>
                  <a:pt x="148288" y="285303"/>
                  <a:pt x="137461" y="285303"/>
                  <a:pt x="128141" y="280838"/>
                </a:cubicBezTo>
                <a:cubicBezTo>
                  <a:pt x="31979" y="234794"/>
                  <a:pt x="9208" y="133498"/>
                  <a:pt x="8929" y="78134"/>
                </a:cubicBezTo>
                <a:cubicBezTo>
                  <a:pt x="9487" y="63512"/>
                  <a:pt x="18026" y="51401"/>
                  <a:pt x="30305" y="46211"/>
                </a:cubicBezTo>
                <a:lnTo>
                  <a:pt x="135452" y="1618"/>
                </a:lnTo>
                <a:cubicBezTo>
                  <a:pt x="137740" y="558"/>
                  <a:pt x="140307" y="0"/>
                  <a:pt x="142875" y="0"/>
                </a:cubicBezTo>
                <a:close/>
                <a:moveTo>
                  <a:pt x="142875" y="37281"/>
                </a:moveTo>
                <a:lnTo>
                  <a:pt x="142875" y="248245"/>
                </a:lnTo>
                <a:cubicBezTo>
                  <a:pt x="219893" y="210963"/>
                  <a:pt x="240599" y="128420"/>
                  <a:pt x="241101" y="78916"/>
                </a:cubicBezTo>
                <a:lnTo>
                  <a:pt x="142875" y="37281"/>
                </a:lnTo>
                <a:lnTo>
                  <a:pt x="142875" y="37281"/>
                </a:lnTo>
                <a:close/>
              </a:path>
            </a:pathLst>
          </a:custGeom>
          <a:solidFill>
            <a:srgbClr val="D4A373"/>
          </a:solidFill>
          <a:ln>
            <a:noFill/>
          </a:ln>
          <a:effectLst/>
        </p:spPr>
      </p:sp>
      <p:sp>
        <p:nvSpPr>
          <p:cNvPr id="44" name="dsl:obj8-title"/>
          <p:cNvSpPr txBox="1"/>
          <p:nvPr/>
        </p:nvSpPr>
        <p:spPr>
          <a:xfrm>
            <a:off x="9220200" y="4286250"/>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Monitoring &amp; Auditability</a:t>
            </a:r>
          </a:p>
        </p:txBody>
      </p:sp>
      <p:sp>
        <p:nvSpPr>
          <p:cNvPr id="45" name="dsl:obj8-desc"/>
          <p:cNvSpPr txBox="1"/>
          <p:nvPr/>
        </p:nvSpPr>
        <p:spPr>
          <a:xfrm>
            <a:off x="9220200" y="4791075"/>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Complete traceability of every action, decision, and transition for compliance</a:t>
            </a:r>
          </a:p>
        </p:txBody>
      </p:sp>
      <p:sp>
        <p:nvSpPr>
          <p:cNvPr id="46"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47"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Active"/>
          <p:cNvSpPr txBox="1"/>
          <p:nvPr/>
        </p:nvSpPr>
        <p:spPr>
          <a:xfrm>
            <a:off x="18669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18669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57150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ARIA End-to-End Workflow</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sources-bg"/>
          <p:cNvSpPr/>
          <p:nvPr/>
        </p:nvSpPr>
        <p:spPr>
          <a:xfrm>
            <a:off x="571500" y="1095375"/>
            <a:ext cx="2190750" cy="809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sources-text"/>
          <p:cNvSpPr txBox="1"/>
          <p:nvPr/>
        </p:nvSpPr>
        <p:spPr>
          <a:xfrm>
            <a:off x="666750" y="1143000"/>
            <a:ext cx="2000250" cy="714375"/>
          </a:xfrm>
          <a:prstGeom prst="rect">
            <a:avLst/>
          </a:prstGeom>
          <a:noFill/>
        </p:spPr>
        <p:txBody>
          <a:bodyPr wrap="square" anchor="ctr">
            <a:noAutofit/>
          </a:bodyPr>
          <a:lstStyle/>
          <a:p>
            <a:pPr algn="ctr">
              <a:lnSpc>
                <a:spcPct val="150000"/>
              </a:lnSpc>
            </a:pPr>
            <a:r>
              <a:rPr b="1" sz="1050" noProof="1">
                <a:solidFill>
                  <a:srgbClr val="FFFFFF"/>
                </a:solidFill>
                <a:latin typeface="QuattrocentoSans"/>
                <a:ea typeface="QuattrocentoSans"/>
              </a:rPr>
              <a:t>Wazuh</a:t>
            </a:r>
            <a:r>
              <a:rPr sz="1050" noProof="1">
                <a:solidFill>
                  <a:srgbClr val="FFFFFF"/>
                </a:solidFill>
                <a:latin typeface="QuattrocentoSans"/>
                <a:ea typeface="QuattrocentoSans"/>
              </a:rPr>
              <a:t> | </a:t>
            </a:r>
            <a:r>
              <a:rPr b="1" sz="1050" noProof="1">
                <a:solidFill>
                  <a:srgbClr val="FFFFFF"/>
                </a:solidFill>
                <a:latin typeface="QuattrocentoSans"/>
                <a:ea typeface="QuattrocentoSans"/>
              </a:rPr>
              <a:t>Suricata</a:t>
            </a:r>
          </a:p>
          <a:p>
            <a:pPr algn="ctr">
              <a:lnSpc>
                <a:spcPct val="150000"/>
              </a:lnSpc>
            </a:pPr>
            <a:r>
              <a:rPr b="1" sz="1050" noProof="1">
                <a:solidFill>
                  <a:srgbClr val="FFFFFF"/>
                </a:solidFill>
                <a:latin typeface="QuattrocentoSans"/>
                <a:ea typeface="QuattrocentoSans"/>
              </a:rPr>
              <a:t>Falco</a:t>
            </a:r>
            <a:r>
              <a:rPr sz="1050" noProof="1">
                <a:solidFill>
                  <a:srgbClr val="FFFFFF"/>
                </a:solidFill>
                <a:latin typeface="QuattrocentoSans"/>
                <a:ea typeface="QuattrocentoSans"/>
              </a:rPr>
              <a:t> | </a:t>
            </a:r>
            <a:r>
              <a:rPr b="1" sz="1050" noProof="1">
                <a:solidFill>
                  <a:srgbClr val="FFFFFF"/>
                </a:solidFill>
                <a:latin typeface="QuattrocentoSans"/>
                <a:ea typeface="QuattrocentoSans"/>
              </a:rPr>
              <a:t>Telegraf</a:t>
            </a:r>
          </a:p>
        </p:txBody>
      </p:sp>
      <p:cxnSp>
        <p:nvCxnSpPr>
          <p:cNvPr id="16" name="dsl:arrow1"/>
          <p:cNvCxnSpPr/>
          <p:nvPr/>
        </p:nvCxnSpPr>
        <p:spPr>
          <a:xfrm>
            <a:off x="2762250" y="142875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7" name="dsl:es-bg"/>
          <p:cNvSpPr/>
          <p:nvPr/>
        </p:nvSpPr>
        <p:spPr>
          <a:xfrm>
            <a:off x="3143250" y="1095375"/>
            <a:ext cx="1524000" cy="809625"/>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l:es-text"/>
          <p:cNvSpPr txBox="1"/>
          <p:nvPr/>
        </p:nvSpPr>
        <p:spPr>
          <a:xfrm>
            <a:off x="3238500" y="1285875"/>
            <a:ext cx="1333500" cy="428625"/>
          </a:xfrm>
          <a:prstGeom prst="rect">
            <a:avLst/>
          </a:prstGeom>
          <a:noFill/>
        </p:spPr>
        <p:txBody>
          <a:bodyPr wrap="none" anchor="ctr">
            <a:noAutofit/>
          </a:bodyPr>
          <a:lstStyle/>
          <a:p>
            <a:pPr algn="ctr"/>
            <a:r>
              <a:rPr b="1" sz="1200" noProof="1">
                <a:solidFill>
                  <a:srgbClr val="2B2D2F"/>
                </a:solidFill>
                <a:latin typeface="Liter"/>
                <a:ea typeface="Liter"/>
              </a:rPr>
              <a:t>Elasticsearch</a:t>
            </a:r>
          </a:p>
        </p:txBody>
      </p:sp>
      <p:cxnSp>
        <p:nvCxnSpPr>
          <p:cNvPr id="19" name="dsl:arrow2"/>
          <p:cNvCxnSpPr/>
          <p:nvPr/>
        </p:nvCxnSpPr>
        <p:spPr>
          <a:xfrm>
            <a:off x="4667250" y="142875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0" name="dsl:backend-bg"/>
          <p:cNvSpPr/>
          <p:nvPr/>
        </p:nvSpPr>
        <p:spPr>
          <a:xfrm>
            <a:off x="5048250" y="1095375"/>
            <a:ext cx="2381250" cy="809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backend-text"/>
          <p:cNvSpPr txBox="1"/>
          <p:nvPr/>
        </p:nvSpPr>
        <p:spPr>
          <a:xfrm>
            <a:off x="5143500" y="1143000"/>
            <a:ext cx="2190750" cy="714375"/>
          </a:xfrm>
          <a:prstGeom prst="rect">
            <a:avLst/>
          </a:prstGeom>
          <a:noFill/>
        </p:spPr>
        <p:txBody>
          <a:bodyPr wrap="square" anchor="ctr">
            <a:noAutofit/>
          </a:bodyPr>
          <a:lstStyle/>
          <a:p>
            <a:pPr algn="ctr">
              <a:lnSpc>
                <a:spcPct val="150000"/>
              </a:lnSpc>
            </a:pPr>
            <a:r>
              <a:rPr b="1" sz="975" noProof="1">
                <a:solidFill>
                  <a:srgbClr val="FFFFFF"/>
                </a:solidFill>
                <a:latin typeface="QuattrocentoSans"/>
                <a:ea typeface="QuattrocentoSans"/>
              </a:rPr>
              <a:t>ARIA Backend</a:t>
            </a:r>
          </a:p>
          <a:p>
            <a:pPr algn="ctr">
              <a:lnSpc>
                <a:spcPct val="150000"/>
              </a:lnSpc>
            </a:pPr>
            <a:r>
              <a:rPr sz="975" noProof="1">
                <a:solidFill>
                  <a:srgbClr val="FFFFFF"/>
                </a:solidFill>
                <a:latin typeface="QuattrocentoSans"/>
                <a:ea typeface="QuattrocentoSans"/>
              </a:rPr>
              <a:t>Map | Enrich | Dedup | Correlate</a:t>
            </a:r>
          </a:p>
        </p:txBody>
      </p:sp>
      <p:cxnSp>
        <p:nvCxnSpPr>
          <p:cNvPr id="22" name="dsl:arrow3"/>
          <p:cNvCxnSpPr/>
          <p:nvPr/>
        </p:nvCxnSpPr>
        <p:spPr>
          <a:xfrm>
            <a:off x="7429500" y="142875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3" name="dsl:ai-bg"/>
          <p:cNvSpPr/>
          <p:nvPr/>
        </p:nvSpPr>
        <p:spPr>
          <a:xfrm>
            <a:off x="7810500" y="1095375"/>
            <a:ext cx="1524000" cy="809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ai-text"/>
          <p:cNvSpPr txBox="1"/>
          <p:nvPr/>
        </p:nvSpPr>
        <p:spPr>
          <a:xfrm>
            <a:off x="7905750" y="1285875"/>
            <a:ext cx="1333500" cy="428625"/>
          </a:xfrm>
          <a:prstGeom prst="rect">
            <a:avLst/>
          </a:prstGeom>
          <a:noFill/>
        </p:spPr>
        <p:txBody>
          <a:bodyPr wrap="none" anchor="ctr">
            <a:noAutofit/>
          </a:bodyPr>
          <a:lstStyle/>
          <a:p>
            <a:pPr algn="ctr"/>
            <a:r>
              <a:rPr b="1" sz="1200" noProof="1">
                <a:solidFill>
                  <a:srgbClr val="FFFFFF"/>
                </a:solidFill>
                <a:latin typeface="Liter"/>
                <a:ea typeface="Liter"/>
              </a:rPr>
              <a:t>AI Analysis</a:t>
            </a:r>
          </a:p>
        </p:txBody>
      </p:sp>
      <p:cxnSp>
        <p:nvCxnSpPr>
          <p:cNvPr id="25" name="dsl:arrow4"/>
          <p:cNvCxnSpPr/>
          <p:nvPr/>
        </p:nvCxnSpPr>
        <p:spPr>
          <a:xfrm>
            <a:off x="9334500" y="142875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6" name="dsl:incident-bg"/>
          <p:cNvSpPr/>
          <p:nvPr/>
        </p:nvSpPr>
        <p:spPr>
          <a:xfrm>
            <a:off x="9715500" y="1095375"/>
            <a:ext cx="1905000" cy="809625"/>
          </a:xfrm>
          <a:prstGeom prst="rect">
            <a:avLst/>
          </a:prstGeom>
          <a:solidFill>
            <a:srgbClr val="4A4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incident-text"/>
          <p:cNvSpPr txBox="1"/>
          <p:nvPr/>
        </p:nvSpPr>
        <p:spPr>
          <a:xfrm>
            <a:off x="9810750" y="1285875"/>
            <a:ext cx="1714500" cy="428625"/>
          </a:xfrm>
          <a:prstGeom prst="rect">
            <a:avLst/>
          </a:prstGeom>
          <a:noFill/>
        </p:spPr>
        <p:txBody>
          <a:bodyPr wrap="none" anchor="ctr">
            <a:noAutofit/>
          </a:bodyPr>
          <a:lstStyle/>
          <a:p>
            <a:pPr algn="ctr"/>
            <a:r>
              <a:rPr b="1" sz="1200" noProof="1">
                <a:solidFill>
                  <a:srgbClr val="FFFFFF"/>
                </a:solidFill>
                <a:latin typeface="Liter"/>
                <a:ea typeface="Liter"/>
              </a:rPr>
              <a:t>Incident</a:t>
            </a:r>
          </a:p>
        </p:txBody>
      </p:sp>
      <p:sp>
        <p:nvSpPr>
          <p:cNvPr id="28" name="dsl:row2-label"/>
          <p:cNvSpPr txBox="1"/>
          <p:nvPr/>
        </p:nvSpPr>
        <p:spPr>
          <a:xfrm>
            <a:off x="571500" y="2095500"/>
            <a:ext cx="1905000" cy="238125"/>
          </a:xfrm>
          <a:prstGeom prst="rect">
            <a:avLst/>
          </a:prstGeom>
          <a:noFill/>
        </p:spPr>
        <p:txBody>
          <a:bodyPr wrap="none" anchor="t">
            <a:noAutofit/>
          </a:bodyPr>
          <a:lstStyle/>
          <a:p>
            <a:pPr algn="l"/>
            <a:r>
              <a:rPr b="1" sz="1050" noProof="1" spc="150">
                <a:solidFill>
                  <a:srgbClr val="5C6B73"/>
                </a:solidFill>
                <a:latin typeface="Liter"/>
                <a:ea typeface="Liter"/>
              </a:rPr>
              <a:t>REMEDIATION FLOW</a:t>
            </a:r>
          </a:p>
        </p:txBody>
      </p:sp>
      <p:sp>
        <p:nvSpPr>
          <p:cNvPr id="29" name="dsl:analyst-bg"/>
          <p:cNvSpPr/>
          <p:nvPr/>
        </p:nvSpPr>
        <p:spPr>
          <a:xfrm>
            <a:off x="571500" y="2428875"/>
            <a:ext cx="1666875" cy="666750"/>
          </a:xfrm>
          <a:prstGeom prst="rect">
            <a:avLst/>
          </a:prstGeom>
          <a:solidFill>
            <a:srgbClr val="F5F5F2"/>
          </a:solidFill>
          <a:ln w="254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analyst-text"/>
          <p:cNvSpPr txBox="1"/>
          <p:nvPr/>
        </p:nvSpPr>
        <p:spPr>
          <a:xfrm>
            <a:off x="666750" y="2571750"/>
            <a:ext cx="1476375" cy="381000"/>
          </a:xfrm>
          <a:prstGeom prst="rect">
            <a:avLst/>
          </a:prstGeom>
          <a:noFill/>
        </p:spPr>
        <p:txBody>
          <a:bodyPr wrap="none" anchor="ctr">
            <a:noAutofit/>
          </a:bodyPr>
          <a:lstStyle/>
          <a:p>
            <a:pPr algn="ctr"/>
            <a:r>
              <a:rPr b="1" sz="1125" noProof="1">
                <a:solidFill>
                  <a:srgbClr val="2B2D2F"/>
                </a:solidFill>
                <a:latin typeface="Liter"/>
                <a:ea typeface="Liter"/>
              </a:rPr>
              <a:t>Analyst Review</a:t>
            </a:r>
          </a:p>
        </p:txBody>
      </p:sp>
      <p:cxnSp>
        <p:nvCxnSpPr>
          <p:cNvPr id="31" name="dsl:arrow5"/>
          <p:cNvCxnSpPr/>
          <p:nvPr/>
        </p:nvCxnSpPr>
        <p:spPr>
          <a:xfrm>
            <a:off x="2238375" y="2714625"/>
            <a:ext cx="333375"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2" name="dsl:approval-bg"/>
          <p:cNvSpPr/>
          <p:nvPr/>
        </p:nvSpPr>
        <p:spPr>
          <a:xfrm>
            <a:off x="2571750" y="2428875"/>
            <a:ext cx="1666875" cy="666750"/>
          </a:xfrm>
          <a:prstGeom prst="rect">
            <a:avLst/>
          </a:prstGeom>
          <a:solidFill>
            <a:srgbClr val="F5F5F2"/>
          </a:solidFill>
          <a:ln w="254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approval-text"/>
          <p:cNvSpPr txBox="1"/>
          <p:nvPr/>
        </p:nvSpPr>
        <p:spPr>
          <a:xfrm>
            <a:off x="2667000" y="2571750"/>
            <a:ext cx="1476375" cy="381000"/>
          </a:xfrm>
          <a:prstGeom prst="rect">
            <a:avLst/>
          </a:prstGeom>
          <a:noFill/>
        </p:spPr>
        <p:txBody>
          <a:bodyPr wrap="none" anchor="ctr">
            <a:noAutofit/>
          </a:bodyPr>
          <a:lstStyle/>
          <a:p>
            <a:pPr algn="ctr"/>
            <a:r>
              <a:rPr b="1" sz="1125" noProof="1">
                <a:solidFill>
                  <a:srgbClr val="2B2D2F"/>
                </a:solidFill>
                <a:latin typeface="Liter"/>
                <a:ea typeface="Liter"/>
              </a:rPr>
              <a:t>Approval Gate</a:t>
            </a:r>
          </a:p>
        </p:txBody>
      </p:sp>
      <p:cxnSp>
        <p:nvCxnSpPr>
          <p:cNvPr id="34" name="dsl:arrow6"/>
          <p:cNvCxnSpPr/>
          <p:nvPr/>
        </p:nvCxnSpPr>
        <p:spPr>
          <a:xfrm>
            <a:off x="4238625" y="2714625"/>
            <a:ext cx="333375"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5" name="dsl:ansible-bg"/>
          <p:cNvSpPr/>
          <p:nvPr/>
        </p:nvSpPr>
        <p:spPr>
          <a:xfrm>
            <a:off x="4572000" y="2428875"/>
            <a:ext cx="1666875" cy="666750"/>
          </a:xfrm>
          <a:prstGeom prst="rect">
            <a:avLst/>
          </a:prstGeom>
          <a:solidFill>
            <a:srgbClr val="F5F5F2"/>
          </a:solidFill>
          <a:ln w="25400">
            <a:solidFill>
              <a:srgbClr val="D4A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sl:ansible-text"/>
          <p:cNvSpPr txBox="1"/>
          <p:nvPr/>
        </p:nvSpPr>
        <p:spPr>
          <a:xfrm>
            <a:off x="4667250" y="2571750"/>
            <a:ext cx="1476375" cy="381000"/>
          </a:xfrm>
          <a:prstGeom prst="rect">
            <a:avLst/>
          </a:prstGeom>
          <a:noFill/>
        </p:spPr>
        <p:txBody>
          <a:bodyPr wrap="none" anchor="ctr">
            <a:noAutofit/>
          </a:bodyPr>
          <a:lstStyle/>
          <a:p>
            <a:pPr algn="ctr"/>
            <a:r>
              <a:rPr b="1" sz="1125" noProof="1">
                <a:solidFill>
                  <a:srgbClr val="2B2D2F"/>
                </a:solidFill>
                <a:latin typeface="Liter"/>
                <a:ea typeface="Liter"/>
              </a:rPr>
              <a:t>Ansible</a:t>
            </a:r>
          </a:p>
        </p:txBody>
      </p:sp>
      <p:cxnSp>
        <p:nvCxnSpPr>
          <p:cNvPr id="37" name="dsl:arrow7"/>
          <p:cNvCxnSpPr/>
          <p:nvPr/>
        </p:nvCxnSpPr>
        <p:spPr>
          <a:xfrm>
            <a:off x="6238875" y="2714625"/>
            <a:ext cx="333375"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8" name="dsl:verify-bg"/>
          <p:cNvSpPr/>
          <p:nvPr/>
        </p:nvSpPr>
        <p:spPr>
          <a:xfrm>
            <a:off x="6572250" y="2428875"/>
            <a:ext cx="1666875" cy="666750"/>
          </a:xfrm>
          <a:prstGeom prst="rect">
            <a:avLst/>
          </a:prstGeom>
          <a:solidFill>
            <a:srgbClr val="F5F5F2"/>
          </a:solidFill>
          <a:ln w="25400">
            <a:solidFill>
              <a:srgbClr val="D4A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sl:verify-text"/>
          <p:cNvSpPr txBox="1"/>
          <p:nvPr/>
        </p:nvSpPr>
        <p:spPr>
          <a:xfrm>
            <a:off x="6667500" y="2571750"/>
            <a:ext cx="1476375" cy="381000"/>
          </a:xfrm>
          <a:prstGeom prst="rect">
            <a:avLst/>
          </a:prstGeom>
          <a:noFill/>
        </p:spPr>
        <p:txBody>
          <a:bodyPr wrap="none" anchor="ctr">
            <a:noAutofit/>
          </a:bodyPr>
          <a:lstStyle/>
          <a:p>
            <a:pPr algn="ctr"/>
            <a:r>
              <a:rPr b="1" sz="1125" noProof="1">
                <a:solidFill>
                  <a:srgbClr val="2B2D2F"/>
                </a:solidFill>
                <a:latin typeface="Liter"/>
                <a:ea typeface="Liter"/>
              </a:rPr>
              <a:t>Verify</a:t>
            </a:r>
          </a:p>
        </p:txBody>
      </p:sp>
      <p:cxnSp>
        <p:nvCxnSpPr>
          <p:cNvPr id="40" name="dsl:arrow8"/>
          <p:cNvCxnSpPr/>
          <p:nvPr/>
        </p:nvCxnSpPr>
        <p:spPr>
          <a:xfrm>
            <a:off x="8239125" y="2714625"/>
            <a:ext cx="333375"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41" name="dsl:archive-bg"/>
          <p:cNvSpPr/>
          <p:nvPr/>
        </p:nvSpPr>
        <p:spPr>
          <a:xfrm>
            <a:off x="8572500" y="2428875"/>
            <a:ext cx="1666875" cy="6667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sl:archive-text"/>
          <p:cNvSpPr txBox="1"/>
          <p:nvPr/>
        </p:nvSpPr>
        <p:spPr>
          <a:xfrm>
            <a:off x="8667750" y="2571750"/>
            <a:ext cx="1476375" cy="381000"/>
          </a:xfrm>
          <a:prstGeom prst="rect">
            <a:avLst/>
          </a:prstGeom>
          <a:noFill/>
        </p:spPr>
        <p:txBody>
          <a:bodyPr wrap="none" anchor="ctr">
            <a:noAutofit/>
          </a:bodyPr>
          <a:lstStyle/>
          <a:p>
            <a:pPr algn="ctr"/>
            <a:r>
              <a:rPr b="1" sz="1125" noProof="1">
                <a:solidFill>
                  <a:srgbClr val="FFFFFF"/>
                </a:solidFill>
                <a:latin typeface="Liter"/>
                <a:ea typeface="Liter"/>
              </a:rPr>
              <a:t>Archive</a:t>
            </a:r>
          </a:p>
        </p:txBody>
      </p:sp>
      <p:cxnSp>
        <p:nvCxnSpPr>
          <p:cNvPr id="43" name="dsl:vline"/>
          <p:cNvCxnSpPr/>
          <p:nvPr/>
        </p:nvCxnSpPr>
        <p:spPr>
          <a:xfrm>
            <a:off x="10668000" y="1905000"/>
            <a:ext cx="0" cy="523875"/>
          </a:xfrm>
          <a:prstGeom prst="straightConnector1">
            <a:avLst/>
          </a:prstGeom>
          <a:ln w="25400">
            <a:solidFill>
              <a:srgbClr val="E5E5E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4" name="dsl:hline-connect"/>
          <p:cNvCxnSpPr/>
          <p:nvPr/>
        </p:nvCxnSpPr>
        <p:spPr>
          <a:xfrm>
            <a:off x="10668000" y="2428875"/>
            <a:ext cx="0" cy="0"/>
          </a:xfrm>
          <a:prstGeom prst="straightConnector1">
            <a:avLst/>
          </a:prstGeom>
          <a:ln w="12700">
            <a:solidFill>
              <a:srgbClr val="E5E5E0"/>
            </a:solidFill>
            <a:prstDash val="dash"/>
          </a:ln>
          <a:effectLst/>
        </p:spPr>
        <p:style>
          <a:lnRef idx="2">
            <a:schemeClr val="accent1"/>
          </a:lnRef>
          <a:fillRef idx="0">
            <a:schemeClr val="accent1"/>
          </a:fillRef>
          <a:effectRef idx="1">
            <a:schemeClr val="accent1"/>
          </a:effectRef>
          <a:fontRef idx="minor">
            <a:schemeClr val="tx1"/>
          </a:fontRef>
        </p:style>
      </p:cxnSp>
      <p:sp>
        <p:nvSpPr>
          <p:cNvPr id="45" name="dsl:metrics-bg"/>
          <p:cNvSpPr/>
          <p:nvPr/>
        </p:nvSpPr>
        <p:spPr>
          <a:xfrm>
            <a:off x="571500" y="3429000"/>
            <a:ext cx="11049000" cy="571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sl:metric1-num"/>
          <p:cNvSpPr txBox="1"/>
          <p:nvPr/>
        </p:nvSpPr>
        <p:spPr>
          <a:xfrm>
            <a:off x="952500" y="3476625"/>
            <a:ext cx="1905000" cy="285750"/>
          </a:xfrm>
          <a:prstGeom prst="rect">
            <a:avLst/>
          </a:prstGeom>
          <a:noFill/>
        </p:spPr>
        <p:txBody>
          <a:bodyPr wrap="none" anchor="ctr">
            <a:noAutofit/>
          </a:bodyPr>
          <a:lstStyle/>
          <a:p>
            <a:pPr algn="ctr"/>
            <a:r>
              <a:rPr b="1" sz="1650" noProof="1">
                <a:solidFill>
                  <a:srgbClr val="2D6A6A"/>
                </a:solidFill>
                <a:latin typeface="Liter"/>
                <a:ea typeface="Liter"/>
              </a:rPr>
              <a:t>4 Sources</a:t>
            </a:r>
          </a:p>
        </p:txBody>
      </p:sp>
      <p:sp>
        <p:nvSpPr>
          <p:cNvPr id="47" name="dsl:metric1-label"/>
          <p:cNvSpPr txBox="1"/>
          <p:nvPr/>
        </p:nvSpPr>
        <p:spPr>
          <a:xfrm>
            <a:off x="952500" y="3762375"/>
            <a:ext cx="1905000" cy="171450"/>
          </a:xfrm>
          <a:prstGeom prst="rect">
            <a:avLst/>
          </a:prstGeom>
          <a:noFill/>
        </p:spPr>
        <p:txBody>
          <a:bodyPr wrap="none" anchor="ctr">
            <a:noAutofit/>
          </a:bodyPr>
          <a:lstStyle/>
          <a:p>
            <a:pPr algn="ctr"/>
            <a:r>
              <a:rPr sz="900" noProof="1">
                <a:solidFill>
                  <a:srgbClr val="5C6B73"/>
                </a:solidFill>
                <a:latin typeface="QuattrocentoSans"/>
                <a:ea typeface="QuattrocentoSans"/>
              </a:rPr>
              <a:t>Monitoring tools</a:t>
            </a:r>
          </a:p>
        </p:txBody>
      </p:sp>
      <p:sp>
        <p:nvSpPr>
          <p:cNvPr id="48" name="dsl:metric-sep1"/>
          <p:cNvSpPr/>
          <p:nvPr/>
        </p:nvSpPr>
        <p:spPr>
          <a:xfrm>
            <a:off x="3238500" y="3571875"/>
            <a:ext cx="9525" cy="2857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sl:metric2-num"/>
          <p:cNvSpPr txBox="1"/>
          <p:nvPr/>
        </p:nvSpPr>
        <p:spPr>
          <a:xfrm>
            <a:off x="3619500" y="3476625"/>
            <a:ext cx="1905000" cy="285750"/>
          </a:xfrm>
          <a:prstGeom prst="rect">
            <a:avLst/>
          </a:prstGeom>
          <a:noFill/>
        </p:spPr>
        <p:txBody>
          <a:bodyPr wrap="none" anchor="ctr">
            <a:noAutofit/>
          </a:bodyPr>
          <a:lstStyle/>
          <a:p>
            <a:pPr algn="ctr"/>
            <a:r>
              <a:rPr b="1" sz="1650" noProof="1">
                <a:solidFill>
                  <a:srgbClr val="2D6A6A"/>
                </a:solidFill>
                <a:latin typeface="Liter"/>
                <a:ea typeface="Liter"/>
              </a:rPr>
              <a:t>12 Steps</a:t>
            </a:r>
          </a:p>
        </p:txBody>
      </p:sp>
      <p:sp>
        <p:nvSpPr>
          <p:cNvPr id="50" name="dsl:metric2-label"/>
          <p:cNvSpPr txBox="1"/>
          <p:nvPr/>
        </p:nvSpPr>
        <p:spPr>
          <a:xfrm>
            <a:off x="3619500" y="3762375"/>
            <a:ext cx="1905000" cy="171450"/>
          </a:xfrm>
          <a:prstGeom prst="rect">
            <a:avLst/>
          </a:prstGeom>
          <a:noFill/>
        </p:spPr>
        <p:txBody>
          <a:bodyPr wrap="none" anchor="ctr">
            <a:noAutofit/>
          </a:bodyPr>
          <a:lstStyle/>
          <a:p>
            <a:pPr algn="ctr"/>
            <a:r>
              <a:rPr sz="900" noProof="1">
                <a:solidFill>
                  <a:srgbClr val="5C6B73"/>
                </a:solidFill>
                <a:latin typeface="QuattrocentoSans"/>
                <a:ea typeface="QuattrocentoSans"/>
              </a:rPr>
              <a:t>Pipeline stages</a:t>
            </a:r>
          </a:p>
        </p:txBody>
      </p:sp>
      <p:sp>
        <p:nvSpPr>
          <p:cNvPr id="51" name="dsl:metric-sep2"/>
          <p:cNvSpPr/>
          <p:nvPr/>
        </p:nvSpPr>
        <p:spPr>
          <a:xfrm>
            <a:off x="5905500" y="3571875"/>
            <a:ext cx="9525" cy="2857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dsl:metric3-num"/>
          <p:cNvSpPr txBox="1"/>
          <p:nvPr/>
        </p:nvSpPr>
        <p:spPr>
          <a:xfrm>
            <a:off x="6286500" y="3476625"/>
            <a:ext cx="1905000" cy="285750"/>
          </a:xfrm>
          <a:prstGeom prst="rect">
            <a:avLst/>
          </a:prstGeom>
          <a:noFill/>
        </p:spPr>
        <p:txBody>
          <a:bodyPr wrap="none" anchor="ctr">
            <a:noAutofit/>
          </a:bodyPr>
          <a:lstStyle/>
          <a:p>
            <a:pPr algn="ctr"/>
            <a:r>
              <a:rPr b="1" sz="1650" noProof="1">
                <a:solidFill>
                  <a:srgbClr val="D4A373"/>
                </a:solidFill>
                <a:latin typeface="Liter"/>
                <a:ea typeface="Liter"/>
              </a:rPr>
              <a:t>AI-Assisted</a:t>
            </a:r>
          </a:p>
        </p:txBody>
      </p:sp>
      <p:sp>
        <p:nvSpPr>
          <p:cNvPr id="53" name="dsl:metric3-label"/>
          <p:cNvSpPr txBox="1"/>
          <p:nvPr/>
        </p:nvSpPr>
        <p:spPr>
          <a:xfrm>
            <a:off x="6286500" y="3762375"/>
            <a:ext cx="1905000" cy="171450"/>
          </a:xfrm>
          <a:prstGeom prst="rect">
            <a:avLst/>
          </a:prstGeom>
          <a:noFill/>
        </p:spPr>
        <p:txBody>
          <a:bodyPr wrap="none" anchor="ctr">
            <a:noAutofit/>
          </a:bodyPr>
          <a:lstStyle/>
          <a:p>
            <a:pPr algn="ctr"/>
            <a:r>
              <a:rPr sz="900" noProof="1">
                <a:solidFill>
                  <a:srgbClr val="5C6B73"/>
                </a:solidFill>
                <a:latin typeface="QuattrocentoSans"/>
                <a:ea typeface="QuattrocentoSans"/>
              </a:rPr>
              <a:t>Human-in-the-loop</a:t>
            </a:r>
          </a:p>
        </p:txBody>
      </p:sp>
      <p:sp>
        <p:nvSpPr>
          <p:cNvPr id="54" name="dsl:metric-sep3"/>
          <p:cNvSpPr/>
          <p:nvPr/>
        </p:nvSpPr>
        <p:spPr>
          <a:xfrm>
            <a:off x="8572500" y="3571875"/>
            <a:ext cx="9525" cy="2857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dsl:metric4-num"/>
          <p:cNvSpPr txBox="1"/>
          <p:nvPr/>
        </p:nvSpPr>
        <p:spPr>
          <a:xfrm>
            <a:off x="8953500" y="3476625"/>
            <a:ext cx="1905000" cy="285750"/>
          </a:xfrm>
          <a:prstGeom prst="rect">
            <a:avLst/>
          </a:prstGeom>
          <a:noFill/>
        </p:spPr>
        <p:txBody>
          <a:bodyPr wrap="none" anchor="ctr">
            <a:noAutofit/>
          </a:bodyPr>
          <a:lstStyle/>
          <a:p>
            <a:pPr algn="ctr"/>
            <a:r>
              <a:rPr b="1" sz="1650" noProof="1">
                <a:solidFill>
                  <a:srgbClr val="D4A373"/>
                </a:solidFill>
                <a:latin typeface="Liter"/>
                <a:ea typeface="Liter"/>
              </a:rPr>
              <a:t>Full Audit</a:t>
            </a:r>
          </a:p>
        </p:txBody>
      </p:sp>
      <p:sp>
        <p:nvSpPr>
          <p:cNvPr id="56" name="dsl:metric4-label"/>
          <p:cNvSpPr txBox="1"/>
          <p:nvPr/>
        </p:nvSpPr>
        <p:spPr>
          <a:xfrm>
            <a:off x="8953500" y="3762375"/>
            <a:ext cx="1905000" cy="171450"/>
          </a:xfrm>
          <a:prstGeom prst="rect">
            <a:avLst/>
          </a:prstGeom>
          <a:noFill/>
        </p:spPr>
        <p:txBody>
          <a:bodyPr wrap="none" anchor="ctr">
            <a:noAutofit/>
          </a:bodyPr>
          <a:lstStyle/>
          <a:p>
            <a:pPr algn="ctr"/>
            <a:r>
              <a:rPr sz="900" noProof="1">
                <a:solidFill>
                  <a:srgbClr val="5C6B73"/>
                </a:solidFill>
                <a:latin typeface="QuattrocentoSans"/>
                <a:ea typeface="QuattrocentoSans"/>
              </a:rPr>
              <a:t>Complete traceability</a:t>
            </a:r>
          </a:p>
        </p:txBody>
      </p:sp>
      <p:sp>
        <p:nvSpPr>
          <p:cNvPr id="57"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58"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number-bg"/>
          <p:cNvSpPr txBox="1"/>
          <p:nvPr/>
        </p:nvSpPr>
        <p:spPr>
          <a:xfrm>
            <a:off x="571500" y="762000"/>
            <a:ext cx="4762500" cy="2095500"/>
          </a:xfrm>
          <a:prstGeom prst="rect">
            <a:avLst/>
          </a:prstGeom>
          <a:noFill/>
        </p:spPr>
        <p:txBody>
          <a:bodyPr wrap="none" anchor="t">
            <a:noAutofit/>
          </a:bodyPr>
          <a:lstStyle/>
          <a:p>
            <a:pPr algn="l"/>
            <a:r>
              <a:rPr b="1" sz="15000" noProof="1">
                <a:solidFill>
                  <a:srgbClr val="2D6A6A">
                    <a:alpha val="8235"/>
                  </a:srgbClr>
                </a:solidFill>
                <a:latin typeface="Liter"/>
                <a:ea typeface="Liter"/>
              </a:rPr>
              <a:t>03</a:t>
            </a:r>
          </a:p>
        </p:txBody>
      </p:sp>
      <p:sp>
        <p:nvSpPr>
          <p:cNvPr id="3" name="dsl:accent-bar"/>
          <p:cNvSpPr/>
          <p:nvPr/>
        </p:nvSpPr>
        <p:spPr>
          <a:xfrm>
            <a:off x="762000" y="295275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label"/>
          <p:cNvSpPr txBox="1"/>
          <p:nvPr/>
        </p:nvSpPr>
        <p:spPr>
          <a:xfrm>
            <a:off x="762000" y="3143250"/>
            <a:ext cx="3810000" cy="285750"/>
          </a:xfrm>
          <a:prstGeom prst="rect">
            <a:avLst/>
          </a:prstGeom>
          <a:noFill/>
        </p:spPr>
        <p:txBody>
          <a:bodyPr wrap="none" anchor="t">
            <a:noAutofit/>
          </a:bodyPr>
          <a:lstStyle/>
          <a:p>
            <a:pPr algn="l"/>
            <a:r>
              <a:rPr b="1" sz="1200" noProof="1" spc="225">
                <a:solidFill>
                  <a:srgbClr val="D4A373"/>
                </a:solidFill>
                <a:latin typeface="Liter"/>
                <a:ea typeface="Liter"/>
              </a:rPr>
              <a:t>CHAPTER 03</a:t>
            </a:r>
          </a:p>
        </p:txBody>
      </p:sp>
      <p:sp>
        <p:nvSpPr>
          <p:cNvPr id="5" name="dsl:ch-title|s=$title"/>
          <p:cNvSpPr txBox="1"/>
          <p:nvPr/>
        </p:nvSpPr>
        <p:spPr>
          <a:xfrm>
            <a:off x="762000" y="3524250"/>
            <a:ext cx="8572500" cy="571500"/>
          </a:xfrm>
          <a:prstGeom prst="rect">
            <a:avLst/>
          </a:prstGeom>
          <a:noFill/>
        </p:spPr>
        <p:txBody>
          <a:bodyPr wrap="none" anchor="t">
            <a:noAutofit/>
          </a:bodyPr>
          <a:lstStyle/>
          <a:p>
            <a:pPr algn="l">
              <a:lnSpc>
                <a:spcPct val="120000"/>
              </a:lnSpc>
            </a:pPr>
            <a:r>
              <a:rPr b="1" sz="3300" noProof="1">
                <a:solidFill>
                  <a:srgbClr val="2D6A6A"/>
                </a:solidFill>
                <a:latin typeface="Liter"/>
                <a:ea typeface="Liter"/>
              </a:rPr>
              <a:t>Data Collection &amp; Ingestion</a:t>
            </a:r>
          </a:p>
        </p:txBody>
      </p:sp>
      <p:sp>
        <p:nvSpPr>
          <p:cNvPr id="6" name="dsl:ch-subtitle|s=$subtitle"/>
          <p:cNvSpPr txBox="1"/>
          <p:nvPr/>
        </p:nvSpPr>
        <p:spPr>
          <a:xfrm>
            <a:off x="762000" y="4191000"/>
            <a:ext cx="7620000" cy="381000"/>
          </a:xfrm>
          <a:prstGeom prst="rect">
            <a:avLst/>
          </a:prstGeom>
          <a:noFill/>
        </p:spPr>
        <p:txBody>
          <a:bodyPr wrap="square" anchor="t">
            <a:noAutofit/>
          </a:bodyPr>
          <a:lstStyle/>
          <a:p>
            <a:pPr algn="l">
              <a:lnSpc>
                <a:spcPct val="140000"/>
              </a:lnSpc>
            </a:pPr>
            <a:r>
              <a:rPr sz="1650" noProof="1">
                <a:solidFill>
                  <a:srgbClr val="5C6B73"/>
                </a:solidFill>
                <a:latin typeface="QuattrocentoSans"/>
                <a:ea typeface="QuattrocentoSans"/>
              </a:rPr>
              <a:t>Multi-layer telemetry from the entire attack surface</a:t>
            </a:r>
          </a:p>
        </p:txBody>
      </p:sp>
      <p:sp>
        <p:nvSpPr>
          <p:cNvPr id="7" name="dsl:deco-line"/>
          <p:cNvSpPr/>
          <p:nvPr/>
        </p:nvSpPr>
        <p:spPr>
          <a:xfrm>
            <a:off x="762000" y="4953000"/>
            <a:ext cx="2857500" cy="190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bottom-bar"/>
          <p:cNvSpPr/>
          <p:nvPr/>
        </p:nvSpPr>
        <p:spPr>
          <a:xfrm>
            <a:off x="0" y="6667500"/>
            <a:ext cx="12192000" cy="190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Active"/>
          <p:cNvSpPr txBox="1"/>
          <p:nvPr/>
        </p:nvSpPr>
        <p:spPr>
          <a:xfrm>
            <a:off x="31623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31623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57150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Data Sources &amp; Monitoring Stack</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net-bg"/>
          <p:cNvSpPr/>
          <p:nvPr/>
        </p:nvSpPr>
        <p:spPr>
          <a:xfrm>
            <a:off x="571500" y="1095375"/>
            <a:ext cx="2571750" cy="23812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net-icon|i=fas:network-wired"/>
          <p:cNvSpPr/>
          <p:nvPr/>
        </p:nvSpPr>
        <p:spPr>
          <a:xfrm>
            <a:off x="762000" y="1266825"/>
            <a:ext cx="285750" cy="228600"/>
          </a:xfrm>
          <a:custGeom>
            <a:avLst/>
            <a:gdLst/>
            <a:ahLst/>
            <a:cxnLst/>
            <a:rect l="l" t="t" r="r" b="b"/>
            <a:pathLst>
              <a:path w="285750" h="228600">
                <a:moveTo>
                  <a:pt x="114300" y="28575"/>
                </a:moveTo>
                <a:lnTo>
                  <a:pt x="171450" y="28575"/>
                </a:lnTo>
                <a:lnTo>
                  <a:pt x="171450" y="57150"/>
                </a:lnTo>
                <a:lnTo>
                  <a:pt x="114300" y="57150"/>
                </a:lnTo>
                <a:lnTo>
                  <a:pt x="114300" y="28575"/>
                </a:lnTo>
                <a:close/>
                <a:moveTo>
                  <a:pt x="107156" y="0"/>
                </a:moveTo>
                <a:cubicBezTo>
                  <a:pt x="95324" y="0"/>
                  <a:pt x="85725" y="9599"/>
                  <a:pt x="85725" y="21431"/>
                </a:cubicBezTo>
                <a:lnTo>
                  <a:pt x="85725" y="64293"/>
                </a:lnTo>
                <a:cubicBezTo>
                  <a:pt x="85725" y="76125"/>
                  <a:pt x="95324" y="85725"/>
                  <a:pt x="107156" y="85725"/>
                </a:cubicBezTo>
                <a:lnTo>
                  <a:pt x="128587" y="85725"/>
                </a:lnTo>
                <a:lnTo>
                  <a:pt x="128587" y="100012"/>
                </a:lnTo>
                <a:lnTo>
                  <a:pt x="14287" y="100012"/>
                </a:lnTo>
                <a:cubicBezTo>
                  <a:pt x="6384" y="100012"/>
                  <a:pt x="0" y="106397"/>
                  <a:pt x="0" y="114300"/>
                </a:cubicBezTo>
                <a:cubicBezTo>
                  <a:pt x="0" y="122202"/>
                  <a:pt x="6384" y="128587"/>
                  <a:pt x="14287" y="128587"/>
                </a:cubicBezTo>
                <a:lnTo>
                  <a:pt x="57150" y="128587"/>
                </a:lnTo>
                <a:lnTo>
                  <a:pt x="57150" y="142875"/>
                </a:lnTo>
                <a:lnTo>
                  <a:pt x="35718" y="142875"/>
                </a:lnTo>
                <a:cubicBezTo>
                  <a:pt x="23886" y="142875"/>
                  <a:pt x="14287" y="152474"/>
                  <a:pt x="14287" y="164306"/>
                </a:cubicBezTo>
                <a:lnTo>
                  <a:pt x="14287" y="207168"/>
                </a:lnTo>
                <a:cubicBezTo>
                  <a:pt x="14287" y="219000"/>
                  <a:pt x="23886" y="228600"/>
                  <a:pt x="35718" y="228600"/>
                </a:cubicBezTo>
                <a:lnTo>
                  <a:pt x="107156" y="228600"/>
                </a:lnTo>
                <a:cubicBezTo>
                  <a:pt x="118988" y="228600"/>
                  <a:pt x="128587" y="219000"/>
                  <a:pt x="128587" y="207168"/>
                </a:cubicBezTo>
                <a:lnTo>
                  <a:pt x="128587" y="164306"/>
                </a:lnTo>
                <a:cubicBezTo>
                  <a:pt x="128587" y="152474"/>
                  <a:pt x="118988" y="142875"/>
                  <a:pt x="107156" y="142875"/>
                </a:cubicBezTo>
                <a:lnTo>
                  <a:pt x="85725" y="142875"/>
                </a:lnTo>
                <a:lnTo>
                  <a:pt x="85725" y="128587"/>
                </a:lnTo>
                <a:lnTo>
                  <a:pt x="200025" y="128587"/>
                </a:lnTo>
                <a:lnTo>
                  <a:pt x="200025" y="142875"/>
                </a:lnTo>
                <a:lnTo>
                  <a:pt x="178593" y="142875"/>
                </a:lnTo>
                <a:cubicBezTo>
                  <a:pt x="166761" y="142875"/>
                  <a:pt x="157162" y="152474"/>
                  <a:pt x="157162" y="164306"/>
                </a:cubicBezTo>
                <a:lnTo>
                  <a:pt x="157162" y="207168"/>
                </a:lnTo>
                <a:cubicBezTo>
                  <a:pt x="157162" y="219000"/>
                  <a:pt x="166761" y="228600"/>
                  <a:pt x="178593" y="228600"/>
                </a:cubicBezTo>
                <a:lnTo>
                  <a:pt x="250031" y="228600"/>
                </a:lnTo>
                <a:cubicBezTo>
                  <a:pt x="261863" y="228600"/>
                  <a:pt x="271462" y="219000"/>
                  <a:pt x="271462" y="207168"/>
                </a:cubicBezTo>
                <a:lnTo>
                  <a:pt x="271462" y="164306"/>
                </a:lnTo>
                <a:cubicBezTo>
                  <a:pt x="271462" y="152474"/>
                  <a:pt x="261863" y="142875"/>
                  <a:pt x="250031" y="142875"/>
                </a:cubicBezTo>
                <a:lnTo>
                  <a:pt x="228600" y="142875"/>
                </a:lnTo>
                <a:lnTo>
                  <a:pt x="228600" y="128587"/>
                </a:lnTo>
                <a:lnTo>
                  <a:pt x="271462" y="128587"/>
                </a:lnTo>
                <a:cubicBezTo>
                  <a:pt x="279365" y="128587"/>
                  <a:pt x="285750" y="122202"/>
                  <a:pt x="285750" y="114300"/>
                </a:cubicBezTo>
                <a:cubicBezTo>
                  <a:pt x="285750" y="106397"/>
                  <a:pt x="279365" y="100012"/>
                  <a:pt x="271462" y="100012"/>
                </a:cubicBezTo>
                <a:lnTo>
                  <a:pt x="157162" y="100012"/>
                </a:lnTo>
                <a:lnTo>
                  <a:pt x="157162" y="85725"/>
                </a:lnTo>
                <a:lnTo>
                  <a:pt x="178593" y="85725"/>
                </a:lnTo>
                <a:cubicBezTo>
                  <a:pt x="190425" y="85725"/>
                  <a:pt x="200025" y="76125"/>
                  <a:pt x="200025" y="64293"/>
                </a:cubicBezTo>
                <a:lnTo>
                  <a:pt x="200025" y="21431"/>
                </a:lnTo>
                <a:cubicBezTo>
                  <a:pt x="200025" y="9599"/>
                  <a:pt x="190425" y="0"/>
                  <a:pt x="178593" y="0"/>
                </a:cubicBezTo>
                <a:lnTo>
                  <a:pt x="107156" y="0"/>
                </a:lnTo>
                <a:close/>
                <a:moveTo>
                  <a:pt x="42862" y="200025"/>
                </a:moveTo>
                <a:lnTo>
                  <a:pt x="42862" y="171450"/>
                </a:lnTo>
                <a:lnTo>
                  <a:pt x="100012" y="171450"/>
                </a:lnTo>
                <a:lnTo>
                  <a:pt x="100012" y="200025"/>
                </a:lnTo>
                <a:lnTo>
                  <a:pt x="42862" y="200025"/>
                </a:lnTo>
                <a:close/>
                <a:moveTo>
                  <a:pt x="185737" y="171450"/>
                </a:moveTo>
                <a:lnTo>
                  <a:pt x="242887" y="171450"/>
                </a:lnTo>
                <a:lnTo>
                  <a:pt x="242887" y="200025"/>
                </a:lnTo>
                <a:lnTo>
                  <a:pt x="185737" y="200025"/>
                </a:lnTo>
                <a:lnTo>
                  <a:pt x="185737" y="171450"/>
                </a:lnTo>
                <a:close/>
              </a:path>
            </a:pathLst>
          </a:custGeom>
          <a:solidFill>
            <a:srgbClr val="FFFFFF"/>
          </a:solidFill>
          <a:ln>
            <a:noFill/>
          </a:ln>
          <a:effectLst/>
        </p:spPr>
      </p:sp>
      <p:sp>
        <p:nvSpPr>
          <p:cNvPr id="16" name="dsl:net-title"/>
          <p:cNvSpPr txBox="1"/>
          <p:nvPr/>
        </p:nvSpPr>
        <p:spPr>
          <a:xfrm>
            <a:off x="1123950" y="1238250"/>
            <a:ext cx="1828800" cy="285750"/>
          </a:xfrm>
          <a:prstGeom prst="rect">
            <a:avLst/>
          </a:prstGeom>
          <a:noFill/>
        </p:spPr>
        <p:txBody>
          <a:bodyPr wrap="none" anchor="ctr">
            <a:noAutofit/>
          </a:bodyPr>
          <a:lstStyle/>
          <a:p>
            <a:pPr algn="l"/>
            <a:r>
              <a:rPr b="1" sz="1500" noProof="1">
                <a:solidFill>
                  <a:srgbClr val="FFFFFF"/>
                </a:solidFill>
                <a:latin typeface="Liter"/>
                <a:ea typeface="Liter"/>
              </a:rPr>
              <a:t>NETWORK</a:t>
            </a:r>
          </a:p>
        </p:txBody>
      </p:sp>
      <p:sp>
        <p:nvSpPr>
          <p:cNvPr id="17" name="dsl:net-tool"/>
          <p:cNvSpPr txBox="1"/>
          <p:nvPr/>
        </p:nvSpPr>
        <p:spPr>
          <a:xfrm>
            <a:off x="762000" y="1619250"/>
            <a:ext cx="2190750" cy="238125"/>
          </a:xfrm>
          <a:prstGeom prst="rect">
            <a:avLst/>
          </a:prstGeom>
          <a:noFill/>
        </p:spPr>
        <p:txBody>
          <a:bodyPr wrap="none" anchor="t">
            <a:noAutofit/>
          </a:bodyPr>
          <a:lstStyle/>
          <a:p>
            <a:pPr algn="l"/>
            <a:r>
              <a:rPr b="1" sz="1200" noProof="1">
                <a:solidFill>
                  <a:srgbClr val="D4A373"/>
                </a:solidFill>
                <a:latin typeface="Liter"/>
                <a:ea typeface="Liter"/>
              </a:rPr>
              <a:t>Suricata</a:t>
            </a:r>
          </a:p>
        </p:txBody>
      </p:sp>
      <p:sp>
        <p:nvSpPr>
          <p:cNvPr id="18" name="dsl:net-desc"/>
          <p:cNvSpPr txBox="1"/>
          <p:nvPr/>
        </p:nvSpPr>
        <p:spPr>
          <a:xfrm>
            <a:off x="762000" y="1905000"/>
            <a:ext cx="2190750" cy="1428750"/>
          </a:xfrm>
          <a:prstGeom prst="rect">
            <a:avLst/>
          </a:prstGeom>
          <a:noFill/>
        </p:spPr>
        <p:txBody>
          <a:bodyPr wrap="square" anchor="t">
            <a:noAutofit/>
          </a:bodyPr>
          <a:lstStyle/>
          <a:p>
            <a:pPr algn="l">
              <a:lnSpc>
                <a:spcPct val="160000"/>
              </a:lnSpc>
            </a:pPr>
            <a:r>
              <a:rPr sz="1050" noProof="1">
                <a:solidFill>
                  <a:srgbClr val="FFFFFF"/>
                </a:solidFill>
                <a:latin typeface="QuattrocentoSans"/>
                <a:ea typeface="QuattrocentoSans"/>
              </a:rPr>
              <a:t>NIDS with deep packet inspection. Generates EVE JSON alerts for suspicious traffic, malware, and intrusion patterns.</a:t>
            </a:r>
          </a:p>
        </p:txBody>
      </p:sp>
      <p:sp>
        <p:nvSpPr>
          <p:cNvPr id="19" name="dsl:host-bg"/>
          <p:cNvSpPr/>
          <p:nvPr/>
        </p:nvSpPr>
        <p:spPr>
          <a:xfrm>
            <a:off x="33909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host-icon|i=fas:server"/>
          <p:cNvSpPr/>
          <p:nvPr/>
        </p:nvSpPr>
        <p:spPr>
          <a:xfrm>
            <a:off x="3581400" y="1238250"/>
            <a:ext cx="285750" cy="285750"/>
          </a:xfrm>
          <a:custGeom>
            <a:avLst/>
            <a:gdLst/>
            <a:ahLst/>
            <a:cxnLst/>
            <a:rect l="l" t="t" r="r" b="b"/>
            <a:pathLst>
              <a:path w="285750" h="285750">
                <a:moveTo>
                  <a:pt x="35718" y="17859"/>
                </a:moveTo>
                <a:cubicBezTo>
                  <a:pt x="16017" y="17859"/>
                  <a:pt x="0" y="33877"/>
                  <a:pt x="0" y="53578"/>
                </a:cubicBezTo>
                <a:lnTo>
                  <a:pt x="0" y="89296"/>
                </a:lnTo>
                <a:cubicBezTo>
                  <a:pt x="0" y="108997"/>
                  <a:pt x="16017" y="125015"/>
                  <a:pt x="35718" y="125015"/>
                </a:cubicBezTo>
                <a:lnTo>
                  <a:pt x="250031" y="125015"/>
                </a:lnTo>
                <a:cubicBezTo>
                  <a:pt x="269732" y="125015"/>
                  <a:pt x="285750" y="108997"/>
                  <a:pt x="285750" y="89296"/>
                </a:cubicBezTo>
                <a:lnTo>
                  <a:pt x="285750" y="53578"/>
                </a:lnTo>
                <a:cubicBezTo>
                  <a:pt x="285750" y="33877"/>
                  <a:pt x="269732" y="17859"/>
                  <a:pt x="250031" y="17859"/>
                </a:cubicBezTo>
                <a:lnTo>
                  <a:pt x="35718" y="17859"/>
                </a:lnTo>
                <a:close/>
                <a:moveTo>
                  <a:pt x="191988" y="58042"/>
                </a:moveTo>
                <a:cubicBezTo>
                  <a:pt x="199336" y="58042"/>
                  <a:pt x="205382" y="64089"/>
                  <a:pt x="205382" y="71437"/>
                </a:cubicBezTo>
                <a:cubicBezTo>
                  <a:pt x="205382" y="78785"/>
                  <a:pt x="199336" y="84832"/>
                  <a:pt x="191988" y="84832"/>
                </a:cubicBezTo>
                <a:cubicBezTo>
                  <a:pt x="184640" y="84832"/>
                  <a:pt x="178593" y="78785"/>
                  <a:pt x="178593" y="71437"/>
                </a:cubicBezTo>
                <a:cubicBezTo>
                  <a:pt x="178593" y="64089"/>
                  <a:pt x="184640" y="58042"/>
                  <a:pt x="191988" y="58042"/>
                </a:cubicBezTo>
                <a:close/>
                <a:moveTo>
                  <a:pt x="218777" y="71437"/>
                </a:moveTo>
                <a:cubicBezTo>
                  <a:pt x="218777" y="64089"/>
                  <a:pt x="224823" y="58042"/>
                  <a:pt x="232171" y="58042"/>
                </a:cubicBezTo>
                <a:cubicBezTo>
                  <a:pt x="239519" y="58042"/>
                  <a:pt x="245566" y="64089"/>
                  <a:pt x="245566" y="71437"/>
                </a:cubicBezTo>
                <a:cubicBezTo>
                  <a:pt x="245566" y="78785"/>
                  <a:pt x="239519" y="84832"/>
                  <a:pt x="232171" y="84832"/>
                </a:cubicBezTo>
                <a:cubicBezTo>
                  <a:pt x="224823" y="84832"/>
                  <a:pt x="218777" y="78785"/>
                  <a:pt x="218777" y="71437"/>
                </a:cubicBezTo>
                <a:close/>
                <a:moveTo>
                  <a:pt x="35718" y="160734"/>
                </a:moveTo>
                <a:cubicBezTo>
                  <a:pt x="16017" y="160734"/>
                  <a:pt x="0" y="176752"/>
                  <a:pt x="0" y="196453"/>
                </a:cubicBezTo>
                <a:lnTo>
                  <a:pt x="0" y="232171"/>
                </a:lnTo>
                <a:cubicBezTo>
                  <a:pt x="0" y="251872"/>
                  <a:pt x="16017" y="267890"/>
                  <a:pt x="35718" y="267890"/>
                </a:cubicBezTo>
                <a:lnTo>
                  <a:pt x="250031" y="267890"/>
                </a:lnTo>
                <a:cubicBezTo>
                  <a:pt x="269732" y="267890"/>
                  <a:pt x="285750" y="251872"/>
                  <a:pt x="285750" y="232171"/>
                </a:cubicBezTo>
                <a:lnTo>
                  <a:pt x="285750" y="196453"/>
                </a:lnTo>
                <a:cubicBezTo>
                  <a:pt x="285750" y="176752"/>
                  <a:pt x="269732" y="160734"/>
                  <a:pt x="250031" y="160734"/>
                </a:cubicBezTo>
                <a:lnTo>
                  <a:pt x="35718" y="160734"/>
                </a:lnTo>
                <a:close/>
                <a:moveTo>
                  <a:pt x="191988" y="200917"/>
                </a:moveTo>
                <a:cubicBezTo>
                  <a:pt x="199336" y="200917"/>
                  <a:pt x="205382" y="206964"/>
                  <a:pt x="205382" y="214312"/>
                </a:cubicBezTo>
                <a:cubicBezTo>
                  <a:pt x="205382" y="221660"/>
                  <a:pt x="199336" y="227707"/>
                  <a:pt x="191988" y="227707"/>
                </a:cubicBezTo>
                <a:cubicBezTo>
                  <a:pt x="184640" y="227707"/>
                  <a:pt x="178593" y="221660"/>
                  <a:pt x="178593" y="214312"/>
                </a:cubicBezTo>
                <a:cubicBezTo>
                  <a:pt x="178593" y="206964"/>
                  <a:pt x="184640" y="200917"/>
                  <a:pt x="191988" y="200917"/>
                </a:cubicBezTo>
                <a:close/>
                <a:moveTo>
                  <a:pt x="223242" y="214312"/>
                </a:moveTo>
                <a:cubicBezTo>
                  <a:pt x="223242" y="206964"/>
                  <a:pt x="229288" y="200917"/>
                  <a:pt x="236636" y="200917"/>
                </a:cubicBezTo>
                <a:cubicBezTo>
                  <a:pt x="243984" y="200917"/>
                  <a:pt x="250031" y="206964"/>
                  <a:pt x="250031" y="214312"/>
                </a:cubicBezTo>
                <a:cubicBezTo>
                  <a:pt x="250031" y="221660"/>
                  <a:pt x="243984" y="227707"/>
                  <a:pt x="236636" y="227707"/>
                </a:cubicBezTo>
                <a:cubicBezTo>
                  <a:pt x="229288" y="227707"/>
                  <a:pt x="223242" y="221660"/>
                  <a:pt x="223242" y="214312"/>
                </a:cubicBezTo>
                <a:close/>
              </a:path>
            </a:pathLst>
          </a:custGeom>
          <a:solidFill>
            <a:srgbClr val="2D6A6A"/>
          </a:solidFill>
          <a:ln>
            <a:noFill/>
          </a:ln>
          <a:effectLst/>
        </p:spPr>
      </p:sp>
      <p:sp>
        <p:nvSpPr>
          <p:cNvPr id="21" name="dsl:host-title"/>
          <p:cNvSpPr txBox="1"/>
          <p:nvPr/>
        </p:nvSpPr>
        <p:spPr>
          <a:xfrm>
            <a:off x="3943350" y="1238250"/>
            <a:ext cx="1828800" cy="285750"/>
          </a:xfrm>
          <a:prstGeom prst="rect">
            <a:avLst/>
          </a:prstGeom>
          <a:noFill/>
        </p:spPr>
        <p:txBody>
          <a:bodyPr wrap="none" anchor="ctr">
            <a:noAutofit/>
          </a:bodyPr>
          <a:lstStyle/>
          <a:p>
            <a:pPr algn="l"/>
            <a:r>
              <a:rPr b="1" sz="1500" noProof="1">
                <a:solidFill>
                  <a:srgbClr val="2B2D2F"/>
                </a:solidFill>
                <a:latin typeface="Liter"/>
                <a:ea typeface="Liter"/>
              </a:rPr>
              <a:t>HOST</a:t>
            </a:r>
          </a:p>
        </p:txBody>
      </p:sp>
      <p:sp>
        <p:nvSpPr>
          <p:cNvPr id="22" name="dsl:host-tool"/>
          <p:cNvSpPr txBox="1"/>
          <p:nvPr/>
        </p:nvSpPr>
        <p:spPr>
          <a:xfrm>
            <a:off x="3581400" y="1619250"/>
            <a:ext cx="2190750" cy="238125"/>
          </a:xfrm>
          <a:prstGeom prst="rect">
            <a:avLst/>
          </a:prstGeom>
          <a:noFill/>
        </p:spPr>
        <p:txBody>
          <a:bodyPr wrap="none" anchor="t">
            <a:noAutofit/>
          </a:bodyPr>
          <a:lstStyle/>
          <a:p>
            <a:pPr algn="l"/>
            <a:r>
              <a:rPr b="1" sz="1200" noProof="1">
                <a:solidFill>
                  <a:srgbClr val="2D6A6A"/>
                </a:solidFill>
                <a:latin typeface="Liter"/>
                <a:ea typeface="Liter"/>
              </a:rPr>
              <a:t>Wazuh</a:t>
            </a:r>
          </a:p>
        </p:txBody>
      </p:sp>
      <p:sp>
        <p:nvSpPr>
          <p:cNvPr id="23" name="dsl:host-desc"/>
          <p:cNvSpPr txBox="1"/>
          <p:nvPr/>
        </p:nvSpPr>
        <p:spPr>
          <a:xfrm>
            <a:off x="3581400" y="1905000"/>
            <a:ext cx="2190750" cy="1428750"/>
          </a:xfrm>
          <a:prstGeom prst="rect">
            <a:avLst/>
          </a:prstGeom>
          <a:noFill/>
        </p:spPr>
        <p:txBody>
          <a:bodyPr wrap="square" anchor="t">
            <a:noAutofit/>
          </a:bodyPr>
          <a:lstStyle/>
          <a:p>
            <a:pPr algn="l">
              <a:lnSpc>
                <a:spcPct val="160000"/>
              </a:lnSpc>
            </a:pPr>
            <a:r>
              <a:rPr sz="1050" noProof="1">
                <a:solidFill>
                  <a:srgbClr val="2B2D2F"/>
                </a:solidFill>
                <a:latin typeface="QuattrocentoSans"/>
                <a:ea typeface="QuattrocentoSans"/>
              </a:rPr>
              <a:t>HIDS with agent-based monitoring. Tracks authentication events, file integrity, policy violations, and system anomalies.</a:t>
            </a:r>
          </a:p>
        </p:txBody>
      </p:sp>
      <p:sp>
        <p:nvSpPr>
          <p:cNvPr id="24" name="dsl:run-bg"/>
          <p:cNvSpPr/>
          <p:nvPr/>
        </p:nvSpPr>
        <p:spPr>
          <a:xfrm>
            <a:off x="62103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un-icon|i=fas:box-open"/>
          <p:cNvSpPr/>
          <p:nvPr/>
        </p:nvSpPr>
        <p:spPr>
          <a:xfrm>
            <a:off x="6400800" y="1266825"/>
            <a:ext cx="285750" cy="228600"/>
          </a:xfrm>
          <a:custGeom>
            <a:avLst/>
            <a:gdLst/>
            <a:ahLst/>
            <a:cxnLst/>
            <a:rect l="l" t="t" r="r" b="b"/>
            <a:pathLst>
              <a:path w="285750" h="228600">
                <a:moveTo>
                  <a:pt x="26297" y="18796"/>
                </a:moveTo>
                <a:cubicBezTo>
                  <a:pt x="27637" y="16073"/>
                  <a:pt x="30584" y="14510"/>
                  <a:pt x="33575" y="14912"/>
                </a:cubicBezTo>
                <a:lnTo>
                  <a:pt x="142875" y="28575"/>
                </a:lnTo>
                <a:lnTo>
                  <a:pt x="252174" y="14912"/>
                </a:lnTo>
                <a:cubicBezTo>
                  <a:pt x="255165" y="18484"/>
                  <a:pt x="258112" y="16118"/>
                  <a:pt x="259452" y="18796"/>
                </a:cubicBezTo>
                <a:lnTo>
                  <a:pt x="278070" y="56033"/>
                </a:lnTo>
                <a:cubicBezTo>
                  <a:pt x="282088" y="64025"/>
                  <a:pt x="280749" y="73714"/>
                  <a:pt x="269230" y="76170"/>
                </a:cubicBezTo>
                <a:lnTo>
                  <a:pt x="196274" y="97021"/>
                </a:lnTo>
                <a:cubicBezTo>
                  <a:pt x="190068" y="98806"/>
                  <a:pt x="183415" y="96172"/>
                  <a:pt x="180111" y="90636"/>
                </a:cubicBezTo>
                <a:lnTo>
                  <a:pt x="142875" y="28575"/>
                </a:lnTo>
                <a:lnTo>
                  <a:pt x="105638" y="90636"/>
                </a:lnTo>
                <a:cubicBezTo>
                  <a:pt x="102334" y="96172"/>
                  <a:pt x="95681" y="98806"/>
                  <a:pt x="89475" y="97021"/>
                </a:cubicBezTo>
                <a:lnTo>
                  <a:pt x="16564" y="76170"/>
                </a:lnTo>
                <a:cubicBezTo>
                  <a:pt x="7947" y="73714"/>
                  <a:pt x="3705" y="64025"/>
                  <a:pt x="7724" y="56033"/>
                </a:cubicBezTo>
                <a:lnTo>
                  <a:pt x="26297" y="18796"/>
                </a:lnTo>
                <a:close/>
                <a:moveTo>
                  <a:pt x="143366" y="57150"/>
                </a:moveTo>
                <a:lnTo>
                  <a:pt x="167878" y="97958"/>
                </a:lnTo>
                <a:cubicBezTo>
                  <a:pt x="174530" y="109031"/>
                  <a:pt x="187791" y="114300"/>
                  <a:pt x="200248" y="110728"/>
                </a:cubicBezTo>
                <a:lnTo>
                  <a:pt x="257175" y="94476"/>
                </a:lnTo>
                <a:lnTo>
                  <a:pt x="257175" y="169038"/>
                </a:lnTo>
                <a:cubicBezTo>
                  <a:pt x="257175" y="178861"/>
                  <a:pt x="250477" y="187434"/>
                  <a:pt x="240922" y="189845"/>
                </a:cubicBezTo>
                <a:lnTo>
                  <a:pt x="149795" y="212615"/>
                </a:lnTo>
                <a:cubicBezTo>
                  <a:pt x="145241" y="213776"/>
                  <a:pt x="140463" y="213776"/>
                  <a:pt x="135954" y="212615"/>
                </a:cubicBezTo>
                <a:lnTo>
                  <a:pt x="44827" y="189845"/>
                </a:lnTo>
                <a:cubicBezTo>
                  <a:pt x="35272" y="187389"/>
                  <a:pt x="28575" y="178816"/>
                  <a:pt x="28575" y="168994"/>
                </a:cubicBezTo>
                <a:lnTo>
                  <a:pt x="28575" y="94431"/>
                </a:lnTo>
                <a:lnTo>
                  <a:pt x="85546" y="110728"/>
                </a:lnTo>
                <a:cubicBezTo>
                  <a:pt x="97958" y="114300"/>
                  <a:pt x="111263" y="109031"/>
                  <a:pt x="117916" y="97958"/>
                </a:cubicBezTo>
                <a:lnTo>
                  <a:pt x="142383" y="57150"/>
                </a:lnTo>
                <a:lnTo>
                  <a:pt x="143366" y="57150"/>
                </a:lnTo>
                <a:close/>
              </a:path>
            </a:pathLst>
          </a:custGeom>
          <a:solidFill>
            <a:srgbClr val="2D6A6A"/>
          </a:solidFill>
          <a:ln>
            <a:noFill/>
          </a:ln>
          <a:effectLst/>
        </p:spPr>
      </p:sp>
      <p:sp>
        <p:nvSpPr>
          <p:cNvPr id="26" name="dsl:run-title"/>
          <p:cNvSpPr txBox="1"/>
          <p:nvPr/>
        </p:nvSpPr>
        <p:spPr>
          <a:xfrm>
            <a:off x="6762750" y="1238250"/>
            <a:ext cx="1828800" cy="285750"/>
          </a:xfrm>
          <a:prstGeom prst="rect">
            <a:avLst/>
          </a:prstGeom>
          <a:noFill/>
        </p:spPr>
        <p:txBody>
          <a:bodyPr wrap="none" anchor="ctr">
            <a:noAutofit/>
          </a:bodyPr>
          <a:lstStyle/>
          <a:p>
            <a:pPr algn="l"/>
            <a:r>
              <a:rPr b="1" sz="1500" noProof="1">
                <a:solidFill>
                  <a:srgbClr val="2B2D2F"/>
                </a:solidFill>
                <a:latin typeface="Liter"/>
                <a:ea typeface="Liter"/>
              </a:rPr>
              <a:t>RUNTIME</a:t>
            </a:r>
          </a:p>
        </p:txBody>
      </p:sp>
      <p:sp>
        <p:nvSpPr>
          <p:cNvPr id="27" name="dsl:run-tool"/>
          <p:cNvSpPr txBox="1"/>
          <p:nvPr/>
        </p:nvSpPr>
        <p:spPr>
          <a:xfrm>
            <a:off x="6400800" y="1619250"/>
            <a:ext cx="2190750" cy="238125"/>
          </a:xfrm>
          <a:prstGeom prst="rect">
            <a:avLst/>
          </a:prstGeom>
          <a:noFill/>
        </p:spPr>
        <p:txBody>
          <a:bodyPr wrap="none" anchor="t">
            <a:noAutofit/>
          </a:bodyPr>
          <a:lstStyle/>
          <a:p>
            <a:pPr algn="l"/>
            <a:r>
              <a:rPr b="1" sz="1200" noProof="1">
                <a:solidFill>
                  <a:srgbClr val="2D6A6A"/>
                </a:solidFill>
                <a:latin typeface="Liter"/>
                <a:ea typeface="Liter"/>
              </a:rPr>
              <a:t>Falco</a:t>
            </a:r>
          </a:p>
        </p:txBody>
      </p:sp>
      <p:sp>
        <p:nvSpPr>
          <p:cNvPr id="28" name="dsl:run-desc"/>
          <p:cNvSpPr txBox="1"/>
          <p:nvPr/>
        </p:nvSpPr>
        <p:spPr>
          <a:xfrm>
            <a:off x="6400800" y="1905000"/>
            <a:ext cx="2190750" cy="1428750"/>
          </a:xfrm>
          <a:prstGeom prst="rect">
            <a:avLst/>
          </a:prstGeom>
          <a:noFill/>
        </p:spPr>
        <p:txBody>
          <a:bodyPr wrap="square" anchor="t">
            <a:noAutofit/>
          </a:bodyPr>
          <a:lstStyle/>
          <a:p>
            <a:pPr algn="l">
              <a:lnSpc>
                <a:spcPct val="160000"/>
              </a:lnSpc>
            </a:pPr>
            <a:r>
              <a:rPr sz="1050" noProof="1">
                <a:solidFill>
                  <a:srgbClr val="2B2D2F"/>
                </a:solidFill>
                <a:latin typeface="QuattrocentoSans"/>
                <a:ea typeface="QuattrocentoSans"/>
              </a:rPr>
              <a:t>eBPF-based syscall monitoring for containers and hosts. Detects runtime threats, privilege escalation, and anomalous process behavior.</a:t>
            </a:r>
          </a:p>
        </p:txBody>
      </p:sp>
      <p:sp>
        <p:nvSpPr>
          <p:cNvPr id="29" name="dsl:infra-bg"/>
          <p:cNvSpPr/>
          <p:nvPr/>
        </p:nvSpPr>
        <p:spPr>
          <a:xfrm>
            <a:off x="90297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infra-icon|i=fas:gauge-high"/>
          <p:cNvSpPr/>
          <p:nvPr/>
        </p:nvSpPr>
        <p:spPr>
          <a:xfrm>
            <a:off x="9220200" y="1238250"/>
            <a:ext cx="285750" cy="285750"/>
          </a:xfrm>
          <a:custGeom>
            <a:avLst/>
            <a:gdLst/>
            <a:ahLst/>
            <a:cxnLst/>
            <a:rect l="l" t="t" r="r" b="b"/>
            <a:pathLst>
              <a:path w="285750" h="285750">
                <a:moveTo>
                  <a:pt x="0" y="142875"/>
                </a:moveTo>
                <a:cubicBezTo>
                  <a:pt x="0" y="64496"/>
                  <a:pt x="64496" y="0"/>
                  <a:pt x="142874" y="0"/>
                </a:cubicBezTo>
                <a:cubicBezTo>
                  <a:pt x="221253" y="0"/>
                  <a:pt x="285750" y="64496"/>
                  <a:pt x="285750" y="142874"/>
                </a:cubicBezTo>
                <a:cubicBezTo>
                  <a:pt x="285750" y="221253"/>
                  <a:pt x="221253" y="285750"/>
                  <a:pt x="142875" y="285750"/>
                </a:cubicBezTo>
                <a:cubicBezTo>
                  <a:pt x="64496" y="285750"/>
                  <a:pt x="0" y="221253"/>
                  <a:pt x="0" y="142875"/>
                </a:cubicBezTo>
                <a:close/>
                <a:moveTo>
                  <a:pt x="160734" y="53578"/>
                </a:moveTo>
                <a:cubicBezTo>
                  <a:pt x="160734" y="43780"/>
                  <a:pt x="152672" y="35718"/>
                  <a:pt x="142875" y="35718"/>
                </a:cubicBezTo>
                <a:cubicBezTo>
                  <a:pt x="133077" y="35718"/>
                  <a:pt x="125015" y="43780"/>
                  <a:pt x="125015" y="53578"/>
                </a:cubicBezTo>
                <a:cubicBezTo>
                  <a:pt x="125015" y="63375"/>
                  <a:pt x="133077" y="71437"/>
                  <a:pt x="142875" y="71437"/>
                </a:cubicBezTo>
                <a:cubicBezTo>
                  <a:pt x="152672" y="71437"/>
                  <a:pt x="160734" y="63375"/>
                  <a:pt x="160734" y="53578"/>
                </a:cubicBezTo>
                <a:close/>
                <a:moveTo>
                  <a:pt x="142875" y="232171"/>
                </a:moveTo>
                <a:cubicBezTo>
                  <a:pt x="162576" y="232171"/>
                  <a:pt x="178593" y="216154"/>
                  <a:pt x="178593" y="196453"/>
                </a:cubicBezTo>
                <a:cubicBezTo>
                  <a:pt x="178593" y="186742"/>
                  <a:pt x="174742" y="177979"/>
                  <a:pt x="168492" y="171561"/>
                </a:cubicBezTo>
                <a:lnTo>
                  <a:pt x="204266" y="90245"/>
                </a:lnTo>
                <a:cubicBezTo>
                  <a:pt x="207224" y="83492"/>
                  <a:pt x="205382" y="75567"/>
                  <a:pt x="197401" y="72609"/>
                </a:cubicBezTo>
                <a:cubicBezTo>
                  <a:pt x="189420" y="69651"/>
                  <a:pt x="182723" y="73725"/>
                  <a:pt x="179765" y="79474"/>
                </a:cubicBezTo>
                <a:lnTo>
                  <a:pt x="143935" y="160734"/>
                </a:lnTo>
                <a:cubicBezTo>
                  <a:pt x="147284" y="160734"/>
                  <a:pt x="143209" y="160734"/>
                  <a:pt x="142874" y="160734"/>
                </a:cubicBezTo>
                <a:cubicBezTo>
                  <a:pt x="123173" y="160734"/>
                  <a:pt x="107156" y="176752"/>
                  <a:pt x="107156" y="196453"/>
                </a:cubicBezTo>
                <a:cubicBezTo>
                  <a:pt x="107156" y="216154"/>
                  <a:pt x="123173" y="232171"/>
                  <a:pt x="142874" y="232171"/>
                </a:cubicBezTo>
                <a:close/>
                <a:moveTo>
                  <a:pt x="98226" y="80367"/>
                </a:moveTo>
                <a:cubicBezTo>
                  <a:pt x="98226" y="70569"/>
                  <a:pt x="90164" y="62507"/>
                  <a:pt x="80367" y="62507"/>
                </a:cubicBezTo>
                <a:cubicBezTo>
                  <a:pt x="70569" y="62507"/>
                  <a:pt x="62507" y="70569"/>
                  <a:pt x="62507" y="80367"/>
                </a:cubicBezTo>
                <a:cubicBezTo>
                  <a:pt x="62507" y="90164"/>
                  <a:pt x="70569" y="98226"/>
                  <a:pt x="80367" y="98226"/>
                </a:cubicBezTo>
                <a:cubicBezTo>
                  <a:pt x="90164" y="98226"/>
                  <a:pt x="98226" y="90164"/>
                  <a:pt x="98226" y="80367"/>
                </a:cubicBezTo>
                <a:close/>
                <a:moveTo>
                  <a:pt x="53578" y="160734"/>
                </a:moveTo>
                <a:cubicBezTo>
                  <a:pt x="63375" y="160734"/>
                  <a:pt x="71437" y="152672"/>
                  <a:pt x="71437" y="142875"/>
                </a:cubicBezTo>
                <a:cubicBezTo>
                  <a:pt x="71437" y="133077"/>
                  <a:pt x="63375" y="125015"/>
                  <a:pt x="53578" y="125015"/>
                </a:cubicBezTo>
                <a:cubicBezTo>
                  <a:pt x="43780" y="125015"/>
                  <a:pt x="35718" y="133077"/>
                  <a:pt x="35718" y="142875"/>
                </a:cubicBezTo>
                <a:cubicBezTo>
                  <a:pt x="35718" y="152672"/>
                  <a:pt x="43780" y="160734"/>
                  <a:pt x="53578" y="160734"/>
                </a:cubicBezTo>
                <a:close/>
                <a:moveTo>
                  <a:pt x="250031" y="142875"/>
                </a:moveTo>
                <a:cubicBezTo>
                  <a:pt x="250031" y="133077"/>
                  <a:pt x="241969" y="125015"/>
                  <a:pt x="232171" y="125015"/>
                </a:cubicBezTo>
                <a:cubicBezTo>
                  <a:pt x="222374" y="125015"/>
                  <a:pt x="214312" y="133077"/>
                  <a:pt x="214312" y="142875"/>
                </a:cubicBezTo>
                <a:cubicBezTo>
                  <a:pt x="214312" y="152672"/>
                  <a:pt x="222374" y="160734"/>
                  <a:pt x="232171" y="160734"/>
                </a:cubicBezTo>
                <a:cubicBezTo>
                  <a:pt x="241969" y="160734"/>
                  <a:pt x="250031" y="152672"/>
                  <a:pt x="250031" y="142875"/>
                </a:cubicBezTo>
                <a:close/>
              </a:path>
            </a:pathLst>
          </a:custGeom>
          <a:solidFill>
            <a:srgbClr val="2D6A6A"/>
          </a:solidFill>
          <a:ln>
            <a:noFill/>
          </a:ln>
          <a:effectLst/>
        </p:spPr>
      </p:sp>
      <p:sp>
        <p:nvSpPr>
          <p:cNvPr id="31" name="dsl:infra-title"/>
          <p:cNvSpPr txBox="1"/>
          <p:nvPr/>
        </p:nvSpPr>
        <p:spPr>
          <a:xfrm>
            <a:off x="9582150" y="1238250"/>
            <a:ext cx="1828800" cy="285750"/>
          </a:xfrm>
          <a:prstGeom prst="rect">
            <a:avLst/>
          </a:prstGeom>
          <a:noFill/>
        </p:spPr>
        <p:txBody>
          <a:bodyPr wrap="none" anchor="ctr">
            <a:noAutofit/>
          </a:bodyPr>
          <a:lstStyle/>
          <a:p>
            <a:pPr algn="l"/>
            <a:r>
              <a:rPr b="1" sz="1500" noProof="1">
                <a:solidFill>
                  <a:srgbClr val="2B2D2F"/>
                </a:solidFill>
                <a:latin typeface="Liter"/>
                <a:ea typeface="Liter"/>
              </a:rPr>
              <a:t>INFRA</a:t>
            </a:r>
          </a:p>
        </p:txBody>
      </p:sp>
      <p:sp>
        <p:nvSpPr>
          <p:cNvPr id="32" name="dsl:infra-tool"/>
          <p:cNvSpPr txBox="1"/>
          <p:nvPr/>
        </p:nvSpPr>
        <p:spPr>
          <a:xfrm>
            <a:off x="9220200" y="1619250"/>
            <a:ext cx="2190750" cy="238125"/>
          </a:xfrm>
          <a:prstGeom prst="rect">
            <a:avLst/>
          </a:prstGeom>
          <a:noFill/>
        </p:spPr>
        <p:txBody>
          <a:bodyPr wrap="none" anchor="t">
            <a:noAutofit/>
          </a:bodyPr>
          <a:lstStyle/>
          <a:p>
            <a:pPr algn="l"/>
            <a:r>
              <a:rPr b="1" sz="1200" noProof="1">
                <a:solidFill>
                  <a:srgbClr val="2D6A6A"/>
                </a:solidFill>
                <a:latin typeface="Liter"/>
                <a:ea typeface="Liter"/>
              </a:rPr>
              <a:t>Telegraf</a:t>
            </a:r>
          </a:p>
        </p:txBody>
      </p:sp>
      <p:sp>
        <p:nvSpPr>
          <p:cNvPr id="33" name="dsl:infra-desc"/>
          <p:cNvSpPr txBox="1"/>
          <p:nvPr/>
        </p:nvSpPr>
        <p:spPr>
          <a:xfrm>
            <a:off x="9220200" y="1905000"/>
            <a:ext cx="2190750" cy="1428750"/>
          </a:xfrm>
          <a:prstGeom prst="rect">
            <a:avLst/>
          </a:prstGeom>
          <a:noFill/>
        </p:spPr>
        <p:txBody>
          <a:bodyPr wrap="square" anchor="t">
            <a:noAutofit/>
          </a:bodyPr>
          <a:lstStyle/>
          <a:p>
            <a:pPr algn="l">
              <a:lnSpc>
                <a:spcPct val="160000"/>
              </a:lnSpc>
            </a:pPr>
            <a:r>
              <a:rPr sz="1050" noProof="1">
                <a:solidFill>
                  <a:srgbClr val="2B2D2F"/>
                </a:solidFill>
                <a:latin typeface="QuattrocentoSans"/>
                <a:ea typeface="QuattrocentoSans"/>
              </a:rPr>
              <a:t>System metrics collection: CPU, RAM, disk I/O, network throughput, and process monitoring for performance baselines.</a:t>
            </a:r>
          </a:p>
        </p:txBody>
      </p:sp>
      <p:sp>
        <p:nvSpPr>
          <p:cNvPr id="34" name="dsl:coll-bg"/>
          <p:cNvSpPr/>
          <p:nvPr/>
        </p:nvSpPr>
        <p:spPr>
          <a:xfrm>
            <a:off x="571500" y="3714750"/>
            <a:ext cx="11049000" cy="66675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coll-icon|i=fas:database"/>
          <p:cNvSpPr/>
          <p:nvPr/>
        </p:nvSpPr>
        <p:spPr>
          <a:xfrm>
            <a:off x="778669" y="3886200"/>
            <a:ext cx="233362" cy="266700"/>
          </a:xfrm>
          <a:custGeom>
            <a:avLst/>
            <a:gdLst/>
            <a:ahLst/>
            <a:cxnLst/>
            <a:rect l="l" t="t" r="r" b="b"/>
            <a:pathLst>
              <a:path w="233362" h="266700">
                <a:moveTo>
                  <a:pt x="233362" y="41671"/>
                </a:moveTo>
                <a:lnTo>
                  <a:pt x="233362" y="66675"/>
                </a:lnTo>
                <a:cubicBezTo>
                  <a:pt x="233362" y="89698"/>
                  <a:pt x="181116" y="108346"/>
                  <a:pt x="116681" y="108346"/>
                </a:cubicBezTo>
                <a:cubicBezTo>
                  <a:pt x="52246" y="108346"/>
                  <a:pt x="0" y="89698"/>
                  <a:pt x="0" y="66675"/>
                </a:cubicBezTo>
                <a:lnTo>
                  <a:pt x="0" y="41671"/>
                </a:lnTo>
                <a:cubicBezTo>
                  <a:pt x="0" y="18648"/>
                  <a:pt x="52246" y="0"/>
                  <a:pt x="116681" y="0"/>
                </a:cubicBezTo>
                <a:cubicBezTo>
                  <a:pt x="181116" y="0"/>
                  <a:pt x="233362" y="18648"/>
                  <a:pt x="233362" y="41671"/>
                </a:cubicBezTo>
                <a:close/>
                <a:moveTo>
                  <a:pt x="204817" y="111836"/>
                </a:moveTo>
                <a:cubicBezTo>
                  <a:pt x="215651" y="107982"/>
                  <a:pt x="225601" y="103033"/>
                  <a:pt x="233362" y="96939"/>
                </a:cubicBezTo>
                <a:lnTo>
                  <a:pt x="233362" y="150018"/>
                </a:lnTo>
                <a:cubicBezTo>
                  <a:pt x="233362" y="173042"/>
                  <a:pt x="181116" y="191690"/>
                  <a:pt x="116681" y="191690"/>
                </a:cubicBezTo>
                <a:cubicBezTo>
                  <a:pt x="52246" y="191690"/>
                  <a:pt x="0" y="173042"/>
                  <a:pt x="0" y="150018"/>
                </a:cubicBezTo>
                <a:lnTo>
                  <a:pt x="0" y="96939"/>
                </a:lnTo>
                <a:cubicBezTo>
                  <a:pt x="7761" y="103085"/>
                  <a:pt x="17710" y="107982"/>
                  <a:pt x="28545" y="111836"/>
                </a:cubicBezTo>
                <a:cubicBezTo>
                  <a:pt x="51933" y="120171"/>
                  <a:pt x="83083" y="125015"/>
                  <a:pt x="116681" y="125015"/>
                </a:cubicBezTo>
                <a:cubicBezTo>
                  <a:pt x="150279" y="125015"/>
                  <a:pt x="181428" y="120171"/>
                  <a:pt x="204817" y="111836"/>
                </a:cubicBezTo>
                <a:close/>
                <a:moveTo>
                  <a:pt x="0" y="180282"/>
                </a:moveTo>
                <a:cubicBezTo>
                  <a:pt x="7761" y="186429"/>
                  <a:pt x="17710" y="191325"/>
                  <a:pt x="28545" y="195180"/>
                </a:cubicBezTo>
                <a:cubicBezTo>
                  <a:pt x="51933" y="203515"/>
                  <a:pt x="83083" y="208359"/>
                  <a:pt x="116681" y="208359"/>
                </a:cubicBezTo>
                <a:cubicBezTo>
                  <a:pt x="150279" y="208359"/>
                  <a:pt x="181428" y="203515"/>
                  <a:pt x="204817" y="195180"/>
                </a:cubicBezTo>
                <a:cubicBezTo>
                  <a:pt x="215651" y="191325"/>
                  <a:pt x="225601" y="186377"/>
                  <a:pt x="233362" y="180282"/>
                </a:cubicBezTo>
                <a:lnTo>
                  <a:pt x="233362" y="225028"/>
                </a:lnTo>
                <a:cubicBezTo>
                  <a:pt x="233362" y="248051"/>
                  <a:pt x="181116" y="266700"/>
                  <a:pt x="116681" y="266700"/>
                </a:cubicBezTo>
                <a:cubicBezTo>
                  <a:pt x="52246" y="266700"/>
                  <a:pt x="0" y="248051"/>
                  <a:pt x="0" y="225028"/>
                </a:cubicBezTo>
                <a:lnTo>
                  <a:pt x="0" y="180282"/>
                </a:lnTo>
                <a:close/>
              </a:path>
            </a:pathLst>
          </a:custGeom>
          <a:solidFill>
            <a:srgbClr val="2D6A6A"/>
          </a:solidFill>
          <a:ln>
            <a:noFill/>
          </a:ln>
          <a:effectLst/>
        </p:spPr>
      </p:sp>
      <p:sp>
        <p:nvSpPr>
          <p:cNvPr id="36" name="dsl:coll-title"/>
          <p:cNvSpPr txBox="1"/>
          <p:nvPr/>
        </p:nvSpPr>
        <p:spPr>
          <a:xfrm>
            <a:off x="1123950" y="3714750"/>
            <a:ext cx="1905000" cy="666750"/>
          </a:xfrm>
          <a:prstGeom prst="rect">
            <a:avLst/>
          </a:prstGeom>
          <a:noFill/>
        </p:spPr>
        <p:txBody>
          <a:bodyPr wrap="none" anchor="ctr">
            <a:noAutofit/>
          </a:bodyPr>
          <a:lstStyle/>
          <a:p>
            <a:pPr algn="l"/>
            <a:r>
              <a:rPr b="1" sz="1350" noProof="1">
                <a:solidFill>
                  <a:srgbClr val="2D6A6A"/>
                </a:solidFill>
                <a:latin typeface="Liter"/>
                <a:ea typeface="Liter"/>
              </a:rPr>
              <a:t>COLLECTION LAYER</a:t>
            </a:r>
          </a:p>
        </p:txBody>
      </p:sp>
      <p:sp>
        <p:nvSpPr>
          <p:cNvPr id="37" name="dsl:coll-desc"/>
          <p:cNvSpPr txBox="1"/>
          <p:nvPr/>
        </p:nvSpPr>
        <p:spPr>
          <a:xfrm>
            <a:off x="3238500" y="3857625"/>
            <a:ext cx="8191500" cy="381000"/>
          </a:xfrm>
          <a:prstGeom prst="rect">
            <a:avLst/>
          </a:prstGeom>
          <a:noFill/>
        </p:spPr>
        <p:txBody>
          <a:bodyPr wrap="none" anchor="ctr">
            <a:noAutofit/>
          </a:bodyPr>
          <a:lstStyle/>
          <a:p>
            <a:pPr algn="l"/>
            <a:r>
              <a:rPr b="1" sz="1125" noProof="1">
                <a:solidFill>
                  <a:srgbClr val="2B2D2F"/>
                </a:solidFill>
                <a:latin typeface="QuattrocentoSans"/>
                <a:ea typeface="QuattrocentoSans"/>
              </a:rPr>
              <a:t>Filebeat</a:t>
            </a:r>
            <a:r>
              <a:rPr sz="1125" noProof="1">
                <a:solidFill>
                  <a:srgbClr val="2B2D2F"/>
                </a:solidFill>
                <a:latin typeface="QuattrocentoSans"/>
                <a:ea typeface="QuattrocentoSans"/>
              </a:rPr>
              <a:t> forwards Wazuh &amp; Suricata logs  |  </a:t>
            </a:r>
            <a:r>
              <a:rPr b="1" sz="1125" noProof="1">
                <a:solidFill>
                  <a:srgbClr val="2B2D2F"/>
                </a:solidFill>
                <a:latin typeface="QuattrocentoSans"/>
                <a:ea typeface="QuattrocentoSans"/>
              </a:rPr>
              <a:t>Falcosidekick</a:t>
            </a:r>
            <a:r>
              <a:rPr sz="1125" noProof="1">
                <a:solidFill>
                  <a:srgbClr val="2B2D2F"/>
                </a:solidFill>
                <a:latin typeface="QuattrocentoSans"/>
                <a:ea typeface="QuattrocentoSans"/>
              </a:rPr>
              <a:t> routes Falco events  |  All stored in </a:t>
            </a:r>
            <a:r>
              <a:rPr b="1" sz="1125" noProof="1">
                <a:solidFill>
                  <a:srgbClr val="2B2D2F"/>
                </a:solidFill>
                <a:latin typeface="QuattrocentoSans"/>
                <a:ea typeface="QuattrocentoSans"/>
              </a:rPr>
              <a:t>Elasticsearch</a:t>
            </a:r>
          </a:p>
        </p:txBody>
      </p:sp>
      <p:sp>
        <p:nvSpPr>
          <p:cNvPr id="38"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39"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Active"/>
          <p:cNvSpPr txBox="1"/>
          <p:nvPr/>
        </p:nvSpPr>
        <p:spPr>
          <a:xfrm>
            <a:off x="31623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31623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57150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Alert Ingestion Pipeline</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concept-label"/>
          <p:cNvSpPr txBox="1"/>
          <p:nvPr/>
        </p:nvSpPr>
        <p:spPr>
          <a:xfrm>
            <a:off x="571500" y="1095375"/>
            <a:ext cx="2857500" cy="266700"/>
          </a:xfrm>
          <a:prstGeom prst="rect">
            <a:avLst/>
          </a:prstGeom>
          <a:noFill/>
        </p:spPr>
        <p:txBody>
          <a:bodyPr wrap="none" anchor="t">
            <a:noAutofit/>
          </a:bodyPr>
          <a:lstStyle/>
          <a:p>
            <a:pPr algn="l"/>
            <a:r>
              <a:rPr b="1" sz="1350" noProof="1">
                <a:solidFill>
                  <a:srgbClr val="2D6A6A"/>
                </a:solidFill>
                <a:latin typeface="Liter"/>
                <a:ea typeface="Liter"/>
              </a:rPr>
              <a:t>Cursor-Based Polling</a:t>
            </a:r>
          </a:p>
        </p:txBody>
      </p:sp>
      <p:sp>
        <p:nvSpPr>
          <p:cNvPr id="15" name="dsl:concept-desc"/>
          <p:cNvSpPr txBox="1"/>
          <p:nvPr/>
        </p:nvSpPr>
        <p:spPr>
          <a:xfrm>
            <a:off x="571500" y="1428750"/>
            <a:ext cx="5143500" cy="1905000"/>
          </a:xfrm>
          <a:prstGeom prst="rect">
            <a:avLst/>
          </a:prstGeom>
          <a:noFill/>
        </p:spPr>
        <p:txBody>
          <a:bodyPr wrap="square" anchor="t">
            <a:noAutofit/>
          </a:bodyPr>
          <a:lstStyle/>
          <a:p>
            <a:pPr algn="l">
              <a:lnSpc>
                <a:spcPct val="160000"/>
              </a:lnSpc>
            </a:pPr>
            <a:r>
              <a:rPr sz="1125" noProof="1">
                <a:solidFill>
                  <a:srgbClr val="2B2D2F"/>
                </a:solidFill>
                <a:latin typeface="QuattrocentoSans"/>
                <a:ea typeface="QuattrocentoSans"/>
              </a:rPr>
              <a:t>For each source index pattern, ARIA maintains a </a:t>
            </a:r>
            <a:r>
              <a:rPr b="1" sz="1125" noProof="1">
                <a:solidFill>
                  <a:srgbClr val="2B2D2F"/>
                </a:solidFill>
                <a:latin typeface="QuattrocentoSans"/>
                <a:ea typeface="QuattrocentoSans"/>
              </a:rPr>
              <a:t>per-source cursor</a:t>
            </a:r>
            <a:r>
              <a:rPr sz="1125" noProof="1">
                <a:solidFill>
                  <a:srgbClr val="2B2D2F"/>
                </a:solidFill>
                <a:latin typeface="QuattrocentoSans"/>
                <a:ea typeface="QuattrocentoSans"/>
              </a:rPr>
              <a:t> (last processed timestamp) in Redis. Queries only fetch events newer than the cursor.</a:t>
            </a:r>
          </a:p>
          <a:p>
            <a:pPr algn="l">
              <a:lnSpc>
                <a:spcPct val="160000"/>
              </a:lnSpc>
              <a:spcBef>
                <a:spcPts val="600"/>
              </a:spcBef>
            </a:pPr>
            <a:r>
              <a:rPr b="1" sz="1125" noProof="1">
                <a:solidFill>
                  <a:srgbClr val="2B2D2F"/>
                </a:solidFill>
                <a:latin typeface="QuattrocentoSans"/>
                <a:ea typeface="QuattrocentoSans"/>
              </a:rPr>
              <a:t>Adaptive pacing:</a:t>
            </a:r>
            <a:r>
              <a:rPr sz="1125" noProof="1">
                <a:solidFill>
                  <a:srgbClr val="2B2D2F"/>
                </a:solidFill>
                <a:latin typeface="QuattrocentoSans"/>
                <a:ea typeface="QuattrocentoSans"/>
              </a:rPr>
              <a:t> many alerts = brief sleep; empty = polling interval.</a:t>
            </a:r>
          </a:p>
          <a:p>
            <a:pPr algn="l">
              <a:lnSpc>
                <a:spcPct val="160000"/>
              </a:lnSpc>
              <a:spcBef>
                <a:spcPts val="600"/>
              </a:spcBef>
            </a:pPr>
            <a:r>
              <a:rPr b="1" sz="1125" noProof="1">
                <a:solidFill>
                  <a:srgbClr val="2B2D2F"/>
                </a:solidFill>
                <a:latin typeface="QuattrocentoSans"/>
                <a:ea typeface="QuattrocentoSans"/>
              </a:rPr>
              <a:t>Asynchronous:</a:t>
            </a:r>
            <a:r>
              <a:rPr sz="1125" noProof="1">
                <a:solidFill>
                  <a:srgbClr val="2B2D2F"/>
                </a:solidFill>
                <a:latin typeface="QuattrocentoSans"/>
                <a:ea typeface="QuattrocentoSans"/>
              </a:rPr>
              <a:t> each source polled independently.</a:t>
            </a:r>
          </a:p>
        </p:txBody>
      </p:sp>
      <p:sp>
        <p:nvSpPr>
          <p:cNvPr id="16" name="dsl:redis-bg"/>
          <p:cNvSpPr/>
          <p:nvPr/>
        </p:nvSpPr>
        <p:spPr>
          <a:xfrm>
            <a:off x="6096000" y="1095375"/>
            <a:ext cx="1905000" cy="7620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redis-text"/>
          <p:cNvSpPr txBox="1"/>
          <p:nvPr/>
        </p:nvSpPr>
        <p:spPr>
          <a:xfrm>
            <a:off x="6191250" y="1190625"/>
            <a:ext cx="1714500" cy="571500"/>
          </a:xfrm>
          <a:prstGeom prst="rect">
            <a:avLst/>
          </a:prstGeom>
          <a:noFill/>
        </p:spPr>
        <p:txBody>
          <a:bodyPr wrap="square" anchor="ctr">
            <a:noAutofit/>
          </a:bodyPr>
          <a:lstStyle/>
          <a:p>
            <a:pPr algn="ctr">
              <a:lnSpc>
                <a:spcPct val="140000"/>
              </a:lnSpc>
            </a:pPr>
            <a:r>
              <a:rPr b="1" sz="1050" noProof="1">
                <a:solidFill>
                  <a:srgbClr val="FFFFFF"/>
                </a:solidFill>
                <a:latin typeface="QuattrocentoSans"/>
                <a:ea typeface="QuattrocentoSans"/>
              </a:rPr>
              <a:t>Redis</a:t>
            </a:r>
          </a:p>
          <a:p>
            <a:pPr algn="ctr">
              <a:lnSpc>
                <a:spcPct val="140000"/>
              </a:lnSpc>
            </a:pPr>
            <a:r>
              <a:rPr sz="1050" noProof="1">
                <a:solidFill>
                  <a:srgbClr val="FFFFFF"/>
                </a:solidFill>
                <a:latin typeface="QuattrocentoSans"/>
                <a:ea typeface="QuattrocentoSans"/>
              </a:rPr>
              <a:t>Per-source cursors</a:t>
            </a:r>
          </a:p>
        </p:txBody>
      </p:sp>
      <p:sp>
        <p:nvSpPr>
          <p:cNvPr id="18" name="dsl:src1-bg"/>
          <p:cNvSpPr/>
          <p:nvPr/>
        </p:nvSpPr>
        <p:spPr>
          <a:xfrm>
            <a:off x="6096000" y="2095500"/>
            <a:ext cx="1905000" cy="47625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src1-text"/>
          <p:cNvSpPr txBox="1"/>
          <p:nvPr/>
        </p:nvSpPr>
        <p:spPr>
          <a:xfrm>
            <a:off x="6191250" y="2143125"/>
            <a:ext cx="1714500" cy="381000"/>
          </a:xfrm>
          <a:prstGeom prst="rect">
            <a:avLst/>
          </a:prstGeom>
          <a:noFill/>
        </p:spPr>
        <p:txBody>
          <a:bodyPr wrap="none" anchor="ctr">
            <a:noAutofit/>
          </a:bodyPr>
          <a:lstStyle/>
          <a:p>
            <a:pPr algn="ctr"/>
            <a:r>
              <a:rPr b="1" sz="975" noProof="1">
                <a:solidFill>
                  <a:srgbClr val="2B2D2F"/>
                </a:solidFill>
                <a:latin typeface="QuattrocentoSans"/>
                <a:ea typeface="QuattrocentoSans"/>
              </a:rPr>
              <a:t>wazuh-alerts-*</a:t>
            </a:r>
          </a:p>
        </p:txBody>
      </p:sp>
      <p:sp>
        <p:nvSpPr>
          <p:cNvPr id="20" name="dsl:src2-bg"/>
          <p:cNvSpPr/>
          <p:nvPr/>
        </p:nvSpPr>
        <p:spPr>
          <a:xfrm>
            <a:off x="6096000" y="2714625"/>
            <a:ext cx="1905000" cy="47625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src2-text"/>
          <p:cNvSpPr txBox="1"/>
          <p:nvPr/>
        </p:nvSpPr>
        <p:spPr>
          <a:xfrm>
            <a:off x="6191250" y="2762250"/>
            <a:ext cx="1714500" cy="381000"/>
          </a:xfrm>
          <a:prstGeom prst="rect">
            <a:avLst/>
          </a:prstGeom>
          <a:noFill/>
        </p:spPr>
        <p:txBody>
          <a:bodyPr wrap="none" anchor="ctr">
            <a:noAutofit/>
          </a:bodyPr>
          <a:lstStyle/>
          <a:p>
            <a:pPr algn="ctr"/>
            <a:r>
              <a:rPr b="1" sz="975" noProof="1">
                <a:solidFill>
                  <a:srgbClr val="2B2D2F"/>
                </a:solidFill>
                <a:latin typeface="QuattrocentoSans"/>
                <a:ea typeface="QuattrocentoSans"/>
              </a:rPr>
              <a:t>suricata/filebeat-*</a:t>
            </a:r>
          </a:p>
        </p:txBody>
      </p:sp>
      <p:sp>
        <p:nvSpPr>
          <p:cNvPr id="22" name="dsl:src3-bg"/>
          <p:cNvSpPr/>
          <p:nvPr/>
        </p:nvSpPr>
        <p:spPr>
          <a:xfrm>
            <a:off x="8191500" y="2095500"/>
            <a:ext cx="1905000" cy="47625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src3-text"/>
          <p:cNvSpPr txBox="1"/>
          <p:nvPr/>
        </p:nvSpPr>
        <p:spPr>
          <a:xfrm>
            <a:off x="8286750" y="2143125"/>
            <a:ext cx="1714500" cy="381000"/>
          </a:xfrm>
          <a:prstGeom prst="rect">
            <a:avLst/>
          </a:prstGeom>
          <a:noFill/>
        </p:spPr>
        <p:txBody>
          <a:bodyPr wrap="none" anchor="ctr">
            <a:noAutofit/>
          </a:bodyPr>
          <a:lstStyle/>
          <a:p>
            <a:pPr algn="ctr"/>
            <a:r>
              <a:rPr b="1" sz="975" noProof="1">
                <a:solidFill>
                  <a:srgbClr val="2B2D2F"/>
                </a:solidFill>
                <a:latin typeface="QuattrocentoSans"/>
                <a:ea typeface="QuattrocentoSans"/>
              </a:rPr>
              <a:t>falco-*</a:t>
            </a:r>
          </a:p>
        </p:txBody>
      </p:sp>
      <p:sp>
        <p:nvSpPr>
          <p:cNvPr id="24" name="dsl:src4-bg"/>
          <p:cNvSpPr/>
          <p:nvPr/>
        </p:nvSpPr>
        <p:spPr>
          <a:xfrm>
            <a:off x="8191500" y="2714625"/>
            <a:ext cx="1905000" cy="47625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src4-text"/>
          <p:cNvSpPr txBox="1"/>
          <p:nvPr/>
        </p:nvSpPr>
        <p:spPr>
          <a:xfrm>
            <a:off x="8286750" y="2762250"/>
            <a:ext cx="1714500" cy="381000"/>
          </a:xfrm>
          <a:prstGeom prst="rect">
            <a:avLst/>
          </a:prstGeom>
          <a:noFill/>
        </p:spPr>
        <p:txBody>
          <a:bodyPr wrap="none" anchor="ctr">
            <a:noAutofit/>
          </a:bodyPr>
          <a:lstStyle/>
          <a:p>
            <a:pPr algn="ctr"/>
            <a:r>
              <a:rPr b="1" sz="975" noProof="1">
                <a:solidFill>
                  <a:srgbClr val="2B2D2F"/>
                </a:solidFill>
                <a:latin typeface="QuattrocentoSans"/>
                <a:ea typeface="QuattrocentoSans"/>
              </a:rPr>
              <a:t>telegraf-*</a:t>
            </a:r>
          </a:p>
        </p:txBody>
      </p:sp>
      <p:cxnSp>
        <p:nvCxnSpPr>
          <p:cNvPr id="26" name="dsl:redis-src1"/>
          <p:cNvCxnSpPr/>
          <p:nvPr/>
        </p:nvCxnSpPr>
        <p:spPr>
          <a:xfrm>
            <a:off x="6143625" y="1857375"/>
            <a:ext cx="0" cy="238125"/>
          </a:xfrm>
          <a:prstGeom prst="straightConnector1">
            <a:avLst/>
          </a:prstGeom>
          <a:ln w="127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7" name="dsl:redis-src2"/>
          <p:cNvCxnSpPr/>
          <p:nvPr/>
        </p:nvCxnSpPr>
        <p:spPr>
          <a:xfrm>
            <a:off x="7953375" y="1857375"/>
            <a:ext cx="0" cy="857250"/>
          </a:xfrm>
          <a:prstGeom prst="straightConnector1">
            <a:avLst/>
          </a:prstGeom>
          <a:ln w="127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8" name="dsl:redis-src3"/>
          <p:cNvCxnSpPr/>
          <p:nvPr/>
        </p:nvCxnSpPr>
        <p:spPr>
          <a:xfrm>
            <a:off x="8239125" y="1857375"/>
            <a:ext cx="0" cy="238125"/>
          </a:xfrm>
          <a:prstGeom prst="straightConnector1">
            <a:avLst/>
          </a:prstGeom>
          <a:ln w="127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9" name="dsl:redis-src4"/>
          <p:cNvCxnSpPr/>
          <p:nvPr/>
        </p:nvCxnSpPr>
        <p:spPr>
          <a:xfrm>
            <a:off x="10048875" y="1857375"/>
            <a:ext cx="0" cy="857250"/>
          </a:xfrm>
          <a:prstGeom prst="straightConnector1">
            <a:avLst/>
          </a:prstGeom>
          <a:ln w="127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0" name="dsl:engine-bg"/>
          <p:cNvSpPr/>
          <p:nvPr/>
        </p:nvSpPr>
        <p:spPr>
          <a:xfrm>
            <a:off x="10287000" y="2095500"/>
            <a:ext cx="1333500" cy="10953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engine-text"/>
          <p:cNvSpPr txBox="1"/>
          <p:nvPr/>
        </p:nvSpPr>
        <p:spPr>
          <a:xfrm>
            <a:off x="10334625" y="2190750"/>
            <a:ext cx="1238250" cy="904875"/>
          </a:xfrm>
          <a:prstGeom prst="rect">
            <a:avLst/>
          </a:prstGeom>
          <a:noFill/>
        </p:spPr>
        <p:txBody>
          <a:bodyPr wrap="square" anchor="ctr">
            <a:noAutofit/>
          </a:bodyPr>
          <a:lstStyle/>
          <a:p>
            <a:pPr algn="ctr">
              <a:lnSpc>
                <a:spcPct val="140000"/>
              </a:lnSpc>
            </a:pPr>
            <a:r>
              <a:rPr b="1" sz="1050" noProof="1">
                <a:solidFill>
                  <a:srgbClr val="FFFFFF"/>
                </a:solidFill>
                <a:latin typeface="Liter"/>
                <a:ea typeface="Liter"/>
              </a:rPr>
              <a:t>ARIA</a:t>
            </a:r>
          </a:p>
          <a:p>
            <a:pPr algn="ctr">
              <a:lnSpc>
                <a:spcPct val="140000"/>
              </a:lnSpc>
            </a:pPr>
            <a:r>
              <a:rPr b="1" sz="1050" noProof="1">
                <a:solidFill>
                  <a:srgbClr val="FFFFFF"/>
                </a:solidFill>
                <a:latin typeface="Liter"/>
                <a:ea typeface="Liter"/>
              </a:rPr>
              <a:t>Polling</a:t>
            </a:r>
          </a:p>
          <a:p>
            <a:pPr algn="ctr">
              <a:lnSpc>
                <a:spcPct val="140000"/>
              </a:lnSpc>
            </a:pPr>
            <a:r>
              <a:rPr b="1" sz="1050" noProof="1">
                <a:solidFill>
                  <a:srgbClr val="FFFFFF"/>
                </a:solidFill>
                <a:latin typeface="Liter"/>
                <a:ea typeface="Liter"/>
              </a:rPr>
              <a:t>Engine</a:t>
            </a:r>
          </a:p>
        </p:txBody>
      </p:sp>
      <p:cxnSp>
        <p:nvCxnSpPr>
          <p:cNvPr id="32" name="dsl:src1-engine"/>
          <p:cNvCxnSpPr/>
          <p:nvPr/>
        </p:nvCxnSpPr>
        <p:spPr>
          <a:xfrm>
            <a:off x="8001000" y="2552700"/>
            <a:ext cx="2286000" cy="0"/>
          </a:xfrm>
          <a:prstGeom prst="straightConnector1">
            <a:avLst/>
          </a:prstGeom>
          <a:ln w="127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33" name="dsl:src3-engine"/>
          <p:cNvCxnSpPr/>
          <p:nvPr/>
        </p:nvCxnSpPr>
        <p:spPr>
          <a:xfrm>
            <a:off x="10096500" y="2333625"/>
            <a:ext cx="190500" cy="0"/>
          </a:xfrm>
          <a:prstGeom prst="straightConnector1">
            <a:avLst/>
          </a:prstGeom>
          <a:ln w="127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4" name="dsl:props-bg"/>
          <p:cNvSpPr/>
          <p:nvPr/>
        </p:nvSpPr>
        <p:spPr>
          <a:xfrm>
            <a:off x="571500" y="3524250"/>
            <a:ext cx="11049000" cy="762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prop1-icon|i=fas:clock-rotate-left"/>
          <p:cNvSpPr/>
          <p:nvPr/>
        </p:nvSpPr>
        <p:spPr>
          <a:xfrm>
            <a:off x="952500" y="3743325"/>
            <a:ext cx="228600" cy="228600"/>
          </a:xfrm>
          <a:custGeom>
            <a:avLst/>
            <a:gdLst/>
            <a:ahLst/>
            <a:cxnLst/>
            <a:rect l="l" t="t" r="r" b="b"/>
            <a:pathLst>
              <a:path w="228600" h="228600">
                <a:moveTo>
                  <a:pt x="33486" y="33486"/>
                </a:moveTo>
                <a:lnTo>
                  <a:pt x="18305" y="18305"/>
                </a:lnTo>
                <a:cubicBezTo>
                  <a:pt x="11563" y="11563"/>
                  <a:pt x="0" y="16341"/>
                  <a:pt x="0" y="25851"/>
                </a:cubicBezTo>
                <a:lnTo>
                  <a:pt x="0" y="75009"/>
                </a:lnTo>
                <a:cubicBezTo>
                  <a:pt x="0" y="80947"/>
                  <a:pt x="4777" y="85725"/>
                  <a:pt x="10715" y="85725"/>
                </a:cubicBezTo>
                <a:lnTo>
                  <a:pt x="59873" y="85725"/>
                </a:lnTo>
                <a:cubicBezTo>
                  <a:pt x="69428" y="85725"/>
                  <a:pt x="74205" y="74161"/>
                  <a:pt x="67463" y="67419"/>
                </a:cubicBezTo>
                <a:lnTo>
                  <a:pt x="53712" y="53667"/>
                </a:lnTo>
                <a:cubicBezTo>
                  <a:pt x="69205" y="38174"/>
                  <a:pt x="90636" y="28575"/>
                  <a:pt x="114300" y="28575"/>
                </a:cubicBezTo>
                <a:cubicBezTo>
                  <a:pt x="161627" y="28575"/>
                  <a:pt x="200025" y="66972"/>
                  <a:pt x="200025" y="114300"/>
                </a:cubicBezTo>
                <a:cubicBezTo>
                  <a:pt x="200025" y="161627"/>
                  <a:pt x="161627" y="200025"/>
                  <a:pt x="114300" y="200025"/>
                </a:cubicBezTo>
                <a:cubicBezTo>
                  <a:pt x="96083" y="200025"/>
                  <a:pt x="79206" y="194354"/>
                  <a:pt x="65320" y="184665"/>
                </a:cubicBezTo>
                <a:cubicBezTo>
                  <a:pt x="58846" y="180156"/>
                  <a:pt x="49961" y="181719"/>
                  <a:pt x="45407" y="188193"/>
                </a:cubicBezTo>
                <a:cubicBezTo>
                  <a:pt x="40853" y="194667"/>
                  <a:pt x="42460" y="203552"/>
                  <a:pt x="48934" y="208106"/>
                </a:cubicBezTo>
                <a:cubicBezTo>
                  <a:pt x="67508" y="221009"/>
                  <a:pt x="90055" y="228600"/>
                  <a:pt x="114300" y="228600"/>
                </a:cubicBezTo>
                <a:cubicBezTo>
                  <a:pt x="177432" y="228600"/>
                  <a:pt x="228600" y="177432"/>
                  <a:pt x="228600" y="114300"/>
                </a:cubicBezTo>
                <a:cubicBezTo>
                  <a:pt x="228600" y="51167"/>
                  <a:pt x="177432" y="0"/>
                  <a:pt x="114300" y="0"/>
                </a:cubicBezTo>
                <a:cubicBezTo>
                  <a:pt x="82733" y="0"/>
                  <a:pt x="54158" y="12814"/>
                  <a:pt x="33486" y="33486"/>
                </a:cubicBezTo>
                <a:close/>
                <a:moveTo>
                  <a:pt x="114300" y="57150"/>
                </a:moveTo>
                <a:cubicBezTo>
                  <a:pt x="108361" y="57150"/>
                  <a:pt x="103584" y="61927"/>
                  <a:pt x="103584" y="67865"/>
                </a:cubicBezTo>
                <a:lnTo>
                  <a:pt x="103584" y="114300"/>
                </a:lnTo>
                <a:cubicBezTo>
                  <a:pt x="103584" y="117157"/>
                  <a:pt x="104700" y="119881"/>
                  <a:pt x="106709" y="121890"/>
                </a:cubicBezTo>
                <a:lnTo>
                  <a:pt x="138856" y="154037"/>
                </a:lnTo>
                <a:cubicBezTo>
                  <a:pt x="143053" y="158234"/>
                  <a:pt x="149840" y="158234"/>
                  <a:pt x="153992" y="154037"/>
                </a:cubicBezTo>
                <a:cubicBezTo>
                  <a:pt x="158144" y="149840"/>
                  <a:pt x="158189" y="143053"/>
                  <a:pt x="153992" y="138901"/>
                </a:cubicBezTo>
                <a:lnTo>
                  <a:pt x="124970" y="109879"/>
                </a:lnTo>
                <a:lnTo>
                  <a:pt x="124970" y="67865"/>
                </a:lnTo>
                <a:cubicBezTo>
                  <a:pt x="124970" y="61927"/>
                  <a:pt x="120193" y="57150"/>
                  <a:pt x="114255" y="57150"/>
                </a:cubicBezTo>
                <a:close/>
              </a:path>
            </a:pathLst>
          </a:custGeom>
          <a:solidFill>
            <a:srgbClr val="2D6A6A"/>
          </a:solidFill>
          <a:ln>
            <a:noFill/>
          </a:ln>
          <a:effectLst/>
        </p:spPr>
      </p:sp>
      <p:sp>
        <p:nvSpPr>
          <p:cNvPr id="36" name="dsl:prop1-text"/>
          <p:cNvSpPr txBox="1"/>
          <p:nvPr/>
        </p:nvSpPr>
        <p:spPr>
          <a:xfrm>
            <a:off x="1257300" y="3667125"/>
            <a:ext cx="2095500" cy="47625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Timestamp Cursors</a:t>
            </a:r>
          </a:p>
          <a:p>
            <a:pPr algn="l">
              <a:lnSpc>
                <a:spcPct val="140000"/>
              </a:lnSpc>
            </a:pPr>
            <a:r>
              <a:rPr sz="900" noProof="1">
                <a:solidFill>
                  <a:srgbClr val="5C6B73"/>
                </a:solidFill>
                <a:latin typeface="QuattrocentoSans"/>
                <a:ea typeface="QuattrocentoSans"/>
              </a:rPr>
              <a:t>No events missed or reprocessed</a:t>
            </a:r>
          </a:p>
        </p:txBody>
      </p:sp>
      <p:sp>
        <p:nvSpPr>
          <p:cNvPr id="37" name="dsl:prop2-icon|i=fas:gauge"/>
          <p:cNvSpPr/>
          <p:nvPr/>
        </p:nvSpPr>
        <p:spPr>
          <a:xfrm>
            <a:off x="3810000" y="3743325"/>
            <a:ext cx="228600" cy="228600"/>
          </a:xfrm>
          <a:custGeom>
            <a:avLst/>
            <a:gdLst/>
            <a:ahLst/>
            <a:cxnLst/>
            <a:rect l="l" t="t" r="r" b="b"/>
            <a:pathLst>
              <a:path w="228600" h="228600">
                <a:moveTo>
                  <a:pt x="0" y="114300"/>
                </a:moveTo>
                <a:cubicBezTo>
                  <a:pt x="0" y="51596"/>
                  <a:pt x="51596" y="0"/>
                  <a:pt x="114299" y="0"/>
                </a:cubicBezTo>
                <a:cubicBezTo>
                  <a:pt x="177003" y="0"/>
                  <a:pt x="228600" y="51596"/>
                  <a:pt x="228600" y="114299"/>
                </a:cubicBezTo>
                <a:cubicBezTo>
                  <a:pt x="228600" y="177003"/>
                  <a:pt x="177003" y="228600"/>
                  <a:pt x="114300" y="228600"/>
                </a:cubicBezTo>
                <a:cubicBezTo>
                  <a:pt x="51596" y="228600"/>
                  <a:pt x="0" y="177003"/>
                  <a:pt x="0" y="114300"/>
                </a:cubicBezTo>
                <a:close/>
                <a:moveTo>
                  <a:pt x="142875" y="157162"/>
                </a:moveTo>
                <a:cubicBezTo>
                  <a:pt x="142875" y="145152"/>
                  <a:pt x="135508" y="134882"/>
                  <a:pt x="125015" y="130685"/>
                </a:cubicBezTo>
                <a:lnTo>
                  <a:pt x="125015" y="39290"/>
                </a:lnTo>
                <a:cubicBezTo>
                  <a:pt x="125015" y="33352"/>
                  <a:pt x="120238" y="28575"/>
                  <a:pt x="114300" y="28575"/>
                </a:cubicBezTo>
                <a:cubicBezTo>
                  <a:pt x="108361" y="28575"/>
                  <a:pt x="103584" y="33352"/>
                  <a:pt x="103584" y="39290"/>
                </a:cubicBezTo>
                <a:lnTo>
                  <a:pt x="103584" y="130685"/>
                </a:lnTo>
                <a:cubicBezTo>
                  <a:pt x="93091" y="134927"/>
                  <a:pt x="85725" y="145196"/>
                  <a:pt x="85725" y="157162"/>
                </a:cubicBezTo>
                <a:cubicBezTo>
                  <a:pt x="85725" y="172923"/>
                  <a:pt x="98539" y="185737"/>
                  <a:pt x="114300" y="185737"/>
                </a:cubicBezTo>
                <a:cubicBezTo>
                  <a:pt x="130060" y="185737"/>
                  <a:pt x="142875" y="172923"/>
                  <a:pt x="142875" y="157162"/>
                </a:cubicBezTo>
                <a:close/>
                <a:moveTo>
                  <a:pt x="64293" y="78581"/>
                </a:moveTo>
                <a:cubicBezTo>
                  <a:pt x="72131" y="78581"/>
                  <a:pt x="78581" y="72131"/>
                  <a:pt x="78581" y="64293"/>
                </a:cubicBezTo>
                <a:cubicBezTo>
                  <a:pt x="78581" y="56455"/>
                  <a:pt x="72131" y="50006"/>
                  <a:pt x="64293" y="50006"/>
                </a:cubicBezTo>
                <a:cubicBezTo>
                  <a:pt x="56455" y="50006"/>
                  <a:pt x="50006" y="56455"/>
                  <a:pt x="50006" y="64293"/>
                </a:cubicBezTo>
                <a:cubicBezTo>
                  <a:pt x="50006" y="72131"/>
                  <a:pt x="56455" y="78581"/>
                  <a:pt x="64293" y="78581"/>
                </a:cubicBezTo>
                <a:close/>
                <a:moveTo>
                  <a:pt x="57150" y="114300"/>
                </a:moveTo>
                <a:cubicBezTo>
                  <a:pt x="57150" y="106462"/>
                  <a:pt x="50700" y="100012"/>
                  <a:pt x="42862" y="100012"/>
                </a:cubicBezTo>
                <a:cubicBezTo>
                  <a:pt x="35024" y="100012"/>
                  <a:pt x="28575" y="106462"/>
                  <a:pt x="28575" y="114300"/>
                </a:cubicBezTo>
                <a:cubicBezTo>
                  <a:pt x="28575" y="122137"/>
                  <a:pt x="35024" y="128587"/>
                  <a:pt x="42862" y="128587"/>
                </a:cubicBezTo>
                <a:cubicBezTo>
                  <a:pt x="50700" y="128587"/>
                  <a:pt x="57150" y="122137"/>
                  <a:pt x="57150" y="114300"/>
                </a:cubicBezTo>
                <a:close/>
                <a:moveTo>
                  <a:pt x="185737" y="128587"/>
                </a:moveTo>
                <a:cubicBezTo>
                  <a:pt x="193575" y="128587"/>
                  <a:pt x="200025" y="122137"/>
                  <a:pt x="200025" y="114300"/>
                </a:cubicBezTo>
                <a:cubicBezTo>
                  <a:pt x="200025" y="106462"/>
                  <a:pt x="193575" y="100012"/>
                  <a:pt x="185737" y="100012"/>
                </a:cubicBezTo>
                <a:cubicBezTo>
                  <a:pt x="177899" y="100012"/>
                  <a:pt x="171450" y="106462"/>
                  <a:pt x="171450" y="114300"/>
                </a:cubicBezTo>
                <a:cubicBezTo>
                  <a:pt x="171450" y="122137"/>
                  <a:pt x="177899" y="128587"/>
                  <a:pt x="185737" y="128587"/>
                </a:cubicBezTo>
                <a:close/>
                <a:moveTo>
                  <a:pt x="178593" y="64293"/>
                </a:moveTo>
                <a:cubicBezTo>
                  <a:pt x="178593" y="56455"/>
                  <a:pt x="172144" y="50006"/>
                  <a:pt x="164306" y="50006"/>
                </a:cubicBezTo>
                <a:cubicBezTo>
                  <a:pt x="156468" y="50006"/>
                  <a:pt x="150018" y="56455"/>
                  <a:pt x="150018" y="64293"/>
                </a:cubicBezTo>
                <a:cubicBezTo>
                  <a:pt x="150018" y="72131"/>
                  <a:pt x="156468" y="78581"/>
                  <a:pt x="164306" y="78581"/>
                </a:cubicBezTo>
                <a:cubicBezTo>
                  <a:pt x="172144" y="78581"/>
                  <a:pt x="178593" y="72131"/>
                  <a:pt x="178593" y="64293"/>
                </a:cubicBezTo>
                <a:close/>
              </a:path>
            </a:pathLst>
          </a:custGeom>
          <a:solidFill>
            <a:srgbClr val="2D6A6A"/>
          </a:solidFill>
          <a:ln>
            <a:noFill/>
          </a:ln>
          <a:effectLst/>
        </p:spPr>
      </p:sp>
      <p:sp>
        <p:nvSpPr>
          <p:cNvPr id="38" name="dsl:prop2-text"/>
          <p:cNvSpPr txBox="1"/>
          <p:nvPr/>
        </p:nvSpPr>
        <p:spPr>
          <a:xfrm>
            <a:off x="4114800" y="3667125"/>
            <a:ext cx="2095500" cy="47625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Adaptive Pacing</a:t>
            </a:r>
          </a:p>
          <a:p>
            <a:pPr algn="l">
              <a:lnSpc>
                <a:spcPct val="140000"/>
              </a:lnSpc>
            </a:pPr>
            <a:r>
              <a:rPr sz="900" noProof="1">
                <a:solidFill>
                  <a:srgbClr val="5C6B73"/>
                </a:solidFill>
                <a:latin typeface="QuattrocentoSans"/>
                <a:ea typeface="QuattrocentoSans"/>
              </a:rPr>
              <a:t>Dynamic sleep between batches</a:t>
            </a:r>
          </a:p>
        </p:txBody>
      </p:sp>
      <p:sp>
        <p:nvSpPr>
          <p:cNvPr id="39" name="dsl:prop3-icon|i=fas:bolt"/>
          <p:cNvSpPr/>
          <p:nvPr/>
        </p:nvSpPr>
        <p:spPr>
          <a:xfrm>
            <a:off x="6681787" y="3743325"/>
            <a:ext cx="200025" cy="228600"/>
          </a:xfrm>
          <a:custGeom>
            <a:avLst/>
            <a:gdLst/>
            <a:ahLst/>
            <a:cxnLst/>
            <a:rect l="l" t="t" r="r" b="b"/>
            <a:pathLst>
              <a:path w="200025" h="228600">
                <a:moveTo>
                  <a:pt x="156001" y="19913"/>
                </a:moveTo>
                <a:cubicBezTo>
                  <a:pt x="158635" y="13796"/>
                  <a:pt x="156671" y="6652"/>
                  <a:pt x="151268" y="2723"/>
                </a:cubicBezTo>
                <a:cubicBezTo>
                  <a:pt x="145866" y="-1205"/>
                  <a:pt x="138499" y="-848"/>
                  <a:pt x="133454" y="3527"/>
                </a:cubicBezTo>
                <a:lnTo>
                  <a:pt x="19154" y="103539"/>
                </a:lnTo>
                <a:cubicBezTo>
                  <a:pt x="14689" y="107468"/>
                  <a:pt x="13081" y="113764"/>
                  <a:pt x="15180" y="119300"/>
                </a:cubicBezTo>
                <a:cubicBezTo>
                  <a:pt x="17278" y="124837"/>
                  <a:pt x="22636" y="128587"/>
                  <a:pt x="28575" y="128587"/>
                </a:cubicBezTo>
                <a:lnTo>
                  <a:pt x="78358" y="128587"/>
                </a:lnTo>
                <a:lnTo>
                  <a:pt x="44023" y="208686"/>
                </a:lnTo>
                <a:cubicBezTo>
                  <a:pt x="41389" y="214803"/>
                  <a:pt x="43353" y="221947"/>
                  <a:pt x="48756" y="225876"/>
                </a:cubicBezTo>
                <a:cubicBezTo>
                  <a:pt x="54158" y="229805"/>
                  <a:pt x="61525" y="229448"/>
                  <a:pt x="66570" y="225072"/>
                </a:cubicBezTo>
                <a:lnTo>
                  <a:pt x="180870" y="125060"/>
                </a:lnTo>
                <a:cubicBezTo>
                  <a:pt x="185335" y="121131"/>
                  <a:pt x="186943" y="114835"/>
                  <a:pt x="184844" y="109299"/>
                </a:cubicBezTo>
                <a:cubicBezTo>
                  <a:pt x="182746" y="103762"/>
                  <a:pt x="177432" y="100057"/>
                  <a:pt x="171450" y="100057"/>
                </a:cubicBezTo>
                <a:lnTo>
                  <a:pt x="121666" y="100057"/>
                </a:lnTo>
                <a:lnTo>
                  <a:pt x="156001" y="19913"/>
                </a:lnTo>
                <a:close/>
              </a:path>
            </a:pathLst>
          </a:custGeom>
          <a:solidFill>
            <a:srgbClr val="2D6A6A"/>
          </a:solidFill>
          <a:ln>
            <a:noFill/>
          </a:ln>
          <a:effectLst/>
        </p:spPr>
      </p:sp>
      <p:sp>
        <p:nvSpPr>
          <p:cNvPr id="40" name="dsl:prop3-text"/>
          <p:cNvSpPr txBox="1"/>
          <p:nvPr/>
        </p:nvSpPr>
        <p:spPr>
          <a:xfrm>
            <a:off x="6972300" y="3667125"/>
            <a:ext cx="2095500" cy="47625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Async Sources</a:t>
            </a:r>
          </a:p>
          <a:p>
            <a:pPr algn="l">
              <a:lnSpc>
                <a:spcPct val="140000"/>
              </a:lnSpc>
            </a:pPr>
            <a:r>
              <a:rPr sz="900" noProof="1">
                <a:solidFill>
                  <a:srgbClr val="5C6B73"/>
                </a:solidFill>
                <a:latin typeface="QuattrocentoSans"/>
                <a:ea typeface="QuattrocentoSans"/>
              </a:rPr>
              <a:t>Independent per-source polling</a:t>
            </a:r>
          </a:p>
        </p:txBody>
      </p:sp>
      <p:sp>
        <p:nvSpPr>
          <p:cNvPr id="41" name="dsl:prop4-icon|i=fas:filter"/>
          <p:cNvSpPr/>
          <p:nvPr/>
        </p:nvSpPr>
        <p:spPr>
          <a:xfrm>
            <a:off x="9525000" y="3743325"/>
            <a:ext cx="228600" cy="228600"/>
          </a:xfrm>
          <a:custGeom>
            <a:avLst/>
            <a:gdLst/>
            <a:ahLst/>
            <a:cxnLst/>
            <a:rect l="l" t="t" r="r" b="b"/>
            <a:pathLst>
              <a:path w="228600" h="228600">
                <a:moveTo>
                  <a:pt x="1741" y="24511"/>
                </a:moveTo>
                <a:cubicBezTo>
                  <a:pt x="4688" y="18261"/>
                  <a:pt x="10938" y="14287"/>
                  <a:pt x="17859" y="14287"/>
                </a:cubicBezTo>
                <a:lnTo>
                  <a:pt x="210740" y="14287"/>
                </a:lnTo>
                <a:cubicBezTo>
                  <a:pt x="217661" y="14287"/>
                  <a:pt x="223911" y="18261"/>
                  <a:pt x="226858" y="24511"/>
                </a:cubicBezTo>
                <a:cubicBezTo>
                  <a:pt x="229805" y="30762"/>
                  <a:pt x="228912" y="38129"/>
                  <a:pt x="224536" y="43487"/>
                </a:cubicBezTo>
                <a:lnTo>
                  <a:pt x="142875" y="143276"/>
                </a:lnTo>
                <a:lnTo>
                  <a:pt x="142875" y="200025"/>
                </a:lnTo>
                <a:cubicBezTo>
                  <a:pt x="142875" y="205427"/>
                  <a:pt x="139838" y="210383"/>
                  <a:pt x="134972" y="212794"/>
                </a:cubicBezTo>
                <a:cubicBezTo>
                  <a:pt x="130105" y="215205"/>
                  <a:pt x="124345" y="214714"/>
                  <a:pt x="120015" y="211455"/>
                </a:cubicBezTo>
                <a:lnTo>
                  <a:pt x="91440" y="190023"/>
                </a:lnTo>
                <a:cubicBezTo>
                  <a:pt x="87823" y="187344"/>
                  <a:pt x="85725" y="183103"/>
                  <a:pt x="85725" y="178593"/>
                </a:cubicBezTo>
                <a:lnTo>
                  <a:pt x="85725" y="143276"/>
                </a:lnTo>
                <a:lnTo>
                  <a:pt x="4018" y="43442"/>
                </a:lnTo>
                <a:cubicBezTo>
                  <a:pt x="3125" y="38129"/>
                  <a:pt x="-1250" y="30718"/>
                  <a:pt x="1741" y="24511"/>
                </a:cubicBezTo>
                <a:close/>
              </a:path>
            </a:pathLst>
          </a:custGeom>
          <a:solidFill>
            <a:srgbClr val="2D6A6A"/>
          </a:solidFill>
          <a:ln>
            <a:noFill/>
          </a:ln>
          <a:effectLst/>
        </p:spPr>
      </p:sp>
      <p:sp>
        <p:nvSpPr>
          <p:cNvPr id="42" name="dsl:prop4-text"/>
          <p:cNvSpPr txBox="1"/>
          <p:nvPr/>
        </p:nvSpPr>
        <p:spPr>
          <a:xfrm>
            <a:off x="9829800" y="3667125"/>
            <a:ext cx="1524000" cy="47625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Index Patterns</a:t>
            </a:r>
          </a:p>
          <a:p>
            <a:pPr algn="l">
              <a:lnSpc>
                <a:spcPct val="140000"/>
              </a:lnSpc>
            </a:pPr>
            <a:r>
              <a:rPr sz="900" noProof="1">
                <a:solidFill>
                  <a:srgbClr val="5C6B73"/>
                </a:solidFill>
                <a:latin typeface="QuattrocentoSans"/>
                <a:ea typeface="QuattrocentoSans"/>
              </a:rPr>
              <a:t>Wildcard source matching</a:t>
            </a:r>
          </a:p>
        </p:txBody>
      </p:sp>
      <p:sp>
        <p:nvSpPr>
          <p:cNvPr id="43"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44"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number-bg"/>
          <p:cNvSpPr txBox="1"/>
          <p:nvPr/>
        </p:nvSpPr>
        <p:spPr>
          <a:xfrm>
            <a:off x="571500" y="762000"/>
            <a:ext cx="4762500" cy="2095500"/>
          </a:xfrm>
          <a:prstGeom prst="rect">
            <a:avLst/>
          </a:prstGeom>
          <a:noFill/>
        </p:spPr>
        <p:txBody>
          <a:bodyPr wrap="none" anchor="t">
            <a:noAutofit/>
          </a:bodyPr>
          <a:lstStyle/>
          <a:p>
            <a:pPr algn="l"/>
            <a:r>
              <a:rPr b="1" sz="15000" noProof="1">
                <a:solidFill>
                  <a:srgbClr val="2D6A6A">
                    <a:alpha val="8235"/>
                  </a:srgbClr>
                </a:solidFill>
                <a:latin typeface="Liter"/>
                <a:ea typeface="Liter"/>
              </a:rPr>
              <a:t>04</a:t>
            </a:r>
          </a:p>
        </p:txBody>
      </p:sp>
      <p:sp>
        <p:nvSpPr>
          <p:cNvPr id="3" name="dsl:accent-bar"/>
          <p:cNvSpPr/>
          <p:nvPr/>
        </p:nvSpPr>
        <p:spPr>
          <a:xfrm>
            <a:off x="762000" y="295275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label"/>
          <p:cNvSpPr txBox="1"/>
          <p:nvPr/>
        </p:nvSpPr>
        <p:spPr>
          <a:xfrm>
            <a:off x="762000" y="3143250"/>
            <a:ext cx="3810000" cy="285750"/>
          </a:xfrm>
          <a:prstGeom prst="rect">
            <a:avLst/>
          </a:prstGeom>
          <a:noFill/>
        </p:spPr>
        <p:txBody>
          <a:bodyPr wrap="none" anchor="t">
            <a:noAutofit/>
          </a:bodyPr>
          <a:lstStyle/>
          <a:p>
            <a:pPr algn="l"/>
            <a:r>
              <a:rPr b="1" sz="1200" noProof="1" spc="225">
                <a:solidFill>
                  <a:srgbClr val="D4A373"/>
                </a:solidFill>
                <a:latin typeface="Liter"/>
                <a:ea typeface="Liter"/>
              </a:rPr>
              <a:t>CHAPTER 04</a:t>
            </a:r>
          </a:p>
        </p:txBody>
      </p:sp>
      <p:sp>
        <p:nvSpPr>
          <p:cNvPr id="5" name="dsl:ch-title|s=$title"/>
          <p:cNvSpPr txBox="1"/>
          <p:nvPr/>
        </p:nvSpPr>
        <p:spPr>
          <a:xfrm>
            <a:off x="762000" y="3524250"/>
            <a:ext cx="8572500" cy="571500"/>
          </a:xfrm>
          <a:prstGeom prst="rect">
            <a:avLst/>
          </a:prstGeom>
          <a:noFill/>
        </p:spPr>
        <p:txBody>
          <a:bodyPr wrap="none" anchor="t">
            <a:noAutofit/>
          </a:bodyPr>
          <a:lstStyle/>
          <a:p>
            <a:pPr algn="l">
              <a:lnSpc>
                <a:spcPct val="120000"/>
              </a:lnSpc>
            </a:pPr>
            <a:r>
              <a:rPr b="1" sz="3300" noProof="1">
                <a:solidFill>
                  <a:srgbClr val="2D6A6A"/>
                </a:solidFill>
                <a:latin typeface="Liter"/>
                <a:ea typeface="Liter"/>
              </a:rPr>
              <a:t>Intelligence Pipeline</a:t>
            </a:r>
          </a:p>
        </p:txBody>
      </p:sp>
      <p:sp>
        <p:nvSpPr>
          <p:cNvPr id="6" name="dsl:ch-subtitle|s=$subtitle"/>
          <p:cNvSpPr txBox="1"/>
          <p:nvPr/>
        </p:nvSpPr>
        <p:spPr>
          <a:xfrm>
            <a:off x="762000" y="4191000"/>
            <a:ext cx="7620000" cy="381000"/>
          </a:xfrm>
          <a:prstGeom prst="rect">
            <a:avLst/>
          </a:prstGeom>
          <a:noFill/>
        </p:spPr>
        <p:txBody>
          <a:bodyPr wrap="square" anchor="t">
            <a:noAutofit/>
          </a:bodyPr>
          <a:lstStyle/>
          <a:p>
            <a:pPr algn="l">
              <a:lnSpc>
                <a:spcPct val="140000"/>
              </a:lnSpc>
            </a:pPr>
            <a:r>
              <a:rPr sz="1650" noProof="1">
                <a:solidFill>
                  <a:srgbClr val="5C6B73"/>
                </a:solidFill>
                <a:latin typeface="QuattrocentoSans"/>
                <a:ea typeface="QuattrocentoSans"/>
              </a:rPr>
              <a:t>From raw documents to actionable incidents</a:t>
            </a:r>
          </a:p>
        </p:txBody>
      </p:sp>
      <p:sp>
        <p:nvSpPr>
          <p:cNvPr id="7" name="dsl:deco-line"/>
          <p:cNvSpPr/>
          <p:nvPr/>
        </p:nvSpPr>
        <p:spPr>
          <a:xfrm>
            <a:off x="762000" y="4953000"/>
            <a:ext cx="2857500" cy="190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bottom-bar"/>
          <p:cNvSpPr/>
          <p:nvPr/>
        </p:nvSpPr>
        <p:spPr>
          <a:xfrm>
            <a:off x="0" y="6667500"/>
            <a:ext cx="12192000" cy="190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Active"/>
          <p:cNvSpPr txBox="1"/>
          <p:nvPr/>
        </p:nvSpPr>
        <p:spPr>
          <a:xfrm>
            <a:off x="44577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44577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57150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Normalization &amp; Enrichment</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raw-label"/>
          <p:cNvSpPr txBox="1"/>
          <p:nvPr/>
        </p:nvSpPr>
        <p:spPr>
          <a:xfrm>
            <a:off x="571500" y="1095375"/>
            <a:ext cx="2381250" cy="266700"/>
          </a:xfrm>
          <a:prstGeom prst="rect">
            <a:avLst/>
          </a:prstGeom>
          <a:noFill/>
        </p:spPr>
        <p:txBody>
          <a:bodyPr wrap="none" anchor="t">
            <a:noAutofit/>
          </a:bodyPr>
          <a:lstStyle/>
          <a:p>
            <a:pPr algn="l"/>
            <a:r>
              <a:rPr b="1" sz="1200" noProof="1" spc="150">
                <a:solidFill>
                  <a:srgbClr val="5C6B73"/>
                </a:solidFill>
                <a:latin typeface="Liter"/>
                <a:ea typeface="Liter"/>
              </a:rPr>
              <a:t>RAW ALERT</a:t>
            </a:r>
          </a:p>
        </p:txBody>
      </p:sp>
      <p:sp>
        <p:nvSpPr>
          <p:cNvPr id="15" name="dsl:raw-bg"/>
          <p:cNvSpPr/>
          <p:nvPr/>
        </p:nvSpPr>
        <p:spPr>
          <a:xfrm>
            <a:off x="571500" y="1409700"/>
            <a:ext cx="5143500" cy="2952750"/>
          </a:xfrm>
          <a:prstGeom prst="rect">
            <a:avLst/>
          </a:prstGeom>
          <a:solidFill>
            <a:srgbClr val="2B2D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raw-code"/>
          <p:cNvSpPr txBox="1"/>
          <p:nvPr/>
        </p:nvSpPr>
        <p:spPr>
          <a:xfrm>
            <a:off x="714375" y="1476375"/>
            <a:ext cx="4857750" cy="2857500"/>
          </a:xfrm>
          <a:prstGeom prst="rect">
            <a:avLst/>
          </a:prstGeom>
          <a:noFill/>
        </p:spPr>
        <p:txBody>
          <a:bodyPr wrap="square" anchor="t">
            <a:noAutofit/>
          </a:bodyPr>
          <a:lstStyle/>
          <a:p>
            <a:pPr algn="l">
              <a:lnSpc>
                <a:spcPct val="145000"/>
              </a:lnSpc>
            </a:pPr>
            <a:r>
              <a:rPr sz="900" noProof="1">
                <a:solidFill>
                  <a:srgbClr val="E8C99A"/>
                </a:solidFill>
                <a:latin typeface="Liter"/>
                <a:ea typeface="Liter"/>
              </a:rPr>
              <a:t>{</a:t>
            </a:r>
          </a:p>
          <a:p>
            <a:pPr algn="l">
              <a:lnSpc>
                <a:spcPct val="145000"/>
              </a:lnSpc>
            </a:pPr>
            <a:r>
              <a:rPr sz="900" noProof="1">
                <a:solidFill>
                  <a:srgbClr val="E8C99A"/>
                </a:solidFill>
                <a:latin typeface="Liter"/>
                <a:ea typeface="Liter"/>
              </a:rPr>
              <a:t>  "_index": "wazuh-alerts-4.x-2026.01.15",</a:t>
            </a:r>
          </a:p>
          <a:p>
            <a:pPr algn="l">
              <a:lnSpc>
                <a:spcPct val="145000"/>
              </a:lnSpc>
            </a:pPr>
            <a:r>
              <a:rPr sz="900" noProof="1">
                <a:solidFill>
                  <a:srgbClr val="E8C99A"/>
                </a:solidFill>
                <a:latin typeface="Liter"/>
                <a:ea typeface="Liter"/>
              </a:rPr>
              <a:t>  "_source": {</a:t>
            </a:r>
          </a:p>
          <a:p>
            <a:pPr algn="l">
              <a:lnSpc>
                <a:spcPct val="145000"/>
              </a:lnSpc>
            </a:pPr>
            <a:r>
              <a:rPr sz="900" noProof="1">
                <a:solidFill>
                  <a:srgbClr val="E8C99A"/>
                </a:solidFill>
                <a:latin typeface="Liter"/>
                <a:ea typeface="Liter"/>
              </a:rPr>
              <a:t>    "timestamp": "2026-01-15T08:23:17Z",</a:t>
            </a:r>
          </a:p>
          <a:p>
            <a:pPr algn="l">
              <a:lnSpc>
                <a:spcPct val="145000"/>
              </a:lnSpc>
            </a:pPr>
            <a:r>
              <a:rPr sz="900" noProof="1">
                <a:solidFill>
                  <a:srgbClr val="E8C99A"/>
                </a:solidFill>
                <a:latin typeface="Liter"/>
                <a:ea typeface="Liter"/>
              </a:rPr>
              <a:t>    "rule": {</a:t>
            </a:r>
          </a:p>
          <a:p>
            <a:pPr algn="l">
              <a:lnSpc>
                <a:spcPct val="145000"/>
              </a:lnSpc>
            </a:pPr>
            <a:r>
              <a:rPr sz="900" noProof="1">
                <a:solidFill>
                  <a:srgbClr val="E8C99A"/>
                </a:solidFill>
                <a:latin typeface="Liter"/>
                <a:ea typeface="Liter"/>
              </a:rPr>
              <a:t>      "id": "5712", "level": 10,</a:t>
            </a:r>
          </a:p>
          <a:p>
            <a:pPr algn="l">
              <a:lnSpc>
                <a:spcPct val="145000"/>
              </a:lnSpc>
            </a:pPr>
            <a:r>
              <a:rPr sz="900" noProof="1">
                <a:solidFill>
                  <a:srgbClr val="E8C99A"/>
                </a:solidFill>
                <a:latin typeface="Liter"/>
                <a:ea typeface="Liter"/>
              </a:rPr>
              <a:t>      "description": "SSHD brute force..."</a:t>
            </a:r>
          </a:p>
          <a:p>
            <a:pPr algn="l">
              <a:lnSpc>
                <a:spcPct val="145000"/>
              </a:lnSpc>
            </a:pPr>
            <a:r>
              <a:rPr sz="900" noProof="1">
                <a:solidFill>
                  <a:srgbClr val="E8C99A"/>
                </a:solidFill>
                <a:latin typeface="Liter"/>
                <a:ea typeface="Liter"/>
              </a:rPr>
              <a:t>    },</a:t>
            </a:r>
          </a:p>
          <a:p>
            <a:pPr algn="l">
              <a:lnSpc>
                <a:spcPct val="145000"/>
              </a:lnSpc>
            </a:pPr>
            <a:r>
              <a:rPr sz="900" noProof="1">
                <a:solidFill>
                  <a:srgbClr val="E8C99A"/>
                </a:solidFill>
                <a:latin typeface="Liter"/>
                <a:ea typeface="Liter"/>
              </a:rPr>
              <a:t>    "agent": {"name": "web-server-01",</a:t>
            </a:r>
          </a:p>
          <a:p>
            <a:pPr algn="l">
              <a:lnSpc>
                <a:spcPct val="145000"/>
              </a:lnSpc>
            </a:pPr>
            <a:r>
              <a:rPr sz="900" noProof="1">
                <a:solidFill>
                  <a:srgbClr val="E8C99A"/>
                </a:solidFill>
                <a:latin typeface="Liter"/>
                <a:ea typeface="Liter"/>
              </a:rPr>
              <a:t>             "ip": "192.168.1.50"},</a:t>
            </a:r>
          </a:p>
          <a:p>
            <a:pPr algn="l">
              <a:lnSpc>
                <a:spcPct val="145000"/>
              </a:lnSpc>
            </a:pPr>
            <a:r>
              <a:rPr sz="900" noProof="1">
                <a:solidFill>
                  <a:srgbClr val="E8C99A"/>
                </a:solidFill>
                <a:latin typeface="Liter"/>
                <a:ea typeface="Liter"/>
              </a:rPr>
              <a:t>    "srcip": "203.0.113.44",</a:t>
            </a:r>
          </a:p>
          <a:p>
            <a:pPr algn="l">
              <a:lnSpc>
                <a:spcPct val="145000"/>
              </a:lnSpc>
            </a:pPr>
            <a:r>
              <a:rPr sz="900" noProof="1">
                <a:solidFill>
                  <a:srgbClr val="E8C99A"/>
                </a:solidFill>
                <a:latin typeface="Liter"/>
                <a:ea typeface="Liter"/>
              </a:rPr>
              <a:t>    "location": "/var/log/auth.log"</a:t>
            </a:r>
          </a:p>
          <a:p>
            <a:pPr algn="l">
              <a:lnSpc>
                <a:spcPct val="145000"/>
              </a:lnSpc>
            </a:pPr>
            <a:r>
              <a:rPr sz="900" noProof="1">
                <a:solidFill>
                  <a:srgbClr val="E8C99A"/>
                </a:solidFill>
                <a:latin typeface="Liter"/>
                <a:ea typeface="Liter"/>
              </a:rPr>
              <a:t>  }</a:t>
            </a:r>
          </a:p>
          <a:p>
            <a:pPr algn="l">
              <a:lnSpc>
                <a:spcPct val="145000"/>
              </a:lnSpc>
            </a:pPr>
            <a:r>
              <a:rPr sz="900" noProof="1">
                <a:solidFill>
                  <a:srgbClr val="E8C99A"/>
                </a:solidFill>
                <a:latin typeface="Liter"/>
                <a:ea typeface="Liter"/>
              </a:rPr>
              <a:t>}</a:t>
            </a:r>
          </a:p>
        </p:txBody>
      </p:sp>
      <p:cxnSp>
        <p:nvCxnSpPr>
          <p:cNvPr id="17" name="dsl:transform-arrow"/>
          <p:cNvCxnSpPr/>
          <p:nvPr/>
        </p:nvCxnSpPr>
        <p:spPr>
          <a:xfrm>
            <a:off x="5715000" y="2762250"/>
            <a:ext cx="476250" cy="0"/>
          </a:xfrm>
          <a:prstGeom prst="straightConnector1">
            <a:avLst/>
          </a:prstGeom>
          <a:ln w="381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8" name="dsl:transform-label"/>
          <p:cNvSpPr txBox="1"/>
          <p:nvPr/>
        </p:nvSpPr>
        <p:spPr>
          <a:xfrm>
            <a:off x="5734050" y="2524125"/>
            <a:ext cx="438150" cy="190500"/>
          </a:xfrm>
          <a:prstGeom prst="rect">
            <a:avLst/>
          </a:prstGeom>
          <a:noFill/>
        </p:spPr>
        <p:txBody>
          <a:bodyPr wrap="none" anchor="ctr">
            <a:noAutofit/>
          </a:bodyPr>
          <a:lstStyle/>
          <a:p>
            <a:pPr algn="ctr"/>
            <a:r>
              <a:rPr b="1" sz="825" noProof="1">
                <a:solidFill>
                  <a:srgbClr val="D4A373"/>
                </a:solidFill>
                <a:latin typeface="Liter"/>
                <a:ea typeface="Liter"/>
              </a:rPr>
              <a:t>MAP</a:t>
            </a:r>
          </a:p>
        </p:txBody>
      </p:sp>
      <p:sp>
        <p:nvSpPr>
          <p:cNvPr id="19" name="dsl:norm-label"/>
          <p:cNvSpPr txBox="1"/>
          <p:nvPr/>
        </p:nvSpPr>
        <p:spPr>
          <a:xfrm>
            <a:off x="6286500" y="1095375"/>
            <a:ext cx="2857500" cy="266700"/>
          </a:xfrm>
          <a:prstGeom prst="rect">
            <a:avLst/>
          </a:prstGeom>
          <a:noFill/>
        </p:spPr>
        <p:txBody>
          <a:bodyPr wrap="none" anchor="t">
            <a:noAutofit/>
          </a:bodyPr>
          <a:lstStyle/>
          <a:p>
            <a:pPr algn="l"/>
            <a:r>
              <a:rPr b="1" sz="1200" noProof="1" spc="150">
                <a:solidFill>
                  <a:srgbClr val="2D6A6A"/>
                </a:solidFill>
                <a:latin typeface="Liter"/>
                <a:ea typeface="Liter"/>
              </a:rPr>
              <a:t>NORMALIZED SOC ALERT</a:t>
            </a:r>
          </a:p>
        </p:txBody>
      </p:sp>
      <p:sp>
        <p:nvSpPr>
          <p:cNvPr id="20" name="dsl:norm-bg"/>
          <p:cNvSpPr/>
          <p:nvPr/>
        </p:nvSpPr>
        <p:spPr>
          <a:xfrm>
            <a:off x="6286500" y="1409700"/>
            <a:ext cx="5334000" cy="2952750"/>
          </a:xfrm>
          <a:prstGeom prst="rect">
            <a:avLst/>
          </a:prstGeom>
          <a:solidFill>
            <a:srgbClr val="F5F5F2"/>
          </a:solidFill>
          <a:ln w="254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norm-content"/>
          <p:cNvSpPr txBox="1"/>
          <p:nvPr/>
        </p:nvSpPr>
        <p:spPr>
          <a:xfrm>
            <a:off x="6477000" y="1524000"/>
            <a:ext cx="4953000" cy="2714625"/>
          </a:xfrm>
          <a:prstGeom prst="rect">
            <a:avLst/>
          </a:prstGeom>
          <a:noFill/>
        </p:spPr>
        <p:txBody>
          <a:bodyPr wrap="square" anchor="t">
            <a:noAutofit/>
          </a:bodyPr>
          <a:lstStyle/>
          <a:p>
            <a:pPr algn="l">
              <a:lnSpc>
                <a:spcPct val="160000"/>
              </a:lnSpc>
            </a:pPr>
            <a:r>
              <a:rPr b="1" sz="975" noProof="1">
                <a:solidFill>
                  <a:srgbClr val="2D6A6A"/>
                </a:solidFill>
                <a:latin typeface="QuattrocentoSans"/>
                <a:ea typeface="QuattrocentoSans"/>
              </a:rPr>
              <a:t>title:</a:t>
            </a:r>
            <a:r>
              <a:rPr sz="975" noProof="1">
                <a:solidFill>
                  <a:srgbClr val="2B2D2F"/>
                </a:solidFill>
                <a:latin typeface="QuattrocentoSans"/>
                <a:ea typeface="QuattrocentoSans"/>
              </a:rPr>
              <a:t>          SSH Brute Force Attack Detected</a:t>
            </a:r>
          </a:p>
          <a:p>
            <a:pPr algn="l">
              <a:lnSpc>
                <a:spcPct val="160000"/>
              </a:lnSpc>
            </a:pPr>
            <a:r>
              <a:rPr b="1" sz="975" noProof="1">
                <a:solidFill>
                  <a:srgbClr val="2D6A6A"/>
                </a:solidFill>
                <a:latin typeface="QuattrocentoSans"/>
                <a:ea typeface="QuattrocentoSans"/>
              </a:rPr>
              <a:t>severity:</a:t>
            </a:r>
            <a:r>
              <a:rPr sz="975" noProof="1">
                <a:solidFill>
                  <a:srgbClr val="2B2D2F"/>
                </a:solidFill>
                <a:latin typeface="QuattrocentoSans"/>
                <a:ea typeface="QuattrocentoSans"/>
              </a:rPr>
              <a:t>       10 (high)</a:t>
            </a:r>
          </a:p>
          <a:p>
            <a:pPr algn="l">
              <a:lnSpc>
                <a:spcPct val="160000"/>
              </a:lnSpc>
            </a:pPr>
            <a:r>
              <a:rPr b="1" sz="975" noProof="1">
                <a:solidFill>
                  <a:srgbClr val="2D6A6A"/>
                </a:solidFill>
                <a:latin typeface="QuattrocentoSans"/>
                <a:ea typeface="QuattrocentoSans"/>
              </a:rPr>
              <a:t>source:</a:t>
            </a:r>
            <a:r>
              <a:rPr sz="975" noProof="1">
                <a:solidFill>
                  <a:srgbClr val="2B2D2F"/>
                </a:solidFill>
                <a:latin typeface="QuattrocentoSans"/>
                <a:ea typeface="QuattrocentoSans"/>
              </a:rPr>
              <a:t>         Wazuh</a:t>
            </a:r>
          </a:p>
          <a:p>
            <a:pPr algn="l">
              <a:lnSpc>
                <a:spcPct val="160000"/>
              </a:lnSpc>
            </a:pPr>
            <a:r>
              <a:rPr b="1" sz="975" noProof="1">
                <a:solidFill>
                  <a:srgbClr val="2D6A6A"/>
                </a:solidFill>
                <a:latin typeface="QuattrocentoSans"/>
                <a:ea typeface="QuattrocentoSans"/>
              </a:rPr>
              <a:t>timestamp:</a:t>
            </a:r>
            <a:r>
              <a:rPr sz="975" noProof="1">
                <a:solidFill>
                  <a:srgbClr val="2B2D2F"/>
                </a:solidFill>
                <a:latin typeface="QuattrocentoSans"/>
                <a:ea typeface="QuattrocentoSans"/>
              </a:rPr>
              <a:t>      2026-01-15T08:23:17Z</a:t>
            </a:r>
          </a:p>
          <a:p>
            <a:pPr algn="l">
              <a:lnSpc>
                <a:spcPct val="160000"/>
              </a:lnSpc>
            </a:pPr>
            <a:r>
              <a:rPr b="1" sz="975" noProof="1">
                <a:solidFill>
                  <a:srgbClr val="2D6A6A"/>
                </a:solidFill>
                <a:latin typeface="QuattrocentoSans"/>
                <a:ea typeface="QuattrocentoSans"/>
              </a:rPr>
              <a:t>source_ip:</a:t>
            </a:r>
            <a:r>
              <a:rPr sz="975" noProof="1">
                <a:solidFill>
                  <a:srgbClr val="2B2D2F"/>
                </a:solidFill>
                <a:latin typeface="QuattrocentoSans"/>
                <a:ea typeface="QuattrocentoSans"/>
              </a:rPr>
              <a:t>      203.0.113.44</a:t>
            </a:r>
          </a:p>
          <a:p>
            <a:pPr algn="l">
              <a:lnSpc>
                <a:spcPct val="160000"/>
              </a:lnSpc>
            </a:pPr>
            <a:r>
              <a:rPr b="1" sz="975" noProof="1">
                <a:solidFill>
                  <a:srgbClr val="2D6A6A"/>
                </a:solidFill>
                <a:latin typeface="QuattrocentoSans"/>
                <a:ea typeface="QuattrocentoSans"/>
              </a:rPr>
              <a:t>hostname:</a:t>
            </a:r>
            <a:r>
              <a:rPr sz="975" noProof="1">
                <a:solidFill>
                  <a:srgbClr val="2B2D2F"/>
                </a:solidFill>
                <a:latin typeface="QuattrocentoSans"/>
                <a:ea typeface="QuattrocentoSans"/>
              </a:rPr>
              <a:t>     web-server-01</a:t>
            </a:r>
          </a:p>
          <a:p>
            <a:pPr algn="l">
              <a:lnSpc>
                <a:spcPct val="160000"/>
              </a:lnSpc>
            </a:pPr>
            <a:r>
              <a:rPr b="1" sz="975" noProof="1">
                <a:solidFill>
                  <a:srgbClr val="2D6A6A"/>
                </a:solidFill>
                <a:latin typeface="QuattrocentoSans"/>
                <a:ea typeface="QuattrocentoSans"/>
              </a:rPr>
              <a:t>rule_name:</a:t>
            </a:r>
            <a:r>
              <a:rPr sz="975" noProof="1">
                <a:solidFill>
                  <a:srgbClr val="2B2D2F"/>
                </a:solidFill>
                <a:latin typeface="QuattrocentoSans"/>
                <a:ea typeface="QuattrocentoSans"/>
              </a:rPr>
              <a:t>    ssh_brute_force</a:t>
            </a:r>
          </a:p>
          <a:p>
            <a:pPr algn="l">
              <a:lnSpc>
                <a:spcPct val="160000"/>
              </a:lnSpc>
            </a:pPr>
            <a:r>
              <a:rPr b="1" sz="975" noProof="1">
                <a:solidFill>
                  <a:srgbClr val="D4A373"/>
                </a:solidFill>
                <a:latin typeface="QuattrocentoSans"/>
                <a:ea typeface="QuattrocentoSans"/>
              </a:rPr>
              <a:t>geoip.country:</a:t>
            </a:r>
            <a:r>
              <a:rPr sz="975" noProof="1">
                <a:solidFill>
                  <a:srgbClr val="2B2D2F"/>
                </a:solidFill>
                <a:latin typeface="QuattrocentoSans"/>
                <a:ea typeface="QuattrocentoSans"/>
              </a:rPr>
              <a:t>  CN (China)</a:t>
            </a:r>
          </a:p>
          <a:p>
            <a:pPr algn="l">
              <a:lnSpc>
                <a:spcPct val="160000"/>
              </a:lnSpc>
            </a:pPr>
            <a:r>
              <a:rPr b="1" sz="975" noProof="1">
                <a:solidFill>
                  <a:srgbClr val="D4A373"/>
                </a:solidFill>
                <a:latin typeface="QuattrocentoSans"/>
                <a:ea typeface="QuattrocentoSans"/>
              </a:rPr>
              <a:t>geoip.city:</a:t>
            </a:r>
            <a:r>
              <a:rPr sz="975" noProof="1">
                <a:solidFill>
                  <a:srgbClr val="2B2D2F"/>
                </a:solidFill>
                <a:latin typeface="QuattrocentoSans"/>
                <a:ea typeface="QuattrocentoSans"/>
              </a:rPr>
              <a:t>     Beijing</a:t>
            </a:r>
          </a:p>
          <a:p>
            <a:pPr algn="l">
              <a:lnSpc>
                <a:spcPct val="160000"/>
              </a:lnSpc>
            </a:pPr>
            <a:r>
              <a:rPr b="1" sz="975" noProof="1">
                <a:solidFill>
                  <a:srgbClr val="D4A373"/>
                </a:solidFill>
                <a:latin typeface="QuattrocentoSans"/>
                <a:ea typeface="QuattrocentoSans"/>
              </a:rPr>
              <a:t>mitre.tactic:</a:t>
            </a:r>
            <a:r>
              <a:rPr sz="975" noProof="1">
                <a:solidFill>
                  <a:srgbClr val="2B2D2F"/>
                </a:solidFill>
                <a:latin typeface="QuattrocentoSans"/>
                <a:ea typeface="QuattrocentoSans"/>
              </a:rPr>
              <a:t>   Credential Access</a:t>
            </a:r>
          </a:p>
          <a:p>
            <a:pPr algn="l">
              <a:lnSpc>
                <a:spcPct val="160000"/>
              </a:lnSpc>
            </a:pPr>
            <a:r>
              <a:rPr b="1" sz="975" noProof="1">
                <a:solidFill>
                  <a:srgbClr val="D4A373"/>
                </a:solidFill>
                <a:latin typeface="QuattrocentoSans"/>
                <a:ea typeface="QuattrocentoSans"/>
              </a:rPr>
              <a:t>mitre.tech:</a:t>
            </a:r>
            <a:r>
              <a:rPr sz="975" noProof="1">
                <a:solidFill>
                  <a:srgbClr val="2B2D2F"/>
                </a:solidFill>
                <a:latin typeface="QuattrocentoSans"/>
                <a:ea typeface="QuattrocentoSans"/>
              </a:rPr>
              <a:t>   T1110 (Brute Force)</a:t>
            </a:r>
          </a:p>
        </p:txBody>
      </p:sp>
      <p:sp>
        <p:nvSpPr>
          <p:cNvPr id="22" name="dsl:mappers-bg"/>
          <p:cNvSpPr/>
          <p:nvPr/>
        </p:nvSpPr>
        <p:spPr>
          <a:xfrm>
            <a:off x="571500" y="4572000"/>
            <a:ext cx="11049000" cy="47625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mappers-text"/>
          <p:cNvSpPr txBox="1"/>
          <p:nvPr/>
        </p:nvSpPr>
        <p:spPr>
          <a:xfrm>
            <a:off x="762000" y="4572000"/>
            <a:ext cx="10668000" cy="476250"/>
          </a:xfrm>
          <a:prstGeom prst="rect">
            <a:avLst/>
          </a:prstGeom>
          <a:noFill/>
        </p:spPr>
        <p:txBody>
          <a:bodyPr wrap="none" anchor="ctr">
            <a:noAutofit/>
          </a:bodyPr>
          <a:lstStyle/>
          <a:p>
            <a:pPr algn="ctr"/>
            <a:r>
              <a:rPr b="1" sz="1050" noProof="1">
                <a:solidFill>
                  <a:srgbClr val="2B2D2F"/>
                </a:solidFill>
                <a:latin typeface="QuattrocentoSans"/>
                <a:ea typeface="QuattrocentoSans"/>
              </a:rPr>
              <a:t>Source-Specific Mappers:</a:t>
            </a:r>
            <a:r>
              <a:rPr sz="1050" noProof="1">
                <a:solidFill>
                  <a:srgbClr val="2B2D2F"/>
                </a:solidFill>
                <a:latin typeface="QuattrocentoSans"/>
                <a:ea typeface="QuattrocentoSans"/>
              </a:rPr>
              <a:t> wazuh.py | suricata.py | falco.py | filebeat.py | generic.py  →  Common Alert Model</a:t>
            </a:r>
          </a:p>
        </p:txBody>
      </p:sp>
      <p:sp>
        <p:nvSpPr>
          <p:cNvPr id="24"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25"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Active"/>
          <p:cNvSpPr txBox="1"/>
          <p:nvPr/>
        </p:nvSpPr>
        <p:spPr>
          <a:xfrm>
            <a:off x="44577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44577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57150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Deduplication &amp; Noise Filtering</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pipeline-order"/>
          <p:cNvSpPr txBox="1"/>
          <p:nvPr/>
        </p:nvSpPr>
        <p:spPr>
          <a:xfrm>
            <a:off x="571500" y="1028700"/>
            <a:ext cx="5715000" cy="228600"/>
          </a:xfrm>
          <a:prstGeom prst="rect">
            <a:avLst/>
          </a:prstGeom>
          <a:noFill/>
        </p:spPr>
        <p:txBody>
          <a:bodyPr wrap="none" anchor="t">
            <a:noAutofit/>
          </a:bodyPr>
          <a:lstStyle/>
          <a:p>
            <a:pPr algn="l"/>
            <a:r>
              <a:rPr sz="1050" noProof="1">
                <a:solidFill>
                  <a:srgbClr val="5C6B73"/>
                </a:solidFill>
                <a:latin typeface="QuattrocentoSans"/>
                <a:ea typeface="QuattrocentoSans"/>
              </a:rPr>
              <a:t>Ordered logic: deduplicate first  →  filter noise second  →  enrich third</a:t>
            </a:r>
          </a:p>
        </p:txBody>
      </p:sp>
      <p:sp>
        <p:nvSpPr>
          <p:cNvPr id="15" name="dsl:stage1-bg"/>
          <p:cNvSpPr/>
          <p:nvPr/>
        </p:nvSpPr>
        <p:spPr>
          <a:xfrm>
            <a:off x="571500" y="1409700"/>
            <a:ext cx="5334000" cy="19050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stage1-label"/>
          <p:cNvSpPr txBox="1"/>
          <p:nvPr/>
        </p:nvSpPr>
        <p:spPr>
          <a:xfrm>
            <a:off x="762000" y="1504950"/>
            <a:ext cx="3333750" cy="266700"/>
          </a:xfrm>
          <a:prstGeom prst="rect">
            <a:avLst/>
          </a:prstGeom>
          <a:noFill/>
        </p:spPr>
        <p:txBody>
          <a:bodyPr wrap="none" anchor="t">
            <a:noAutofit/>
          </a:bodyPr>
          <a:lstStyle/>
          <a:p>
            <a:pPr algn="l"/>
            <a:r>
              <a:rPr b="1" sz="1200" noProof="1" spc="150">
                <a:solidFill>
                  <a:srgbClr val="D4A373"/>
                </a:solidFill>
                <a:latin typeface="Liter"/>
                <a:ea typeface="Liter"/>
              </a:rPr>
              <a:t>STAGE 1: DEDUPLICATION</a:t>
            </a:r>
          </a:p>
        </p:txBody>
      </p:sp>
      <p:sp>
        <p:nvSpPr>
          <p:cNvPr id="17" name="dsl:stage1-desc"/>
          <p:cNvSpPr txBox="1"/>
          <p:nvPr/>
        </p:nvSpPr>
        <p:spPr>
          <a:xfrm>
            <a:off x="762000" y="1809750"/>
            <a:ext cx="4953000" cy="1381125"/>
          </a:xfrm>
          <a:prstGeom prst="rect">
            <a:avLst/>
          </a:prstGeom>
          <a:noFill/>
        </p:spPr>
        <p:txBody>
          <a:bodyPr wrap="square" anchor="t">
            <a:noAutofit/>
          </a:bodyPr>
          <a:lstStyle/>
          <a:p>
            <a:pPr algn="l">
              <a:lnSpc>
                <a:spcPct val="160000"/>
              </a:lnSpc>
            </a:pPr>
            <a:r>
              <a:rPr sz="1125" noProof="1">
                <a:solidFill>
                  <a:srgbClr val="FFFFFF"/>
                </a:solidFill>
                <a:latin typeface="QuattrocentoSans"/>
                <a:ea typeface="QuattrocentoSans"/>
              </a:rPr>
              <a:t>Layered duplicate detection in three tiers:</a:t>
            </a:r>
          </a:p>
          <a:p>
            <a:pPr algn="l">
              <a:lnSpc>
                <a:spcPct val="160000"/>
              </a:lnSpc>
            </a:pPr>
            <a:r>
              <a:rPr b="1" sz="1125" noProof="1">
                <a:solidFill>
                  <a:srgbClr val="FFFFFF"/>
                </a:solidFill>
                <a:latin typeface="QuattrocentoSans"/>
                <a:ea typeface="QuattrocentoSans"/>
              </a:rPr>
              <a:t>1. Redis keys</a:t>
            </a:r>
            <a:r>
              <a:rPr sz="1125" noProof="1">
                <a:solidFill>
                  <a:srgbClr val="FFFFFF"/>
                </a:solidFill>
                <a:latin typeface="QuattrocentoSans"/>
                <a:ea typeface="QuattrocentoSans"/>
              </a:rPr>
              <a:t> — short-term repeat detection (seconds)</a:t>
            </a:r>
          </a:p>
          <a:p>
            <a:pPr algn="l">
              <a:lnSpc>
                <a:spcPct val="160000"/>
              </a:lnSpc>
            </a:pPr>
            <a:r>
              <a:rPr b="1" sz="1125" noProof="1">
                <a:solidFill>
                  <a:srgbClr val="FFFFFF"/>
                </a:solidFill>
                <a:latin typeface="QuattrocentoSans"/>
                <a:ea typeface="QuattrocentoSans"/>
              </a:rPr>
              <a:t>2. In-memory set</a:t>
            </a:r>
            <a:r>
              <a:rPr sz="1125" noProof="1">
                <a:solidFill>
                  <a:srgbClr val="FFFFFF"/>
                </a:solidFill>
                <a:latin typeface="QuattrocentoSans"/>
                <a:ea typeface="QuattrocentoSans"/>
              </a:rPr>
              <a:t> — within-cycle repeat tracking</a:t>
            </a:r>
          </a:p>
          <a:p>
            <a:pPr algn="l">
              <a:lnSpc>
                <a:spcPct val="160000"/>
              </a:lnSpc>
            </a:pPr>
            <a:r>
              <a:rPr b="1" sz="1125" noProof="1">
                <a:solidFill>
                  <a:srgbClr val="FFFFFF"/>
                </a:solidFill>
                <a:latin typeface="QuattrocentoSans"/>
                <a:ea typeface="QuattrocentoSans"/>
              </a:rPr>
              <a:t>3. DB check</a:t>
            </a:r>
            <a:r>
              <a:rPr sz="1125" noProof="1">
                <a:solidFill>
                  <a:srgbClr val="FFFFFF"/>
                </a:solidFill>
                <a:latin typeface="QuattrocentoSans"/>
                <a:ea typeface="QuattrocentoSans"/>
              </a:rPr>
              <a:t> — already-persisted duplicate lookup</a:t>
            </a:r>
          </a:p>
        </p:txBody>
      </p:sp>
      <p:cxnSp>
        <p:nvCxnSpPr>
          <p:cNvPr id="18" name="dsl:stage-arrow"/>
          <p:cNvCxnSpPr/>
          <p:nvPr/>
        </p:nvCxnSpPr>
        <p:spPr>
          <a:xfrm>
            <a:off x="5905500" y="2762250"/>
            <a:ext cx="381000" cy="0"/>
          </a:xfrm>
          <a:prstGeom prst="straightConnector1">
            <a:avLst/>
          </a:prstGeom>
          <a:ln w="381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9" name="dsl:stage2-bg"/>
          <p:cNvSpPr/>
          <p:nvPr/>
        </p:nvSpPr>
        <p:spPr>
          <a:xfrm>
            <a:off x="6286500" y="1409700"/>
            <a:ext cx="5334000" cy="1905000"/>
          </a:xfrm>
          <a:prstGeom prst="rect">
            <a:avLst/>
          </a:prstGeom>
          <a:solidFill>
            <a:srgbClr val="4A4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stage2-label"/>
          <p:cNvSpPr txBox="1"/>
          <p:nvPr/>
        </p:nvSpPr>
        <p:spPr>
          <a:xfrm>
            <a:off x="6477000" y="1504950"/>
            <a:ext cx="3333750" cy="266700"/>
          </a:xfrm>
          <a:prstGeom prst="rect">
            <a:avLst/>
          </a:prstGeom>
          <a:noFill/>
        </p:spPr>
        <p:txBody>
          <a:bodyPr wrap="none" anchor="t">
            <a:noAutofit/>
          </a:bodyPr>
          <a:lstStyle/>
          <a:p>
            <a:pPr algn="l"/>
            <a:r>
              <a:rPr b="1" sz="1200" noProof="1" spc="150">
                <a:solidFill>
                  <a:srgbClr val="D4A373"/>
                </a:solidFill>
                <a:latin typeface="Liter"/>
                <a:ea typeface="Liter"/>
              </a:rPr>
              <a:t>STAGE 2: NOISE FILTERING</a:t>
            </a:r>
          </a:p>
        </p:txBody>
      </p:sp>
      <p:sp>
        <p:nvSpPr>
          <p:cNvPr id="21" name="dsl:stage2-desc"/>
          <p:cNvSpPr txBox="1"/>
          <p:nvPr/>
        </p:nvSpPr>
        <p:spPr>
          <a:xfrm>
            <a:off x="6477000" y="1809750"/>
            <a:ext cx="4953000" cy="1381125"/>
          </a:xfrm>
          <a:prstGeom prst="rect">
            <a:avLst/>
          </a:prstGeom>
          <a:noFill/>
        </p:spPr>
        <p:txBody>
          <a:bodyPr wrap="square" anchor="t">
            <a:noAutofit/>
          </a:bodyPr>
          <a:lstStyle/>
          <a:p>
            <a:pPr algn="l">
              <a:lnSpc>
                <a:spcPct val="160000"/>
              </a:lnSpc>
            </a:pPr>
            <a:r>
              <a:rPr sz="1125" noProof="1">
                <a:solidFill>
                  <a:srgbClr val="FFFFFF"/>
                </a:solidFill>
                <a:latin typeface="QuattrocentoSans"/>
                <a:ea typeface="QuattrocentoSans"/>
              </a:rPr>
              <a:t>Sigma rules identify known-noisy event categories:</a:t>
            </a:r>
          </a:p>
          <a:p>
            <a:pPr algn="l">
              <a:lnSpc>
                <a:spcPct val="160000"/>
              </a:lnSpc>
            </a:pPr>
            <a:r>
              <a:rPr b="1" sz="1125" noProof="1">
                <a:solidFill>
                  <a:srgbClr val="FFFFFF"/>
                </a:solidFill>
                <a:latin typeface="QuattrocentoSans"/>
                <a:ea typeface="QuattrocentoSans"/>
              </a:rPr>
              <a:t>Low-value DNS</a:t>
            </a:r>
            <a:r>
              <a:rPr sz="1125" noProof="1">
                <a:solidFill>
                  <a:srgbClr val="FFFFFF"/>
                </a:solidFill>
                <a:latin typeface="QuattrocentoSans"/>
                <a:ea typeface="QuattrocentoSans"/>
              </a:rPr>
              <a:t> queries and NXDOMAIN floods</a:t>
            </a:r>
          </a:p>
          <a:p>
            <a:pPr algn="l">
              <a:lnSpc>
                <a:spcPct val="160000"/>
              </a:lnSpc>
            </a:pPr>
            <a:r>
              <a:rPr b="1" sz="1125" noProof="1">
                <a:solidFill>
                  <a:srgbClr val="FFFFFF"/>
                </a:solidFill>
                <a:latin typeface="QuattrocentoSans"/>
                <a:ea typeface="QuattrocentoSans"/>
              </a:rPr>
              <a:t>Routine HTTP</a:t>
            </a:r>
            <a:r>
              <a:rPr sz="1125" noProof="1">
                <a:solidFill>
                  <a:srgbClr val="FFFFFF"/>
                </a:solidFill>
                <a:latin typeface="QuattrocentoSans"/>
                <a:ea typeface="QuattrocentoSans"/>
              </a:rPr>
              <a:t> probes, protocol chatter, ICMP</a:t>
            </a:r>
          </a:p>
          <a:p>
            <a:pPr algn="l">
              <a:lnSpc>
                <a:spcPct val="160000"/>
              </a:lnSpc>
            </a:pPr>
            <a:r>
              <a:rPr b="1" sz="1125" noProof="1">
                <a:solidFill>
                  <a:srgbClr val="FFFFFF"/>
                </a:solidFill>
                <a:latin typeface="QuattrocentoSans"/>
                <a:ea typeface="QuattrocentoSans"/>
              </a:rPr>
              <a:t>Container noise</a:t>
            </a:r>
            <a:r>
              <a:rPr sz="1125" noProof="1">
                <a:solidFill>
                  <a:srgbClr val="FFFFFF"/>
                </a:solidFill>
                <a:latin typeface="QuattrocentoSans"/>
                <a:ea typeface="QuattrocentoSans"/>
              </a:rPr>
              <a:t> — routine Falco activity</a:t>
            </a:r>
          </a:p>
        </p:txBody>
      </p:sp>
      <p:sp>
        <p:nvSpPr>
          <p:cNvPr id="22" name="dsl:result-bg"/>
          <p:cNvSpPr/>
          <p:nvPr/>
        </p:nvSpPr>
        <p:spPr>
          <a:xfrm>
            <a:off x="571500" y="3571875"/>
            <a:ext cx="11049000" cy="571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result-text"/>
          <p:cNvSpPr txBox="1"/>
          <p:nvPr/>
        </p:nvSpPr>
        <p:spPr>
          <a:xfrm>
            <a:off x="762000" y="3571875"/>
            <a:ext cx="10668000" cy="571500"/>
          </a:xfrm>
          <a:prstGeom prst="rect">
            <a:avLst/>
          </a:prstGeom>
          <a:noFill/>
        </p:spPr>
        <p:txBody>
          <a:bodyPr wrap="none" anchor="ctr">
            <a:noAutofit/>
          </a:bodyPr>
          <a:lstStyle/>
          <a:p>
            <a:pPr algn="ctr"/>
            <a:r>
              <a:rPr sz="1200" noProof="1">
                <a:solidFill>
                  <a:srgbClr val="2B2D2F"/>
                </a:solidFill>
                <a:latin typeface="QuattrocentoSans"/>
                <a:ea typeface="QuattrocentoSans"/>
              </a:rPr>
              <a:t>Only alerts above severity threshold that survive both stages become </a:t>
            </a:r>
            <a:r>
              <a:rPr b="1" sz="1200" noProof="1">
                <a:solidFill>
                  <a:srgbClr val="2B2D2F"/>
                </a:solidFill>
                <a:latin typeface="QuattrocentoSans"/>
                <a:ea typeface="QuattrocentoSans"/>
              </a:rPr>
              <a:t>active</a:t>
            </a:r>
            <a:r>
              <a:rPr sz="1200" noProof="1">
                <a:solidFill>
                  <a:srgbClr val="2B2D2F"/>
                </a:solidFill>
                <a:latin typeface="QuattrocentoSans"/>
                <a:ea typeface="QuattrocentoSans"/>
              </a:rPr>
              <a:t> and proceed to correlation</a:t>
            </a:r>
          </a:p>
        </p:txBody>
      </p:sp>
      <p:sp>
        <p:nvSpPr>
          <p:cNvPr id="24"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25"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Active"/>
          <p:cNvSpPr txBox="1"/>
          <p:nvPr/>
        </p:nvSpPr>
        <p:spPr>
          <a:xfrm>
            <a:off x="44577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44577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47625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Incident Correlation</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signals-label"/>
          <p:cNvSpPr txBox="1"/>
          <p:nvPr/>
        </p:nvSpPr>
        <p:spPr>
          <a:xfrm>
            <a:off x="571500" y="1095375"/>
            <a:ext cx="2857500" cy="266700"/>
          </a:xfrm>
          <a:prstGeom prst="rect">
            <a:avLst/>
          </a:prstGeom>
          <a:noFill/>
        </p:spPr>
        <p:txBody>
          <a:bodyPr wrap="none" anchor="t">
            <a:noAutofit/>
          </a:bodyPr>
          <a:lstStyle/>
          <a:p>
            <a:pPr algn="l"/>
            <a:r>
              <a:rPr b="1" sz="1200" noProof="1" spc="150">
                <a:solidFill>
                  <a:srgbClr val="2D6A6A"/>
                </a:solidFill>
                <a:latin typeface="Liter"/>
                <a:ea typeface="Liter"/>
              </a:rPr>
              <a:t>CORRELATION SIGNALS</a:t>
            </a:r>
          </a:p>
        </p:txBody>
      </p:sp>
      <p:sp>
        <p:nvSpPr>
          <p:cNvPr id="15" name="dsl:signals-bg"/>
          <p:cNvSpPr/>
          <p:nvPr/>
        </p:nvSpPr>
        <p:spPr>
          <a:xfrm>
            <a:off x="571500" y="1428750"/>
            <a:ext cx="33337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signals-content"/>
          <p:cNvSpPr txBox="1"/>
          <p:nvPr/>
        </p:nvSpPr>
        <p:spPr>
          <a:xfrm>
            <a:off x="762000" y="1571625"/>
            <a:ext cx="2952750" cy="2190750"/>
          </a:xfrm>
          <a:prstGeom prst="rect">
            <a:avLst/>
          </a:prstGeom>
          <a:noFill/>
        </p:spPr>
        <p:txBody>
          <a:bodyPr wrap="square" anchor="t">
            <a:noAutofit/>
          </a:bodyPr>
          <a:lstStyle/>
          <a:p>
            <a:pPr algn="l">
              <a:lnSpc>
                <a:spcPct val="170000"/>
              </a:lnSpc>
            </a:pPr>
            <a:r>
              <a:rPr b="1" sz="1125" noProof="1">
                <a:solidFill>
                  <a:srgbClr val="2D6A6A"/>
                </a:solidFill>
                <a:latin typeface="QuattrocentoSans"/>
                <a:ea typeface="QuattrocentoSans"/>
              </a:rPr>
              <a:t>Source IP</a:t>
            </a:r>
            <a:r>
              <a:rPr sz="1125" noProof="1">
                <a:solidFill>
                  <a:srgbClr val="2B2D2F"/>
                </a:solidFill>
                <a:latin typeface="QuattrocentoSans"/>
                <a:ea typeface="QuattrocentoSans"/>
              </a:rPr>
              <a:t> — same attacker origin</a:t>
            </a:r>
          </a:p>
          <a:p>
            <a:pPr algn="l">
              <a:lnSpc>
                <a:spcPct val="170000"/>
              </a:lnSpc>
            </a:pPr>
            <a:r>
              <a:rPr b="1" sz="1125" noProof="1">
                <a:solidFill>
                  <a:srgbClr val="2D6A6A"/>
                </a:solidFill>
                <a:latin typeface="QuattrocentoSans"/>
                <a:ea typeface="QuattrocentoSans"/>
              </a:rPr>
              <a:t>Hostname</a:t>
            </a:r>
            <a:r>
              <a:rPr sz="1125" noProof="1">
                <a:solidFill>
                  <a:srgbClr val="2B2D2F"/>
                </a:solidFill>
                <a:latin typeface="QuattrocentoSans"/>
                <a:ea typeface="QuattrocentoSans"/>
              </a:rPr>
              <a:t> — same target asset</a:t>
            </a:r>
          </a:p>
          <a:p>
            <a:pPr algn="l">
              <a:lnSpc>
                <a:spcPct val="170000"/>
              </a:lnSpc>
            </a:pPr>
            <a:r>
              <a:rPr b="1" sz="1125" noProof="1">
                <a:solidFill>
                  <a:srgbClr val="2D6A6A"/>
                </a:solidFill>
                <a:latin typeface="QuattrocentoSans"/>
                <a:ea typeface="QuattrocentoSans"/>
              </a:rPr>
              <a:t>MITRE pattern</a:t>
            </a:r>
            <a:r>
              <a:rPr sz="1125" noProof="1">
                <a:solidFill>
                  <a:srgbClr val="2B2D2F"/>
                </a:solidFill>
                <a:latin typeface="QuattrocentoSans"/>
                <a:ea typeface="QuattrocentoSans"/>
              </a:rPr>
              <a:t> — tactic/technique match</a:t>
            </a:r>
          </a:p>
          <a:p>
            <a:pPr algn="l">
              <a:lnSpc>
                <a:spcPct val="170000"/>
              </a:lnSpc>
            </a:pPr>
            <a:r>
              <a:rPr b="1" sz="1125" noProof="1">
                <a:solidFill>
                  <a:srgbClr val="2D6A6A"/>
                </a:solidFill>
                <a:latin typeface="QuattrocentoSans"/>
                <a:ea typeface="QuattrocentoSans"/>
              </a:rPr>
              <a:t>Kill-chain</a:t>
            </a:r>
            <a:r>
              <a:rPr sz="1125" noProof="1">
                <a:solidFill>
                  <a:srgbClr val="2B2D2F"/>
                </a:solidFill>
                <a:latin typeface="QuattrocentoSans"/>
                <a:ea typeface="QuattrocentoSans"/>
              </a:rPr>
              <a:t> — attack progression</a:t>
            </a:r>
          </a:p>
          <a:p>
            <a:pPr algn="l">
              <a:lnSpc>
                <a:spcPct val="170000"/>
              </a:lnSpc>
            </a:pPr>
            <a:r>
              <a:rPr b="1" sz="1125" noProof="1">
                <a:solidFill>
                  <a:srgbClr val="2D6A6A"/>
                </a:solidFill>
                <a:latin typeface="QuattrocentoSans"/>
                <a:ea typeface="QuattrocentoSans"/>
              </a:rPr>
              <a:t>Time window</a:t>
            </a:r>
            <a:r>
              <a:rPr sz="1125" noProof="1">
                <a:solidFill>
                  <a:srgbClr val="2B2D2F"/>
                </a:solidFill>
                <a:latin typeface="QuattrocentoSans"/>
                <a:ea typeface="QuattrocentoSans"/>
              </a:rPr>
              <a:t> — temporal proximity</a:t>
            </a:r>
          </a:p>
          <a:p>
            <a:pPr algn="l">
              <a:lnSpc>
                <a:spcPct val="170000"/>
              </a:lnSpc>
            </a:pPr>
            <a:r>
              <a:rPr b="1" sz="1125" noProof="1">
                <a:solidFill>
                  <a:srgbClr val="2D6A6A"/>
                </a:solidFill>
                <a:latin typeface="QuattrocentoSans"/>
                <a:ea typeface="QuattrocentoSans"/>
              </a:rPr>
              <a:t>User/Container</a:t>
            </a:r>
            <a:r>
              <a:rPr sz="1125" noProof="1">
                <a:solidFill>
                  <a:srgbClr val="2B2D2F"/>
                </a:solidFill>
                <a:latin typeface="QuattrocentoSans"/>
                <a:ea typeface="QuattrocentoSans"/>
              </a:rPr>
              <a:t> — entity scope</a:t>
            </a:r>
          </a:p>
        </p:txBody>
      </p:sp>
      <p:sp>
        <p:nvSpPr>
          <p:cNvPr id="17" name="dsl:example-label"/>
          <p:cNvSpPr txBox="1"/>
          <p:nvPr/>
        </p:nvSpPr>
        <p:spPr>
          <a:xfrm>
            <a:off x="4286250" y="1095375"/>
            <a:ext cx="3810000" cy="266700"/>
          </a:xfrm>
          <a:prstGeom prst="rect">
            <a:avLst/>
          </a:prstGeom>
          <a:noFill/>
        </p:spPr>
        <p:txBody>
          <a:bodyPr wrap="none" anchor="t">
            <a:noAutofit/>
          </a:bodyPr>
          <a:lstStyle/>
          <a:p>
            <a:pPr algn="l"/>
            <a:r>
              <a:rPr b="1" sz="1200" noProof="1" spc="150">
                <a:solidFill>
                  <a:srgbClr val="D4A373"/>
                </a:solidFill>
                <a:latin typeface="Liter"/>
                <a:ea typeface="Liter"/>
              </a:rPr>
              <a:t>EXAMPLE SCENARIO</a:t>
            </a:r>
          </a:p>
        </p:txBody>
      </p:sp>
      <p:sp>
        <p:nvSpPr>
          <p:cNvPr id="18" name="dsl:alert1-bg"/>
          <p:cNvSpPr/>
          <p:nvPr/>
        </p:nvSpPr>
        <p:spPr>
          <a:xfrm>
            <a:off x="4286250" y="1428750"/>
            <a:ext cx="3524250" cy="523875"/>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alert1-text"/>
          <p:cNvSpPr txBox="1"/>
          <p:nvPr/>
        </p:nvSpPr>
        <p:spPr>
          <a:xfrm>
            <a:off x="4429125" y="1476375"/>
            <a:ext cx="3238500" cy="428625"/>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Suricata:</a:t>
            </a:r>
            <a:r>
              <a:rPr sz="1050" noProof="1">
                <a:solidFill>
                  <a:srgbClr val="2B2D2F"/>
                </a:solidFill>
                <a:latin typeface="QuattrocentoSans"/>
                <a:ea typeface="QuattrocentoSans"/>
              </a:rPr>
              <a:t> Port scan detected from 203.0.113.44</a:t>
            </a:r>
          </a:p>
        </p:txBody>
      </p:sp>
      <p:sp>
        <p:nvSpPr>
          <p:cNvPr id="20" name="dsl:plus1"/>
          <p:cNvSpPr txBox="1"/>
          <p:nvPr/>
        </p:nvSpPr>
        <p:spPr>
          <a:xfrm>
            <a:off x="7886700" y="1524000"/>
            <a:ext cx="323850" cy="285750"/>
          </a:xfrm>
          <a:prstGeom prst="rect">
            <a:avLst/>
          </a:prstGeom>
          <a:noFill/>
        </p:spPr>
        <p:txBody>
          <a:bodyPr wrap="none" anchor="ctr">
            <a:noAutofit/>
          </a:bodyPr>
          <a:lstStyle/>
          <a:p>
            <a:pPr algn="ctr"/>
            <a:r>
              <a:rPr b="1" sz="1500" noProof="1">
                <a:solidFill>
                  <a:srgbClr val="D4A373"/>
                </a:solidFill>
                <a:latin typeface="Liter"/>
                <a:ea typeface="Liter"/>
              </a:rPr>
              <a:t>+</a:t>
            </a:r>
          </a:p>
        </p:txBody>
      </p:sp>
      <p:sp>
        <p:nvSpPr>
          <p:cNvPr id="21" name="dsl:alert2-bg"/>
          <p:cNvSpPr/>
          <p:nvPr/>
        </p:nvSpPr>
        <p:spPr>
          <a:xfrm>
            <a:off x="4286250" y="2047875"/>
            <a:ext cx="3524250" cy="523875"/>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alert2-text"/>
          <p:cNvSpPr txBox="1"/>
          <p:nvPr/>
        </p:nvSpPr>
        <p:spPr>
          <a:xfrm>
            <a:off x="4429125" y="2095500"/>
            <a:ext cx="3238500" cy="428625"/>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Wazuh:</a:t>
            </a:r>
            <a:r>
              <a:rPr sz="1050" noProof="1">
                <a:solidFill>
                  <a:srgbClr val="2B2D2F"/>
                </a:solidFill>
                <a:latin typeface="QuattrocentoSans"/>
                <a:ea typeface="QuattrocentoSans"/>
              </a:rPr>
              <a:t> SSH brute-force from 203.0.113.44</a:t>
            </a:r>
          </a:p>
        </p:txBody>
      </p:sp>
      <p:sp>
        <p:nvSpPr>
          <p:cNvPr id="23" name="dsl:plus2"/>
          <p:cNvSpPr txBox="1"/>
          <p:nvPr/>
        </p:nvSpPr>
        <p:spPr>
          <a:xfrm>
            <a:off x="7886700" y="2143125"/>
            <a:ext cx="323850" cy="285750"/>
          </a:xfrm>
          <a:prstGeom prst="rect">
            <a:avLst/>
          </a:prstGeom>
          <a:noFill/>
        </p:spPr>
        <p:txBody>
          <a:bodyPr wrap="none" anchor="ctr">
            <a:noAutofit/>
          </a:bodyPr>
          <a:lstStyle/>
          <a:p>
            <a:pPr algn="ctr"/>
            <a:r>
              <a:rPr b="1" sz="1500" noProof="1">
                <a:solidFill>
                  <a:srgbClr val="D4A373"/>
                </a:solidFill>
                <a:latin typeface="Liter"/>
                <a:ea typeface="Liter"/>
              </a:rPr>
              <a:t>+</a:t>
            </a:r>
          </a:p>
        </p:txBody>
      </p:sp>
      <p:sp>
        <p:nvSpPr>
          <p:cNvPr id="24" name="dsl:alert3-bg"/>
          <p:cNvSpPr/>
          <p:nvPr/>
        </p:nvSpPr>
        <p:spPr>
          <a:xfrm>
            <a:off x="4286250" y="2667000"/>
            <a:ext cx="3524250" cy="523875"/>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alert3-text"/>
          <p:cNvSpPr txBox="1"/>
          <p:nvPr/>
        </p:nvSpPr>
        <p:spPr>
          <a:xfrm>
            <a:off x="4429125" y="2714625"/>
            <a:ext cx="3238500" cy="428625"/>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Falco:</a:t>
            </a:r>
            <a:r>
              <a:rPr sz="1050" noProof="1">
                <a:solidFill>
                  <a:srgbClr val="2B2D2F"/>
                </a:solidFill>
                <a:latin typeface="QuattrocentoSans"/>
                <a:ea typeface="QuattrocentoSans"/>
              </a:rPr>
              <a:t> Shell activity on web-server-01</a:t>
            </a:r>
          </a:p>
        </p:txBody>
      </p:sp>
      <p:sp>
        <p:nvSpPr>
          <p:cNvPr id="26" name="dsl:equals"/>
          <p:cNvSpPr txBox="1"/>
          <p:nvPr/>
        </p:nvSpPr>
        <p:spPr>
          <a:xfrm>
            <a:off x="7886700" y="2762250"/>
            <a:ext cx="323850" cy="285750"/>
          </a:xfrm>
          <a:prstGeom prst="rect">
            <a:avLst/>
          </a:prstGeom>
          <a:noFill/>
        </p:spPr>
        <p:txBody>
          <a:bodyPr wrap="none" anchor="ctr">
            <a:noAutofit/>
          </a:bodyPr>
          <a:lstStyle/>
          <a:p>
            <a:pPr algn="ctr"/>
            <a:r>
              <a:rPr b="1" sz="1500" noProof="1">
                <a:solidFill>
                  <a:srgbClr val="D4A373"/>
                </a:solidFill>
                <a:latin typeface="Liter"/>
                <a:ea typeface="Liter"/>
              </a:rPr>
              <a:t>=</a:t>
            </a:r>
          </a:p>
        </p:txBody>
      </p:sp>
      <p:sp>
        <p:nvSpPr>
          <p:cNvPr id="27" name="dsl:incident-result-bg"/>
          <p:cNvSpPr/>
          <p:nvPr/>
        </p:nvSpPr>
        <p:spPr>
          <a:xfrm>
            <a:off x="8286750" y="1428750"/>
            <a:ext cx="3333750" cy="17621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incident-result-text"/>
          <p:cNvSpPr txBox="1"/>
          <p:nvPr/>
        </p:nvSpPr>
        <p:spPr>
          <a:xfrm>
            <a:off x="8429625" y="1524000"/>
            <a:ext cx="3048000" cy="1571625"/>
          </a:xfrm>
          <a:prstGeom prst="rect">
            <a:avLst/>
          </a:prstGeom>
          <a:noFill/>
        </p:spPr>
        <p:txBody>
          <a:bodyPr wrap="square" anchor="t">
            <a:noAutofit/>
          </a:bodyPr>
          <a:lstStyle/>
          <a:p>
            <a:pPr algn="l">
              <a:lnSpc>
                <a:spcPct val="160000"/>
              </a:lnSpc>
            </a:pPr>
            <a:r>
              <a:rPr b="1" sz="1350" noProof="1">
                <a:solidFill>
                  <a:srgbClr val="FFFFFF"/>
                </a:solidFill>
                <a:latin typeface="QuattrocentoSans"/>
                <a:ea typeface="QuattrocentoSans"/>
              </a:rPr>
              <a:t>Correlated Incident</a:t>
            </a:r>
          </a:p>
          <a:p>
            <a:pPr algn="l">
              <a:lnSpc>
                <a:spcPct val="160000"/>
              </a:lnSpc>
              <a:spcBef>
                <a:spcPts val="600"/>
              </a:spcBef>
            </a:pPr>
            <a:r>
              <a:rPr sz="1125" noProof="1">
                <a:solidFill>
                  <a:srgbClr val="FFFFFF"/>
                </a:solidFill>
                <a:latin typeface="QuattrocentoSans"/>
                <a:ea typeface="QuattrocentoSans"/>
              </a:rPr>
              <a:t>3 related alerts grouped</a:t>
            </a:r>
          </a:p>
          <a:p>
            <a:pPr algn="l">
              <a:lnSpc>
                <a:spcPct val="160000"/>
              </a:lnSpc>
            </a:pPr>
            <a:r>
              <a:rPr sz="1125" noProof="1">
                <a:solidFill>
                  <a:srgbClr val="FFFFFF"/>
                </a:solidFill>
                <a:latin typeface="QuattrocentoSans"/>
                <a:ea typeface="QuattrocentoSans"/>
              </a:rPr>
              <a:t>Confidence: </a:t>
            </a:r>
            <a:r>
              <a:rPr b="1" sz="1125" noProof="1">
                <a:solidFill>
                  <a:srgbClr val="FFFFFF"/>
                </a:solidFill>
                <a:latin typeface="QuattrocentoSans"/>
                <a:ea typeface="QuattrocentoSans"/>
              </a:rPr>
              <a:t>HIGH</a:t>
            </a:r>
          </a:p>
          <a:p>
            <a:pPr algn="l">
              <a:lnSpc>
                <a:spcPct val="160000"/>
              </a:lnSpc>
            </a:pPr>
            <a:r>
              <a:rPr sz="1125" noProof="1">
                <a:solidFill>
                  <a:srgbClr val="FFFFFF"/>
                </a:solidFill>
                <a:latin typeface="QuattrocentoSans"/>
                <a:ea typeface="QuattrocentoSans"/>
              </a:rPr>
              <a:t>Source IP: 203.0.113.44</a:t>
            </a:r>
          </a:p>
          <a:p>
            <a:pPr algn="l">
              <a:lnSpc>
                <a:spcPct val="160000"/>
              </a:lnSpc>
            </a:pPr>
            <a:r>
              <a:rPr sz="1125" noProof="1">
                <a:solidFill>
                  <a:srgbClr val="FFFFFF"/>
                </a:solidFill>
                <a:latin typeface="QuattrocentoSans"/>
                <a:ea typeface="QuattrocentoSans"/>
              </a:rPr>
              <a:t>Target: web-server-01</a:t>
            </a:r>
          </a:p>
        </p:txBody>
      </p:sp>
      <p:sp>
        <p:nvSpPr>
          <p:cNvPr id="29" name="dsl:lifecycle-label"/>
          <p:cNvSpPr txBox="1"/>
          <p:nvPr/>
        </p:nvSpPr>
        <p:spPr>
          <a:xfrm>
            <a:off x="571500" y="4191000"/>
            <a:ext cx="2857500" cy="266700"/>
          </a:xfrm>
          <a:prstGeom prst="rect">
            <a:avLst/>
          </a:prstGeom>
          <a:noFill/>
        </p:spPr>
        <p:txBody>
          <a:bodyPr wrap="none" anchor="t">
            <a:noAutofit/>
          </a:bodyPr>
          <a:lstStyle/>
          <a:p>
            <a:pPr algn="l"/>
            <a:r>
              <a:rPr b="1" sz="1200" noProof="1" spc="150">
                <a:solidFill>
                  <a:srgbClr val="2D6A6A"/>
                </a:solidFill>
                <a:latin typeface="Liter"/>
                <a:ea typeface="Liter"/>
              </a:rPr>
              <a:t>INCIDENT LIFECYCLE</a:t>
            </a:r>
          </a:p>
        </p:txBody>
      </p:sp>
      <p:sp>
        <p:nvSpPr>
          <p:cNvPr id="30" name="dsl:lc1-bg"/>
          <p:cNvSpPr/>
          <p:nvPr/>
        </p:nvSpPr>
        <p:spPr>
          <a:xfrm>
            <a:off x="571500" y="4552950"/>
            <a:ext cx="2286000" cy="5238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lc1-text"/>
          <p:cNvSpPr txBox="1"/>
          <p:nvPr/>
        </p:nvSpPr>
        <p:spPr>
          <a:xfrm>
            <a:off x="666750" y="4600575"/>
            <a:ext cx="2095500" cy="428625"/>
          </a:xfrm>
          <a:prstGeom prst="rect">
            <a:avLst/>
          </a:prstGeom>
          <a:noFill/>
        </p:spPr>
        <p:txBody>
          <a:bodyPr wrap="none" anchor="ctr">
            <a:noAutofit/>
          </a:bodyPr>
          <a:lstStyle/>
          <a:p>
            <a:pPr algn="ctr"/>
            <a:r>
              <a:rPr b="1" sz="1125" noProof="1">
                <a:solidFill>
                  <a:srgbClr val="FFFFFF"/>
                </a:solidFill>
                <a:latin typeface="Liter"/>
                <a:ea typeface="Liter"/>
              </a:rPr>
              <a:t>OPEN</a:t>
            </a:r>
          </a:p>
        </p:txBody>
      </p:sp>
      <p:cxnSp>
        <p:nvCxnSpPr>
          <p:cNvPr id="32" name="dsl:lc-arrow1"/>
          <p:cNvCxnSpPr/>
          <p:nvPr/>
        </p:nvCxnSpPr>
        <p:spPr>
          <a:xfrm>
            <a:off x="2857500" y="476250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3" name="dsl:lc2-bg"/>
          <p:cNvSpPr/>
          <p:nvPr/>
        </p:nvSpPr>
        <p:spPr>
          <a:xfrm>
            <a:off x="3238500" y="4552950"/>
            <a:ext cx="2286000" cy="523875"/>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lc2-text"/>
          <p:cNvSpPr txBox="1"/>
          <p:nvPr/>
        </p:nvSpPr>
        <p:spPr>
          <a:xfrm>
            <a:off x="3333750" y="4600575"/>
            <a:ext cx="2095500" cy="428625"/>
          </a:xfrm>
          <a:prstGeom prst="rect">
            <a:avLst/>
          </a:prstGeom>
          <a:noFill/>
        </p:spPr>
        <p:txBody>
          <a:bodyPr wrap="none" anchor="ctr">
            <a:noAutofit/>
          </a:bodyPr>
          <a:lstStyle/>
          <a:p>
            <a:pPr algn="ctr"/>
            <a:r>
              <a:rPr b="1" sz="1125" noProof="1">
                <a:solidFill>
                  <a:srgbClr val="2B2D2F"/>
                </a:solidFill>
                <a:latin typeface="Liter"/>
                <a:ea typeface="Liter"/>
              </a:rPr>
              <a:t>INVESTIGATING</a:t>
            </a:r>
          </a:p>
        </p:txBody>
      </p:sp>
      <p:cxnSp>
        <p:nvCxnSpPr>
          <p:cNvPr id="35" name="dsl:lc-arrow2"/>
          <p:cNvCxnSpPr/>
          <p:nvPr/>
        </p:nvCxnSpPr>
        <p:spPr>
          <a:xfrm>
            <a:off x="5524500" y="476250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6" name="dsl:lc3-bg"/>
          <p:cNvSpPr/>
          <p:nvPr/>
        </p:nvSpPr>
        <p:spPr>
          <a:xfrm>
            <a:off x="5905500" y="4552950"/>
            <a:ext cx="2286000" cy="5238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l:lc3-text"/>
          <p:cNvSpPr txBox="1"/>
          <p:nvPr/>
        </p:nvSpPr>
        <p:spPr>
          <a:xfrm>
            <a:off x="6000750" y="4600575"/>
            <a:ext cx="2095500" cy="428625"/>
          </a:xfrm>
          <a:prstGeom prst="rect">
            <a:avLst/>
          </a:prstGeom>
          <a:noFill/>
        </p:spPr>
        <p:txBody>
          <a:bodyPr wrap="none" anchor="ctr">
            <a:noAutofit/>
          </a:bodyPr>
          <a:lstStyle/>
          <a:p>
            <a:pPr algn="ctr"/>
            <a:r>
              <a:rPr b="1" sz="1125" noProof="1">
                <a:solidFill>
                  <a:srgbClr val="FFFFFF"/>
                </a:solidFill>
                <a:latin typeface="Liter"/>
                <a:ea typeface="Liter"/>
              </a:rPr>
              <a:t>RESOLVED</a:t>
            </a:r>
          </a:p>
        </p:txBody>
      </p:sp>
      <p:cxnSp>
        <p:nvCxnSpPr>
          <p:cNvPr id="38" name="dsl:lc-arrow3"/>
          <p:cNvCxnSpPr/>
          <p:nvPr/>
        </p:nvCxnSpPr>
        <p:spPr>
          <a:xfrm>
            <a:off x="8191500" y="476250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9" name="dsl:lc4-bg"/>
          <p:cNvSpPr/>
          <p:nvPr/>
        </p:nvSpPr>
        <p:spPr>
          <a:xfrm>
            <a:off x="8572500" y="4552950"/>
            <a:ext cx="2286000" cy="523875"/>
          </a:xfrm>
          <a:prstGeom prst="rect">
            <a:avLst/>
          </a:prstGeom>
          <a:solidFill>
            <a:srgbClr val="4A4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sl:lc4-text"/>
          <p:cNvSpPr txBox="1"/>
          <p:nvPr/>
        </p:nvSpPr>
        <p:spPr>
          <a:xfrm>
            <a:off x="8667750" y="4600575"/>
            <a:ext cx="2095500" cy="428625"/>
          </a:xfrm>
          <a:prstGeom prst="rect">
            <a:avLst/>
          </a:prstGeom>
          <a:noFill/>
        </p:spPr>
        <p:txBody>
          <a:bodyPr wrap="none" anchor="ctr">
            <a:noAutofit/>
          </a:bodyPr>
          <a:lstStyle/>
          <a:p>
            <a:pPr algn="ctr"/>
            <a:r>
              <a:rPr b="1" sz="1125" noProof="1">
                <a:solidFill>
                  <a:srgbClr val="FFFFFF"/>
                </a:solidFill>
                <a:latin typeface="Liter"/>
                <a:ea typeface="Liter"/>
              </a:rPr>
              <a:t>ARCHIVED</a:t>
            </a:r>
          </a:p>
        </p:txBody>
      </p:sp>
      <p:sp>
        <p:nvSpPr>
          <p:cNvPr id="41"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42"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5-number-decorative"/>
          <p:cNvSpPr txBox="1"/>
          <p:nvPr/>
        </p:nvSpPr>
        <p:spPr>
          <a:xfrm>
            <a:off x="381000" y="571500"/>
            <a:ext cx="4381500" cy="2476500"/>
          </a:xfrm>
          <a:prstGeom prst="rect">
            <a:avLst/>
          </a:prstGeom>
          <a:noFill/>
        </p:spPr>
        <p:txBody>
          <a:bodyPr wrap="none" anchor="t">
            <a:noAutofit/>
          </a:bodyPr>
          <a:lstStyle/>
          <a:p>
            <a:pPr algn="l"/>
            <a:r>
              <a:rPr sz="15000" noProof="1">
                <a:solidFill>
                  <a:srgbClr val="2D6A6A"/>
                </a:solidFill>
                <a:latin typeface="Liter"/>
                <a:ea typeface="Liter"/>
              </a:rPr>
              <a:t>05</a:t>
            </a:r>
          </a:p>
        </p:txBody>
      </p:sp>
      <p:sp>
        <p:nvSpPr>
          <p:cNvPr id="3" name="dsl:ch5-accent-bar"/>
          <p:cNvSpPr/>
          <p:nvPr/>
        </p:nvSpPr>
        <p:spPr>
          <a:xfrm>
            <a:off x="571500" y="323850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5-title"/>
          <p:cNvSpPr txBox="1"/>
          <p:nvPr/>
        </p:nvSpPr>
        <p:spPr>
          <a:xfrm>
            <a:off x="571500" y="3429000"/>
            <a:ext cx="8572500" cy="523875"/>
          </a:xfrm>
          <a:prstGeom prst="rect">
            <a:avLst/>
          </a:prstGeom>
          <a:noFill/>
        </p:spPr>
        <p:txBody>
          <a:bodyPr wrap="none" anchor="ctr">
            <a:noAutofit/>
          </a:bodyPr>
          <a:lstStyle/>
          <a:p>
            <a:pPr algn="l"/>
            <a:r>
              <a:rPr sz="2850" noProof="1">
                <a:solidFill>
                  <a:srgbClr val="2D6A6A"/>
                </a:solidFill>
                <a:latin typeface="Liter"/>
                <a:ea typeface="Liter"/>
              </a:rPr>
              <a:t>05 — AI-Assisted Operations</a:t>
            </a:r>
          </a:p>
        </p:txBody>
      </p:sp>
      <p:sp>
        <p:nvSpPr>
          <p:cNvPr id="5" name="dsl:ch5-subtitle"/>
          <p:cNvSpPr txBox="1"/>
          <p:nvPr/>
        </p:nvSpPr>
        <p:spPr>
          <a:xfrm>
            <a:off x="571500" y="4095750"/>
            <a:ext cx="8572500" cy="333375"/>
          </a:xfrm>
          <a:prstGeom prst="rect">
            <a:avLst/>
          </a:prstGeom>
          <a:noFill/>
        </p:spPr>
        <p:txBody>
          <a:bodyPr wrap="none" anchor="ctr">
            <a:noAutofit/>
          </a:bodyPr>
          <a:lstStyle/>
          <a:p>
            <a:pPr algn="l"/>
            <a:r>
              <a:rPr sz="1500" noProof="1">
                <a:solidFill>
                  <a:srgbClr val="5C6B73"/>
                </a:solidFill>
                <a:latin typeface="QuattrocentoSans"/>
                <a:ea typeface="QuattrocentoSans"/>
              </a:rPr>
              <a:t>Artificial intelligence that supports, never replaces, the analyst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6477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AI Response Engine</a:t>
            </a:r>
          </a:p>
        </p:txBody>
      </p:sp>
      <p:sp>
        <p:nvSpPr>
          <p:cNvPr id="14" name="dsl:ref-note"/>
          <p:cNvSpPr txBox="1"/>
          <p:nvPr/>
        </p:nvSpPr>
        <p:spPr>
          <a:xfrm>
            <a:off x="8572500" y="552450"/>
            <a:ext cx="30480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Section 3.12</a:t>
            </a:r>
          </a:p>
        </p:txBody>
      </p:sp>
      <p:sp>
        <p:nvSpPr>
          <p:cNvPr id="15" name="dsl:col1-bg"/>
          <p:cNvSpPr/>
          <p:nvPr/>
        </p:nvSpPr>
        <p:spPr>
          <a:xfrm>
            <a:off x="571500" y="1143000"/>
            <a:ext cx="3524250" cy="4286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ol1-accent"/>
          <p:cNvSpPr/>
          <p:nvPr/>
        </p:nvSpPr>
        <p:spPr>
          <a:xfrm>
            <a:off x="571500" y="1143000"/>
            <a:ext cx="38100" cy="42862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ol1-number"/>
          <p:cNvSpPr txBox="1"/>
          <p:nvPr/>
        </p:nvSpPr>
        <p:spPr>
          <a:xfrm>
            <a:off x="800100" y="1333500"/>
            <a:ext cx="571500" cy="419100"/>
          </a:xfrm>
          <a:prstGeom prst="rect">
            <a:avLst/>
          </a:prstGeom>
          <a:noFill/>
        </p:spPr>
        <p:txBody>
          <a:bodyPr wrap="none" anchor="ctr">
            <a:noAutofit/>
          </a:bodyPr>
          <a:lstStyle/>
          <a:p>
            <a:pPr algn="l"/>
            <a:r>
              <a:rPr sz="2700" noProof="1">
                <a:solidFill>
                  <a:srgbClr val="D4A373"/>
                </a:solidFill>
                <a:latin typeface="Liter"/>
                <a:ea typeface="Liter"/>
              </a:rPr>
              <a:t>1</a:t>
            </a:r>
          </a:p>
        </p:txBody>
      </p:sp>
      <p:sp>
        <p:nvSpPr>
          <p:cNvPr id="18" name="dsl:col1-title"/>
          <p:cNvSpPr txBox="1"/>
          <p:nvPr/>
        </p:nvSpPr>
        <p:spPr>
          <a:xfrm>
            <a:off x="800100" y="1790700"/>
            <a:ext cx="3067050" cy="285750"/>
          </a:xfrm>
          <a:prstGeom prst="rect">
            <a:avLst/>
          </a:prstGeom>
          <a:noFill/>
        </p:spPr>
        <p:txBody>
          <a:bodyPr wrap="none" anchor="ctr">
            <a:noAutofit/>
          </a:bodyPr>
          <a:lstStyle/>
          <a:p>
            <a:pPr algn="l"/>
            <a:r>
              <a:rPr b="1" sz="1650" noProof="1">
                <a:solidFill>
                  <a:srgbClr val="2D6A6A"/>
                </a:solidFill>
                <a:latin typeface="Liter"/>
                <a:ea typeface="Liter"/>
              </a:rPr>
              <a:t>CONTEXT BUILDING</a:t>
            </a:r>
          </a:p>
        </p:txBody>
      </p:sp>
      <p:sp>
        <p:nvSpPr>
          <p:cNvPr id="19" name="dsl:col1-line"/>
          <p:cNvSpPr/>
          <p:nvPr/>
        </p:nvSpPr>
        <p:spPr>
          <a:xfrm>
            <a:off x="800100" y="2152650"/>
            <a:ext cx="381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col1-body"/>
          <p:cNvSpPr txBox="1"/>
          <p:nvPr/>
        </p:nvSpPr>
        <p:spPr>
          <a:xfrm>
            <a:off x="800100" y="2324100"/>
            <a:ext cx="3067050" cy="2914650"/>
          </a:xfrm>
          <a:prstGeom prst="rect">
            <a:avLst/>
          </a:prstGeom>
          <a:noFill/>
        </p:spPr>
        <p:txBody>
          <a:bodyPr wrap="square" anchor="t">
            <a:noAutofit/>
          </a:bodyPr>
          <a:lstStyle/>
          <a:p>
            <a:pPr algn="l">
              <a:lnSpc>
                <a:spcPct val="150000"/>
              </a:lnSpc>
            </a:pPr>
            <a:r>
              <a:rPr b="1" sz="1350" noProof="1">
                <a:solidFill>
                  <a:srgbClr val="2B2D2F"/>
                </a:solidFill>
                <a:latin typeface="QuattrocentoSans"/>
                <a:ea typeface="QuattrocentoSans"/>
              </a:rPr>
              <a:t>Alert timeline</a:t>
            </a:r>
            <a:r>
              <a:rPr sz="1350" noProof="1">
                <a:solidFill>
                  <a:srgbClr val="2B2D2F"/>
                </a:solidFill>
                <a:latin typeface="QuattrocentoSans"/>
                <a:ea typeface="QuattrocentoSans"/>
              </a:rPr>
              <a:t> from incident</a:t>
            </a:r>
          </a:p>
          <a:p>
            <a:pPr algn="l">
              <a:lnSpc>
                <a:spcPct val="150000"/>
              </a:lnSpc>
              <a:spcBef>
                <a:spcPts val="600"/>
              </a:spcBef>
            </a:pPr>
            <a:r>
              <a:rPr b="1" sz="1350" noProof="1">
                <a:solidFill>
                  <a:srgbClr val="2B2D2F"/>
                </a:solidFill>
                <a:latin typeface="QuattrocentoSans"/>
                <a:ea typeface="QuattrocentoSans"/>
              </a:rPr>
              <a:t>Indicators</a:t>
            </a:r>
            <a:r>
              <a:rPr sz="1350" noProof="1">
                <a:solidFill>
                  <a:srgbClr val="2B2D2F"/>
                </a:solidFill>
                <a:latin typeface="QuattrocentoSans"/>
                <a:ea typeface="QuattrocentoSans"/>
              </a:rPr>
              <a:t> — IPs, hashes, URLs</a:t>
            </a:r>
          </a:p>
          <a:p>
            <a:pPr algn="l">
              <a:lnSpc>
                <a:spcPct val="150000"/>
              </a:lnSpc>
              <a:spcBef>
                <a:spcPts val="600"/>
              </a:spcBef>
            </a:pPr>
            <a:r>
              <a:rPr b="1" sz="1350" noProof="1">
                <a:solidFill>
                  <a:srgbClr val="2B2D2F"/>
                </a:solidFill>
                <a:latin typeface="QuattrocentoSans"/>
                <a:ea typeface="QuattrocentoSans"/>
              </a:rPr>
              <a:t>MITRE ATT&amp;CK</a:t>
            </a:r>
            <a:r>
              <a:rPr sz="1350" noProof="1">
                <a:solidFill>
                  <a:srgbClr val="2B2D2F"/>
                </a:solidFill>
                <a:latin typeface="QuattrocentoSans"/>
                <a:ea typeface="QuattrocentoSans"/>
              </a:rPr>
              <a:t> tactics &amp; techniques</a:t>
            </a:r>
          </a:p>
          <a:p>
            <a:pPr algn="l">
              <a:lnSpc>
                <a:spcPct val="150000"/>
              </a:lnSpc>
              <a:spcBef>
                <a:spcPts val="600"/>
              </a:spcBef>
            </a:pPr>
            <a:r>
              <a:rPr b="1" sz="1350" noProof="1">
                <a:solidFill>
                  <a:srgbClr val="2B2D2F"/>
                </a:solidFill>
                <a:latin typeface="QuattrocentoSans"/>
                <a:ea typeface="QuattrocentoSans"/>
              </a:rPr>
              <a:t>Behavioral history</a:t>
            </a:r>
            <a:r>
              <a:rPr sz="1350" noProof="1">
                <a:solidFill>
                  <a:srgbClr val="2B2D2F"/>
                </a:solidFill>
                <a:latin typeface="QuattrocentoSans"/>
                <a:ea typeface="QuattrocentoSans"/>
              </a:rPr>
              <a:t> patterns</a:t>
            </a:r>
          </a:p>
          <a:p>
            <a:pPr algn="l">
              <a:lnSpc>
                <a:spcPct val="150000"/>
              </a:lnSpc>
              <a:spcBef>
                <a:spcPts val="600"/>
              </a:spcBef>
            </a:pPr>
            <a:r>
              <a:rPr b="1" sz="1350" noProof="1">
                <a:solidFill>
                  <a:srgbClr val="2B2D2F"/>
                </a:solidFill>
                <a:latin typeface="QuattrocentoSans"/>
                <a:ea typeface="QuattrocentoSans"/>
              </a:rPr>
              <a:t>Risk score</a:t>
            </a:r>
            <a:r>
              <a:rPr sz="1350" noProof="1">
                <a:solidFill>
                  <a:srgbClr val="2B2D2F"/>
                </a:solidFill>
                <a:latin typeface="QuattrocentoSans"/>
                <a:ea typeface="QuattrocentoSans"/>
              </a:rPr>
              <a:t> calculation</a:t>
            </a:r>
          </a:p>
          <a:p>
            <a:pPr algn="l">
              <a:lnSpc>
                <a:spcPct val="150000"/>
              </a:lnSpc>
              <a:spcBef>
                <a:spcPts val="600"/>
              </a:spcBef>
            </a:pPr>
            <a:r>
              <a:rPr b="1" sz="1350" noProof="1">
                <a:solidFill>
                  <a:srgbClr val="2B2D2F"/>
                </a:solidFill>
                <a:latin typeface="QuattrocentoSans"/>
                <a:ea typeface="QuattrocentoSans"/>
              </a:rPr>
              <a:t>Host &amp; network</a:t>
            </a:r>
            <a:r>
              <a:rPr sz="1350" noProof="1">
                <a:solidFill>
                  <a:srgbClr val="2B2D2F"/>
                </a:solidFill>
                <a:latin typeface="QuattrocentoSans"/>
                <a:ea typeface="QuattrocentoSans"/>
              </a:rPr>
              <a:t> context</a:t>
            </a:r>
          </a:p>
        </p:txBody>
      </p:sp>
      <p:sp>
        <p:nvSpPr>
          <p:cNvPr id="21" name="dsl:col2-bg"/>
          <p:cNvSpPr/>
          <p:nvPr/>
        </p:nvSpPr>
        <p:spPr>
          <a:xfrm>
            <a:off x="4333875" y="1143000"/>
            <a:ext cx="3524250" cy="4286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ol2-accent"/>
          <p:cNvSpPr/>
          <p:nvPr/>
        </p:nvSpPr>
        <p:spPr>
          <a:xfrm>
            <a:off x="4333875" y="1143000"/>
            <a:ext cx="38100" cy="42862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ol2-number"/>
          <p:cNvSpPr txBox="1"/>
          <p:nvPr/>
        </p:nvSpPr>
        <p:spPr>
          <a:xfrm>
            <a:off x="4562475" y="1333500"/>
            <a:ext cx="571500" cy="419100"/>
          </a:xfrm>
          <a:prstGeom prst="rect">
            <a:avLst/>
          </a:prstGeom>
          <a:noFill/>
        </p:spPr>
        <p:txBody>
          <a:bodyPr wrap="none" anchor="ctr">
            <a:noAutofit/>
          </a:bodyPr>
          <a:lstStyle/>
          <a:p>
            <a:pPr algn="l"/>
            <a:r>
              <a:rPr sz="2700" noProof="1">
                <a:solidFill>
                  <a:srgbClr val="D4A373"/>
                </a:solidFill>
                <a:latin typeface="Liter"/>
                <a:ea typeface="Liter"/>
              </a:rPr>
              <a:t>2</a:t>
            </a:r>
          </a:p>
        </p:txBody>
      </p:sp>
      <p:sp>
        <p:nvSpPr>
          <p:cNvPr id="24" name="dsl:col2-title"/>
          <p:cNvSpPr txBox="1"/>
          <p:nvPr/>
        </p:nvSpPr>
        <p:spPr>
          <a:xfrm>
            <a:off x="4562475" y="1790700"/>
            <a:ext cx="3067050" cy="285750"/>
          </a:xfrm>
          <a:prstGeom prst="rect">
            <a:avLst/>
          </a:prstGeom>
          <a:noFill/>
        </p:spPr>
        <p:txBody>
          <a:bodyPr wrap="none" anchor="ctr">
            <a:noAutofit/>
          </a:bodyPr>
          <a:lstStyle/>
          <a:p>
            <a:pPr algn="l"/>
            <a:r>
              <a:rPr b="1" sz="1650" noProof="1">
                <a:solidFill>
                  <a:srgbClr val="2D6A6A"/>
                </a:solidFill>
                <a:latin typeface="Liter"/>
                <a:ea typeface="Liter"/>
              </a:rPr>
              <a:t>PROVIDER ROUTING</a:t>
            </a:r>
          </a:p>
        </p:txBody>
      </p:sp>
      <p:sp>
        <p:nvSpPr>
          <p:cNvPr id="25" name="dsl:col2-line"/>
          <p:cNvSpPr/>
          <p:nvPr/>
        </p:nvSpPr>
        <p:spPr>
          <a:xfrm>
            <a:off x="4562475" y="2152650"/>
            <a:ext cx="381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ol2-body"/>
          <p:cNvSpPr txBox="1"/>
          <p:nvPr/>
        </p:nvSpPr>
        <p:spPr>
          <a:xfrm>
            <a:off x="4562475" y="2324100"/>
            <a:ext cx="3067050" cy="2914650"/>
          </a:xfrm>
          <a:prstGeom prst="rect">
            <a:avLst/>
          </a:prstGeom>
          <a:noFill/>
        </p:spPr>
        <p:txBody>
          <a:bodyPr wrap="square" anchor="t">
            <a:noAutofit/>
          </a:bodyPr>
          <a:lstStyle/>
          <a:p>
            <a:pPr algn="l">
              <a:lnSpc>
                <a:spcPct val="150000"/>
              </a:lnSpc>
            </a:pPr>
            <a:r>
              <a:rPr b="1" sz="1350" noProof="1">
                <a:solidFill>
                  <a:srgbClr val="2B2D2F"/>
                </a:solidFill>
                <a:latin typeface="QuattrocentoSans"/>
                <a:ea typeface="QuattrocentoSans"/>
              </a:rPr>
              <a:t>Multi-LLM</a:t>
            </a:r>
            <a:r>
              <a:rPr sz="1350" noProof="1">
                <a:solidFill>
                  <a:srgbClr val="2B2D2F"/>
                </a:solidFill>
                <a:latin typeface="QuattrocentoSans"/>
                <a:ea typeface="QuattrocentoSans"/>
              </a:rPr>
              <a:t> client architecture</a:t>
            </a:r>
          </a:p>
          <a:p>
            <a:pPr algn="l">
              <a:lnSpc>
                <a:spcPct val="150000"/>
              </a:lnSpc>
              <a:spcBef>
                <a:spcPts val="600"/>
              </a:spcBef>
            </a:pPr>
            <a:r>
              <a:rPr b="1" sz="1350" noProof="1">
                <a:solidFill>
                  <a:srgbClr val="2B2D2F"/>
                </a:solidFill>
                <a:latin typeface="QuattrocentoSans"/>
                <a:ea typeface="QuattrocentoSans"/>
              </a:rPr>
              <a:t>Ollama</a:t>
            </a:r>
            <a:r>
              <a:rPr sz="1350" noProof="1">
                <a:solidFill>
                  <a:srgbClr val="2B2D2F"/>
                </a:solidFill>
                <a:latin typeface="QuattrocentoSans"/>
                <a:ea typeface="QuattrocentoSans"/>
              </a:rPr>
              <a:t> — local models</a:t>
            </a:r>
          </a:p>
          <a:p>
            <a:pPr algn="l">
              <a:lnSpc>
                <a:spcPct val="150000"/>
              </a:lnSpc>
              <a:spcBef>
                <a:spcPts val="600"/>
              </a:spcBef>
            </a:pPr>
            <a:r>
              <a:rPr b="1" sz="1350" noProof="1">
                <a:solidFill>
                  <a:srgbClr val="2B2D2F"/>
                </a:solidFill>
                <a:latin typeface="QuattrocentoSans"/>
                <a:ea typeface="QuattrocentoSans"/>
              </a:rPr>
              <a:t>Google Gemini</a:t>
            </a:r>
            <a:r>
              <a:rPr sz="1350" noProof="1">
                <a:solidFill>
                  <a:srgbClr val="2B2D2F"/>
                </a:solidFill>
                <a:latin typeface="QuattrocentoSans"/>
                <a:ea typeface="QuattrocentoSans"/>
              </a:rPr>
              <a:t> API</a:t>
            </a:r>
          </a:p>
          <a:p>
            <a:pPr algn="l">
              <a:lnSpc>
                <a:spcPct val="150000"/>
              </a:lnSpc>
              <a:spcBef>
                <a:spcPts val="600"/>
              </a:spcBef>
            </a:pPr>
            <a:r>
              <a:rPr b="1" sz="1350" noProof="1">
                <a:solidFill>
                  <a:srgbClr val="2B2D2F"/>
                </a:solidFill>
                <a:latin typeface="QuattrocentoSans"/>
                <a:ea typeface="QuattrocentoSans"/>
              </a:rPr>
              <a:t>OpenRouter</a:t>
            </a:r>
            <a:r>
              <a:rPr sz="1350" noProof="1">
                <a:solidFill>
                  <a:srgbClr val="2B2D2F"/>
                </a:solidFill>
                <a:latin typeface="QuattrocentoSans"/>
                <a:ea typeface="QuattrocentoSans"/>
              </a:rPr>
              <a:t> gateway</a:t>
            </a:r>
          </a:p>
          <a:p>
            <a:pPr algn="l">
              <a:lnSpc>
                <a:spcPct val="150000"/>
              </a:lnSpc>
              <a:spcBef>
                <a:spcPts val="600"/>
              </a:spcBef>
            </a:pPr>
            <a:r>
              <a:rPr b="1" sz="1350" noProof="1">
                <a:solidFill>
                  <a:srgbClr val="2B2D2F"/>
                </a:solidFill>
                <a:latin typeface="QuattrocentoSans"/>
                <a:ea typeface="QuattrocentoSans"/>
              </a:rPr>
              <a:t>NVIDIA NIM</a:t>
            </a:r>
            <a:r>
              <a:rPr sz="1350" noProof="1">
                <a:solidFill>
                  <a:srgbClr val="2B2D2F"/>
                </a:solidFill>
                <a:latin typeface="QuattrocentoSans"/>
                <a:ea typeface="QuattrocentoSans"/>
              </a:rPr>
              <a:t> inference</a:t>
            </a:r>
          </a:p>
          <a:p>
            <a:pPr algn="l">
              <a:lnSpc>
                <a:spcPct val="150000"/>
              </a:lnSpc>
              <a:spcBef>
                <a:spcPts val="600"/>
              </a:spcBef>
            </a:pPr>
            <a:r>
              <a:rPr b="1" sz="1350" noProof="1">
                <a:solidFill>
                  <a:srgbClr val="2B2D2F"/>
                </a:solidFill>
                <a:latin typeface="QuattrocentoSans"/>
                <a:ea typeface="QuattrocentoSans"/>
              </a:rPr>
              <a:t>Graceful fallback</a:t>
            </a:r>
            <a:r>
              <a:rPr sz="1350" noProof="1">
                <a:solidFill>
                  <a:srgbClr val="2B2D2F"/>
                </a:solidFill>
                <a:latin typeface="QuattrocentoSans"/>
                <a:ea typeface="QuattrocentoSans"/>
              </a:rPr>
              <a:t> on failure</a:t>
            </a:r>
          </a:p>
        </p:txBody>
      </p:sp>
      <p:sp>
        <p:nvSpPr>
          <p:cNvPr id="27" name="dsl:col3-bg"/>
          <p:cNvSpPr/>
          <p:nvPr/>
        </p:nvSpPr>
        <p:spPr>
          <a:xfrm>
            <a:off x="8096250" y="1143000"/>
            <a:ext cx="3524250" cy="4286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col3-accent"/>
          <p:cNvSpPr/>
          <p:nvPr/>
        </p:nvSpPr>
        <p:spPr>
          <a:xfrm>
            <a:off x="8096250" y="1143000"/>
            <a:ext cx="38100" cy="42862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l:col3-number"/>
          <p:cNvSpPr txBox="1"/>
          <p:nvPr/>
        </p:nvSpPr>
        <p:spPr>
          <a:xfrm>
            <a:off x="8324850" y="1333500"/>
            <a:ext cx="571500" cy="419100"/>
          </a:xfrm>
          <a:prstGeom prst="rect">
            <a:avLst/>
          </a:prstGeom>
          <a:noFill/>
        </p:spPr>
        <p:txBody>
          <a:bodyPr wrap="none" anchor="ctr">
            <a:noAutofit/>
          </a:bodyPr>
          <a:lstStyle/>
          <a:p>
            <a:pPr algn="l"/>
            <a:r>
              <a:rPr sz="2700" noProof="1">
                <a:solidFill>
                  <a:srgbClr val="D4A373"/>
                </a:solidFill>
                <a:latin typeface="Liter"/>
                <a:ea typeface="Liter"/>
              </a:rPr>
              <a:t>3</a:t>
            </a:r>
          </a:p>
        </p:txBody>
      </p:sp>
      <p:sp>
        <p:nvSpPr>
          <p:cNvPr id="30" name="dsl:col3-title"/>
          <p:cNvSpPr txBox="1"/>
          <p:nvPr/>
        </p:nvSpPr>
        <p:spPr>
          <a:xfrm>
            <a:off x="8324850" y="1790700"/>
            <a:ext cx="3067050" cy="285750"/>
          </a:xfrm>
          <a:prstGeom prst="rect">
            <a:avLst/>
          </a:prstGeom>
          <a:noFill/>
        </p:spPr>
        <p:txBody>
          <a:bodyPr wrap="none" anchor="ctr">
            <a:noAutofit/>
          </a:bodyPr>
          <a:lstStyle/>
          <a:p>
            <a:pPr algn="l"/>
            <a:r>
              <a:rPr b="1" sz="1650" noProof="1">
                <a:solidFill>
                  <a:srgbClr val="2D6A6A"/>
                </a:solidFill>
                <a:latin typeface="Liter"/>
                <a:ea typeface="Liter"/>
              </a:rPr>
              <a:t>STRUCTURED OUTPUT</a:t>
            </a:r>
          </a:p>
        </p:txBody>
      </p:sp>
      <p:sp>
        <p:nvSpPr>
          <p:cNvPr id="31" name="dsl:col3-line"/>
          <p:cNvSpPr/>
          <p:nvPr/>
        </p:nvSpPr>
        <p:spPr>
          <a:xfrm>
            <a:off x="8324850" y="2152650"/>
            <a:ext cx="381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col3-body"/>
          <p:cNvSpPr txBox="1"/>
          <p:nvPr/>
        </p:nvSpPr>
        <p:spPr>
          <a:xfrm>
            <a:off x="8324850" y="2324100"/>
            <a:ext cx="3067050" cy="2914650"/>
          </a:xfrm>
          <a:prstGeom prst="rect">
            <a:avLst/>
          </a:prstGeom>
          <a:noFill/>
        </p:spPr>
        <p:txBody>
          <a:bodyPr wrap="square" anchor="t">
            <a:noAutofit/>
          </a:bodyPr>
          <a:lstStyle/>
          <a:p>
            <a:pPr algn="l">
              <a:lnSpc>
                <a:spcPct val="150000"/>
              </a:lnSpc>
            </a:pPr>
            <a:r>
              <a:rPr b="1" sz="1350" noProof="1">
                <a:solidFill>
                  <a:srgbClr val="2B2D2F"/>
                </a:solidFill>
                <a:latin typeface="QuattrocentoSans"/>
                <a:ea typeface="QuattrocentoSans"/>
              </a:rPr>
              <a:t>Executive summary</a:t>
            </a:r>
          </a:p>
          <a:p>
            <a:pPr algn="l">
              <a:lnSpc>
                <a:spcPct val="150000"/>
              </a:lnSpc>
              <a:spcBef>
                <a:spcPts val="600"/>
              </a:spcBef>
            </a:pPr>
            <a:r>
              <a:rPr b="1" sz="1350" noProof="1">
                <a:solidFill>
                  <a:srgbClr val="2B2D2F"/>
                </a:solidFill>
                <a:latin typeface="QuattrocentoSans"/>
                <a:ea typeface="QuattrocentoSans"/>
              </a:rPr>
              <a:t>Attack narrative</a:t>
            </a:r>
            <a:r>
              <a:rPr sz="1350" noProof="1">
                <a:solidFill>
                  <a:srgbClr val="2B2D2F"/>
                </a:solidFill>
                <a:latin typeface="QuattrocentoSans"/>
                <a:ea typeface="QuattrocentoSans"/>
              </a:rPr>
              <a:t> timeline</a:t>
            </a:r>
          </a:p>
          <a:p>
            <a:pPr algn="l">
              <a:lnSpc>
                <a:spcPct val="150000"/>
              </a:lnSpc>
              <a:spcBef>
                <a:spcPts val="600"/>
              </a:spcBef>
            </a:pPr>
            <a:r>
              <a:rPr b="1" sz="1350" noProof="1">
                <a:solidFill>
                  <a:srgbClr val="2B2D2F"/>
                </a:solidFill>
                <a:latin typeface="QuattrocentoSans"/>
                <a:ea typeface="QuattrocentoSans"/>
              </a:rPr>
              <a:t>Risk assessment</a:t>
            </a:r>
            <a:r>
              <a:rPr sz="1350" noProof="1">
                <a:solidFill>
                  <a:srgbClr val="2B2D2F"/>
                </a:solidFill>
                <a:latin typeface="QuattrocentoSans"/>
                <a:ea typeface="QuattrocentoSans"/>
              </a:rPr>
              <a:t> level</a:t>
            </a:r>
          </a:p>
          <a:p>
            <a:pPr algn="l">
              <a:lnSpc>
                <a:spcPct val="150000"/>
              </a:lnSpc>
              <a:spcBef>
                <a:spcPts val="600"/>
              </a:spcBef>
            </a:pPr>
            <a:r>
              <a:rPr b="1" sz="1350" noProof="1">
                <a:solidFill>
                  <a:srgbClr val="2B2D2F"/>
                </a:solidFill>
                <a:latin typeface="QuattrocentoSans"/>
                <a:ea typeface="QuattrocentoSans"/>
              </a:rPr>
              <a:t>Playbook</a:t>
            </a:r>
            <a:r>
              <a:rPr sz="1350" noProof="1">
                <a:solidFill>
                  <a:srgbClr val="2B2D2F"/>
                </a:solidFill>
                <a:latin typeface="QuattrocentoSans"/>
                <a:ea typeface="QuattrocentoSans"/>
              </a:rPr>
              <a:t> (YAML)</a:t>
            </a:r>
          </a:p>
          <a:p>
            <a:pPr algn="l">
              <a:lnSpc>
                <a:spcPct val="150000"/>
              </a:lnSpc>
              <a:spcBef>
                <a:spcPts val="600"/>
              </a:spcBef>
            </a:pPr>
            <a:r>
              <a:rPr b="1" sz="1350" noProof="1">
                <a:solidFill>
                  <a:srgbClr val="2B2D2F"/>
                </a:solidFill>
                <a:latin typeface="QuattrocentoSans"/>
                <a:ea typeface="QuattrocentoSans"/>
              </a:rPr>
              <a:t>Parsed into</a:t>
            </a:r>
            <a:r>
              <a:rPr sz="1350" noProof="1">
                <a:solidFill>
                  <a:srgbClr val="2B2D2F"/>
                </a:solidFill>
                <a:latin typeface="QuattrocentoSans"/>
                <a:ea typeface="QuattrocentoSans"/>
              </a:rPr>
              <a:t> Investigation model</a:t>
            </a:r>
          </a:p>
          <a:p>
            <a:pPr algn="l">
              <a:lnSpc>
                <a:spcPct val="150000"/>
              </a:lnSpc>
              <a:spcBef>
                <a:spcPts val="600"/>
              </a:spcBef>
            </a:pPr>
            <a:r>
              <a:rPr b="1" sz="1350" noProof="1">
                <a:solidFill>
                  <a:srgbClr val="2B2D2F"/>
                </a:solidFill>
                <a:latin typeface="QuattrocentoSans"/>
                <a:ea typeface="QuattrocentoSans"/>
              </a:rPr>
              <a:t>Malformed</a:t>
            </a:r>
            <a:r>
              <a:rPr sz="1350" noProof="1">
                <a:solidFill>
                  <a:srgbClr val="2B2D2F"/>
                </a:solidFill>
                <a:latin typeface="QuattrocentoSans"/>
                <a:ea typeface="QuattrocentoSans"/>
              </a:rPr>
              <a:t> output fallback</a:t>
            </a:r>
          </a:p>
        </p:txBody>
      </p:sp>
      <p:sp>
        <p:nvSpPr>
          <p:cNvPr id="33" name="dsl:emphasis-bg"/>
          <p:cNvSpPr/>
          <p:nvPr/>
        </p:nvSpPr>
        <p:spPr>
          <a:xfrm>
            <a:off x="571500" y="5619750"/>
            <a:ext cx="11049000"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emphasis-text"/>
          <p:cNvSpPr txBox="1"/>
          <p:nvPr/>
        </p:nvSpPr>
        <p:spPr>
          <a:xfrm>
            <a:off x="952500" y="5619750"/>
            <a:ext cx="10287000" cy="571500"/>
          </a:xfrm>
          <a:prstGeom prst="rect">
            <a:avLst/>
          </a:prstGeom>
          <a:noFill/>
        </p:spPr>
        <p:txBody>
          <a:bodyPr wrap="none" anchor="ctr">
            <a:noAutofit/>
          </a:bodyPr>
          <a:lstStyle/>
          <a:p>
            <a:pPr algn="ctr"/>
            <a:r>
              <a:rPr b="1" sz="1350" noProof="1">
                <a:solidFill>
                  <a:srgbClr val="FFFFFF"/>
                </a:solidFill>
                <a:latin typeface="QuattrocentoSans"/>
                <a:ea typeface="QuattrocentoSans"/>
              </a:rPr>
              <a:t>AI is a fallible assistant</a:t>
            </a:r>
            <a:r>
              <a:rPr sz="1350" noProof="1">
                <a:solidFill>
                  <a:srgbClr val="FFFFFF"/>
                </a:solidFill>
                <a:latin typeface="QuattrocentoSans"/>
                <a:ea typeface="QuattrocentoSans"/>
              </a:rPr>
              <a:t> — output is always parsed, validated, and constrained before presentation</a:t>
            </a:r>
          </a:p>
        </p:txBody>
      </p:sp>
      <p:sp>
        <p:nvSpPr>
          <p:cNvPr id="35" name="dsl:emphasis-icon|i=fas:shield-halved"/>
          <p:cNvSpPr/>
          <p:nvPr/>
        </p:nvSpPr>
        <p:spPr>
          <a:xfrm>
            <a:off x="685800" y="5772150"/>
            <a:ext cx="266700" cy="266700"/>
          </a:xfrm>
          <a:custGeom>
            <a:avLst/>
            <a:gdLst/>
            <a:ahLst/>
            <a:cxnLst/>
            <a:rect l="l" t="t" r="r" b="b"/>
            <a:pathLst>
              <a:path w="266700" h="266700">
                <a:moveTo>
                  <a:pt x="133350" y="0"/>
                </a:moveTo>
                <a:cubicBezTo>
                  <a:pt x="135746" y="0"/>
                  <a:pt x="138142" y="520"/>
                  <a:pt x="140330" y="1510"/>
                </a:cubicBezTo>
                <a:lnTo>
                  <a:pt x="238415" y="43130"/>
                </a:lnTo>
                <a:cubicBezTo>
                  <a:pt x="249874" y="47974"/>
                  <a:pt x="258417" y="59278"/>
                  <a:pt x="258365" y="72925"/>
                </a:cubicBezTo>
                <a:cubicBezTo>
                  <a:pt x="260970" y="124598"/>
                  <a:pt x="236852" y="219141"/>
                  <a:pt x="147101" y="262116"/>
                </a:cubicBezTo>
                <a:cubicBezTo>
                  <a:pt x="138402" y="266283"/>
                  <a:pt x="128297" y="266283"/>
                  <a:pt x="119598" y="262116"/>
                </a:cubicBezTo>
                <a:cubicBezTo>
                  <a:pt x="29847" y="219141"/>
                  <a:pt x="8594" y="124598"/>
                  <a:pt x="8334" y="72925"/>
                </a:cubicBezTo>
                <a:cubicBezTo>
                  <a:pt x="8855" y="59278"/>
                  <a:pt x="16825" y="47974"/>
                  <a:pt x="28284" y="43130"/>
                </a:cubicBezTo>
                <a:lnTo>
                  <a:pt x="126422" y="1510"/>
                </a:lnTo>
                <a:cubicBezTo>
                  <a:pt x="128557" y="520"/>
                  <a:pt x="130953" y="0"/>
                  <a:pt x="133350" y="0"/>
                </a:cubicBezTo>
                <a:close/>
                <a:moveTo>
                  <a:pt x="133350" y="34796"/>
                </a:moveTo>
                <a:lnTo>
                  <a:pt x="133350" y="231695"/>
                </a:lnTo>
                <a:cubicBezTo>
                  <a:pt x="205233" y="196899"/>
                  <a:pt x="224559" y="119858"/>
                  <a:pt x="225028" y="73655"/>
                </a:cubicBezTo>
                <a:lnTo>
                  <a:pt x="133350" y="34796"/>
                </a:lnTo>
                <a:lnTo>
                  <a:pt x="133350" y="34796"/>
                </a:lnTo>
                <a:close/>
              </a:path>
            </a:pathLst>
          </a:custGeom>
          <a:solidFill>
            <a:srgbClr val="D4A373"/>
          </a:solidFill>
          <a:ln>
            <a:noFill/>
          </a:ln>
          <a:effectLst/>
        </p:spPr>
      </p:sp>
      <p:sp>
        <p:nvSpPr>
          <p:cNvPr id="36"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37"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6477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Controlled Remediation &amp; Verification</a:t>
            </a:r>
          </a:p>
        </p:txBody>
      </p:sp>
      <p:sp>
        <p:nvSpPr>
          <p:cNvPr id="14" name="dsl:ref-note"/>
          <p:cNvSpPr txBox="1"/>
          <p:nvPr/>
        </p:nvSpPr>
        <p:spPr>
          <a:xfrm>
            <a:off x="8096250" y="552450"/>
            <a:ext cx="352425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Sections 3.13-3.14</a:t>
            </a:r>
          </a:p>
        </p:txBody>
      </p:sp>
      <p:sp>
        <p:nvSpPr>
          <p:cNvPr id="15" name="dsl:flow-section-label"/>
          <p:cNvSpPr txBox="1"/>
          <p:nvPr/>
        </p:nvSpPr>
        <p:spPr>
          <a:xfrm>
            <a:off x="571500" y="1047750"/>
            <a:ext cx="2857500" cy="228600"/>
          </a:xfrm>
          <a:prstGeom prst="rect">
            <a:avLst/>
          </a:prstGeom>
          <a:noFill/>
        </p:spPr>
        <p:txBody>
          <a:bodyPr wrap="none" anchor="ctr">
            <a:noAutofit/>
          </a:bodyPr>
          <a:lstStyle/>
          <a:p>
            <a:pPr algn="l"/>
            <a:r>
              <a:rPr b="1" sz="1050" noProof="1">
                <a:solidFill>
                  <a:srgbClr val="5C6B73"/>
                </a:solidFill>
                <a:latin typeface="Liter"/>
                <a:ea typeface="Liter"/>
              </a:rPr>
              <a:t>INVESTIGATION LIFECYCLE</a:t>
            </a:r>
          </a:p>
        </p:txBody>
      </p:sp>
      <p:sp>
        <p:nvSpPr>
          <p:cNvPr id="16" name="dsl:flow-box-1"/>
          <p:cNvSpPr/>
          <p:nvPr/>
        </p:nvSpPr>
        <p:spPr>
          <a:xfrm>
            <a:off x="571500" y="1352550"/>
            <a:ext cx="1238250" cy="381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flow-text-1"/>
          <p:cNvSpPr txBox="1"/>
          <p:nvPr/>
        </p:nvSpPr>
        <p:spPr>
          <a:xfrm>
            <a:off x="571500" y="1352550"/>
            <a:ext cx="1238250" cy="381000"/>
          </a:xfrm>
          <a:prstGeom prst="rect">
            <a:avLst/>
          </a:prstGeom>
          <a:noFill/>
        </p:spPr>
        <p:txBody>
          <a:bodyPr wrap="none" anchor="ctr">
            <a:noAutofit/>
          </a:bodyPr>
          <a:lstStyle/>
          <a:p>
            <a:pPr algn="ctr"/>
            <a:r>
              <a:rPr sz="1050" noProof="1">
                <a:solidFill>
                  <a:srgbClr val="2D6A6A"/>
                </a:solidFill>
                <a:latin typeface="Liter"/>
                <a:ea typeface="Liter"/>
              </a:rPr>
              <a:t>PENDING</a:t>
            </a:r>
          </a:p>
        </p:txBody>
      </p:sp>
      <p:cxnSp>
        <p:nvCxnSpPr>
          <p:cNvPr id="18" name="dsl:flow-arrow-1"/>
          <p:cNvCxnSpPr/>
          <p:nvPr/>
        </p:nvCxnSpPr>
        <p:spPr>
          <a:xfrm>
            <a:off x="1809750" y="1543050"/>
            <a:ext cx="2286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9" name="dsl:flow-box-2"/>
          <p:cNvSpPr/>
          <p:nvPr/>
        </p:nvSpPr>
        <p:spPr>
          <a:xfrm>
            <a:off x="2038350" y="1352550"/>
            <a:ext cx="1619250" cy="381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flow-text-2"/>
          <p:cNvSpPr txBox="1"/>
          <p:nvPr/>
        </p:nvSpPr>
        <p:spPr>
          <a:xfrm>
            <a:off x="2038350" y="1352550"/>
            <a:ext cx="1619250" cy="381000"/>
          </a:xfrm>
          <a:prstGeom prst="rect">
            <a:avLst/>
          </a:prstGeom>
          <a:noFill/>
        </p:spPr>
        <p:txBody>
          <a:bodyPr wrap="none" anchor="ctr">
            <a:noAutofit/>
          </a:bodyPr>
          <a:lstStyle/>
          <a:p>
            <a:pPr algn="ctr"/>
            <a:r>
              <a:rPr sz="1050" noProof="1">
                <a:solidFill>
                  <a:srgbClr val="2D6A6A"/>
                </a:solidFill>
                <a:latin typeface="Liter"/>
                <a:ea typeface="Liter"/>
              </a:rPr>
              <a:t>AWAITING APPROVAL</a:t>
            </a:r>
          </a:p>
        </p:txBody>
      </p:sp>
      <p:cxnSp>
        <p:nvCxnSpPr>
          <p:cNvPr id="21" name="dsl:flow-arrow-2a"/>
          <p:cNvCxnSpPr/>
          <p:nvPr/>
        </p:nvCxnSpPr>
        <p:spPr>
          <a:xfrm>
            <a:off x="3657600" y="1447800"/>
            <a:ext cx="2286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2" name="dsl:flow-box-3a"/>
          <p:cNvSpPr/>
          <p:nvPr/>
        </p:nvSpPr>
        <p:spPr>
          <a:xfrm>
            <a:off x="3886200" y="1238250"/>
            <a:ext cx="952500" cy="266700"/>
          </a:xfrm>
          <a:prstGeom prst="rect">
            <a:avLst/>
          </a:prstGeom>
          <a:solidFill>
            <a:srgbClr val="E8F5E9"/>
          </a:solidFill>
          <a:ln w="12700">
            <a:solidFill>
              <a:srgbClr val="81C784"/>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flow-text-3a"/>
          <p:cNvSpPr txBox="1"/>
          <p:nvPr/>
        </p:nvSpPr>
        <p:spPr>
          <a:xfrm>
            <a:off x="3886200" y="1238250"/>
            <a:ext cx="952500" cy="266700"/>
          </a:xfrm>
          <a:prstGeom prst="rect">
            <a:avLst/>
          </a:prstGeom>
          <a:noFill/>
        </p:spPr>
        <p:txBody>
          <a:bodyPr wrap="none" anchor="ctr">
            <a:noAutofit/>
          </a:bodyPr>
          <a:lstStyle/>
          <a:p>
            <a:pPr algn="ctr"/>
            <a:r>
              <a:rPr sz="975" noProof="1">
                <a:solidFill>
                  <a:srgbClr val="2E7D32"/>
                </a:solidFill>
                <a:latin typeface="Liter"/>
                <a:ea typeface="Liter"/>
              </a:rPr>
              <a:t>APPROVED</a:t>
            </a:r>
          </a:p>
        </p:txBody>
      </p:sp>
      <p:cxnSp>
        <p:nvCxnSpPr>
          <p:cNvPr id="24" name="dsl:flow-arrow-3"/>
          <p:cNvCxnSpPr/>
          <p:nvPr/>
        </p:nvCxnSpPr>
        <p:spPr>
          <a:xfrm>
            <a:off x="4838700" y="1371600"/>
            <a:ext cx="2286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5" name="dsl:flow-box-4"/>
          <p:cNvSpPr/>
          <p:nvPr/>
        </p:nvSpPr>
        <p:spPr>
          <a:xfrm>
            <a:off x="5067300" y="1352550"/>
            <a:ext cx="952500" cy="381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flow-text-4"/>
          <p:cNvSpPr txBox="1"/>
          <p:nvPr/>
        </p:nvSpPr>
        <p:spPr>
          <a:xfrm>
            <a:off x="5067300" y="1352550"/>
            <a:ext cx="952500" cy="381000"/>
          </a:xfrm>
          <a:prstGeom prst="rect">
            <a:avLst/>
          </a:prstGeom>
          <a:noFill/>
        </p:spPr>
        <p:txBody>
          <a:bodyPr wrap="none" anchor="ctr">
            <a:noAutofit/>
          </a:bodyPr>
          <a:lstStyle/>
          <a:p>
            <a:pPr algn="ctr"/>
            <a:r>
              <a:rPr sz="1050" noProof="1">
                <a:solidFill>
                  <a:srgbClr val="2D6A6A"/>
                </a:solidFill>
                <a:latin typeface="Liter"/>
                <a:ea typeface="Liter"/>
              </a:rPr>
              <a:t>RUNNING</a:t>
            </a:r>
          </a:p>
        </p:txBody>
      </p:sp>
      <p:cxnSp>
        <p:nvCxnSpPr>
          <p:cNvPr id="27" name="dsl:flow-arrow-4"/>
          <p:cNvCxnSpPr/>
          <p:nvPr/>
        </p:nvCxnSpPr>
        <p:spPr>
          <a:xfrm>
            <a:off x="6019800" y="1543050"/>
            <a:ext cx="2286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8" name="dsl:flow-box-5"/>
          <p:cNvSpPr/>
          <p:nvPr/>
        </p:nvSpPr>
        <p:spPr>
          <a:xfrm>
            <a:off x="6248400" y="1352550"/>
            <a:ext cx="1333500" cy="381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l:flow-text-5"/>
          <p:cNvSpPr txBox="1"/>
          <p:nvPr/>
        </p:nvSpPr>
        <p:spPr>
          <a:xfrm>
            <a:off x="6248400" y="1352550"/>
            <a:ext cx="1333500" cy="381000"/>
          </a:xfrm>
          <a:prstGeom prst="rect">
            <a:avLst/>
          </a:prstGeom>
          <a:noFill/>
        </p:spPr>
        <p:txBody>
          <a:bodyPr wrap="none" anchor="ctr">
            <a:noAutofit/>
          </a:bodyPr>
          <a:lstStyle/>
          <a:p>
            <a:pPr algn="ctr"/>
            <a:r>
              <a:rPr sz="1050" noProof="1">
                <a:solidFill>
                  <a:srgbClr val="2D6A6A"/>
                </a:solidFill>
                <a:latin typeface="Liter"/>
                <a:ea typeface="Liter"/>
              </a:rPr>
              <a:t>COMPLETED</a:t>
            </a:r>
          </a:p>
        </p:txBody>
      </p:sp>
      <p:cxnSp>
        <p:nvCxnSpPr>
          <p:cNvPr id="30" name="dsl:flow-arrow-5"/>
          <p:cNvCxnSpPr/>
          <p:nvPr/>
        </p:nvCxnSpPr>
        <p:spPr>
          <a:xfrm>
            <a:off x="7581900" y="1543050"/>
            <a:ext cx="2286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1" name="dsl:flow-box-6"/>
          <p:cNvSpPr/>
          <p:nvPr/>
        </p:nvSpPr>
        <p:spPr>
          <a:xfrm>
            <a:off x="7810500" y="1352550"/>
            <a:ext cx="1047750" cy="381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flow-text-6"/>
          <p:cNvSpPr txBox="1"/>
          <p:nvPr/>
        </p:nvSpPr>
        <p:spPr>
          <a:xfrm>
            <a:off x="7810500" y="1352550"/>
            <a:ext cx="1047750" cy="381000"/>
          </a:xfrm>
          <a:prstGeom prst="rect">
            <a:avLst/>
          </a:prstGeom>
          <a:noFill/>
        </p:spPr>
        <p:txBody>
          <a:bodyPr wrap="none" anchor="ctr">
            <a:noAutofit/>
          </a:bodyPr>
          <a:lstStyle/>
          <a:p>
            <a:pPr algn="ctr"/>
            <a:r>
              <a:rPr sz="1050" noProof="1">
                <a:solidFill>
                  <a:srgbClr val="2D6A6A"/>
                </a:solidFill>
                <a:latin typeface="Liter"/>
                <a:ea typeface="Liter"/>
              </a:rPr>
              <a:t>ARCHIVED</a:t>
            </a:r>
          </a:p>
        </p:txBody>
      </p:sp>
      <p:cxnSp>
        <p:nvCxnSpPr>
          <p:cNvPr id="33" name="dsl:flow-arrow-2b"/>
          <p:cNvCxnSpPr/>
          <p:nvPr/>
        </p:nvCxnSpPr>
        <p:spPr>
          <a:xfrm>
            <a:off x="3657600" y="1638300"/>
            <a:ext cx="228600" cy="0"/>
          </a:xfrm>
          <a:prstGeom prst="straightConnector1">
            <a:avLst/>
          </a:prstGeom>
          <a:ln w="25400">
            <a:solidFill>
              <a:srgbClr val="E57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4" name="dsl:flow-box-3b"/>
          <p:cNvSpPr/>
          <p:nvPr/>
        </p:nvSpPr>
        <p:spPr>
          <a:xfrm>
            <a:off x="3886200" y="1581150"/>
            <a:ext cx="952500" cy="266700"/>
          </a:xfrm>
          <a:prstGeom prst="rect">
            <a:avLst/>
          </a:prstGeom>
          <a:solidFill>
            <a:srgbClr val="FFEBEE"/>
          </a:solidFill>
          <a:ln w="12700">
            <a:solidFill>
              <a:srgbClr val="E57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flow-text-3b"/>
          <p:cNvSpPr txBox="1"/>
          <p:nvPr/>
        </p:nvSpPr>
        <p:spPr>
          <a:xfrm>
            <a:off x="3886200" y="1581150"/>
            <a:ext cx="952500" cy="266700"/>
          </a:xfrm>
          <a:prstGeom prst="rect">
            <a:avLst/>
          </a:prstGeom>
          <a:noFill/>
        </p:spPr>
        <p:txBody>
          <a:bodyPr wrap="none" anchor="ctr">
            <a:noAutofit/>
          </a:bodyPr>
          <a:lstStyle/>
          <a:p>
            <a:pPr algn="ctr"/>
            <a:r>
              <a:rPr sz="975" noProof="1">
                <a:solidFill>
                  <a:srgbClr val="C62828"/>
                </a:solidFill>
                <a:latin typeface="Liter"/>
                <a:ea typeface="Liter"/>
              </a:rPr>
              <a:t>DECLINED</a:t>
            </a:r>
          </a:p>
        </p:txBody>
      </p:sp>
      <p:cxnSp>
        <p:nvCxnSpPr>
          <p:cNvPr id="36" name="dsl:flow-arrow-fail"/>
          <p:cNvCxnSpPr/>
          <p:nvPr/>
        </p:nvCxnSpPr>
        <p:spPr>
          <a:xfrm>
            <a:off x="6019800" y="1733550"/>
            <a:ext cx="228600" cy="133350"/>
          </a:xfrm>
          <a:prstGeom prst="straightConnector1">
            <a:avLst/>
          </a:prstGeom>
          <a:ln w="25400">
            <a:solidFill>
              <a:srgbClr val="E57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7" name="dsl:flow-box-fail"/>
          <p:cNvSpPr/>
          <p:nvPr/>
        </p:nvSpPr>
        <p:spPr>
          <a:xfrm>
            <a:off x="6248400" y="1866900"/>
            <a:ext cx="1333500" cy="266700"/>
          </a:xfrm>
          <a:prstGeom prst="rect">
            <a:avLst/>
          </a:prstGeom>
          <a:solidFill>
            <a:srgbClr val="FFEBEE"/>
          </a:solidFill>
          <a:ln w="12700">
            <a:solidFill>
              <a:srgbClr val="E57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sl:flow-text-fail"/>
          <p:cNvSpPr txBox="1"/>
          <p:nvPr/>
        </p:nvSpPr>
        <p:spPr>
          <a:xfrm>
            <a:off x="6248400" y="1866900"/>
            <a:ext cx="1333500" cy="266700"/>
          </a:xfrm>
          <a:prstGeom prst="rect">
            <a:avLst/>
          </a:prstGeom>
          <a:noFill/>
        </p:spPr>
        <p:txBody>
          <a:bodyPr wrap="none" anchor="ctr">
            <a:noAutofit/>
          </a:bodyPr>
          <a:lstStyle/>
          <a:p>
            <a:pPr algn="ctr"/>
            <a:r>
              <a:rPr sz="975" noProof="1">
                <a:solidFill>
                  <a:srgbClr val="C62828"/>
                </a:solidFill>
                <a:latin typeface="Liter"/>
                <a:ea typeface="Liter"/>
              </a:rPr>
              <a:t>FAILED</a:t>
            </a:r>
          </a:p>
        </p:txBody>
      </p:sp>
      <p:sp>
        <p:nvSpPr>
          <p:cNvPr id="39" name="dsl:section-divider"/>
          <p:cNvSpPr/>
          <p:nvPr/>
        </p:nvSpPr>
        <p:spPr>
          <a:xfrm>
            <a:off x="571500" y="22860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sl:left-label"/>
          <p:cNvSpPr txBox="1"/>
          <p:nvPr/>
        </p:nvSpPr>
        <p:spPr>
          <a:xfrm>
            <a:off x="571500" y="2419350"/>
            <a:ext cx="2857500" cy="228600"/>
          </a:xfrm>
          <a:prstGeom prst="rect">
            <a:avLst/>
          </a:prstGeom>
          <a:noFill/>
        </p:spPr>
        <p:txBody>
          <a:bodyPr wrap="none" anchor="ctr">
            <a:noAutofit/>
          </a:bodyPr>
          <a:lstStyle/>
          <a:p>
            <a:pPr algn="l"/>
            <a:r>
              <a:rPr b="1" sz="1050" noProof="1">
                <a:solidFill>
                  <a:srgbClr val="5C6B73"/>
                </a:solidFill>
                <a:latin typeface="Liter"/>
                <a:ea typeface="Liter"/>
              </a:rPr>
              <a:t>APPROVAL TYPES</a:t>
            </a:r>
          </a:p>
        </p:txBody>
      </p:sp>
      <p:sp>
        <p:nvSpPr>
          <p:cNvPr id="41" name="dsl:approval-manual-bg"/>
          <p:cNvSpPr/>
          <p:nvPr/>
        </p:nvSpPr>
        <p:spPr>
          <a:xfrm>
            <a:off x="571500" y="2724150"/>
            <a:ext cx="5143500" cy="762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sl:approval-manual-accent"/>
          <p:cNvSpPr/>
          <p:nvPr/>
        </p:nvSpPr>
        <p:spPr>
          <a:xfrm>
            <a:off x="571500" y="2724150"/>
            <a:ext cx="38100" cy="7620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sl:approval-manual-title"/>
          <p:cNvSpPr txBox="1"/>
          <p:nvPr/>
        </p:nvSpPr>
        <p:spPr>
          <a:xfrm>
            <a:off x="762000" y="2762250"/>
            <a:ext cx="1905000" cy="247650"/>
          </a:xfrm>
          <a:prstGeom prst="rect">
            <a:avLst/>
          </a:prstGeom>
          <a:noFill/>
        </p:spPr>
        <p:txBody>
          <a:bodyPr wrap="none" anchor="ctr">
            <a:noAutofit/>
          </a:bodyPr>
          <a:lstStyle/>
          <a:p>
            <a:pPr algn="l"/>
            <a:r>
              <a:rPr b="1" sz="1350" noProof="1">
                <a:solidFill>
                  <a:srgbClr val="2D6A6A"/>
                </a:solidFill>
                <a:latin typeface="Liter"/>
                <a:ea typeface="Liter"/>
              </a:rPr>
              <a:t>Manual</a:t>
            </a:r>
          </a:p>
        </p:txBody>
      </p:sp>
      <p:sp>
        <p:nvSpPr>
          <p:cNvPr id="44" name="dsl:approval-manual-desc"/>
          <p:cNvSpPr txBox="1"/>
          <p:nvPr/>
        </p:nvSpPr>
        <p:spPr>
          <a:xfrm>
            <a:off x="762000" y="3028950"/>
            <a:ext cx="4762500" cy="381000"/>
          </a:xfrm>
          <a:prstGeom prst="rect">
            <a:avLst/>
          </a:prstGeom>
          <a:noFill/>
        </p:spPr>
        <p:txBody>
          <a:bodyPr wrap="square" anchor="t">
            <a:noAutofit/>
          </a:bodyPr>
          <a:lstStyle/>
          <a:p>
            <a:pPr algn="l"/>
            <a:r>
              <a:rPr sz="1200" noProof="1">
                <a:solidFill>
                  <a:srgbClr val="2B2D2F"/>
                </a:solidFill>
                <a:latin typeface="QuattrocentoSans"/>
                <a:ea typeface="QuattrocentoSans"/>
              </a:rPr>
              <a:t>Analyst must explicitly review and approve every remediation action</a:t>
            </a:r>
          </a:p>
        </p:txBody>
      </p:sp>
      <p:sp>
        <p:nvSpPr>
          <p:cNvPr id="45" name="dsl:approval-auto-bg"/>
          <p:cNvSpPr/>
          <p:nvPr/>
        </p:nvSpPr>
        <p:spPr>
          <a:xfrm>
            <a:off x="571500" y="3600450"/>
            <a:ext cx="5143500" cy="762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sl:approval-auto-accent"/>
          <p:cNvSpPr/>
          <p:nvPr/>
        </p:nvSpPr>
        <p:spPr>
          <a:xfrm>
            <a:off x="571500" y="3600450"/>
            <a:ext cx="38100" cy="762000"/>
          </a:xfrm>
          <a:prstGeom prst="rect">
            <a:avLst/>
          </a:prstGeom>
          <a:solidFill>
            <a:srgbClr val="81C7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sl:approval-auto-title"/>
          <p:cNvSpPr txBox="1"/>
          <p:nvPr/>
        </p:nvSpPr>
        <p:spPr>
          <a:xfrm>
            <a:off x="762000" y="3638550"/>
            <a:ext cx="2381250" cy="247650"/>
          </a:xfrm>
          <a:prstGeom prst="rect">
            <a:avLst/>
          </a:prstGeom>
          <a:noFill/>
        </p:spPr>
        <p:txBody>
          <a:bodyPr wrap="none" anchor="ctr">
            <a:noAutofit/>
          </a:bodyPr>
          <a:lstStyle/>
          <a:p>
            <a:pPr algn="l"/>
            <a:r>
              <a:rPr b="1" sz="1350" noProof="1">
                <a:solidFill>
                  <a:srgbClr val="2D6A6A"/>
                </a:solidFill>
                <a:latin typeface="Liter"/>
                <a:ea typeface="Liter"/>
              </a:rPr>
              <a:t>Auto-Approved</a:t>
            </a:r>
          </a:p>
        </p:txBody>
      </p:sp>
      <p:sp>
        <p:nvSpPr>
          <p:cNvPr id="48" name="dsl:approval-auto-desc"/>
          <p:cNvSpPr txBox="1"/>
          <p:nvPr/>
        </p:nvSpPr>
        <p:spPr>
          <a:xfrm>
            <a:off x="762000" y="3905250"/>
            <a:ext cx="4762500" cy="381000"/>
          </a:xfrm>
          <a:prstGeom prst="rect">
            <a:avLst/>
          </a:prstGeom>
          <a:noFill/>
        </p:spPr>
        <p:txBody>
          <a:bodyPr wrap="square" anchor="t">
            <a:noAutofit/>
          </a:bodyPr>
          <a:lstStyle/>
          <a:p>
            <a:pPr algn="l"/>
            <a:r>
              <a:rPr sz="1200" noProof="1">
                <a:solidFill>
                  <a:srgbClr val="2B2D2F"/>
                </a:solidFill>
                <a:latin typeface="QuattrocentoSans"/>
                <a:ea typeface="QuattrocentoSans"/>
              </a:rPr>
              <a:t>Low-risk actions execute automatically based on configured policy</a:t>
            </a:r>
          </a:p>
        </p:txBody>
      </p:sp>
      <p:sp>
        <p:nvSpPr>
          <p:cNvPr id="49" name="dsl:approval-blocked-bg"/>
          <p:cNvSpPr/>
          <p:nvPr/>
        </p:nvSpPr>
        <p:spPr>
          <a:xfrm>
            <a:off x="571500" y="4476750"/>
            <a:ext cx="5143500" cy="762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dsl:approval-blocked-accent"/>
          <p:cNvSpPr/>
          <p:nvPr/>
        </p:nvSpPr>
        <p:spPr>
          <a:xfrm>
            <a:off x="571500" y="4476750"/>
            <a:ext cx="38100" cy="762000"/>
          </a:xfrm>
          <a:prstGeom prst="rect">
            <a:avLst/>
          </a:prstGeom>
          <a:solidFill>
            <a:srgbClr val="E57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dsl:approval-blocked-title"/>
          <p:cNvSpPr txBox="1"/>
          <p:nvPr/>
        </p:nvSpPr>
        <p:spPr>
          <a:xfrm>
            <a:off x="762000" y="4514850"/>
            <a:ext cx="1905000" cy="247650"/>
          </a:xfrm>
          <a:prstGeom prst="rect">
            <a:avLst/>
          </a:prstGeom>
          <a:noFill/>
        </p:spPr>
        <p:txBody>
          <a:bodyPr wrap="none" anchor="ctr">
            <a:noAutofit/>
          </a:bodyPr>
          <a:lstStyle/>
          <a:p>
            <a:pPr algn="l"/>
            <a:r>
              <a:rPr b="1" sz="1350" noProof="1">
                <a:solidFill>
                  <a:srgbClr val="2D6A6A"/>
                </a:solidFill>
                <a:latin typeface="Liter"/>
                <a:ea typeface="Liter"/>
              </a:rPr>
              <a:t>Blocked</a:t>
            </a:r>
          </a:p>
        </p:txBody>
      </p:sp>
      <p:sp>
        <p:nvSpPr>
          <p:cNvPr id="52" name="dsl:approval-blocked-desc"/>
          <p:cNvSpPr txBox="1"/>
          <p:nvPr/>
        </p:nvSpPr>
        <p:spPr>
          <a:xfrm>
            <a:off x="762000" y="4781550"/>
            <a:ext cx="4762500" cy="381000"/>
          </a:xfrm>
          <a:prstGeom prst="rect">
            <a:avLst/>
          </a:prstGeom>
          <a:noFill/>
        </p:spPr>
        <p:txBody>
          <a:bodyPr wrap="square" anchor="t">
            <a:noAutofit/>
          </a:bodyPr>
          <a:lstStyle/>
          <a:p>
            <a:pPr algn="l"/>
            <a:r>
              <a:rPr sz="1200" noProof="1">
                <a:solidFill>
                  <a:srgbClr val="2B2D2F"/>
                </a:solidFill>
                <a:latin typeface="QuattrocentoSans"/>
                <a:ea typeface="QuattrocentoSans"/>
              </a:rPr>
              <a:t>Critical or high-risk actions are prevented regardless of approval</a:t>
            </a:r>
          </a:p>
        </p:txBody>
      </p:sp>
      <p:sp>
        <p:nvSpPr>
          <p:cNvPr id="53" name="dsl:right-label"/>
          <p:cNvSpPr txBox="1"/>
          <p:nvPr/>
        </p:nvSpPr>
        <p:spPr>
          <a:xfrm>
            <a:off x="6286500" y="2419350"/>
            <a:ext cx="2857500" cy="228600"/>
          </a:xfrm>
          <a:prstGeom prst="rect">
            <a:avLst/>
          </a:prstGeom>
          <a:noFill/>
        </p:spPr>
        <p:txBody>
          <a:bodyPr wrap="none" anchor="ctr">
            <a:noAutofit/>
          </a:bodyPr>
          <a:lstStyle/>
          <a:p>
            <a:pPr algn="l"/>
            <a:r>
              <a:rPr b="1" sz="1050" noProof="1">
                <a:solidFill>
                  <a:srgbClr val="5C6B73"/>
                </a:solidFill>
                <a:latin typeface="Liter"/>
                <a:ea typeface="Liter"/>
              </a:rPr>
              <a:t>STAGED EXECUTION</a:t>
            </a:r>
          </a:p>
        </p:txBody>
      </p:sp>
      <p:sp>
        <p:nvSpPr>
          <p:cNvPr id="54" name="dsl:stage-bg"/>
          <p:cNvSpPr/>
          <p:nvPr/>
        </p:nvSpPr>
        <p:spPr>
          <a:xfrm>
            <a:off x="6286500" y="2724150"/>
            <a:ext cx="5334000" cy="2571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dsl:stage-body"/>
          <p:cNvSpPr txBox="1"/>
          <p:nvPr/>
        </p:nvSpPr>
        <p:spPr>
          <a:xfrm>
            <a:off x="6477000" y="2838450"/>
            <a:ext cx="4953000" cy="2419350"/>
          </a:xfrm>
          <a:prstGeom prst="rect">
            <a:avLst/>
          </a:prstGeom>
          <a:noFill/>
        </p:spPr>
        <p:txBody>
          <a:bodyPr wrap="square" anchor="t">
            <a:noAutofit/>
          </a:bodyPr>
          <a:lstStyle/>
          <a:p>
            <a:pPr algn="l">
              <a:lnSpc>
                <a:spcPct val="150000"/>
              </a:lnSpc>
            </a:pPr>
            <a:r>
              <a:rPr b="1" sz="1350" noProof="1">
                <a:solidFill>
                  <a:srgbClr val="2D6A6A"/>
                </a:solidFill>
                <a:latin typeface="QuattrocentoSans"/>
                <a:ea typeface="QuattrocentoSans"/>
              </a:rPr>
              <a:t>1. Baseline</a:t>
            </a:r>
            <a:r>
              <a:rPr sz="1350" noProof="1">
                <a:solidFill>
                  <a:srgbClr val="2B2D2F"/>
                </a:solidFill>
                <a:latin typeface="QuattrocentoSans"/>
                <a:ea typeface="QuattrocentoSans"/>
              </a:rPr>
              <a:t> — Record current system state</a:t>
            </a:r>
          </a:p>
          <a:p>
            <a:pPr algn="l">
              <a:lnSpc>
                <a:spcPct val="150000"/>
              </a:lnSpc>
              <a:spcBef>
                <a:spcPts val="750"/>
              </a:spcBef>
            </a:pPr>
            <a:r>
              <a:rPr b="1" sz="1350" noProof="1">
                <a:solidFill>
                  <a:srgbClr val="2D6A6A"/>
                </a:solidFill>
                <a:latin typeface="QuattrocentoSans"/>
                <a:ea typeface="QuattrocentoSans"/>
              </a:rPr>
              <a:t>2. Dry-Run</a:t>
            </a:r>
            <a:r>
              <a:rPr sz="1350" noProof="1">
                <a:solidFill>
                  <a:srgbClr val="2B2D2F"/>
                </a:solidFill>
                <a:latin typeface="QuattrocentoSans"/>
                <a:ea typeface="QuattrocentoSans"/>
              </a:rPr>
              <a:t> — Simulate changes safely</a:t>
            </a:r>
          </a:p>
          <a:p>
            <a:pPr algn="l">
              <a:lnSpc>
                <a:spcPct val="150000"/>
              </a:lnSpc>
              <a:spcBef>
                <a:spcPts val="750"/>
              </a:spcBef>
            </a:pPr>
            <a:r>
              <a:rPr b="1" sz="1350" noProof="1">
                <a:solidFill>
                  <a:srgbClr val="2D6A6A"/>
                </a:solidFill>
                <a:latin typeface="QuattrocentoSans"/>
                <a:ea typeface="QuattrocentoSans"/>
              </a:rPr>
              <a:t>3. Containment</a:t>
            </a:r>
            <a:r>
              <a:rPr sz="1350" noProof="1">
                <a:solidFill>
                  <a:srgbClr val="2B2D2F"/>
                </a:solidFill>
                <a:latin typeface="QuattrocentoSans"/>
                <a:ea typeface="QuattrocentoSans"/>
              </a:rPr>
              <a:t> — Isolate the threat</a:t>
            </a:r>
          </a:p>
          <a:p>
            <a:pPr algn="l">
              <a:lnSpc>
                <a:spcPct val="150000"/>
              </a:lnSpc>
              <a:spcBef>
                <a:spcPts val="750"/>
              </a:spcBef>
            </a:pPr>
            <a:r>
              <a:rPr b="1" sz="1350" noProof="1">
                <a:solidFill>
                  <a:srgbClr val="2D6A6A"/>
                </a:solidFill>
                <a:latin typeface="QuattrocentoSans"/>
                <a:ea typeface="QuattrocentoSans"/>
              </a:rPr>
              <a:t>4. Hardening</a:t>
            </a:r>
            <a:r>
              <a:rPr sz="1350" noProof="1">
                <a:solidFill>
                  <a:srgbClr val="2B2D2F"/>
                </a:solidFill>
                <a:latin typeface="QuattrocentoSans"/>
                <a:ea typeface="QuattrocentoSans"/>
              </a:rPr>
              <a:t> — Apply security fixes</a:t>
            </a:r>
          </a:p>
          <a:p>
            <a:pPr algn="l">
              <a:lnSpc>
                <a:spcPct val="150000"/>
              </a:lnSpc>
              <a:spcBef>
                <a:spcPts val="750"/>
              </a:spcBef>
            </a:pPr>
            <a:r>
              <a:rPr b="1" sz="1350" noProof="1">
                <a:solidFill>
                  <a:srgbClr val="2D6A6A"/>
                </a:solidFill>
                <a:latin typeface="QuattrocentoSans"/>
                <a:ea typeface="QuattrocentoSans"/>
              </a:rPr>
              <a:t>5. Forensics</a:t>
            </a:r>
            <a:r>
              <a:rPr sz="1350" noProof="1">
                <a:solidFill>
                  <a:srgbClr val="2B2D2F"/>
                </a:solidFill>
                <a:latin typeface="QuattrocentoSans"/>
                <a:ea typeface="QuattrocentoSans"/>
              </a:rPr>
              <a:t> — Collect evidence</a:t>
            </a:r>
          </a:p>
          <a:p>
            <a:pPr algn="l">
              <a:lnSpc>
                <a:spcPct val="150000"/>
              </a:lnSpc>
              <a:spcBef>
                <a:spcPts val="750"/>
              </a:spcBef>
            </a:pPr>
            <a:r>
              <a:rPr b="1" sz="1350" noProof="1">
                <a:solidFill>
                  <a:srgbClr val="2D6A6A"/>
                </a:solidFill>
                <a:latin typeface="QuattrocentoSans"/>
                <a:ea typeface="QuattrocentoSans"/>
              </a:rPr>
              <a:t>6. Verification</a:t>
            </a:r>
            <a:r>
              <a:rPr sz="1350" noProof="1">
                <a:solidFill>
                  <a:srgbClr val="2B2D2F"/>
                </a:solidFill>
                <a:latin typeface="QuattrocentoSans"/>
                <a:ea typeface="QuattrocentoSans"/>
              </a:rPr>
              <a:t> — Confirm resolution</a:t>
            </a:r>
          </a:p>
        </p:txBody>
      </p:sp>
      <p:sp>
        <p:nvSpPr>
          <p:cNvPr id="56" name="dsl:audit-bg"/>
          <p:cNvSpPr/>
          <p:nvPr/>
        </p:nvSpPr>
        <p:spPr>
          <a:xfrm>
            <a:off x="571500" y="5448300"/>
            <a:ext cx="11049000" cy="4953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dsl:audit-text"/>
          <p:cNvSpPr txBox="1"/>
          <p:nvPr/>
        </p:nvSpPr>
        <p:spPr>
          <a:xfrm>
            <a:off x="762000" y="5448300"/>
            <a:ext cx="10668000" cy="495300"/>
          </a:xfrm>
          <a:prstGeom prst="rect">
            <a:avLst/>
          </a:prstGeom>
          <a:noFill/>
        </p:spPr>
        <p:txBody>
          <a:bodyPr wrap="none" anchor="ctr">
            <a:noAutofit/>
          </a:bodyPr>
          <a:lstStyle/>
          <a:p>
            <a:pPr algn="ctr"/>
            <a:r>
              <a:rPr sz="1200" noProof="1">
                <a:solidFill>
                  <a:srgbClr val="FFFFFF"/>
                </a:solidFill>
                <a:latin typeface="QuattrocentoSans"/>
                <a:ea typeface="QuattrocentoSans"/>
              </a:rPr>
              <a:t>Every sensitive transition is persisted as an </a:t>
            </a:r>
            <a:r>
              <a:rPr b="1" sz="1200" noProof="1">
                <a:solidFill>
                  <a:srgbClr val="FFFFFF"/>
                </a:solidFill>
                <a:latin typeface="QuattrocentoSans"/>
                <a:ea typeface="QuattrocentoSans"/>
              </a:rPr>
              <a:t>audit event</a:t>
            </a:r>
            <a:r>
              <a:rPr sz="1200" noProof="1">
                <a:solidFill>
                  <a:srgbClr val="FFFFFF"/>
                </a:solidFill>
                <a:latin typeface="QuattrocentoSans"/>
                <a:ea typeface="QuattrocentoSans"/>
              </a:rPr>
              <a:t> with actor, timestamp, and full context</a:t>
            </a:r>
          </a:p>
        </p:txBody>
      </p:sp>
      <p:sp>
        <p:nvSpPr>
          <p:cNvPr id="58"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59"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6477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SOC Analyst Dashboard</a:t>
            </a:r>
          </a:p>
        </p:txBody>
      </p:sp>
      <p:sp>
        <p:nvSpPr>
          <p:cNvPr id="14" name="dsl:ref-note"/>
          <p:cNvSpPr txBox="1"/>
          <p:nvPr/>
        </p:nvSpPr>
        <p:spPr>
          <a:xfrm>
            <a:off x="8572500" y="552450"/>
            <a:ext cx="30480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Chapter 4</a:t>
            </a:r>
          </a:p>
        </p:txBody>
      </p:sp>
      <p:sp>
        <p:nvSpPr>
          <p:cNvPr id="15" name="dsl:card1-bg"/>
          <p:cNvSpPr/>
          <p:nvPr/>
        </p:nvSpPr>
        <p:spPr>
          <a:xfrm>
            <a:off x="571500" y="114300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ard1-icon|i=fas:chart-line"/>
          <p:cNvSpPr/>
          <p:nvPr/>
        </p:nvSpPr>
        <p:spPr>
          <a:xfrm>
            <a:off x="762000" y="1333500"/>
            <a:ext cx="266700" cy="266700"/>
          </a:xfrm>
          <a:custGeom>
            <a:avLst/>
            <a:gdLst/>
            <a:ahLst/>
            <a:cxnLst/>
            <a:rect l="l" t="t" r="r" b="b"/>
            <a:pathLst>
              <a:path w="266700" h="266700">
                <a:moveTo>
                  <a:pt x="33337" y="33337"/>
                </a:moveTo>
                <a:cubicBezTo>
                  <a:pt x="33337" y="24117"/>
                  <a:pt x="25888" y="16668"/>
                  <a:pt x="16668" y="16668"/>
                </a:cubicBezTo>
                <a:cubicBezTo>
                  <a:pt x="7448" y="16668"/>
                  <a:pt x="0" y="24117"/>
                  <a:pt x="0" y="33337"/>
                </a:cubicBezTo>
                <a:lnTo>
                  <a:pt x="0" y="208359"/>
                </a:lnTo>
                <a:cubicBezTo>
                  <a:pt x="0" y="231383"/>
                  <a:pt x="18648" y="250031"/>
                  <a:pt x="41671" y="250031"/>
                </a:cubicBezTo>
                <a:lnTo>
                  <a:pt x="250031" y="250031"/>
                </a:lnTo>
                <a:cubicBezTo>
                  <a:pt x="259251" y="250031"/>
                  <a:pt x="266700" y="242582"/>
                  <a:pt x="266700" y="233362"/>
                </a:cubicBezTo>
                <a:cubicBezTo>
                  <a:pt x="266700" y="224142"/>
                  <a:pt x="259251" y="216693"/>
                  <a:pt x="250031" y="216693"/>
                </a:cubicBezTo>
                <a:lnTo>
                  <a:pt x="41671" y="216693"/>
                </a:lnTo>
                <a:cubicBezTo>
                  <a:pt x="37087" y="216693"/>
                  <a:pt x="33337" y="212943"/>
                  <a:pt x="33337" y="208359"/>
                </a:cubicBezTo>
                <a:lnTo>
                  <a:pt x="33337" y="33337"/>
                </a:lnTo>
                <a:close/>
                <a:moveTo>
                  <a:pt x="245134" y="78447"/>
                </a:moveTo>
                <a:cubicBezTo>
                  <a:pt x="251646" y="71936"/>
                  <a:pt x="251646" y="61361"/>
                  <a:pt x="245134" y="54850"/>
                </a:cubicBezTo>
                <a:cubicBezTo>
                  <a:pt x="238623" y="48339"/>
                  <a:pt x="228049" y="48339"/>
                  <a:pt x="221538" y="54850"/>
                </a:cubicBezTo>
                <a:lnTo>
                  <a:pt x="166687" y="109753"/>
                </a:lnTo>
                <a:lnTo>
                  <a:pt x="136787" y="79853"/>
                </a:lnTo>
                <a:cubicBezTo>
                  <a:pt x="130276" y="73342"/>
                  <a:pt x="119702" y="73342"/>
                  <a:pt x="113191" y="79853"/>
                </a:cubicBezTo>
                <a:lnTo>
                  <a:pt x="54850" y="138194"/>
                </a:lnTo>
                <a:cubicBezTo>
                  <a:pt x="48339" y="144705"/>
                  <a:pt x="48339" y="155279"/>
                  <a:pt x="54850" y="161791"/>
                </a:cubicBezTo>
                <a:cubicBezTo>
                  <a:pt x="61361" y="168302"/>
                  <a:pt x="71936" y="168302"/>
                  <a:pt x="78447" y="161791"/>
                </a:cubicBezTo>
                <a:lnTo>
                  <a:pt x="125015" y="115274"/>
                </a:lnTo>
                <a:lnTo>
                  <a:pt x="154915" y="145174"/>
                </a:lnTo>
                <a:cubicBezTo>
                  <a:pt x="161426" y="151685"/>
                  <a:pt x="172000" y="151685"/>
                  <a:pt x="178511" y="145174"/>
                </a:cubicBezTo>
                <a:lnTo>
                  <a:pt x="245186" y="78499"/>
                </a:lnTo>
                <a:close/>
              </a:path>
            </a:pathLst>
          </a:custGeom>
          <a:solidFill>
            <a:srgbClr val="D4A373"/>
          </a:solidFill>
          <a:ln>
            <a:noFill/>
          </a:ln>
          <a:effectLst/>
        </p:spPr>
      </p:sp>
      <p:sp>
        <p:nvSpPr>
          <p:cNvPr id="17" name="dsl:card1-title"/>
          <p:cNvSpPr txBox="1"/>
          <p:nvPr/>
        </p:nvSpPr>
        <p:spPr>
          <a:xfrm>
            <a:off x="762000" y="1695450"/>
            <a:ext cx="1676400" cy="209550"/>
          </a:xfrm>
          <a:prstGeom prst="rect">
            <a:avLst/>
          </a:prstGeom>
          <a:noFill/>
        </p:spPr>
        <p:txBody>
          <a:bodyPr wrap="none" anchor="ctr">
            <a:noAutofit/>
          </a:bodyPr>
          <a:lstStyle/>
          <a:p>
            <a:pPr algn="l"/>
            <a:r>
              <a:rPr b="1" sz="1200" noProof="1">
                <a:solidFill>
                  <a:srgbClr val="2D6A6A"/>
                </a:solidFill>
                <a:latin typeface="Liter"/>
                <a:ea typeface="Liter"/>
              </a:rPr>
              <a:t>KPI Cards</a:t>
            </a:r>
          </a:p>
        </p:txBody>
      </p:sp>
      <p:sp>
        <p:nvSpPr>
          <p:cNvPr id="18" name="dsl:card1-desc"/>
          <p:cNvSpPr txBox="1"/>
          <p:nvPr/>
        </p:nvSpPr>
        <p:spPr>
          <a:xfrm>
            <a:off x="762000" y="194310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Alert counts, investigation stats, and trend indicators at a glance</a:t>
            </a:r>
          </a:p>
        </p:txBody>
      </p:sp>
      <p:sp>
        <p:nvSpPr>
          <p:cNvPr id="19" name="dsl:card2-bg"/>
          <p:cNvSpPr/>
          <p:nvPr/>
        </p:nvSpPr>
        <p:spPr>
          <a:xfrm>
            <a:off x="2819400" y="114300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card2-icon|i=fas:filter"/>
          <p:cNvSpPr/>
          <p:nvPr/>
        </p:nvSpPr>
        <p:spPr>
          <a:xfrm>
            <a:off x="3009900" y="1333500"/>
            <a:ext cx="266700" cy="266700"/>
          </a:xfrm>
          <a:custGeom>
            <a:avLst/>
            <a:gdLst/>
            <a:ahLst/>
            <a:cxnLst/>
            <a:rect l="l" t="t" r="r" b="b"/>
            <a:pathLst>
              <a:path w="266700" h="266700">
                <a:moveTo>
                  <a:pt x="2031" y="28597"/>
                </a:moveTo>
                <a:cubicBezTo>
                  <a:pt x="5469" y="21304"/>
                  <a:pt x="12762" y="16668"/>
                  <a:pt x="20835" y="16668"/>
                </a:cubicBezTo>
                <a:lnTo>
                  <a:pt x="245864" y="16668"/>
                </a:lnTo>
                <a:cubicBezTo>
                  <a:pt x="253937" y="16668"/>
                  <a:pt x="261230" y="21304"/>
                  <a:pt x="264668" y="28597"/>
                </a:cubicBezTo>
                <a:cubicBezTo>
                  <a:pt x="268106" y="35889"/>
                  <a:pt x="267064" y="44484"/>
                  <a:pt x="261959" y="50735"/>
                </a:cubicBezTo>
                <a:lnTo>
                  <a:pt x="166687" y="167156"/>
                </a:lnTo>
                <a:lnTo>
                  <a:pt x="166687" y="233362"/>
                </a:lnTo>
                <a:cubicBezTo>
                  <a:pt x="166687" y="239665"/>
                  <a:pt x="163145" y="245447"/>
                  <a:pt x="157467" y="248260"/>
                </a:cubicBezTo>
                <a:cubicBezTo>
                  <a:pt x="151789" y="251073"/>
                  <a:pt x="145070" y="250500"/>
                  <a:pt x="140017" y="246697"/>
                </a:cubicBezTo>
                <a:lnTo>
                  <a:pt x="106680" y="221694"/>
                </a:lnTo>
                <a:cubicBezTo>
                  <a:pt x="102460" y="218568"/>
                  <a:pt x="100012" y="213620"/>
                  <a:pt x="100012" y="208359"/>
                </a:cubicBezTo>
                <a:lnTo>
                  <a:pt x="100012" y="167156"/>
                </a:lnTo>
                <a:lnTo>
                  <a:pt x="4688" y="50683"/>
                </a:lnTo>
                <a:cubicBezTo>
                  <a:pt x="3646" y="44484"/>
                  <a:pt x="-1458" y="35837"/>
                  <a:pt x="2031" y="28597"/>
                </a:cubicBezTo>
                <a:close/>
              </a:path>
            </a:pathLst>
          </a:custGeom>
          <a:solidFill>
            <a:srgbClr val="D4A373"/>
          </a:solidFill>
          <a:ln>
            <a:noFill/>
          </a:ln>
          <a:effectLst/>
        </p:spPr>
      </p:sp>
      <p:sp>
        <p:nvSpPr>
          <p:cNvPr id="21" name="dsl:card2-title"/>
          <p:cNvSpPr txBox="1"/>
          <p:nvPr/>
        </p:nvSpPr>
        <p:spPr>
          <a:xfrm>
            <a:off x="3009900" y="1695450"/>
            <a:ext cx="1676400" cy="209550"/>
          </a:xfrm>
          <a:prstGeom prst="rect">
            <a:avLst/>
          </a:prstGeom>
          <a:noFill/>
        </p:spPr>
        <p:txBody>
          <a:bodyPr wrap="none" anchor="ctr">
            <a:noAutofit/>
          </a:bodyPr>
          <a:lstStyle/>
          <a:p>
            <a:pPr algn="l"/>
            <a:r>
              <a:rPr b="1" sz="1200" noProof="1">
                <a:solidFill>
                  <a:srgbClr val="2D6A6A"/>
                </a:solidFill>
                <a:latin typeface="Liter"/>
                <a:ea typeface="Liter"/>
              </a:rPr>
              <a:t>Alert Triage</a:t>
            </a:r>
          </a:p>
        </p:txBody>
      </p:sp>
      <p:sp>
        <p:nvSpPr>
          <p:cNvPr id="22" name="dsl:card2-desc"/>
          <p:cNvSpPr txBox="1"/>
          <p:nvPr/>
        </p:nvSpPr>
        <p:spPr>
          <a:xfrm>
            <a:off x="3009900" y="194310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Severity badges, source labels, and triage filters for rapid sorting</a:t>
            </a:r>
          </a:p>
        </p:txBody>
      </p:sp>
      <p:sp>
        <p:nvSpPr>
          <p:cNvPr id="23" name="dsl:card3-bg"/>
          <p:cNvSpPr/>
          <p:nvPr/>
        </p:nvSpPr>
        <p:spPr>
          <a:xfrm>
            <a:off x="5067300" y="114300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card3-icon|i=fas:magnifying-glass"/>
          <p:cNvSpPr/>
          <p:nvPr/>
        </p:nvSpPr>
        <p:spPr>
          <a:xfrm>
            <a:off x="5257800" y="1333500"/>
            <a:ext cx="266700" cy="266700"/>
          </a:xfrm>
          <a:custGeom>
            <a:avLst/>
            <a:gdLst/>
            <a:ahLst/>
            <a:cxnLst/>
            <a:rect l="l" t="t" r="r" b="b"/>
            <a:pathLst>
              <a:path w="266700" h="266700">
                <a:moveTo>
                  <a:pt x="216693" y="108346"/>
                </a:moveTo>
                <a:cubicBezTo>
                  <a:pt x="216693" y="132256"/>
                  <a:pt x="208932" y="154342"/>
                  <a:pt x="195857" y="172261"/>
                </a:cubicBezTo>
                <a:lnTo>
                  <a:pt x="261803" y="238258"/>
                </a:lnTo>
                <a:cubicBezTo>
                  <a:pt x="268314" y="244770"/>
                  <a:pt x="268314" y="255344"/>
                  <a:pt x="261803" y="261855"/>
                </a:cubicBezTo>
                <a:cubicBezTo>
                  <a:pt x="255292" y="268366"/>
                  <a:pt x="244718" y="268366"/>
                  <a:pt x="238206" y="261855"/>
                </a:cubicBezTo>
                <a:lnTo>
                  <a:pt x="172261" y="195857"/>
                </a:lnTo>
                <a:cubicBezTo>
                  <a:pt x="154342" y="208984"/>
                  <a:pt x="132256" y="216693"/>
                  <a:pt x="108346" y="216693"/>
                </a:cubicBezTo>
                <a:cubicBezTo>
                  <a:pt x="48495" y="216693"/>
                  <a:pt x="0" y="168198"/>
                  <a:pt x="0" y="108346"/>
                </a:cubicBezTo>
                <a:cubicBezTo>
                  <a:pt x="0" y="48495"/>
                  <a:pt x="48495" y="0"/>
                  <a:pt x="108346" y="0"/>
                </a:cubicBezTo>
                <a:cubicBezTo>
                  <a:pt x="168198" y="0"/>
                  <a:pt x="216693" y="48495"/>
                  <a:pt x="216693" y="108346"/>
                </a:cubicBezTo>
                <a:close/>
                <a:moveTo>
                  <a:pt x="108346" y="183356"/>
                </a:moveTo>
                <a:cubicBezTo>
                  <a:pt x="149495" y="183356"/>
                  <a:pt x="183356" y="149495"/>
                  <a:pt x="183356" y="108346"/>
                </a:cubicBezTo>
                <a:cubicBezTo>
                  <a:pt x="183356" y="67197"/>
                  <a:pt x="149495" y="33337"/>
                  <a:pt x="108346" y="33337"/>
                </a:cubicBezTo>
                <a:cubicBezTo>
                  <a:pt x="67197" y="33337"/>
                  <a:pt x="33337" y="67197"/>
                  <a:pt x="33337" y="108346"/>
                </a:cubicBezTo>
                <a:cubicBezTo>
                  <a:pt x="33337" y="149495"/>
                  <a:pt x="67197" y="183356"/>
                  <a:pt x="108346" y="183356"/>
                </a:cubicBezTo>
                <a:close/>
              </a:path>
            </a:pathLst>
          </a:custGeom>
          <a:solidFill>
            <a:srgbClr val="D4A373"/>
          </a:solidFill>
          <a:ln>
            <a:noFill/>
          </a:ln>
          <a:effectLst/>
        </p:spPr>
      </p:sp>
      <p:sp>
        <p:nvSpPr>
          <p:cNvPr id="25" name="dsl:card3-title"/>
          <p:cNvSpPr txBox="1"/>
          <p:nvPr/>
        </p:nvSpPr>
        <p:spPr>
          <a:xfrm>
            <a:off x="5257800" y="1695450"/>
            <a:ext cx="1676400" cy="209550"/>
          </a:xfrm>
          <a:prstGeom prst="rect">
            <a:avLst/>
          </a:prstGeom>
          <a:noFill/>
        </p:spPr>
        <p:txBody>
          <a:bodyPr wrap="none" anchor="ctr">
            <a:noAutofit/>
          </a:bodyPr>
          <a:lstStyle/>
          <a:p>
            <a:pPr algn="l"/>
            <a:r>
              <a:rPr b="1" sz="1200" noProof="1">
                <a:solidFill>
                  <a:srgbClr val="2D6A6A"/>
                </a:solidFill>
                <a:latin typeface="Liter"/>
                <a:ea typeface="Liter"/>
              </a:rPr>
              <a:t>Incident Detail</a:t>
            </a:r>
          </a:p>
        </p:txBody>
      </p:sp>
      <p:sp>
        <p:nvSpPr>
          <p:cNvPr id="26" name="dsl:card3-desc"/>
          <p:cNvSpPr txBox="1"/>
          <p:nvPr/>
        </p:nvSpPr>
        <p:spPr>
          <a:xfrm>
            <a:off x="5257800" y="194310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Correlated alerts with status controls and timeline visualization</a:t>
            </a:r>
          </a:p>
        </p:txBody>
      </p:sp>
      <p:sp>
        <p:nvSpPr>
          <p:cNvPr id="27" name="dsl:card4-bg"/>
          <p:cNvSpPr/>
          <p:nvPr/>
        </p:nvSpPr>
        <p:spPr>
          <a:xfrm>
            <a:off x="7315200" y="114300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card4-icon|i=fas:robot"/>
          <p:cNvSpPr/>
          <p:nvPr/>
        </p:nvSpPr>
        <p:spPr>
          <a:xfrm>
            <a:off x="7505700" y="1360170"/>
            <a:ext cx="266700" cy="213360"/>
          </a:xfrm>
          <a:custGeom>
            <a:avLst/>
            <a:gdLst/>
            <a:ahLst/>
            <a:cxnLst/>
            <a:rect l="l" t="t" r="r" b="b"/>
            <a:pathLst>
              <a:path w="266700" h="213360">
                <a:moveTo>
                  <a:pt x="133350" y="0"/>
                </a:moveTo>
                <a:cubicBezTo>
                  <a:pt x="140725" y="0"/>
                  <a:pt x="146685" y="5959"/>
                  <a:pt x="146685" y="13335"/>
                </a:cubicBezTo>
                <a:lnTo>
                  <a:pt x="146685" y="40005"/>
                </a:lnTo>
                <a:lnTo>
                  <a:pt x="196691" y="40005"/>
                </a:lnTo>
                <a:cubicBezTo>
                  <a:pt x="213276" y="40005"/>
                  <a:pt x="226695" y="53423"/>
                  <a:pt x="226695" y="70008"/>
                </a:cubicBezTo>
                <a:lnTo>
                  <a:pt x="226695" y="183356"/>
                </a:lnTo>
                <a:cubicBezTo>
                  <a:pt x="226695" y="199941"/>
                  <a:pt x="213276" y="213360"/>
                  <a:pt x="196691" y="213360"/>
                </a:cubicBezTo>
                <a:lnTo>
                  <a:pt x="70008" y="213360"/>
                </a:lnTo>
                <a:cubicBezTo>
                  <a:pt x="53423" y="213360"/>
                  <a:pt x="40005" y="199941"/>
                  <a:pt x="40005" y="183356"/>
                </a:cubicBezTo>
                <a:lnTo>
                  <a:pt x="40005" y="70008"/>
                </a:lnTo>
                <a:cubicBezTo>
                  <a:pt x="40005" y="53423"/>
                  <a:pt x="53423" y="40005"/>
                  <a:pt x="70008" y="40005"/>
                </a:cubicBezTo>
                <a:lnTo>
                  <a:pt x="120015" y="40005"/>
                </a:lnTo>
                <a:lnTo>
                  <a:pt x="120015" y="13335"/>
                </a:lnTo>
                <a:cubicBezTo>
                  <a:pt x="120015" y="5959"/>
                  <a:pt x="125974" y="0"/>
                  <a:pt x="133350" y="0"/>
                </a:cubicBezTo>
                <a:close/>
                <a:moveTo>
                  <a:pt x="86677" y="160020"/>
                </a:moveTo>
                <a:cubicBezTo>
                  <a:pt x="83010" y="160020"/>
                  <a:pt x="80010" y="163020"/>
                  <a:pt x="80010" y="166687"/>
                </a:cubicBezTo>
                <a:cubicBezTo>
                  <a:pt x="80010" y="170354"/>
                  <a:pt x="83010" y="173355"/>
                  <a:pt x="86677" y="173355"/>
                </a:cubicBezTo>
                <a:lnTo>
                  <a:pt x="100012" y="173355"/>
                </a:lnTo>
                <a:cubicBezTo>
                  <a:pt x="103679" y="173355"/>
                  <a:pt x="106680" y="170354"/>
                  <a:pt x="106680" y="166687"/>
                </a:cubicBezTo>
                <a:cubicBezTo>
                  <a:pt x="106680" y="163020"/>
                  <a:pt x="103679" y="160020"/>
                  <a:pt x="100012" y="160020"/>
                </a:cubicBezTo>
                <a:lnTo>
                  <a:pt x="86677" y="160020"/>
                </a:lnTo>
                <a:close/>
                <a:moveTo>
                  <a:pt x="126682" y="160020"/>
                </a:moveTo>
                <a:cubicBezTo>
                  <a:pt x="123015" y="160020"/>
                  <a:pt x="120015" y="163020"/>
                  <a:pt x="120015" y="166687"/>
                </a:cubicBezTo>
                <a:cubicBezTo>
                  <a:pt x="120015" y="170354"/>
                  <a:pt x="123015" y="173355"/>
                  <a:pt x="126682" y="173355"/>
                </a:cubicBezTo>
                <a:lnTo>
                  <a:pt x="140017" y="173355"/>
                </a:lnTo>
                <a:cubicBezTo>
                  <a:pt x="143684" y="173355"/>
                  <a:pt x="146685" y="170354"/>
                  <a:pt x="146685" y="166687"/>
                </a:cubicBezTo>
                <a:cubicBezTo>
                  <a:pt x="146685" y="163020"/>
                  <a:pt x="143684" y="160020"/>
                  <a:pt x="140017" y="160020"/>
                </a:cubicBezTo>
                <a:lnTo>
                  <a:pt x="126682" y="160020"/>
                </a:lnTo>
                <a:close/>
                <a:moveTo>
                  <a:pt x="166687" y="160020"/>
                </a:moveTo>
                <a:cubicBezTo>
                  <a:pt x="163020" y="160020"/>
                  <a:pt x="160020" y="163020"/>
                  <a:pt x="160020" y="166687"/>
                </a:cubicBezTo>
                <a:cubicBezTo>
                  <a:pt x="160020" y="170354"/>
                  <a:pt x="163020" y="173355"/>
                  <a:pt x="166687" y="173355"/>
                </a:cubicBezTo>
                <a:lnTo>
                  <a:pt x="180022" y="173355"/>
                </a:lnTo>
                <a:cubicBezTo>
                  <a:pt x="183689" y="173355"/>
                  <a:pt x="186690" y="170354"/>
                  <a:pt x="186690" y="166687"/>
                </a:cubicBezTo>
                <a:cubicBezTo>
                  <a:pt x="186690" y="163020"/>
                  <a:pt x="183689" y="160020"/>
                  <a:pt x="180022" y="160020"/>
                </a:cubicBezTo>
                <a:lnTo>
                  <a:pt x="166687" y="160020"/>
                </a:lnTo>
                <a:close/>
                <a:moveTo>
                  <a:pt x="110013" y="106680"/>
                </a:moveTo>
                <a:cubicBezTo>
                  <a:pt x="110013" y="97535"/>
                  <a:pt x="102489" y="90011"/>
                  <a:pt x="93345" y="90011"/>
                </a:cubicBezTo>
                <a:cubicBezTo>
                  <a:pt x="84200" y="90011"/>
                  <a:pt x="76676" y="97535"/>
                  <a:pt x="76676" y="106680"/>
                </a:cubicBezTo>
                <a:cubicBezTo>
                  <a:pt x="76676" y="115824"/>
                  <a:pt x="84200" y="123348"/>
                  <a:pt x="93345" y="123348"/>
                </a:cubicBezTo>
                <a:cubicBezTo>
                  <a:pt x="102489" y="123348"/>
                  <a:pt x="110013" y="115824"/>
                  <a:pt x="110013" y="106680"/>
                </a:cubicBezTo>
                <a:close/>
                <a:moveTo>
                  <a:pt x="173355" y="123348"/>
                </a:moveTo>
                <a:cubicBezTo>
                  <a:pt x="182499" y="123348"/>
                  <a:pt x="190023" y="115824"/>
                  <a:pt x="190023" y="106680"/>
                </a:cubicBezTo>
                <a:cubicBezTo>
                  <a:pt x="190023" y="97535"/>
                  <a:pt x="182499" y="90011"/>
                  <a:pt x="173355" y="90011"/>
                </a:cubicBezTo>
                <a:cubicBezTo>
                  <a:pt x="164210" y="90011"/>
                  <a:pt x="156686" y="97535"/>
                  <a:pt x="156686" y="106680"/>
                </a:cubicBezTo>
                <a:cubicBezTo>
                  <a:pt x="156686" y="115824"/>
                  <a:pt x="164210" y="123348"/>
                  <a:pt x="173355" y="123348"/>
                </a:cubicBezTo>
                <a:close/>
                <a:moveTo>
                  <a:pt x="20002" y="93345"/>
                </a:moveTo>
                <a:lnTo>
                  <a:pt x="26670" y="93345"/>
                </a:lnTo>
                <a:lnTo>
                  <a:pt x="26670" y="173355"/>
                </a:lnTo>
                <a:lnTo>
                  <a:pt x="20002" y="173355"/>
                </a:lnTo>
                <a:cubicBezTo>
                  <a:pt x="8959" y="173355"/>
                  <a:pt x="0" y="164395"/>
                  <a:pt x="0" y="153352"/>
                </a:cubicBezTo>
                <a:lnTo>
                  <a:pt x="0" y="113347"/>
                </a:lnTo>
                <a:cubicBezTo>
                  <a:pt x="0" y="102304"/>
                  <a:pt x="8959" y="93345"/>
                  <a:pt x="20002" y="93345"/>
                </a:cubicBezTo>
                <a:close/>
                <a:moveTo>
                  <a:pt x="246697" y="93345"/>
                </a:moveTo>
                <a:cubicBezTo>
                  <a:pt x="257740" y="93345"/>
                  <a:pt x="266700" y="102304"/>
                  <a:pt x="266700" y="113347"/>
                </a:cubicBezTo>
                <a:lnTo>
                  <a:pt x="266700" y="153352"/>
                </a:lnTo>
                <a:cubicBezTo>
                  <a:pt x="266700" y="164395"/>
                  <a:pt x="257740" y="173355"/>
                  <a:pt x="246697" y="173355"/>
                </a:cubicBezTo>
                <a:lnTo>
                  <a:pt x="240030" y="173355"/>
                </a:lnTo>
                <a:lnTo>
                  <a:pt x="240030" y="93345"/>
                </a:lnTo>
                <a:lnTo>
                  <a:pt x="246697" y="93345"/>
                </a:lnTo>
                <a:close/>
              </a:path>
            </a:pathLst>
          </a:custGeom>
          <a:solidFill>
            <a:srgbClr val="D4A373"/>
          </a:solidFill>
          <a:ln>
            <a:noFill/>
          </a:ln>
          <a:effectLst/>
        </p:spPr>
      </p:sp>
      <p:sp>
        <p:nvSpPr>
          <p:cNvPr id="29" name="dsl:card4-title"/>
          <p:cNvSpPr txBox="1"/>
          <p:nvPr/>
        </p:nvSpPr>
        <p:spPr>
          <a:xfrm>
            <a:off x="7505700" y="1695450"/>
            <a:ext cx="1676400" cy="209550"/>
          </a:xfrm>
          <a:prstGeom prst="rect">
            <a:avLst/>
          </a:prstGeom>
          <a:noFill/>
        </p:spPr>
        <p:txBody>
          <a:bodyPr wrap="none" anchor="ctr">
            <a:noAutofit/>
          </a:bodyPr>
          <a:lstStyle/>
          <a:p>
            <a:pPr algn="l"/>
            <a:r>
              <a:rPr b="1" sz="1200" noProof="1">
                <a:solidFill>
                  <a:srgbClr val="2D6A6A"/>
                </a:solidFill>
                <a:latin typeface="Liter"/>
                <a:ea typeface="Liter"/>
              </a:rPr>
              <a:t>AI Investigation</a:t>
            </a:r>
          </a:p>
        </p:txBody>
      </p:sp>
      <p:sp>
        <p:nvSpPr>
          <p:cNvPr id="30" name="dsl:card4-desc"/>
          <p:cNvSpPr txBox="1"/>
          <p:nvPr/>
        </p:nvSpPr>
        <p:spPr>
          <a:xfrm>
            <a:off x="7505700" y="194310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AI summary, risk assessment, evidence, and generated playbook</a:t>
            </a:r>
          </a:p>
        </p:txBody>
      </p:sp>
      <p:sp>
        <p:nvSpPr>
          <p:cNvPr id="31" name="dsl:card5-bg"/>
          <p:cNvSpPr/>
          <p:nvPr/>
        </p:nvSpPr>
        <p:spPr>
          <a:xfrm>
            <a:off x="9563100" y="114300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card5-icon|i=fas:earth-americas"/>
          <p:cNvSpPr/>
          <p:nvPr/>
        </p:nvSpPr>
        <p:spPr>
          <a:xfrm>
            <a:off x="9753600" y="1333500"/>
            <a:ext cx="266700" cy="266700"/>
          </a:xfrm>
          <a:custGeom>
            <a:avLst/>
            <a:gdLst/>
            <a:ahLst/>
            <a:cxnLst/>
            <a:rect l="l" t="t" r="r" b="b"/>
            <a:pathLst>
              <a:path w="266700" h="266700">
                <a:moveTo>
                  <a:pt x="30055" y="100533"/>
                </a:moveTo>
                <a:lnTo>
                  <a:pt x="34952" y="109076"/>
                </a:lnTo>
                <a:cubicBezTo>
                  <a:pt x="39275" y="116629"/>
                  <a:pt x="46359" y="122202"/>
                  <a:pt x="54746" y="124598"/>
                </a:cubicBezTo>
                <a:lnTo>
                  <a:pt x="84906" y="133193"/>
                </a:lnTo>
                <a:cubicBezTo>
                  <a:pt x="93865" y="135746"/>
                  <a:pt x="100012" y="143924"/>
                  <a:pt x="100012" y="153248"/>
                </a:cubicBezTo>
                <a:lnTo>
                  <a:pt x="100012" y="174032"/>
                </a:lnTo>
                <a:cubicBezTo>
                  <a:pt x="100012" y="179762"/>
                  <a:pt x="103242" y="184971"/>
                  <a:pt x="108346" y="187523"/>
                </a:cubicBezTo>
                <a:cubicBezTo>
                  <a:pt x="113451" y="190075"/>
                  <a:pt x="116681" y="195284"/>
                  <a:pt x="116681" y="201014"/>
                </a:cubicBezTo>
                <a:lnTo>
                  <a:pt x="116681" y="221329"/>
                </a:lnTo>
                <a:cubicBezTo>
                  <a:pt x="116681" y="229455"/>
                  <a:pt x="124442" y="235341"/>
                  <a:pt x="132256" y="233102"/>
                </a:cubicBezTo>
                <a:cubicBezTo>
                  <a:pt x="140642" y="230705"/>
                  <a:pt x="147153" y="223986"/>
                  <a:pt x="149289" y="215495"/>
                </a:cubicBezTo>
                <a:lnTo>
                  <a:pt x="150748" y="209661"/>
                </a:lnTo>
                <a:cubicBezTo>
                  <a:pt x="152935" y="200858"/>
                  <a:pt x="158665" y="193305"/>
                  <a:pt x="166531" y="188825"/>
                </a:cubicBezTo>
                <a:lnTo>
                  <a:pt x="170750" y="186429"/>
                </a:lnTo>
                <a:cubicBezTo>
                  <a:pt x="178563" y="182001"/>
                  <a:pt x="183356" y="173667"/>
                  <a:pt x="183356" y="164708"/>
                </a:cubicBezTo>
                <a:lnTo>
                  <a:pt x="183356" y="160384"/>
                </a:lnTo>
                <a:cubicBezTo>
                  <a:pt x="183356" y="153769"/>
                  <a:pt x="180699" y="147414"/>
                  <a:pt x="176011" y="142726"/>
                </a:cubicBezTo>
                <a:lnTo>
                  <a:pt x="173980" y="140694"/>
                </a:lnTo>
                <a:cubicBezTo>
                  <a:pt x="169291" y="136006"/>
                  <a:pt x="162937" y="133349"/>
                  <a:pt x="156321" y="133349"/>
                </a:cubicBezTo>
                <a:lnTo>
                  <a:pt x="133870" y="133349"/>
                </a:lnTo>
                <a:cubicBezTo>
                  <a:pt x="128088" y="133349"/>
                  <a:pt x="122359" y="131839"/>
                  <a:pt x="117306" y="128974"/>
                </a:cubicBezTo>
                <a:lnTo>
                  <a:pt x="99335" y="118712"/>
                </a:lnTo>
                <a:cubicBezTo>
                  <a:pt x="97095" y="117410"/>
                  <a:pt x="95376" y="115326"/>
                  <a:pt x="94543" y="112878"/>
                </a:cubicBezTo>
                <a:cubicBezTo>
                  <a:pt x="92876" y="107878"/>
                  <a:pt x="95116" y="102460"/>
                  <a:pt x="99856" y="100116"/>
                </a:cubicBezTo>
                <a:lnTo>
                  <a:pt x="102929" y="98553"/>
                </a:lnTo>
                <a:cubicBezTo>
                  <a:pt x="106367" y="96835"/>
                  <a:pt x="110378" y="96522"/>
                  <a:pt x="114024" y="97772"/>
                </a:cubicBezTo>
                <a:lnTo>
                  <a:pt x="126109" y="101783"/>
                </a:lnTo>
                <a:cubicBezTo>
                  <a:pt x="130380" y="103189"/>
                  <a:pt x="135068" y="103867"/>
                  <a:pt x="137517" y="97876"/>
                </a:cubicBezTo>
                <a:cubicBezTo>
                  <a:pt x="139965" y="94230"/>
                  <a:pt x="139704" y="89386"/>
                  <a:pt x="136892" y="86000"/>
                </a:cubicBezTo>
                <a:lnTo>
                  <a:pt x="129807" y="77509"/>
                </a:lnTo>
                <a:cubicBezTo>
                  <a:pt x="124598" y="71258"/>
                  <a:pt x="124650" y="62143"/>
                  <a:pt x="131370" y="55996"/>
                </a:cubicBezTo>
                <a:lnTo>
                  <a:pt x="139548" y="46464"/>
                </a:lnTo>
                <a:cubicBezTo>
                  <a:pt x="144132" y="41098"/>
                  <a:pt x="144861" y="33441"/>
                  <a:pt x="141371" y="27347"/>
                </a:cubicBezTo>
                <a:lnTo>
                  <a:pt x="140121" y="25159"/>
                </a:lnTo>
                <a:cubicBezTo>
                  <a:pt x="138298" y="26201"/>
                  <a:pt x="136527" y="26722"/>
                  <a:pt x="134704" y="26722"/>
                </a:cubicBezTo>
                <a:cubicBezTo>
                  <a:pt x="84958" y="25003"/>
                  <a:pt x="43963" y="56725"/>
                  <a:pt x="30055" y="100533"/>
                </a:cubicBezTo>
                <a:close/>
                <a:moveTo>
                  <a:pt x="241696" y="133350"/>
                </a:moveTo>
                <a:cubicBezTo>
                  <a:pt x="241696" y="114180"/>
                  <a:pt x="236696" y="96157"/>
                  <a:pt x="227945" y="80478"/>
                </a:cubicBezTo>
                <a:lnTo>
                  <a:pt x="214610" y="85844"/>
                </a:lnTo>
                <a:cubicBezTo>
                  <a:pt x="206432" y="89125"/>
                  <a:pt x="202212" y="98241"/>
                  <a:pt x="204973" y="106575"/>
                </a:cubicBezTo>
                <a:lnTo>
                  <a:pt x="213776" y="132985"/>
                </a:lnTo>
                <a:cubicBezTo>
                  <a:pt x="215599" y="138402"/>
                  <a:pt x="220027" y="142517"/>
                  <a:pt x="225549" y="143872"/>
                </a:cubicBezTo>
                <a:lnTo>
                  <a:pt x="240707" y="147674"/>
                </a:lnTo>
                <a:cubicBezTo>
                  <a:pt x="241332" y="142986"/>
                  <a:pt x="241644" y="138194"/>
                  <a:pt x="241644" y="133350"/>
                </a:cubicBezTo>
                <a:close/>
                <a:moveTo>
                  <a:pt x="0" y="133350"/>
                </a:moveTo>
                <a:cubicBezTo>
                  <a:pt x="0" y="60196"/>
                  <a:pt x="60196" y="0"/>
                  <a:pt x="133349" y="0"/>
                </a:cubicBezTo>
                <a:cubicBezTo>
                  <a:pt x="206503" y="0"/>
                  <a:pt x="266700" y="60196"/>
                  <a:pt x="266700" y="133349"/>
                </a:cubicBezTo>
                <a:cubicBezTo>
                  <a:pt x="266700" y="206503"/>
                  <a:pt x="206503" y="266700"/>
                  <a:pt x="133350" y="266700"/>
                </a:cubicBezTo>
                <a:cubicBezTo>
                  <a:pt x="60196" y="266700"/>
                  <a:pt x="0" y="206503"/>
                  <a:pt x="0" y="133350"/>
                </a:cubicBezTo>
                <a:close/>
              </a:path>
            </a:pathLst>
          </a:custGeom>
          <a:solidFill>
            <a:srgbClr val="D4A373"/>
          </a:solidFill>
          <a:ln>
            <a:noFill/>
          </a:ln>
          <a:effectLst/>
        </p:spPr>
      </p:sp>
      <p:sp>
        <p:nvSpPr>
          <p:cNvPr id="33" name="dsl:card5-title"/>
          <p:cNvSpPr txBox="1"/>
          <p:nvPr/>
        </p:nvSpPr>
        <p:spPr>
          <a:xfrm>
            <a:off x="9753600" y="1695450"/>
            <a:ext cx="1676400" cy="209550"/>
          </a:xfrm>
          <a:prstGeom prst="rect">
            <a:avLst/>
          </a:prstGeom>
          <a:noFill/>
        </p:spPr>
        <p:txBody>
          <a:bodyPr wrap="none" anchor="ctr">
            <a:noAutofit/>
          </a:bodyPr>
          <a:lstStyle/>
          <a:p>
            <a:pPr algn="l"/>
            <a:r>
              <a:rPr b="1" sz="1200" noProof="1">
                <a:solidFill>
                  <a:srgbClr val="2D6A6A"/>
                </a:solidFill>
                <a:latin typeface="Liter"/>
                <a:ea typeface="Liter"/>
              </a:rPr>
              <a:t>IPS Attack Map</a:t>
            </a:r>
          </a:p>
        </p:txBody>
      </p:sp>
      <p:sp>
        <p:nvSpPr>
          <p:cNvPr id="34" name="dsl:card5-desc"/>
          <p:cNvSpPr txBox="1"/>
          <p:nvPr/>
        </p:nvSpPr>
        <p:spPr>
          <a:xfrm>
            <a:off x="9753600" y="194310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GeoIP-located attack origins with interactive world map view</a:t>
            </a:r>
          </a:p>
        </p:txBody>
      </p:sp>
      <p:sp>
        <p:nvSpPr>
          <p:cNvPr id="35" name="dsl:card6-bg"/>
          <p:cNvSpPr/>
          <p:nvPr/>
        </p:nvSpPr>
        <p:spPr>
          <a:xfrm>
            <a:off x="571500" y="371475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dsl:card6-icon|i=fas:container-storage" descr="tmp27upd08q.png"/>
          <p:cNvPicPr>
            <a:picLocks noChangeAspect="1"/>
          </p:cNvPicPr>
          <p:nvPr/>
        </p:nvPicPr>
        <p:blipFill>
          <a:blip r:embed="rId2"/>
          <a:stretch>
            <a:fillRect/>
          </a:stretch>
        </p:blipFill>
        <p:spPr>
          <a:xfrm>
            <a:off x="762000" y="3905250"/>
            <a:ext cx="266700" cy="266700"/>
          </a:xfrm>
          <a:prstGeom prst="rect">
            <a:avLst/>
          </a:prstGeom>
          <a:ln>
            <a:noFill/>
          </a:ln>
          <a:effectLst/>
        </p:spPr>
      </p:pic>
      <p:sp>
        <p:nvSpPr>
          <p:cNvPr id="37" name="dsl:card6-title"/>
          <p:cNvSpPr txBox="1"/>
          <p:nvPr/>
        </p:nvSpPr>
        <p:spPr>
          <a:xfrm>
            <a:off x="762000" y="4267200"/>
            <a:ext cx="1676400" cy="209550"/>
          </a:xfrm>
          <a:prstGeom prst="rect">
            <a:avLst/>
          </a:prstGeom>
          <a:noFill/>
        </p:spPr>
        <p:txBody>
          <a:bodyPr wrap="none" anchor="ctr">
            <a:noAutofit/>
          </a:bodyPr>
          <a:lstStyle/>
          <a:p>
            <a:pPr algn="l"/>
            <a:r>
              <a:rPr b="1" sz="1200" noProof="1">
                <a:solidFill>
                  <a:srgbClr val="2D6A6A"/>
                </a:solidFill>
                <a:latin typeface="Liter"/>
                <a:ea typeface="Liter"/>
              </a:rPr>
              <a:t>Runtime Security</a:t>
            </a:r>
          </a:p>
        </p:txBody>
      </p:sp>
      <p:sp>
        <p:nvSpPr>
          <p:cNvPr id="38" name="dsl:card6-desc"/>
          <p:cNvSpPr txBox="1"/>
          <p:nvPr/>
        </p:nvSpPr>
        <p:spPr>
          <a:xfrm>
            <a:off x="762000" y="451485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Container and syscall monitoring with Falco integration</a:t>
            </a:r>
          </a:p>
        </p:txBody>
      </p:sp>
      <p:sp>
        <p:nvSpPr>
          <p:cNvPr id="39" name="dsl:card7-bg"/>
          <p:cNvSpPr/>
          <p:nvPr/>
        </p:nvSpPr>
        <p:spPr>
          <a:xfrm>
            <a:off x="2819400" y="371475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sl:card7-icon|i=fas:gauge-high"/>
          <p:cNvSpPr/>
          <p:nvPr/>
        </p:nvSpPr>
        <p:spPr>
          <a:xfrm>
            <a:off x="3009900" y="3905250"/>
            <a:ext cx="266700" cy="266700"/>
          </a:xfrm>
          <a:custGeom>
            <a:avLst/>
            <a:gdLst/>
            <a:ahLst/>
            <a:cxnLst/>
            <a:rect l="l" t="t" r="r" b="b"/>
            <a:pathLst>
              <a:path w="266700" h="266700">
                <a:moveTo>
                  <a:pt x="0" y="133350"/>
                </a:moveTo>
                <a:cubicBezTo>
                  <a:pt x="0" y="60196"/>
                  <a:pt x="60196" y="0"/>
                  <a:pt x="133349" y="0"/>
                </a:cubicBezTo>
                <a:cubicBezTo>
                  <a:pt x="206503" y="0"/>
                  <a:pt x="266700" y="60196"/>
                  <a:pt x="266700" y="133349"/>
                </a:cubicBezTo>
                <a:cubicBezTo>
                  <a:pt x="266700" y="206503"/>
                  <a:pt x="206503" y="266700"/>
                  <a:pt x="133350" y="266700"/>
                </a:cubicBezTo>
                <a:cubicBezTo>
                  <a:pt x="60196" y="266700"/>
                  <a:pt x="0" y="206503"/>
                  <a:pt x="0" y="133350"/>
                </a:cubicBezTo>
                <a:close/>
                <a:moveTo>
                  <a:pt x="150018" y="50006"/>
                </a:moveTo>
                <a:cubicBezTo>
                  <a:pt x="150018" y="40862"/>
                  <a:pt x="142494" y="33337"/>
                  <a:pt x="133350" y="33337"/>
                </a:cubicBezTo>
                <a:cubicBezTo>
                  <a:pt x="124205" y="33337"/>
                  <a:pt x="116681" y="40862"/>
                  <a:pt x="116681" y="50006"/>
                </a:cubicBezTo>
                <a:cubicBezTo>
                  <a:pt x="116681" y="59150"/>
                  <a:pt x="124205" y="66675"/>
                  <a:pt x="133350" y="66675"/>
                </a:cubicBezTo>
                <a:cubicBezTo>
                  <a:pt x="142494" y="66675"/>
                  <a:pt x="150018" y="59150"/>
                  <a:pt x="150018" y="50006"/>
                </a:cubicBezTo>
                <a:close/>
                <a:moveTo>
                  <a:pt x="133350" y="216693"/>
                </a:moveTo>
                <a:cubicBezTo>
                  <a:pt x="151737" y="216693"/>
                  <a:pt x="166687" y="201743"/>
                  <a:pt x="166687" y="183356"/>
                </a:cubicBezTo>
                <a:cubicBezTo>
                  <a:pt x="166687" y="174292"/>
                  <a:pt x="163093" y="166114"/>
                  <a:pt x="157259" y="160124"/>
                </a:cubicBezTo>
                <a:lnTo>
                  <a:pt x="190648" y="84229"/>
                </a:lnTo>
                <a:cubicBezTo>
                  <a:pt x="193409" y="77926"/>
                  <a:pt x="191690" y="70529"/>
                  <a:pt x="184241" y="67768"/>
                </a:cubicBezTo>
                <a:cubicBezTo>
                  <a:pt x="176792" y="65008"/>
                  <a:pt x="170542" y="68810"/>
                  <a:pt x="167781" y="74175"/>
                </a:cubicBezTo>
                <a:lnTo>
                  <a:pt x="134339" y="150018"/>
                </a:lnTo>
                <a:cubicBezTo>
                  <a:pt x="137465" y="150018"/>
                  <a:pt x="133662" y="150018"/>
                  <a:pt x="133349" y="150018"/>
                </a:cubicBezTo>
                <a:cubicBezTo>
                  <a:pt x="114962" y="150018"/>
                  <a:pt x="100012" y="164968"/>
                  <a:pt x="100012" y="183356"/>
                </a:cubicBezTo>
                <a:cubicBezTo>
                  <a:pt x="100012" y="201743"/>
                  <a:pt x="114962" y="216693"/>
                  <a:pt x="133349" y="216693"/>
                </a:cubicBezTo>
                <a:close/>
                <a:moveTo>
                  <a:pt x="91678" y="75009"/>
                </a:moveTo>
                <a:cubicBezTo>
                  <a:pt x="91678" y="65865"/>
                  <a:pt x="84153" y="58340"/>
                  <a:pt x="75009" y="58340"/>
                </a:cubicBezTo>
                <a:cubicBezTo>
                  <a:pt x="65865" y="58340"/>
                  <a:pt x="58340" y="65865"/>
                  <a:pt x="58340" y="75009"/>
                </a:cubicBezTo>
                <a:cubicBezTo>
                  <a:pt x="58340" y="84153"/>
                  <a:pt x="65865" y="91678"/>
                  <a:pt x="75009" y="91678"/>
                </a:cubicBezTo>
                <a:cubicBezTo>
                  <a:pt x="84153" y="91678"/>
                  <a:pt x="91678" y="84153"/>
                  <a:pt x="91678" y="75009"/>
                </a:cubicBezTo>
                <a:close/>
                <a:moveTo>
                  <a:pt x="50006" y="150018"/>
                </a:moveTo>
                <a:cubicBezTo>
                  <a:pt x="59150" y="150018"/>
                  <a:pt x="66675" y="142494"/>
                  <a:pt x="66675" y="133350"/>
                </a:cubicBezTo>
                <a:cubicBezTo>
                  <a:pt x="66675" y="124205"/>
                  <a:pt x="59150" y="116681"/>
                  <a:pt x="50006" y="116681"/>
                </a:cubicBezTo>
                <a:cubicBezTo>
                  <a:pt x="40862" y="116681"/>
                  <a:pt x="33337" y="124205"/>
                  <a:pt x="33337" y="133350"/>
                </a:cubicBezTo>
                <a:cubicBezTo>
                  <a:pt x="33337" y="142494"/>
                  <a:pt x="40862" y="150018"/>
                  <a:pt x="50006" y="150018"/>
                </a:cubicBezTo>
                <a:close/>
                <a:moveTo>
                  <a:pt x="233362" y="133350"/>
                </a:moveTo>
                <a:cubicBezTo>
                  <a:pt x="233362" y="124205"/>
                  <a:pt x="225837" y="116681"/>
                  <a:pt x="216693" y="116681"/>
                </a:cubicBezTo>
                <a:cubicBezTo>
                  <a:pt x="207549" y="116681"/>
                  <a:pt x="200025" y="124205"/>
                  <a:pt x="200025" y="133350"/>
                </a:cubicBezTo>
                <a:cubicBezTo>
                  <a:pt x="200025" y="142494"/>
                  <a:pt x="207549" y="150018"/>
                  <a:pt x="216693" y="150018"/>
                </a:cubicBezTo>
                <a:cubicBezTo>
                  <a:pt x="225837" y="150018"/>
                  <a:pt x="233362" y="142494"/>
                  <a:pt x="233362" y="133350"/>
                </a:cubicBezTo>
                <a:close/>
              </a:path>
            </a:pathLst>
          </a:custGeom>
          <a:solidFill>
            <a:srgbClr val="D4A373"/>
          </a:solidFill>
          <a:ln>
            <a:noFill/>
          </a:ln>
          <a:effectLst/>
        </p:spPr>
      </p:sp>
      <p:sp>
        <p:nvSpPr>
          <p:cNvPr id="41" name="dsl:card7-title"/>
          <p:cNvSpPr txBox="1"/>
          <p:nvPr/>
        </p:nvSpPr>
        <p:spPr>
          <a:xfrm>
            <a:off x="3009900" y="4267200"/>
            <a:ext cx="1676400" cy="209550"/>
          </a:xfrm>
          <a:prstGeom prst="rect">
            <a:avLst/>
          </a:prstGeom>
          <a:noFill/>
        </p:spPr>
        <p:txBody>
          <a:bodyPr wrap="none" anchor="ctr">
            <a:noAutofit/>
          </a:bodyPr>
          <a:lstStyle/>
          <a:p>
            <a:pPr algn="l"/>
            <a:r>
              <a:rPr b="1" sz="1200" noProof="1">
                <a:solidFill>
                  <a:srgbClr val="2D6A6A"/>
                </a:solidFill>
                <a:latin typeface="Liter"/>
                <a:ea typeface="Liter"/>
              </a:rPr>
              <a:t>Performance Metrics</a:t>
            </a:r>
          </a:p>
        </p:txBody>
      </p:sp>
      <p:sp>
        <p:nvSpPr>
          <p:cNvPr id="42" name="dsl:card7-desc"/>
          <p:cNvSpPr txBox="1"/>
          <p:nvPr/>
        </p:nvSpPr>
        <p:spPr>
          <a:xfrm>
            <a:off x="3009900" y="451485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Infrastructure monitoring — CPU, RAM, disk, network, processes</a:t>
            </a:r>
          </a:p>
        </p:txBody>
      </p:sp>
      <p:sp>
        <p:nvSpPr>
          <p:cNvPr id="43" name="dsl:card8-bg"/>
          <p:cNvSpPr/>
          <p:nvPr/>
        </p:nvSpPr>
        <p:spPr>
          <a:xfrm>
            <a:off x="5067300" y="371475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sl:card8-icon|i=fas:comments"/>
          <p:cNvSpPr/>
          <p:nvPr/>
        </p:nvSpPr>
        <p:spPr>
          <a:xfrm>
            <a:off x="5257800" y="3931920"/>
            <a:ext cx="266700" cy="213360"/>
          </a:xfrm>
          <a:custGeom>
            <a:avLst/>
            <a:gdLst/>
            <a:ahLst/>
            <a:cxnLst/>
            <a:rect l="l" t="t" r="r" b="b"/>
            <a:pathLst>
              <a:path w="266700" h="213360">
                <a:moveTo>
                  <a:pt x="86677" y="146685"/>
                </a:moveTo>
                <a:cubicBezTo>
                  <a:pt x="134558" y="146685"/>
                  <a:pt x="173355" y="113847"/>
                  <a:pt x="173355" y="73342"/>
                </a:cubicBezTo>
                <a:cubicBezTo>
                  <a:pt x="173355" y="32837"/>
                  <a:pt x="134558" y="0"/>
                  <a:pt x="86677" y="0"/>
                </a:cubicBezTo>
                <a:cubicBezTo>
                  <a:pt x="38796" y="0"/>
                  <a:pt x="0" y="32837"/>
                  <a:pt x="0" y="73342"/>
                </a:cubicBezTo>
                <a:cubicBezTo>
                  <a:pt x="0" y="89427"/>
                  <a:pt x="6125" y="104304"/>
                  <a:pt x="16502" y="116431"/>
                </a:cubicBezTo>
                <a:cubicBezTo>
                  <a:pt x="15043" y="120348"/>
                  <a:pt x="12876" y="123807"/>
                  <a:pt x="10584" y="126724"/>
                </a:cubicBezTo>
                <a:cubicBezTo>
                  <a:pt x="8584" y="129307"/>
                  <a:pt x="6542" y="131308"/>
                  <a:pt x="5042" y="132683"/>
                </a:cubicBezTo>
                <a:cubicBezTo>
                  <a:pt x="4292" y="133350"/>
                  <a:pt x="3667" y="133891"/>
                  <a:pt x="3250" y="134225"/>
                </a:cubicBezTo>
                <a:cubicBezTo>
                  <a:pt x="5334" y="135891"/>
                  <a:pt x="7000" y="137142"/>
                  <a:pt x="2792" y="137558"/>
                </a:cubicBezTo>
                <a:lnTo>
                  <a:pt x="3625" y="138392"/>
                </a:lnTo>
                <a:lnTo>
                  <a:pt x="3625" y="138392"/>
                </a:lnTo>
                <a:lnTo>
                  <a:pt x="3625" y="138392"/>
                </a:lnTo>
                <a:cubicBezTo>
                  <a:pt x="416" y="136350"/>
                  <a:pt x="-583" y="139350"/>
                  <a:pt x="3333" y="142059"/>
                </a:cubicBezTo>
                <a:cubicBezTo>
                  <a:pt x="7250" y="144768"/>
                  <a:pt x="3792" y="146685"/>
                  <a:pt x="6667" y="146685"/>
                </a:cubicBezTo>
                <a:cubicBezTo>
                  <a:pt x="15751" y="146685"/>
                  <a:pt x="24919" y="144351"/>
                  <a:pt x="32545" y="141476"/>
                </a:cubicBezTo>
                <a:cubicBezTo>
                  <a:pt x="36379" y="140017"/>
                  <a:pt x="39963" y="138392"/>
                  <a:pt x="43088" y="136725"/>
                </a:cubicBezTo>
                <a:cubicBezTo>
                  <a:pt x="55881" y="143059"/>
                  <a:pt x="70758" y="146685"/>
                  <a:pt x="86677" y="146685"/>
                </a:cubicBezTo>
                <a:close/>
                <a:moveTo>
                  <a:pt x="186690" y="73342"/>
                </a:moveTo>
                <a:cubicBezTo>
                  <a:pt x="186690" y="120140"/>
                  <a:pt x="145393" y="155394"/>
                  <a:pt x="96470" y="159603"/>
                </a:cubicBezTo>
                <a:cubicBezTo>
                  <a:pt x="106596" y="190607"/>
                  <a:pt x="140184" y="213360"/>
                  <a:pt x="180022" y="213360"/>
                </a:cubicBezTo>
                <a:cubicBezTo>
                  <a:pt x="195941" y="213360"/>
                  <a:pt x="210818" y="209734"/>
                  <a:pt x="223652" y="203400"/>
                </a:cubicBezTo>
                <a:cubicBezTo>
                  <a:pt x="226778" y="205067"/>
                  <a:pt x="230320" y="206692"/>
                  <a:pt x="234154" y="208151"/>
                </a:cubicBezTo>
                <a:cubicBezTo>
                  <a:pt x="241780" y="211026"/>
                  <a:pt x="250948" y="213360"/>
                  <a:pt x="260032" y="213360"/>
                </a:cubicBezTo>
                <a:cubicBezTo>
                  <a:pt x="262907" y="213360"/>
                  <a:pt x="265491" y="211484"/>
                  <a:pt x="266366" y="208734"/>
                </a:cubicBezTo>
                <a:cubicBezTo>
                  <a:pt x="267241" y="205984"/>
                  <a:pt x="267200" y="202983"/>
                  <a:pt x="263949" y="201275"/>
                </a:cubicBezTo>
                <a:lnTo>
                  <a:pt x="263949" y="201275"/>
                </a:lnTo>
                <a:lnTo>
                  <a:pt x="263949" y="201275"/>
                </a:lnTo>
                <a:lnTo>
                  <a:pt x="264783" y="202108"/>
                </a:lnTo>
                <a:cubicBezTo>
                  <a:pt x="265616" y="202942"/>
                  <a:pt x="267283" y="203775"/>
                  <a:pt x="264324" y="205442"/>
                </a:cubicBezTo>
                <a:cubicBezTo>
                  <a:pt x="263907" y="208776"/>
                  <a:pt x="263282" y="204608"/>
                  <a:pt x="262532" y="203900"/>
                </a:cubicBezTo>
                <a:cubicBezTo>
                  <a:pt x="261032" y="202525"/>
                  <a:pt x="258990" y="200525"/>
                  <a:pt x="256990" y="197941"/>
                </a:cubicBezTo>
                <a:cubicBezTo>
                  <a:pt x="254698" y="195024"/>
                  <a:pt x="252531" y="191523"/>
                  <a:pt x="251073" y="187648"/>
                </a:cubicBezTo>
                <a:cubicBezTo>
                  <a:pt x="261449" y="175563"/>
                  <a:pt x="267575" y="160686"/>
                  <a:pt x="267575" y="144559"/>
                </a:cubicBezTo>
                <a:cubicBezTo>
                  <a:pt x="267575" y="105888"/>
                  <a:pt x="232195" y="74175"/>
                  <a:pt x="187315" y="71425"/>
                </a:cubicBezTo>
                <a:cubicBezTo>
                  <a:pt x="188981" y="73550"/>
                  <a:pt x="189815" y="75717"/>
                  <a:pt x="189815" y="77884"/>
                </a:cubicBezTo>
                <a:close/>
              </a:path>
            </a:pathLst>
          </a:custGeom>
          <a:solidFill>
            <a:srgbClr val="D4A373"/>
          </a:solidFill>
          <a:ln>
            <a:noFill/>
          </a:ln>
          <a:effectLst/>
        </p:spPr>
      </p:sp>
      <p:sp>
        <p:nvSpPr>
          <p:cNvPr id="45" name="dsl:card8-title"/>
          <p:cNvSpPr txBox="1"/>
          <p:nvPr/>
        </p:nvSpPr>
        <p:spPr>
          <a:xfrm>
            <a:off x="5257800" y="4267200"/>
            <a:ext cx="1676400" cy="209550"/>
          </a:xfrm>
          <a:prstGeom prst="rect">
            <a:avLst/>
          </a:prstGeom>
          <a:noFill/>
        </p:spPr>
        <p:txBody>
          <a:bodyPr wrap="none" anchor="ctr">
            <a:noAutofit/>
          </a:bodyPr>
          <a:lstStyle/>
          <a:p>
            <a:pPr algn="l"/>
            <a:r>
              <a:rPr b="1" sz="1200" noProof="1">
                <a:solidFill>
                  <a:srgbClr val="2D6A6A"/>
                </a:solidFill>
                <a:latin typeface="Liter"/>
                <a:ea typeface="Liter"/>
              </a:rPr>
              <a:t>AI Assistant</a:t>
            </a:r>
          </a:p>
        </p:txBody>
      </p:sp>
      <p:sp>
        <p:nvSpPr>
          <p:cNvPr id="46" name="dsl:card8-desc"/>
          <p:cNvSpPr txBox="1"/>
          <p:nvPr/>
        </p:nvSpPr>
        <p:spPr>
          <a:xfrm>
            <a:off x="5257800" y="451485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Conversational queries for threat intelligence and investigation</a:t>
            </a:r>
          </a:p>
        </p:txBody>
      </p:sp>
      <p:sp>
        <p:nvSpPr>
          <p:cNvPr id="47" name="dsl:card9-bg"/>
          <p:cNvSpPr/>
          <p:nvPr/>
        </p:nvSpPr>
        <p:spPr>
          <a:xfrm>
            <a:off x="7315200" y="371475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dsl:card9-icon|i=fas:terminal"/>
          <p:cNvSpPr/>
          <p:nvPr/>
        </p:nvSpPr>
        <p:spPr>
          <a:xfrm>
            <a:off x="7505700" y="3920067"/>
            <a:ext cx="266700" cy="237066"/>
          </a:xfrm>
          <a:custGeom>
            <a:avLst/>
            <a:gdLst/>
            <a:ahLst/>
            <a:cxnLst/>
            <a:rect l="l" t="t" r="r" b="b"/>
            <a:pathLst>
              <a:path w="266700" h="237066">
                <a:moveTo>
                  <a:pt x="4352" y="40097"/>
                </a:moveTo>
                <a:cubicBezTo>
                  <a:pt x="-1435" y="34309"/>
                  <a:pt x="-1435" y="24956"/>
                  <a:pt x="4352" y="19169"/>
                </a:cubicBezTo>
                <a:cubicBezTo>
                  <a:pt x="10140" y="13381"/>
                  <a:pt x="19539" y="13381"/>
                  <a:pt x="25327" y="19169"/>
                </a:cubicBezTo>
                <a:lnTo>
                  <a:pt x="114227" y="108069"/>
                </a:lnTo>
                <a:cubicBezTo>
                  <a:pt x="120014" y="113856"/>
                  <a:pt x="120014" y="123256"/>
                  <a:pt x="114227" y="129043"/>
                </a:cubicBezTo>
                <a:lnTo>
                  <a:pt x="25327" y="217943"/>
                </a:lnTo>
                <a:cubicBezTo>
                  <a:pt x="19539" y="223731"/>
                  <a:pt x="10140" y="223731"/>
                  <a:pt x="4352" y="217943"/>
                </a:cubicBezTo>
                <a:cubicBezTo>
                  <a:pt x="-1435" y="212156"/>
                  <a:pt x="-1435" y="202756"/>
                  <a:pt x="4352" y="196969"/>
                </a:cubicBezTo>
                <a:lnTo>
                  <a:pt x="82741" y="118533"/>
                </a:lnTo>
                <a:lnTo>
                  <a:pt x="4352" y="40097"/>
                </a:lnTo>
                <a:close/>
                <a:moveTo>
                  <a:pt x="118533" y="192616"/>
                </a:moveTo>
                <a:lnTo>
                  <a:pt x="251883" y="192616"/>
                </a:lnTo>
                <a:cubicBezTo>
                  <a:pt x="260078" y="192616"/>
                  <a:pt x="266700" y="199237"/>
                  <a:pt x="266700" y="207433"/>
                </a:cubicBezTo>
                <a:cubicBezTo>
                  <a:pt x="266700" y="215628"/>
                  <a:pt x="260078" y="222250"/>
                  <a:pt x="251883" y="222250"/>
                </a:cubicBezTo>
                <a:lnTo>
                  <a:pt x="118533" y="222250"/>
                </a:lnTo>
                <a:cubicBezTo>
                  <a:pt x="110337" y="222250"/>
                  <a:pt x="103716" y="215628"/>
                  <a:pt x="103716" y="207433"/>
                </a:cubicBezTo>
                <a:cubicBezTo>
                  <a:pt x="103716" y="199237"/>
                  <a:pt x="110337" y="192616"/>
                  <a:pt x="118533" y="192616"/>
                </a:cubicBezTo>
                <a:close/>
              </a:path>
            </a:pathLst>
          </a:custGeom>
          <a:solidFill>
            <a:srgbClr val="D4A373"/>
          </a:solidFill>
          <a:ln>
            <a:noFill/>
          </a:ln>
          <a:effectLst/>
        </p:spPr>
      </p:sp>
      <p:sp>
        <p:nvSpPr>
          <p:cNvPr id="49" name="dsl:card9-title"/>
          <p:cNvSpPr txBox="1"/>
          <p:nvPr/>
        </p:nvSpPr>
        <p:spPr>
          <a:xfrm>
            <a:off x="7505700" y="4267200"/>
            <a:ext cx="1676400" cy="209550"/>
          </a:xfrm>
          <a:prstGeom prst="rect">
            <a:avLst/>
          </a:prstGeom>
          <a:noFill/>
        </p:spPr>
        <p:txBody>
          <a:bodyPr wrap="none" anchor="ctr">
            <a:noAutofit/>
          </a:bodyPr>
          <a:lstStyle/>
          <a:p>
            <a:pPr algn="l"/>
            <a:r>
              <a:rPr b="1" sz="1200" noProof="1">
                <a:solidFill>
                  <a:srgbClr val="2D6A6A"/>
                </a:solidFill>
                <a:latin typeface="Liter"/>
                <a:ea typeface="Liter"/>
              </a:rPr>
              <a:t>AI Operator</a:t>
            </a:r>
          </a:p>
        </p:txBody>
      </p:sp>
      <p:sp>
        <p:nvSpPr>
          <p:cNvPr id="50" name="dsl:card9-desc"/>
          <p:cNvSpPr txBox="1"/>
          <p:nvPr/>
        </p:nvSpPr>
        <p:spPr>
          <a:xfrm>
            <a:off x="7505700" y="451485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Natural language to Ansible playbook generation and execution</a:t>
            </a:r>
          </a:p>
        </p:txBody>
      </p:sp>
      <p:sp>
        <p:nvSpPr>
          <p:cNvPr id="51" name="dsl:card10-bg"/>
          <p:cNvSpPr/>
          <p:nvPr/>
        </p:nvSpPr>
        <p:spPr>
          <a:xfrm>
            <a:off x="9563100" y="371475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dsl:card10-icon|i=fas:server"/>
          <p:cNvSpPr/>
          <p:nvPr/>
        </p:nvSpPr>
        <p:spPr>
          <a:xfrm>
            <a:off x="9753600" y="3905250"/>
            <a:ext cx="266700" cy="266700"/>
          </a:xfrm>
          <a:custGeom>
            <a:avLst/>
            <a:gdLst/>
            <a:ahLst/>
            <a:cxnLst/>
            <a:rect l="l" t="t" r="r" b="b"/>
            <a:pathLst>
              <a:path w="266700" h="266700">
                <a:moveTo>
                  <a:pt x="33337" y="16668"/>
                </a:moveTo>
                <a:cubicBezTo>
                  <a:pt x="14949" y="16668"/>
                  <a:pt x="0" y="31618"/>
                  <a:pt x="0" y="50006"/>
                </a:cubicBezTo>
                <a:lnTo>
                  <a:pt x="0" y="83343"/>
                </a:lnTo>
                <a:cubicBezTo>
                  <a:pt x="0" y="101731"/>
                  <a:pt x="14949" y="116681"/>
                  <a:pt x="33337" y="116681"/>
                </a:cubicBezTo>
                <a:lnTo>
                  <a:pt x="233362" y="116681"/>
                </a:lnTo>
                <a:cubicBezTo>
                  <a:pt x="251750" y="116681"/>
                  <a:pt x="266700" y="101731"/>
                  <a:pt x="266700" y="83343"/>
                </a:cubicBezTo>
                <a:lnTo>
                  <a:pt x="266700" y="50006"/>
                </a:lnTo>
                <a:cubicBezTo>
                  <a:pt x="266700" y="31618"/>
                  <a:pt x="251750" y="16668"/>
                  <a:pt x="233362" y="16668"/>
                </a:cubicBezTo>
                <a:lnTo>
                  <a:pt x="33337" y="16668"/>
                </a:lnTo>
                <a:close/>
                <a:moveTo>
                  <a:pt x="179189" y="54173"/>
                </a:moveTo>
                <a:cubicBezTo>
                  <a:pt x="186047" y="54173"/>
                  <a:pt x="191690" y="59816"/>
                  <a:pt x="191690" y="66675"/>
                </a:cubicBezTo>
                <a:cubicBezTo>
                  <a:pt x="191690" y="73533"/>
                  <a:pt x="186047" y="79176"/>
                  <a:pt x="179189" y="79176"/>
                </a:cubicBezTo>
                <a:cubicBezTo>
                  <a:pt x="172330" y="79176"/>
                  <a:pt x="166687" y="73533"/>
                  <a:pt x="166687" y="66675"/>
                </a:cubicBezTo>
                <a:cubicBezTo>
                  <a:pt x="166687" y="59816"/>
                  <a:pt x="172330" y="54173"/>
                  <a:pt x="179189" y="54173"/>
                </a:cubicBezTo>
                <a:close/>
                <a:moveTo>
                  <a:pt x="204192" y="66675"/>
                </a:moveTo>
                <a:cubicBezTo>
                  <a:pt x="204192" y="59816"/>
                  <a:pt x="209835" y="54173"/>
                  <a:pt x="216693" y="54173"/>
                </a:cubicBezTo>
                <a:cubicBezTo>
                  <a:pt x="223551" y="54173"/>
                  <a:pt x="229195" y="59816"/>
                  <a:pt x="229195" y="66675"/>
                </a:cubicBezTo>
                <a:cubicBezTo>
                  <a:pt x="229195" y="73533"/>
                  <a:pt x="223551" y="79176"/>
                  <a:pt x="216693" y="79176"/>
                </a:cubicBezTo>
                <a:cubicBezTo>
                  <a:pt x="209835" y="79176"/>
                  <a:pt x="204192" y="73533"/>
                  <a:pt x="204192" y="66675"/>
                </a:cubicBezTo>
                <a:close/>
                <a:moveTo>
                  <a:pt x="33337" y="150018"/>
                </a:moveTo>
                <a:cubicBezTo>
                  <a:pt x="14949" y="150018"/>
                  <a:pt x="0" y="164968"/>
                  <a:pt x="0" y="183356"/>
                </a:cubicBezTo>
                <a:lnTo>
                  <a:pt x="0" y="216693"/>
                </a:lnTo>
                <a:cubicBezTo>
                  <a:pt x="0" y="235081"/>
                  <a:pt x="14949" y="250031"/>
                  <a:pt x="33337" y="250031"/>
                </a:cubicBezTo>
                <a:lnTo>
                  <a:pt x="233362" y="250031"/>
                </a:lnTo>
                <a:cubicBezTo>
                  <a:pt x="251750" y="250031"/>
                  <a:pt x="266700" y="235081"/>
                  <a:pt x="266700" y="216693"/>
                </a:cubicBezTo>
                <a:lnTo>
                  <a:pt x="266700" y="183356"/>
                </a:lnTo>
                <a:cubicBezTo>
                  <a:pt x="266700" y="164968"/>
                  <a:pt x="251750" y="150018"/>
                  <a:pt x="233362" y="150018"/>
                </a:cubicBezTo>
                <a:lnTo>
                  <a:pt x="33337" y="150018"/>
                </a:lnTo>
                <a:close/>
                <a:moveTo>
                  <a:pt x="179189" y="187523"/>
                </a:moveTo>
                <a:cubicBezTo>
                  <a:pt x="186047" y="187523"/>
                  <a:pt x="191690" y="193166"/>
                  <a:pt x="191690" y="200025"/>
                </a:cubicBezTo>
                <a:cubicBezTo>
                  <a:pt x="191690" y="206883"/>
                  <a:pt x="186047" y="212526"/>
                  <a:pt x="179189" y="212526"/>
                </a:cubicBezTo>
                <a:cubicBezTo>
                  <a:pt x="172330" y="212526"/>
                  <a:pt x="166687" y="206883"/>
                  <a:pt x="166687" y="200025"/>
                </a:cubicBezTo>
                <a:cubicBezTo>
                  <a:pt x="166687" y="193166"/>
                  <a:pt x="172330" y="187523"/>
                  <a:pt x="179189" y="187523"/>
                </a:cubicBezTo>
                <a:close/>
                <a:moveTo>
                  <a:pt x="208359" y="200025"/>
                </a:moveTo>
                <a:cubicBezTo>
                  <a:pt x="208359" y="193166"/>
                  <a:pt x="214002" y="187523"/>
                  <a:pt x="220860" y="187523"/>
                </a:cubicBezTo>
                <a:cubicBezTo>
                  <a:pt x="227719" y="187523"/>
                  <a:pt x="233362" y="193166"/>
                  <a:pt x="233362" y="200025"/>
                </a:cubicBezTo>
                <a:cubicBezTo>
                  <a:pt x="233362" y="206883"/>
                  <a:pt x="227719" y="212526"/>
                  <a:pt x="220860" y="212526"/>
                </a:cubicBezTo>
                <a:cubicBezTo>
                  <a:pt x="214002" y="212526"/>
                  <a:pt x="208359" y="206883"/>
                  <a:pt x="208359" y="200025"/>
                </a:cubicBezTo>
                <a:close/>
              </a:path>
            </a:pathLst>
          </a:custGeom>
          <a:solidFill>
            <a:srgbClr val="D4A373"/>
          </a:solidFill>
          <a:ln>
            <a:noFill/>
          </a:ln>
          <a:effectLst/>
        </p:spPr>
      </p:sp>
      <p:sp>
        <p:nvSpPr>
          <p:cNvPr id="53" name="dsl:card10-title"/>
          <p:cNvSpPr txBox="1"/>
          <p:nvPr/>
        </p:nvSpPr>
        <p:spPr>
          <a:xfrm>
            <a:off x="9753600" y="4267200"/>
            <a:ext cx="1676400" cy="209550"/>
          </a:xfrm>
          <a:prstGeom prst="rect">
            <a:avLst/>
          </a:prstGeom>
          <a:noFill/>
        </p:spPr>
        <p:txBody>
          <a:bodyPr wrap="none" anchor="ctr">
            <a:noAutofit/>
          </a:bodyPr>
          <a:lstStyle/>
          <a:p>
            <a:pPr algn="l"/>
            <a:r>
              <a:rPr b="1" sz="1200" noProof="1">
                <a:solidFill>
                  <a:srgbClr val="2D6A6A"/>
                </a:solidFill>
                <a:latin typeface="Liter"/>
                <a:ea typeface="Liter"/>
              </a:rPr>
              <a:t>Asset Management</a:t>
            </a:r>
          </a:p>
        </p:txBody>
      </p:sp>
      <p:sp>
        <p:nvSpPr>
          <p:cNvPr id="54" name="dsl:card10-desc"/>
          <p:cNvSpPr txBox="1"/>
          <p:nvPr/>
        </p:nvSpPr>
        <p:spPr>
          <a:xfrm>
            <a:off x="9753600" y="451485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Multi-server scoped views with per-asset alert filtering</a:t>
            </a:r>
          </a:p>
        </p:txBody>
      </p:sp>
      <p:sp>
        <p:nvSpPr>
          <p:cNvPr id="55"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56"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6-number-decorative"/>
          <p:cNvSpPr txBox="1"/>
          <p:nvPr/>
        </p:nvSpPr>
        <p:spPr>
          <a:xfrm>
            <a:off x="381000" y="571500"/>
            <a:ext cx="4381500" cy="2476500"/>
          </a:xfrm>
          <a:prstGeom prst="rect">
            <a:avLst/>
          </a:prstGeom>
          <a:noFill/>
        </p:spPr>
        <p:txBody>
          <a:bodyPr wrap="none" anchor="t">
            <a:noAutofit/>
          </a:bodyPr>
          <a:lstStyle/>
          <a:p>
            <a:pPr algn="l"/>
            <a:r>
              <a:rPr sz="15000" noProof="1">
                <a:solidFill>
                  <a:srgbClr val="2D6A6A"/>
                </a:solidFill>
                <a:latin typeface="Liter"/>
                <a:ea typeface="Liter"/>
              </a:rPr>
              <a:t>06</a:t>
            </a:r>
          </a:p>
        </p:txBody>
      </p:sp>
      <p:sp>
        <p:nvSpPr>
          <p:cNvPr id="3" name="dsl:ch6-accent-bar"/>
          <p:cNvSpPr/>
          <p:nvPr/>
        </p:nvSpPr>
        <p:spPr>
          <a:xfrm>
            <a:off x="571500" y="323850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6-title"/>
          <p:cNvSpPr txBox="1"/>
          <p:nvPr/>
        </p:nvSpPr>
        <p:spPr>
          <a:xfrm>
            <a:off x="571500" y="3429000"/>
            <a:ext cx="8572500" cy="523875"/>
          </a:xfrm>
          <a:prstGeom prst="rect">
            <a:avLst/>
          </a:prstGeom>
          <a:noFill/>
        </p:spPr>
        <p:txBody>
          <a:bodyPr wrap="none" anchor="ctr">
            <a:noAutofit/>
          </a:bodyPr>
          <a:lstStyle/>
          <a:p>
            <a:pPr algn="l"/>
            <a:r>
              <a:rPr sz="2850" noProof="1">
                <a:solidFill>
                  <a:srgbClr val="2D6A6A"/>
                </a:solidFill>
                <a:latin typeface="Liter"/>
                <a:ea typeface="Liter"/>
              </a:rPr>
              <a:t>06 — Architecture &amp; Deployment</a:t>
            </a:r>
          </a:p>
        </p:txBody>
      </p:sp>
      <p:sp>
        <p:nvSpPr>
          <p:cNvPr id="5" name="dsl:ch6-subtitle"/>
          <p:cNvSpPr txBox="1"/>
          <p:nvPr/>
        </p:nvSpPr>
        <p:spPr>
          <a:xfrm>
            <a:off x="571500" y="4095750"/>
            <a:ext cx="8572500" cy="333375"/>
          </a:xfrm>
          <a:prstGeom prst="rect">
            <a:avLst/>
          </a:prstGeom>
          <a:noFill/>
        </p:spPr>
        <p:txBody>
          <a:bodyPr wrap="none" anchor="ctr">
            <a:noAutofit/>
          </a:bodyPr>
          <a:lstStyle/>
          <a:p>
            <a:pPr algn="l"/>
            <a:r>
              <a:rPr sz="1500" noProof="1">
                <a:solidFill>
                  <a:srgbClr val="5C6B73"/>
                </a:solidFill>
                <a:latin typeface="QuattrocentoSans"/>
                <a:ea typeface="QuattrocentoSans"/>
              </a:rPr>
              <a:t>Four-tier stack deployed on Huawei Cloud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8001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Logical Architecture</a:t>
            </a:r>
          </a:p>
        </p:txBody>
      </p:sp>
      <p:sp>
        <p:nvSpPr>
          <p:cNvPr id="14" name="dsl:ref-note"/>
          <p:cNvSpPr txBox="1"/>
          <p:nvPr/>
        </p:nvSpPr>
        <p:spPr>
          <a:xfrm>
            <a:off x="8572500" y="552450"/>
            <a:ext cx="30480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Sections 3.3-3.5</a:t>
            </a:r>
          </a:p>
        </p:txBody>
      </p:sp>
      <p:sp>
        <p:nvSpPr>
          <p:cNvPr id="15" name="dsl:layer1-bg"/>
          <p:cNvSpPr/>
          <p:nvPr/>
        </p:nvSpPr>
        <p:spPr>
          <a:xfrm>
            <a:off x="571500" y="1143000"/>
            <a:ext cx="11049000" cy="952500"/>
          </a:xfrm>
          <a:prstGeom prst="rect">
            <a:avLst/>
          </a:prstGeom>
          <a:solidFill>
            <a:srgbClr val="E8F2F2"/>
          </a:solidFill>
          <a:ln w="127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ayer1-label-bg"/>
          <p:cNvSpPr/>
          <p:nvPr/>
        </p:nvSpPr>
        <p:spPr>
          <a:xfrm>
            <a:off x="571500" y="1143000"/>
            <a:ext cx="1524000" cy="952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layer1-label"/>
          <p:cNvSpPr txBox="1"/>
          <p:nvPr/>
        </p:nvSpPr>
        <p:spPr>
          <a:xfrm>
            <a:off x="571500" y="1143000"/>
            <a:ext cx="1524000" cy="952500"/>
          </a:xfrm>
          <a:prstGeom prst="rect">
            <a:avLst/>
          </a:prstGeom>
          <a:noFill/>
        </p:spPr>
        <p:txBody>
          <a:bodyPr wrap="none" anchor="ctr">
            <a:noAutofit/>
          </a:bodyPr>
          <a:lstStyle/>
          <a:p>
            <a:pPr algn="ctr"/>
            <a:r>
              <a:rPr b="1" sz="1200" noProof="1">
                <a:solidFill>
                  <a:srgbClr val="FFFFFF"/>
                </a:solidFill>
                <a:latin typeface="Liter"/>
                <a:ea typeface="Liter"/>
              </a:rPr>
              <a:t>FRONTEND</a:t>
            </a:r>
          </a:p>
        </p:txBody>
      </p:sp>
      <p:sp>
        <p:nvSpPr>
          <p:cNvPr id="18" name="dsl:layer1-content"/>
          <p:cNvSpPr txBox="1"/>
          <p:nvPr/>
        </p:nvSpPr>
        <p:spPr>
          <a:xfrm>
            <a:off x="2286000" y="1238250"/>
            <a:ext cx="9144000" cy="762000"/>
          </a:xfrm>
          <a:prstGeom prst="rect">
            <a:avLst/>
          </a:prstGeom>
          <a:noFill/>
        </p:spPr>
        <p:txBody>
          <a:bodyPr wrap="none" anchor="ctr">
            <a:noAutofit/>
          </a:bodyPr>
          <a:lstStyle/>
          <a:p>
            <a:pPr algn="l"/>
            <a:r>
              <a:rPr b="1" sz="1350" noProof="1">
                <a:solidFill>
                  <a:srgbClr val="2B2D2F"/>
                </a:solidFill>
                <a:latin typeface="QuattrocentoSans"/>
                <a:ea typeface="QuattrocentoSans"/>
              </a:rPr>
              <a:t>Next.js Dashboard</a:t>
            </a:r>
            <a:r>
              <a:rPr sz="1350" noProof="1">
                <a:solidFill>
                  <a:srgbClr val="2B2D2F"/>
                </a:solidFill>
                <a:latin typeface="QuattrocentoSans"/>
                <a:ea typeface="QuattrocentoSans"/>
              </a:rPr>
              <a:t> — SWR API client, WebSocket real-time updates, responsive UI</a:t>
            </a:r>
          </a:p>
        </p:txBody>
      </p:sp>
      <p:cxnSp>
        <p:nvCxnSpPr>
          <p:cNvPr id="19" name="dsl:arrow-1-2"/>
          <p:cNvCxnSpPr/>
          <p:nvPr/>
        </p:nvCxnSpPr>
        <p:spPr>
          <a:xfrm>
            <a:off x="6000750" y="2095500"/>
            <a:ext cx="0" cy="19050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0" name="dsl:layer2-bg"/>
          <p:cNvSpPr/>
          <p:nvPr/>
        </p:nvSpPr>
        <p:spPr>
          <a:xfrm>
            <a:off x="571500" y="2286000"/>
            <a:ext cx="11049000" cy="952500"/>
          </a:xfrm>
          <a:prstGeom prst="rect">
            <a:avLst/>
          </a:prstGeom>
          <a:solidFill>
            <a:srgbClr val="E8F2F2"/>
          </a:solidFill>
          <a:ln w="127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layer2-label-bg"/>
          <p:cNvSpPr/>
          <p:nvPr/>
        </p:nvSpPr>
        <p:spPr>
          <a:xfrm>
            <a:off x="571500" y="2286000"/>
            <a:ext cx="1524000" cy="952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layer2-label"/>
          <p:cNvSpPr txBox="1"/>
          <p:nvPr/>
        </p:nvSpPr>
        <p:spPr>
          <a:xfrm>
            <a:off x="571500" y="2286000"/>
            <a:ext cx="1524000" cy="952500"/>
          </a:xfrm>
          <a:prstGeom prst="rect">
            <a:avLst/>
          </a:prstGeom>
          <a:noFill/>
        </p:spPr>
        <p:txBody>
          <a:bodyPr wrap="none" anchor="ctr">
            <a:noAutofit/>
          </a:bodyPr>
          <a:lstStyle/>
          <a:p>
            <a:pPr algn="ctr"/>
            <a:r>
              <a:rPr b="1" sz="1200" noProof="1">
                <a:solidFill>
                  <a:srgbClr val="FFFFFF"/>
                </a:solidFill>
                <a:latin typeface="Liter"/>
                <a:ea typeface="Liter"/>
              </a:rPr>
              <a:t>API LAYER</a:t>
            </a:r>
          </a:p>
        </p:txBody>
      </p:sp>
      <p:sp>
        <p:nvSpPr>
          <p:cNvPr id="23" name="dsl:layer2-content"/>
          <p:cNvSpPr txBox="1"/>
          <p:nvPr/>
        </p:nvSpPr>
        <p:spPr>
          <a:xfrm>
            <a:off x="2286000" y="2381250"/>
            <a:ext cx="9144000" cy="762000"/>
          </a:xfrm>
          <a:prstGeom prst="rect">
            <a:avLst/>
          </a:prstGeom>
          <a:noFill/>
        </p:spPr>
        <p:txBody>
          <a:bodyPr wrap="none" anchor="ctr">
            <a:noAutofit/>
          </a:bodyPr>
          <a:lstStyle/>
          <a:p>
            <a:pPr algn="l"/>
            <a:r>
              <a:rPr b="1" sz="1350" noProof="1">
                <a:solidFill>
                  <a:srgbClr val="2B2D2F"/>
                </a:solidFill>
                <a:latin typeface="QuattrocentoSans"/>
                <a:ea typeface="QuattrocentoSans"/>
              </a:rPr>
              <a:t>FastAPI</a:t>
            </a:r>
            <a:r>
              <a:rPr sz="1350" noProof="1">
                <a:solidFill>
                  <a:srgbClr val="2B2D2F"/>
                </a:solidFill>
                <a:latin typeface="QuattrocentoSans"/>
                <a:ea typeface="QuattrocentoSans"/>
              </a:rPr>
              <a:t> — REST endpoints, CORS, rate limiting, WebSocket for live updates</a:t>
            </a:r>
          </a:p>
        </p:txBody>
      </p:sp>
      <p:cxnSp>
        <p:nvCxnSpPr>
          <p:cNvPr id="24" name="dsl:arrow-2-3"/>
          <p:cNvCxnSpPr/>
          <p:nvPr/>
        </p:nvCxnSpPr>
        <p:spPr>
          <a:xfrm>
            <a:off x="6000750" y="3238500"/>
            <a:ext cx="0" cy="19050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5" name="dsl:layer3-bg"/>
          <p:cNvSpPr/>
          <p:nvPr/>
        </p:nvSpPr>
        <p:spPr>
          <a:xfrm>
            <a:off x="571500" y="3429000"/>
            <a:ext cx="11049000" cy="1143000"/>
          </a:xfrm>
          <a:prstGeom prst="rect">
            <a:avLst/>
          </a:prstGeom>
          <a:solidFill>
            <a:srgbClr val="F5EDE3"/>
          </a:solidFill>
          <a:ln w="12700">
            <a:solidFill>
              <a:srgbClr val="D4A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layer3-label-bg"/>
          <p:cNvSpPr/>
          <p:nvPr/>
        </p:nvSpPr>
        <p:spPr>
          <a:xfrm>
            <a:off x="571500" y="3429000"/>
            <a:ext cx="1524000" cy="11430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layer3-label"/>
          <p:cNvSpPr txBox="1"/>
          <p:nvPr/>
        </p:nvSpPr>
        <p:spPr>
          <a:xfrm>
            <a:off x="571500" y="3429000"/>
            <a:ext cx="1524000" cy="1143000"/>
          </a:xfrm>
          <a:prstGeom prst="rect">
            <a:avLst/>
          </a:prstGeom>
          <a:noFill/>
        </p:spPr>
        <p:txBody>
          <a:bodyPr wrap="none" anchor="ctr">
            <a:noAutofit/>
          </a:bodyPr>
          <a:lstStyle/>
          <a:p>
            <a:pPr algn="ctr"/>
            <a:r>
              <a:rPr b="1" sz="1200" noProof="1">
                <a:solidFill>
                  <a:srgbClr val="FFFFFF"/>
                </a:solidFill>
                <a:latin typeface="Liter"/>
                <a:ea typeface="Liter"/>
              </a:rPr>
              <a:t>WORKFLOW</a:t>
            </a:r>
          </a:p>
        </p:txBody>
      </p:sp>
      <p:sp>
        <p:nvSpPr>
          <p:cNvPr id="28" name="dsl:layer3-content"/>
          <p:cNvSpPr txBox="1"/>
          <p:nvPr/>
        </p:nvSpPr>
        <p:spPr>
          <a:xfrm>
            <a:off x="2286000" y="3524250"/>
            <a:ext cx="9144000" cy="952500"/>
          </a:xfrm>
          <a:prstGeom prst="rect">
            <a:avLst/>
          </a:prstGeom>
          <a:noFill/>
        </p:spPr>
        <p:txBody>
          <a:bodyPr wrap="none" anchor="ctr">
            <a:noAutofit/>
          </a:bodyPr>
          <a:lstStyle/>
          <a:p>
            <a:pPr algn="l"/>
            <a:r>
              <a:rPr b="1" sz="1350" noProof="1">
                <a:solidFill>
                  <a:srgbClr val="2B2D2F"/>
                </a:solidFill>
                <a:latin typeface="QuattrocentoSans"/>
                <a:ea typeface="QuattrocentoSans"/>
              </a:rPr>
              <a:t>Pipeline</a:t>
            </a:r>
            <a:r>
              <a:rPr sz="1350" noProof="1">
                <a:solidFill>
                  <a:srgbClr val="2B2D2F"/>
                </a:solidFill>
                <a:latin typeface="QuattrocentoSans"/>
                <a:ea typeface="QuattrocentoSans"/>
              </a:rPr>
              <a:t> (poll, map, enrich, dedup, correlate)  •  </a:t>
            </a:r>
            <a:r>
              <a:rPr b="1" sz="1350" noProof="1">
                <a:solidFill>
                  <a:srgbClr val="2B2D2F"/>
                </a:solidFill>
                <a:latin typeface="QuattrocentoSans"/>
                <a:ea typeface="QuattrocentoSans"/>
              </a:rPr>
              <a:t>Incident Manager</a:t>
            </a:r>
            <a:r>
              <a:rPr sz="1350" noProof="1">
                <a:solidFill>
                  <a:srgbClr val="2B2D2F"/>
                </a:solidFill>
                <a:latin typeface="QuattrocentoSans"/>
                <a:ea typeface="QuattrocentoSans"/>
              </a:rPr>
              <a:t>  •  </a:t>
            </a:r>
            <a:r>
              <a:rPr b="1" sz="1350" noProof="1">
                <a:solidFill>
                  <a:srgbClr val="2B2D2F"/>
                </a:solidFill>
                <a:latin typeface="QuattrocentoSans"/>
                <a:ea typeface="QuattrocentoSans"/>
              </a:rPr>
              <a:t>AI Response</a:t>
            </a:r>
            <a:r>
              <a:rPr sz="1350" noProof="1">
                <a:solidFill>
                  <a:srgbClr val="2B2D2F"/>
                </a:solidFill>
                <a:latin typeface="QuattrocentoSans"/>
                <a:ea typeface="QuattrocentoSans"/>
              </a:rPr>
              <a:t>  •  </a:t>
            </a:r>
            <a:r>
              <a:rPr b="1" sz="1350" noProof="1">
                <a:solidFill>
                  <a:srgbClr val="2B2D2F"/>
                </a:solidFill>
                <a:latin typeface="QuattrocentoSans"/>
                <a:ea typeface="QuattrocentoSans"/>
              </a:rPr>
              <a:t>Operator</a:t>
            </a:r>
          </a:p>
        </p:txBody>
      </p:sp>
      <p:cxnSp>
        <p:nvCxnSpPr>
          <p:cNvPr id="29" name="dsl:arrow-3-4"/>
          <p:cNvCxnSpPr/>
          <p:nvPr/>
        </p:nvCxnSpPr>
        <p:spPr>
          <a:xfrm>
            <a:off x="6000750" y="4572000"/>
            <a:ext cx="0" cy="19050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0" name="dsl:layer4-bg"/>
          <p:cNvSpPr/>
          <p:nvPr/>
        </p:nvSpPr>
        <p:spPr>
          <a:xfrm>
            <a:off x="571500" y="4762500"/>
            <a:ext cx="11049000" cy="1143000"/>
          </a:xfrm>
          <a:prstGeom prst="rect">
            <a:avLst/>
          </a:prstGeom>
          <a:solidFill>
            <a:srgbClr val="EDEAE5"/>
          </a:solidFill>
          <a:ln w="12700">
            <a:solidFill>
              <a:srgbClr val="5C6B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layer4-label-bg"/>
          <p:cNvSpPr/>
          <p:nvPr/>
        </p:nvSpPr>
        <p:spPr>
          <a:xfrm>
            <a:off x="571500" y="4762500"/>
            <a:ext cx="1524000" cy="1143000"/>
          </a:xfrm>
          <a:prstGeom prst="rect">
            <a:avLst/>
          </a:prstGeom>
          <a:solidFill>
            <a:srgbClr val="5C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layer4-label"/>
          <p:cNvSpPr txBox="1"/>
          <p:nvPr/>
        </p:nvSpPr>
        <p:spPr>
          <a:xfrm>
            <a:off x="571500" y="4762500"/>
            <a:ext cx="1524000" cy="1143000"/>
          </a:xfrm>
          <a:prstGeom prst="rect">
            <a:avLst/>
          </a:prstGeom>
          <a:noFill/>
        </p:spPr>
        <p:txBody>
          <a:bodyPr wrap="none" anchor="ctr">
            <a:noAutofit/>
          </a:bodyPr>
          <a:lstStyle/>
          <a:p>
            <a:pPr algn="ctr"/>
            <a:r>
              <a:rPr b="1" sz="1200" noProof="1">
                <a:solidFill>
                  <a:srgbClr val="FFFFFF"/>
                </a:solidFill>
                <a:latin typeface="Liter"/>
                <a:ea typeface="Liter"/>
              </a:rPr>
              <a:t>INFRA</a:t>
            </a:r>
          </a:p>
        </p:txBody>
      </p:sp>
      <p:sp>
        <p:nvSpPr>
          <p:cNvPr id="33" name="dsl:layer4-content"/>
          <p:cNvSpPr txBox="1"/>
          <p:nvPr/>
        </p:nvSpPr>
        <p:spPr>
          <a:xfrm>
            <a:off x="2286000" y="4857750"/>
            <a:ext cx="9144000" cy="952500"/>
          </a:xfrm>
          <a:prstGeom prst="rect">
            <a:avLst/>
          </a:prstGeom>
          <a:noFill/>
        </p:spPr>
        <p:txBody>
          <a:bodyPr wrap="none" anchor="ctr">
            <a:noAutofit/>
          </a:bodyPr>
          <a:lstStyle/>
          <a:p>
            <a:pPr algn="l"/>
            <a:r>
              <a:rPr b="1" sz="1350" noProof="1">
                <a:solidFill>
                  <a:srgbClr val="2B2D2F"/>
                </a:solidFill>
                <a:latin typeface="QuattrocentoSans"/>
                <a:ea typeface="QuattrocentoSans"/>
              </a:rPr>
              <a:t>ES 7.17</a:t>
            </a:r>
            <a:r>
              <a:rPr sz="1350" noProof="1">
                <a:solidFill>
                  <a:srgbClr val="2B2D2F"/>
                </a:solidFill>
                <a:latin typeface="QuattrocentoSans"/>
                <a:ea typeface="QuattrocentoSans"/>
              </a:rPr>
              <a:t> (telemetry)  •  </a:t>
            </a:r>
            <a:r>
              <a:rPr b="1" sz="1350" noProof="1">
                <a:solidFill>
                  <a:srgbClr val="2B2D2F"/>
                </a:solidFill>
                <a:latin typeface="QuattrocentoSans"/>
                <a:ea typeface="QuattrocentoSans"/>
              </a:rPr>
              <a:t>Redis</a:t>
            </a:r>
            <a:r>
              <a:rPr sz="1350" noProof="1">
                <a:solidFill>
                  <a:srgbClr val="2B2D2F"/>
                </a:solidFill>
                <a:latin typeface="QuattrocentoSans"/>
                <a:ea typeface="QuattrocentoSans"/>
              </a:rPr>
              <a:t> (cache/cursors)  •  </a:t>
            </a:r>
            <a:r>
              <a:rPr b="1" sz="1350" noProof="1">
                <a:solidFill>
                  <a:srgbClr val="2B2D2F"/>
                </a:solidFill>
                <a:latin typeface="QuattrocentoSans"/>
                <a:ea typeface="QuattrocentoSans"/>
              </a:rPr>
              <a:t>SQLite</a:t>
            </a:r>
            <a:r>
              <a:rPr sz="1350" noProof="1">
                <a:solidFill>
                  <a:srgbClr val="2B2D2F"/>
                </a:solidFill>
                <a:latin typeface="QuattrocentoSans"/>
                <a:ea typeface="QuattrocentoSans"/>
              </a:rPr>
              <a:t> (state)  •  </a:t>
            </a:r>
            <a:r>
              <a:rPr b="1" sz="1350" noProof="1">
                <a:solidFill>
                  <a:srgbClr val="2B2D2F"/>
                </a:solidFill>
                <a:latin typeface="QuattrocentoSans"/>
                <a:ea typeface="QuattrocentoSans"/>
              </a:rPr>
              <a:t>Ansible</a:t>
            </a:r>
            <a:r>
              <a:rPr sz="1350" noProof="1">
                <a:solidFill>
                  <a:srgbClr val="2B2D2F"/>
                </a:solidFill>
                <a:latin typeface="QuattrocentoSans"/>
                <a:ea typeface="QuattrocentoSans"/>
              </a:rPr>
              <a:t> (execution)  •  </a:t>
            </a:r>
            <a:r>
              <a:rPr b="1" sz="1350" noProof="1">
                <a:solidFill>
                  <a:srgbClr val="2B2D2F"/>
                </a:solidFill>
                <a:latin typeface="QuattrocentoSans"/>
                <a:ea typeface="QuattrocentoSans"/>
              </a:rPr>
              <a:t>LLM</a:t>
            </a:r>
          </a:p>
        </p:txBody>
      </p:sp>
      <p:sp>
        <p:nvSpPr>
          <p:cNvPr id="34" name="dsl:stack-label"/>
          <p:cNvSpPr txBox="1"/>
          <p:nvPr/>
        </p:nvSpPr>
        <p:spPr>
          <a:xfrm>
            <a:off x="571500" y="6057900"/>
            <a:ext cx="11049000" cy="285750"/>
          </a:xfrm>
          <a:prstGeom prst="rect">
            <a:avLst/>
          </a:prstGeom>
          <a:noFill/>
        </p:spPr>
        <p:txBody>
          <a:bodyPr wrap="none" anchor="ctr">
            <a:noAutofit/>
          </a:bodyPr>
          <a:lstStyle/>
          <a:p>
            <a:pPr algn="ctr"/>
            <a:r>
              <a:rPr sz="975" noProof="1">
                <a:solidFill>
                  <a:srgbClr val="5C6B73"/>
                </a:solidFill>
                <a:latin typeface="QuattrocentoSans"/>
                <a:ea typeface="QuattrocentoSans"/>
              </a:rPr>
              <a:t>Technology Stack: FastAPI  •  Next.js  •  Elasticsearch 7.17  •  Redis  •  SQLite + SQLAlchemy  •  MITRE ATT&amp;CK  •  Sigma</a:t>
            </a:r>
          </a:p>
        </p:txBody>
      </p:sp>
      <p:sp>
        <p:nvSpPr>
          <p:cNvPr id="35"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36"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8001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Physical Deployment Architecture</a:t>
            </a:r>
          </a:p>
        </p:txBody>
      </p:sp>
      <p:sp>
        <p:nvSpPr>
          <p:cNvPr id="14" name="dsl:ref-note"/>
          <p:cNvSpPr txBox="1"/>
          <p:nvPr/>
        </p:nvSpPr>
        <p:spPr>
          <a:xfrm>
            <a:off x="8382000" y="552450"/>
            <a:ext cx="32385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ARIA_ARCHITECTURE.md</a:t>
            </a:r>
          </a:p>
        </p:txBody>
      </p:sp>
      <p:sp>
        <p:nvSpPr>
          <p:cNvPr id="15" name="dsl:brain-label"/>
          <p:cNvSpPr txBox="1"/>
          <p:nvPr/>
        </p:nvSpPr>
        <p:spPr>
          <a:xfrm>
            <a:off x="571500" y="1047750"/>
            <a:ext cx="2857500" cy="228600"/>
          </a:xfrm>
          <a:prstGeom prst="rect">
            <a:avLst/>
          </a:prstGeom>
          <a:noFill/>
        </p:spPr>
        <p:txBody>
          <a:bodyPr wrap="none" anchor="ctr">
            <a:noAutofit/>
          </a:bodyPr>
          <a:lstStyle/>
          <a:p>
            <a:pPr algn="l"/>
            <a:r>
              <a:rPr b="1" sz="1050" noProof="1">
                <a:solidFill>
                  <a:srgbClr val="5C6B73"/>
                </a:solidFill>
                <a:latin typeface="Liter"/>
                <a:ea typeface="Liter"/>
              </a:rPr>
              <a:t>BRAIN VM — CENTRAL ECS</a:t>
            </a:r>
          </a:p>
        </p:txBody>
      </p:sp>
      <p:sp>
        <p:nvSpPr>
          <p:cNvPr id="16" name="dsl:brain-bg"/>
          <p:cNvSpPr/>
          <p:nvPr/>
        </p:nvSpPr>
        <p:spPr>
          <a:xfrm>
            <a:off x="571500" y="1333500"/>
            <a:ext cx="6096000" cy="2190750"/>
          </a:xfrm>
          <a:prstGeom prst="rect">
            <a:avLst/>
          </a:prstGeom>
          <a:solidFill>
            <a:srgbClr val="F5F5F2"/>
          </a:solidFill>
          <a:ln w="254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brain-specs"/>
          <p:cNvSpPr txBox="1"/>
          <p:nvPr/>
        </p:nvSpPr>
        <p:spPr>
          <a:xfrm>
            <a:off x="762000" y="1409700"/>
            <a:ext cx="5715000" cy="228600"/>
          </a:xfrm>
          <a:prstGeom prst="rect">
            <a:avLst/>
          </a:prstGeom>
          <a:noFill/>
        </p:spPr>
        <p:txBody>
          <a:bodyPr wrap="none" anchor="ctr">
            <a:noAutofit/>
          </a:bodyPr>
          <a:lstStyle/>
          <a:p>
            <a:pPr algn="l"/>
            <a:r>
              <a:rPr sz="1050" noProof="1">
                <a:solidFill>
                  <a:srgbClr val="5C6B73"/>
                </a:solidFill>
                <a:latin typeface="QuattrocentoSans"/>
                <a:ea typeface="QuattrocentoSans"/>
              </a:rPr>
              <a:t>Ubuntu 24  •  64 vCPU  •  128 GB RAM  •  Huawei Cloud ECS</a:t>
            </a:r>
          </a:p>
        </p:txBody>
      </p:sp>
      <p:sp>
        <p:nvSpPr>
          <p:cNvPr id="18" name="dsl:brain-divider"/>
          <p:cNvSpPr/>
          <p:nvPr/>
        </p:nvSpPr>
        <p:spPr>
          <a:xfrm>
            <a:off x="762000" y="1695450"/>
            <a:ext cx="5715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brain-components"/>
          <p:cNvSpPr txBox="1"/>
          <p:nvPr/>
        </p:nvSpPr>
        <p:spPr>
          <a:xfrm>
            <a:off x="762000" y="1790700"/>
            <a:ext cx="2857500" cy="1619250"/>
          </a:xfrm>
          <a:prstGeom prst="rect">
            <a:avLst/>
          </a:prstGeom>
          <a:noFill/>
        </p:spPr>
        <p:txBody>
          <a:bodyPr wrap="square" anchor="t">
            <a:noAutofit/>
          </a:bodyPr>
          <a:lstStyle/>
          <a:p>
            <a:pPr algn="l">
              <a:lnSpc>
                <a:spcPct val="150000"/>
              </a:lnSpc>
            </a:pPr>
            <a:r>
              <a:rPr b="1" sz="1125" noProof="1">
                <a:solidFill>
                  <a:srgbClr val="2B2D2F"/>
                </a:solidFill>
                <a:latin typeface="QuattrocentoSans"/>
                <a:ea typeface="QuattrocentoSans"/>
              </a:rPr>
              <a:t>Core Services:</a:t>
            </a:r>
          </a:p>
          <a:p>
            <a:pPr algn="l">
              <a:lnSpc>
                <a:spcPct val="150000"/>
              </a:lnSpc>
            </a:pPr>
            <a:r>
              <a:rPr sz="1125" noProof="1">
                <a:solidFill>
                  <a:srgbClr val="2B2D2F"/>
                </a:solidFill>
                <a:latin typeface="QuattrocentoSans"/>
                <a:ea typeface="QuattrocentoSans"/>
              </a:rPr>
              <a:t>Elasticsearch 7.17.13</a:t>
            </a:r>
          </a:p>
          <a:p>
            <a:pPr algn="l">
              <a:lnSpc>
                <a:spcPct val="150000"/>
              </a:lnSpc>
            </a:pPr>
            <a:r>
              <a:rPr sz="1125" noProof="1">
                <a:solidFill>
                  <a:srgbClr val="2B2D2F"/>
                </a:solidFill>
                <a:latin typeface="QuattrocentoSans"/>
                <a:ea typeface="QuattrocentoSans"/>
              </a:rPr>
              <a:t>Kibana</a:t>
            </a:r>
          </a:p>
          <a:p>
            <a:pPr algn="l">
              <a:lnSpc>
                <a:spcPct val="150000"/>
              </a:lnSpc>
            </a:pPr>
            <a:r>
              <a:rPr sz="1125" noProof="1">
                <a:solidFill>
                  <a:srgbClr val="2B2D2F"/>
                </a:solidFill>
                <a:latin typeface="QuattrocentoSans"/>
                <a:ea typeface="QuattrocentoSans"/>
              </a:rPr>
              <a:t>Wazuh Manager 4.5.4</a:t>
            </a:r>
          </a:p>
          <a:p>
            <a:pPr algn="l">
              <a:lnSpc>
                <a:spcPct val="150000"/>
              </a:lnSpc>
            </a:pPr>
            <a:r>
              <a:rPr sz="1125" noProof="1">
                <a:solidFill>
                  <a:srgbClr val="2B2D2F"/>
                </a:solidFill>
                <a:latin typeface="QuattrocentoSans"/>
                <a:ea typeface="QuattrocentoSans"/>
              </a:rPr>
              <a:t>Filebeat</a:t>
            </a:r>
          </a:p>
          <a:p>
            <a:pPr algn="l">
              <a:lnSpc>
                <a:spcPct val="150000"/>
              </a:lnSpc>
            </a:pPr>
            <a:r>
              <a:rPr sz="1125" noProof="1">
                <a:solidFill>
                  <a:srgbClr val="2B2D2F"/>
                </a:solidFill>
                <a:latin typeface="QuattrocentoSans"/>
                <a:ea typeface="QuattrocentoSans"/>
              </a:rPr>
              <a:t>Suricata (NIDS)</a:t>
            </a:r>
          </a:p>
        </p:txBody>
      </p:sp>
      <p:sp>
        <p:nvSpPr>
          <p:cNvPr id="20" name="dsl:brain-components-2"/>
          <p:cNvSpPr txBox="1"/>
          <p:nvPr/>
        </p:nvSpPr>
        <p:spPr>
          <a:xfrm>
            <a:off x="3810000" y="1790700"/>
            <a:ext cx="2667000" cy="1619250"/>
          </a:xfrm>
          <a:prstGeom prst="rect">
            <a:avLst/>
          </a:prstGeom>
          <a:noFill/>
        </p:spPr>
        <p:txBody>
          <a:bodyPr wrap="square" anchor="t">
            <a:noAutofit/>
          </a:bodyPr>
          <a:lstStyle/>
          <a:p>
            <a:pPr algn="l">
              <a:lnSpc>
                <a:spcPct val="150000"/>
              </a:lnSpc>
            </a:pPr>
            <a:r>
              <a:rPr b="1" sz="1125" noProof="1">
                <a:solidFill>
                  <a:srgbClr val="2B2D2F"/>
                </a:solidFill>
                <a:latin typeface="QuattrocentoSans"/>
                <a:ea typeface="QuattrocentoSans"/>
              </a:rPr>
              <a:t>Runtime &amp; Security:</a:t>
            </a:r>
          </a:p>
          <a:p>
            <a:pPr algn="l">
              <a:lnSpc>
                <a:spcPct val="150000"/>
              </a:lnSpc>
            </a:pPr>
            <a:r>
              <a:rPr sz="1125" noProof="1">
                <a:solidFill>
                  <a:srgbClr val="2B2D2F"/>
                </a:solidFill>
                <a:latin typeface="QuattrocentoSans"/>
                <a:ea typeface="QuattrocentoSans"/>
              </a:rPr>
              <a:t>Falco + Falcosidekick</a:t>
            </a:r>
          </a:p>
          <a:p>
            <a:pPr algn="l">
              <a:lnSpc>
                <a:spcPct val="150000"/>
              </a:lnSpc>
            </a:pPr>
            <a:r>
              <a:rPr sz="1125" noProof="1">
                <a:solidFill>
                  <a:srgbClr val="2B2D2F"/>
                </a:solidFill>
                <a:latin typeface="QuattrocentoSans"/>
                <a:ea typeface="QuattrocentoSans"/>
              </a:rPr>
              <a:t>Telegraf</a:t>
            </a:r>
          </a:p>
          <a:p>
            <a:pPr algn="l">
              <a:lnSpc>
                <a:spcPct val="150000"/>
              </a:lnSpc>
            </a:pPr>
            <a:r>
              <a:rPr sz="1125" noProof="1">
                <a:solidFill>
                  <a:srgbClr val="2B2D2F"/>
                </a:solidFill>
                <a:latin typeface="QuattrocentoSans"/>
                <a:ea typeface="QuattrocentoSans"/>
              </a:rPr>
              <a:t>Fail2Ban</a:t>
            </a:r>
          </a:p>
          <a:p>
            <a:pPr algn="l">
              <a:lnSpc>
                <a:spcPct val="150000"/>
              </a:lnSpc>
            </a:pPr>
            <a:r>
              <a:rPr sz="1125" noProof="1">
                <a:solidFill>
                  <a:srgbClr val="2B2D2F"/>
                </a:solidFill>
                <a:latin typeface="QuattrocentoSans"/>
                <a:ea typeface="QuattrocentoSans"/>
              </a:rPr>
              <a:t>UFW Firewall</a:t>
            </a:r>
          </a:p>
        </p:txBody>
      </p:sp>
      <p:sp>
        <p:nvSpPr>
          <p:cNvPr id="21" name="dsl:docker-label"/>
          <p:cNvSpPr txBox="1"/>
          <p:nvPr/>
        </p:nvSpPr>
        <p:spPr>
          <a:xfrm>
            <a:off x="7048500" y="1047750"/>
            <a:ext cx="2857500" cy="228600"/>
          </a:xfrm>
          <a:prstGeom prst="rect">
            <a:avLst/>
          </a:prstGeom>
          <a:noFill/>
        </p:spPr>
        <p:txBody>
          <a:bodyPr wrap="none" anchor="ctr">
            <a:noAutofit/>
          </a:bodyPr>
          <a:lstStyle/>
          <a:p>
            <a:pPr algn="l"/>
            <a:r>
              <a:rPr b="1" sz="1050" noProof="1">
                <a:solidFill>
                  <a:srgbClr val="5C6B73"/>
                </a:solidFill>
                <a:latin typeface="Liter"/>
                <a:ea typeface="Liter"/>
              </a:rPr>
              <a:t>ARIA DOCKER COMPOSE</a:t>
            </a:r>
          </a:p>
        </p:txBody>
      </p:sp>
      <p:sp>
        <p:nvSpPr>
          <p:cNvPr id="22" name="dsl:docker-bg"/>
          <p:cNvSpPr/>
          <p:nvPr/>
        </p:nvSpPr>
        <p:spPr>
          <a:xfrm>
            <a:off x="7048500" y="1333500"/>
            <a:ext cx="4572000" cy="1333500"/>
          </a:xfrm>
          <a:prstGeom prst="rect">
            <a:avLst/>
          </a:prstGeom>
          <a:solidFill>
            <a:srgbClr val="F5F5F2"/>
          </a:solidFill>
          <a:ln w="12700">
            <a:solidFill>
              <a:srgbClr val="D4A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docker-content"/>
          <p:cNvSpPr txBox="1"/>
          <p:nvPr/>
        </p:nvSpPr>
        <p:spPr>
          <a:xfrm>
            <a:off x="7239000" y="1428750"/>
            <a:ext cx="4191000" cy="1143000"/>
          </a:xfrm>
          <a:prstGeom prst="rect">
            <a:avLst/>
          </a:prstGeom>
          <a:noFill/>
        </p:spPr>
        <p:txBody>
          <a:bodyPr wrap="square" anchor="t">
            <a:noAutofit/>
          </a:bodyPr>
          <a:lstStyle/>
          <a:p>
            <a:pPr algn="l">
              <a:lnSpc>
                <a:spcPct val="150000"/>
              </a:lnSpc>
            </a:pPr>
            <a:r>
              <a:rPr b="1" sz="1125" noProof="1">
                <a:solidFill>
                  <a:srgbClr val="2B2D2F"/>
                </a:solidFill>
                <a:latin typeface="QuattrocentoSans"/>
                <a:ea typeface="QuattrocentoSans"/>
              </a:rPr>
              <a:t>Redis</a:t>
            </a:r>
            <a:r>
              <a:rPr sz="1125" noProof="1">
                <a:solidFill>
                  <a:srgbClr val="2B2D2F"/>
                </a:solidFill>
                <a:latin typeface="QuattrocentoSans"/>
                <a:ea typeface="QuattrocentoSans"/>
              </a:rPr>
              <a:t> — port 6380 (cache, cursors)</a:t>
            </a:r>
          </a:p>
          <a:p>
            <a:pPr algn="l">
              <a:lnSpc>
                <a:spcPct val="150000"/>
              </a:lnSpc>
            </a:pPr>
            <a:r>
              <a:rPr b="1" sz="1125" noProof="1">
                <a:solidFill>
                  <a:srgbClr val="2B2D2F"/>
                </a:solidFill>
                <a:latin typeface="QuattrocentoSans"/>
                <a:ea typeface="QuattrocentoSans"/>
              </a:rPr>
              <a:t>FastAPI</a:t>
            </a:r>
            <a:r>
              <a:rPr sz="1125" noProof="1">
                <a:solidFill>
                  <a:srgbClr val="2B2D2F"/>
                </a:solidFill>
                <a:latin typeface="QuattrocentoSans"/>
                <a:ea typeface="QuattrocentoSans"/>
              </a:rPr>
              <a:t> — port 8001 (backend API)</a:t>
            </a:r>
          </a:p>
          <a:p>
            <a:pPr algn="l">
              <a:lnSpc>
                <a:spcPct val="150000"/>
              </a:lnSpc>
            </a:pPr>
            <a:r>
              <a:rPr b="1" sz="1125" noProof="1">
                <a:solidFill>
                  <a:srgbClr val="2B2D2F"/>
                </a:solidFill>
                <a:latin typeface="QuattrocentoSans"/>
                <a:ea typeface="QuattrocentoSans"/>
              </a:rPr>
              <a:t>Worker</a:t>
            </a:r>
            <a:r>
              <a:rPr sz="1125" noProof="1">
                <a:solidFill>
                  <a:srgbClr val="2B2D2F"/>
                </a:solidFill>
                <a:latin typeface="QuattrocentoSans"/>
                <a:ea typeface="QuattrocentoSans"/>
              </a:rPr>
              <a:t> — async task processing</a:t>
            </a:r>
          </a:p>
          <a:p>
            <a:pPr algn="l">
              <a:lnSpc>
                <a:spcPct val="150000"/>
              </a:lnSpc>
            </a:pPr>
            <a:r>
              <a:rPr b="1" sz="1125" noProof="1">
                <a:solidFill>
                  <a:srgbClr val="2B2D2F"/>
                </a:solidFill>
                <a:latin typeface="QuattrocentoSans"/>
                <a:ea typeface="QuattrocentoSans"/>
              </a:rPr>
              <a:t>Next.js</a:t>
            </a:r>
            <a:r>
              <a:rPr sz="1125" noProof="1">
                <a:solidFill>
                  <a:srgbClr val="2B2D2F"/>
                </a:solidFill>
                <a:latin typeface="QuattrocentoSans"/>
                <a:ea typeface="QuattrocentoSans"/>
              </a:rPr>
              <a:t> — port 3001 (frontend)</a:t>
            </a:r>
          </a:p>
        </p:txBody>
      </p:sp>
      <p:sp>
        <p:nvSpPr>
          <p:cNvPr id="24" name="dsl:monitored-label"/>
          <p:cNvSpPr txBox="1"/>
          <p:nvPr/>
        </p:nvSpPr>
        <p:spPr>
          <a:xfrm>
            <a:off x="7048500" y="2724150"/>
            <a:ext cx="2857500" cy="228600"/>
          </a:xfrm>
          <a:prstGeom prst="rect">
            <a:avLst/>
          </a:prstGeom>
          <a:noFill/>
        </p:spPr>
        <p:txBody>
          <a:bodyPr wrap="none" anchor="ctr">
            <a:noAutofit/>
          </a:bodyPr>
          <a:lstStyle/>
          <a:p>
            <a:pPr algn="l"/>
            <a:r>
              <a:rPr b="1" sz="1050" noProof="1">
                <a:solidFill>
                  <a:srgbClr val="5C6B73"/>
                </a:solidFill>
                <a:latin typeface="Liter"/>
                <a:ea typeface="Liter"/>
              </a:rPr>
              <a:t>MONITORED VMs</a:t>
            </a:r>
          </a:p>
        </p:txBody>
      </p:sp>
      <p:sp>
        <p:nvSpPr>
          <p:cNvPr id="25" name="dsl:monitored-bg"/>
          <p:cNvSpPr/>
          <p:nvPr/>
        </p:nvSpPr>
        <p:spPr>
          <a:xfrm>
            <a:off x="7048500" y="3009900"/>
            <a:ext cx="4572000" cy="685800"/>
          </a:xfrm>
          <a:prstGeom prst="rect">
            <a:avLst/>
          </a:prstGeom>
          <a:solidFill>
            <a:srgbClr val="F5F5F2"/>
          </a:solidFill>
          <a:ln w="12700">
            <a:solidFill>
              <a:srgbClr val="5C6B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monitored-content"/>
          <p:cNvSpPr txBox="1"/>
          <p:nvPr/>
        </p:nvSpPr>
        <p:spPr>
          <a:xfrm>
            <a:off x="7239000" y="3086100"/>
            <a:ext cx="4191000" cy="533400"/>
          </a:xfrm>
          <a:prstGeom prst="rect">
            <a:avLst/>
          </a:prstGeom>
          <a:noFill/>
        </p:spPr>
        <p:txBody>
          <a:bodyPr wrap="square" anchor="t">
            <a:noAutofit/>
          </a:bodyPr>
          <a:lstStyle/>
          <a:p>
            <a:pPr algn="l">
              <a:lnSpc>
                <a:spcPct val="150000"/>
              </a:lnSpc>
            </a:pPr>
            <a:r>
              <a:rPr sz="1125" noProof="1">
                <a:solidFill>
                  <a:srgbClr val="2B2D2F"/>
                </a:solidFill>
                <a:latin typeface="QuattrocentoSans"/>
                <a:ea typeface="QuattrocentoSans"/>
              </a:rPr>
              <a:t>Wazuh Agent  •  Filebeat  •  Suricata</a:t>
            </a:r>
          </a:p>
          <a:p>
            <a:pPr algn="l">
              <a:lnSpc>
                <a:spcPct val="150000"/>
              </a:lnSpc>
            </a:pPr>
            <a:r>
              <a:rPr sz="1125" noProof="1">
                <a:solidFill>
                  <a:srgbClr val="2B2D2F"/>
                </a:solidFill>
                <a:latin typeface="QuattrocentoSans"/>
                <a:ea typeface="QuattrocentoSans"/>
              </a:rPr>
              <a:t>Falco  •  Telegraf</a:t>
            </a:r>
          </a:p>
        </p:txBody>
      </p:sp>
      <p:sp>
        <p:nvSpPr>
          <p:cNvPr id="27" name="dsl:network-label"/>
          <p:cNvSpPr txBox="1"/>
          <p:nvPr/>
        </p:nvSpPr>
        <p:spPr>
          <a:xfrm>
            <a:off x="571500" y="3714750"/>
            <a:ext cx="2857500" cy="228600"/>
          </a:xfrm>
          <a:prstGeom prst="rect">
            <a:avLst/>
          </a:prstGeom>
          <a:noFill/>
        </p:spPr>
        <p:txBody>
          <a:bodyPr wrap="none" anchor="ctr">
            <a:noAutofit/>
          </a:bodyPr>
          <a:lstStyle/>
          <a:p>
            <a:pPr algn="l"/>
            <a:r>
              <a:rPr b="1" sz="1050" noProof="1">
                <a:solidFill>
                  <a:srgbClr val="5C6B73"/>
                </a:solidFill>
                <a:latin typeface="Liter"/>
                <a:ea typeface="Liter"/>
              </a:rPr>
              <a:t>NETWORK TOPOLOGY</a:t>
            </a:r>
          </a:p>
        </p:txBody>
      </p:sp>
      <p:sp>
        <p:nvSpPr>
          <p:cNvPr id="28" name="dsl:network-bg"/>
          <p:cNvSpPr/>
          <p:nvPr/>
        </p:nvSpPr>
        <p:spPr>
          <a:xfrm>
            <a:off x="571500" y="4000500"/>
            <a:ext cx="6096000" cy="762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l:network-content"/>
          <p:cNvSpPr txBox="1"/>
          <p:nvPr/>
        </p:nvSpPr>
        <p:spPr>
          <a:xfrm>
            <a:off x="762000" y="4095750"/>
            <a:ext cx="5715000" cy="571500"/>
          </a:xfrm>
          <a:prstGeom prst="rect">
            <a:avLst/>
          </a:prstGeom>
          <a:noFill/>
        </p:spPr>
        <p:txBody>
          <a:bodyPr wrap="none" anchor="ctr">
            <a:noAutofit/>
          </a:bodyPr>
          <a:lstStyle/>
          <a:p>
            <a:pPr algn="l"/>
            <a:r>
              <a:rPr b="1" sz="1200" noProof="1">
                <a:solidFill>
                  <a:srgbClr val="2B2D2F"/>
                </a:solidFill>
                <a:latin typeface="QuattrocentoSans"/>
                <a:ea typeface="QuattrocentoSans"/>
              </a:rPr>
              <a:t>VPC</a:t>
            </a:r>
            <a:r>
              <a:rPr sz="1200" noProof="1">
                <a:solidFill>
                  <a:srgbClr val="2B2D2F"/>
                </a:solidFill>
                <a:latin typeface="QuattrocentoSans"/>
                <a:ea typeface="QuattrocentoSans"/>
              </a:rPr>
              <a:t> → Private Subnet → Security Groups → Elastic IP → Brain VM</a:t>
            </a:r>
          </a:p>
        </p:txBody>
      </p:sp>
      <p:sp>
        <p:nvSpPr>
          <p:cNvPr id="30" name="dsl:ports-label"/>
          <p:cNvSpPr txBox="1"/>
          <p:nvPr/>
        </p:nvSpPr>
        <p:spPr>
          <a:xfrm>
            <a:off x="7048500" y="3714750"/>
            <a:ext cx="2857500" cy="228600"/>
          </a:xfrm>
          <a:prstGeom prst="rect">
            <a:avLst/>
          </a:prstGeom>
          <a:noFill/>
        </p:spPr>
        <p:txBody>
          <a:bodyPr wrap="none" anchor="ctr">
            <a:noAutofit/>
          </a:bodyPr>
          <a:lstStyle/>
          <a:p>
            <a:pPr algn="l"/>
            <a:r>
              <a:rPr b="1" sz="1050" noProof="1">
                <a:solidFill>
                  <a:srgbClr val="5C6B73"/>
                </a:solidFill>
                <a:latin typeface="Liter"/>
                <a:ea typeface="Liter"/>
              </a:rPr>
              <a:t>KEY PORTS</a:t>
            </a:r>
          </a:p>
        </p:txBody>
      </p:sp>
      <p:sp>
        <p:nvSpPr>
          <p:cNvPr id="31" name="dsl:ports-bg"/>
          <p:cNvSpPr/>
          <p:nvPr/>
        </p:nvSpPr>
        <p:spPr>
          <a:xfrm>
            <a:off x="7048500" y="4000500"/>
            <a:ext cx="4572000" cy="762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ports-content"/>
          <p:cNvSpPr txBox="1"/>
          <p:nvPr/>
        </p:nvSpPr>
        <p:spPr>
          <a:xfrm>
            <a:off x="7239000" y="4095750"/>
            <a:ext cx="4191000" cy="571500"/>
          </a:xfrm>
          <a:prstGeom prst="rect">
            <a:avLst/>
          </a:prstGeom>
          <a:noFill/>
        </p:spPr>
        <p:txBody>
          <a:bodyPr wrap="none" anchor="ctr">
            <a:noAutofit/>
          </a:bodyPr>
          <a:lstStyle/>
          <a:p>
            <a:pPr algn="l"/>
            <a:r>
              <a:rPr sz="975" noProof="1">
                <a:solidFill>
                  <a:srgbClr val="2B2D2F"/>
                </a:solidFill>
                <a:latin typeface="QuattrocentoSans"/>
                <a:ea typeface="QuattrocentoSans"/>
              </a:rPr>
              <a:t>9200 ES / 5601 Kibana / 6380 Redis / 8001 API / 3001 UI / 55000 Wazuh</a:t>
            </a:r>
          </a:p>
        </p:txBody>
      </p:sp>
      <p:sp>
        <p:nvSpPr>
          <p:cNvPr id="33" name="dsl:order-bg"/>
          <p:cNvSpPr/>
          <p:nvPr/>
        </p:nvSpPr>
        <p:spPr>
          <a:xfrm>
            <a:off x="571500" y="4953000"/>
            <a:ext cx="11049000"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order-text"/>
          <p:cNvSpPr txBox="1"/>
          <p:nvPr/>
        </p:nvSpPr>
        <p:spPr>
          <a:xfrm>
            <a:off x="762000" y="4953000"/>
            <a:ext cx="10668000" cy="571500"/>
          </a:xfrm>
          <a:prstGeom prst="rect">
            <a:avLst/>
          </a:prstGeom>
          <a:noFill/>
        </p:spPr>
        <p:txBody>
          <a:bodyPr wrap="none" anchor="ctr">
            <a:noAutofit/>
          </a:bodyPr>
          <a:lstStyle/>
          <a:p>
            <a:pPr algn="ctr"/>
            <a:r>
              <a:rPr b="1" sz="1200" noProof="1">
                <a:solidFill>
                  <a:srgbClr val="FFFFFF"/>
                </a:solidFill>
                <a:latin typeface="QuattrocentoSans"/>
                <a:ea typeface="QuattrocentoSans"/>
              </a:rPr>
              <a:t>Deliberate Installation Order:</a:t>
            </a:r>
            <a:r>
              <a:rPr sz="1200" noProof="1">
                <a:solidFill>
                  <a:srgbClr val="FFFFFF"/>
                </a:solidFill>
                <a:latin typeface="QuattrocentoSans"/>
                <a:ea typeface="QuattrocentoSans"/>
              </a:rPr>
              <a:t> Search core first → Security tools → Detection rules → ARIA stack → Agents</a:t>
            </a:r>
          </a:p>
        </p:txBody>
      </p:sp>
      <p:sp>
        <p:nvSpPr>
          <p:cNvPr id="35"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36"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8001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CI/CD &amp; Infrastructure Automation</a:t>
            </a:r>
          </a:p>
        </p:txBody>
      </p:sp>
      <p:sp>
        <p:nvSpPr>
          <p:cNvPr id="14" name="dsl:ref-note"/>
          <p:cNvSpPr txBox="1"/>
          <p:nvPr/>
        </p:nvSpPr>
        <p:spPr>
          <a:xfrm>
            <a:off x="8572500" y="552450"/>
            <a:ext cx="30480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BRAIN_VM_SETUP.md</a:t>
            </a:r>
          </a:p>
        </p:txBody>
      </p:sp>
      <p:sp>
        <p:nvSpPr>
          <p:cNvPr id="15" name="dsl:scripts-label"/>
          <p:cNvSpPr txBox="1"/>
          <p:nvPr/>
        </p:nvSpPr>
        <p:spPr>
          <a:xfrm>
            <a:off x="571500" y="1047750"/>
            <a:ext cx="3810000" cy="228600"/>
          </a:xfrm>
          <a:prstGeom prst="rect">
            <a:avLst/>
          </a:prstGeom>
          <a:noFill/>
        </p:spPr>
        <p:txBody>
          <a:bodyPr wrap="none" anchor="ctr">
            <a:noAutofit/>
          </a:bodyPr>
          <a:lstStyle/>
          <a:p>
            <a:pPr algn="l"/>
            <a:r>
              <a:rPr b="1" sz="1050" noProof="1">
                <a:solidFill>
                  <a:srgbClr val="5C6B73"/>
                </a:solidFill>
                <a:latin typeface="Liter"/>
                <a:ea typeface="Liter"/>
              </a:rPr>
              <a:t>DEPLOYMENT SCRIPTS</a:t>
            </a:r>
          </a:p>
        </p:txBody>
      </p:sp>
      <p:graphicFrame>
        <p:nvGraphicFramePr>
          <p:cNvPr id="16" name="dsl:scripts-table"/>
          <p:cNvGraphicFramePr>
            <a:graphicFrameLocks noGrp="1"/>
          </p:cNvGraphicFramePr>
          <p:nvPr/>
        </p:nvGraphicFramePr>
        <p:xfrm>
          <a:off x="571500" y="1352550"/>
          <a:ext cx="11049000" cy="2571745"/>
        </p:xfrm>
        <a:graphic>
          <a:graphicData uri="http://schemas.openxmlformats.org/drawingml/2006/table">
            <a:tbl>
              <a:tblPr firstRow="0" bandRow="0" lastRow="0" firstCol="0" lastCol="0" bandCol="0">
                <a:tableStyleId>{2D5ABB26-0587-4C30-8999-92F81FD0307C}</a:tableStyleId>
              </a:tblPr>
              <a:tblGrid>
                <a:gridCol w="2762250"/>
                <a:gridCol w="8286750"/>
              </a:tblGrid>
              <a:tr h="372903">
                <a:tc>
                  <a:txBody>
                    <a:bodyPr wrap="square" anchor="ctr">
                      <a:noAutofit/>
                    </a:bodyPr>
                    <a:lstStyle/>
                    <a:p>
                      <a:pPr algn="ctr"/>
                      <a:r>
                        <a:rPr sz="1050" noProof="1" b="1">
                          <a:solidFill>
                            <a:srgbClr val="FFFFFF"/>
                          </a:solidFill>
                          <a:latin typeface="QuattrocentoSans"/>
                          <a:ea typeface="QuattrocentoSans"/>
                        </a:rPr>
                        <a:t>Script</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c>
                  <a:txBody>
                    <a:bodyPr wrap="square" anchor="ctr">
                      <a:noAutofit/>
                    </a:bodyPr>
                    <a:lstStyle/>
                    <a:p>
                      <a:pPr algn="ctr"/>
                      <a:r>
                        <a:rPr sz="1050" noProof="1" b="1">
                          <a:solidFill>
                            <a:srgbClr val="FFFFFF"/>
                          </a:solidFill>
                          <a:latin typeface="QuattrocentoSans"/>
                          <a:ea typeface="QuattrocentoSans"/>
                        </a:rPr>
                        <a:t>Purpose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r>
              <a:tr h="372903">
                <a:tc>
                  <a:txBody>
                    <a:bodyPr wrap="square" anchor="ctr">
                      <a:noAutofit/>
                    </a:bodyPr>
                    <a:lstStyle/>
                    <a:p>
                      <a:pPr algn="ctr"/>
                      <a:r>
                        <a:rPr sz="1050" noProof="1" b="1">
                          <a:solidFill>
                            <a:srgbClr val="2B2D2F"/>
                          </a:solidFill>
                          <a:latin typeface="QuattrocentoSans"/>
                          <a:ea typeface="QuattrocentoSans"/>
                        </a:rPr>
                        <a:t>siem_setup.sh</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Elasticsearch + Kibana + Filebeat with TLS encryption</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372903">
                <a:tc>
                  <a:txBody>
                    <a:bodyPr wrap="square" anchor="ctr">
                      <a:noAutofit/>
                    </a:bodyPr>
                    <a:lstStyle/>
                    <a:p>
                      <a:pPr algn="ctr"/>
                      <a:r>
                        <a:rPr sz="1050" noProof="1" b="1">
                          <a:solidFill>
                            <a:srgbClr val="2B2D2F"/>
                          </a:solidFill>
                          <a:latin typeface="QuattrocentoSans"/>
                          <a:ea typeface="QuattrocentoSans"/>
                        </a:rPr>
                        <a:t>wazuh_setup.sh</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Wazuh Manager 4.5.4 with agent registration</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r h="372903">
                <a:tc>
                  <a:txBody>
                    <a:bodyPr wrap="square" anchor="ctr">
                      <a:noAutofit/>
                    </a:bodyPr>
                    <a:lstStyle/>
                    <a:p>
                      <a:pPr algn="ctr"/>
                      <a:r>
                        <a:rPr sz="1050" noProof="1" b="1">
                          <a:solidFill>
                            <a:srgbClr val="2B2D2F"/>
                          </a:solidFill>
                          <a:latin typeface="QuattrocentoSans"/>
                          <a:ea typeface="QuattrocentoSans"/>
                        </a:rPr>
                        <a:t>suricata_setup.sh</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NIDS with automatic interface detection</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372903">
                <a:tc>
                  <a:txBody>
                    <a:bodyPr wrap="square" anchor="ctr">
                      <a:noAutofit/>
                    </a:bodyPr>
                    <a:lstStyle/>
                    <a:p>
                      <a:pPr algn="ctr"/>
                      <a:r>
                        <a:rPr sz="1050" noProof="1" b="1">
                          <a:solidFill>
                            <a:srgbClr val="2B2D2F"/>
                          </a:solidFill>
                          <a:latin typeface="QuattrocentoSans"/>
                          <a:ea typeface="QuattrocentoSans"/>
                        </a:rPr>
                        <a:t>setup-falco.sh</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Runtime threat detection with Falcosidekick</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r h="372903">
                <a:tc>
                  <a:txBody>
                    <a:bodyPr wrap="square" anchor="ctr">
                      <a:noAutofit/>
                    </a:bodyPr>
                    <a:lstStyle/>
                    <a:p>
                      <a:pPr algn="ctr"/>
                      <a:r>
                        <a:rPr sz="1050" noProof="1" b="1">
                          <a:solidFill>
                            <a:srgbClr val="2B2D2F"/>
                          </a:solidFill>
                          <a:latin typeface="QuattrocentoSans"/>
                          <a:ea typeface="QuattrocentoSans"/>
                        </a:rPr>
                        <a:t>telegraf_setup.sh</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System metrics collection</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334327">
                <a:tc>
                  <a:txBody>
                    <a:bodyPr wrap="square" anchor="ctr">
                      <a:noAutofit/>
                    </a:bodyPr>
                    <a:lstStyle/>
                    <a:p>
                      <a:pPr algn="ctr"/>
                      <a:r>
                        <a:rPr sz="1050" noProof="1" b="1">
                          <a:solidFill>
                            <a:srgbClr val="2B2D2F"/>
                          </a:solidFill>
                          <a:latin typeface="QuattrocentoSans"/>
                          <a:ea typeface="QuattrocentoSans"/>
                        </a:rPr>
                        <a:t>hardening_setup.sh</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Fail2Ban + UFW + SSH hardening</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bl>
          </a:graphicData>
        </a:graphic>
      </p:graphicFrame>
      <p:sp>
        <p:nvSpPr>
          <p:cNvPr id="17" name="dsl:methods-label"/>
          <p:cNvSpPr txBox="1"/>
          <p:nvPr/>
        </p:nvSpPr>
        <p:spPr>
          <a:xfrm>
            <a:off x="571500" y="4114800"/>
            <a:ext cx="3810000" cy="228600"/>
          </a:xfrm>
          <a:prstGeom prst="rect">
            <a:avLst/>
          </a:prstGeom>
          <a:noFill/>
        </p:spPr>
        <p:txBody>
          <a:bodyPr wrap="none" anchor="ctr">
            <a:noAutofit/>
          </a:bodyPr>
          <a:lstStyle/>
          <a:p>
            <a:pPr algn="l"/>
            <a:r>
              <a:rPr b="1" sz="1050" noProof="1">
                <a:solidFill>
                  <a:srgbClr val="5C6B73"/>
                </a:solidFill>
                <a:latin typeface="Liter"/>
                <a:ea typeface="Liter"/>
              </a:rPr>
              <a:t>DEPLOYMENT METHODS</a:t>
            </a:r>
          </a:p>
        </p:txBody>
      </p:sp>
      <p:sp>
        <p:nvSpPr>
          <p:cNvPr id="18" name="dsl:docker-card-bg"/>
          <p:cNvSpPr/>
          <p:nvPr/>
        </p:nvSpPr>
        <p:spPr>
          <a:xfrm>
            <a:off x="571500" y="4419600"/>
            <a:ext cx="3429000" cy="1238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docker-card-accent"/>
          <p:cNvSpPr/>
          <p:nvPr/>
        </p:nvSpPr>
        <p:spPr>
          <a:xfrm>
            <a:off x="571500" y="4419600"/>
            <a:ext cx="38100" cy="12382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docker-card-title"/>
          <p:cNvSpPr txBox="1"/>
          <p:nvPr/>
        </p:nvSpPr>
        <p:spPr>
          <a:xfrm>
            <a:off x="762000" y="4495800"/>
            <a:ext cx="3048000" cy="247650"/>
          </a:xfrm>
          <a:prstGeom prst="rect">
            <a:avLst/>
          </a:prstGeom>
          <a:noFill/>
        </p:spPr>
        <p:txBody>
          <a:bodyPr wrap="none" anchor="ctr">
            <a:noAutofit/>
          </a:bodyPr>
          <a:lstStyle/>
          <a:p>
            <a:pPr algn="l"/>
            <a:r>
              <a:rPr b="1" sz="1350" noProof="1">
                <a:solidFill>
                  <a:srgbClr val="2D6A6A"/>
                </a:solidFill>
                <a:latin typeface="Liter"/>
                <a:ea typeface="Liter"/>
              </a:rPr>
              <a:t>Docker Compose</a:t>
            </a:r>
          </a:p>
        </p:txBody>
      </p:sp>
      <p:sp>
        <p:nvSpPr>
          <p:cNvPr id="21" name="dsl:docker-card-desc"/>
          <p:cNvSpPr txBox="1"/>
          <p:nvPr/>
        </p:nvSpPr>
        <p:spPr>
          <a:xfrm>
            <a:off x="762000" y="4781550"/>
            <a:ext cx="3048000" cy="762000"/>
          </a:xfrm>
          <a:prstGeom prst="rect">
            <a:avLst/>
          </a:prstGeom>
          <a:noFill/>
        </p:spPr>
        <p:txBody>
          <a:bodyPr wrap="square" anchor="t">
            <a:noAutofit/>
          </a:bodyPr>
          <a:lstStyle/>
          <a:p>
            <a:pPr algn="l"/>
            <a:r>
              <a:rPr sz="1125" noProof="1">
                <a:solidFill>
                  <a:srgbClr val="2B2D2F"/>
                </a:solidFill>
                <a:latin typeface="QuattrocentoSans"/>
                <a:ea typeface="QuattrocentoSans"/>
              </a:rPr>
              <a:t>ARIA stack: Redis, FastAPI, Worker, Next.js with orchestrated startup</a:t>
            </a:r>
          </a:p>
        </p:txBody>
      </p:sp>
      <p:sp>
        <p:nvSpPr>
          <p:cNvPr id="22" name="dsl:ansible-card-bg"/>
          <p:cNvSpPr/>
          <p:nvPr/>
        </p:nvSpPr>
        <p:spPr>
          <a:xfrm>
            <a:off x="4191000" y="4419600"/>
            <a:ext cx="3429000" cy="1238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ansible-card-accent"/>
          <p:cNvSpPr/>
          <p:nvPr/>
        </p:nvSpPr>
        <p:spPr>
          <a:xfrm>
            <a:off x="4191000" y="4419600"/>
            <a:ext cx="38100" cy="12382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ansible-card-title"/>
          <p:cNvSpPr txBox="1"/>
          <p:nvPr/>
        </p:nvSpPr>
        <p:spPr>
          <a:xfrm>
            <a:off x="4381500" y="4495800"/>
            <a:ext cx="3048000" cy="247650"/>
          </a:xfrm>
          <a:prstGeom prst="rect">
            <a:avLst/>
          </a:prstGeom>
          <a:noFill/>
        </p:spPr>
        <p:txBody>
          <a:bodyPr wrap="none" anchor="ctr">
            <a:noAutofit/>
          </a:bodyPr>
          <a:lstStyle/>
          <a:p>
            <a:pPr algn="l"/>
            <a:r>
              <a:rPr b="1" sz="1350" noProof="1">
                <a:solidFill>
                  <a:srgbClr val="2D6A6A"/>
                </a:solidFill>
                <a:latin typeface="Liter"/>
                <a:ea typeface="Liter"/>
              </a:rPr>
              <a:t>Ansible Playbooks</a:t>
            </a:r>
          </a:p>
        </p:txBody>
      </p:sp>
      <p:sp>
        <p:nvSpPr>
          <p:cNvPr id="25" name="dsl:ansible-card-desc"/>
          <p:cNvSpPr txBox="1"/>
          <p:nvPr/>
        </p:nvSpPr>
        <p:spPr>
          <a:xfrm>
            <a:off x="4381500" y="4781550"/>
            <a:ext cx="3048000" cy="762000"/>
          </a:xfrm>
          <a:prstGeom prst="rect">
            <a:avLst/>
          </a:prstGeom>
          <a:noFill/>
        </p:spPr>
        <p:txBody>
          <a:bodyPr wrap="square" anchor="t">
            <a:noAutofit/>
          </a:bodyPr>
          <a:lstStyle/>
          <a:p>
            <a:pPr algn="l"/>
            <a:r>
              <a:rPr sz="1125" noProof="1">
                <a:solidFill>
                  <a:srgbClr val="2B2D2F"/>
                </a:solidFill>
                <a:latin typeface="QuattrocentoSans"/>
                <a:ea typeface="QuattrocentoSans"/>
              </a:rPr>
              <a:t>Mass deployment to monitored VMs with idempotent configuration</a:t>
            </a:r>
          </a:p>
        </p:txBody>
      </p:sp>
      <p:sp>
        <p:nvSpPr>
          <p:cNvPr id="26" name="dsl:order-card-bg"/>
          <p:cNvSpPr/>
          <p:nvPr/>
        </p:nvSpPr>
        <p:spPr>
          <a:xfrm>
            <a:off x="7810500" y="4419600"/>
            <a:ext cx="3810000" cy="1238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order-card-accent"/>
          <p:cNvSpPr/>
          <p:nvPr/>
        </p:nvSpPr>
        <p:spPr>
          <a:xfrm>
            <a:off x="7810500" y="4419600"/>
            <a:ext cx="38100" cy="12382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order-card-title"/>
          <p:cNvSpPr txBox="1"/>
          <p:nvPr/>
        </p:nvSpPr>
        <p:spPr>
          <a:xfrm>
            <a:off x="8001000" y="4495800"/>
            <a:ext cx="3429000" cy="247650"/>
          </a:xfrm>
          <a:prstGeom prst="rect">
            <a:avLst/>
          </a:prstGeom>
          <a:noFill/>
        </p:spPr>
        <p:txBody>
          <a:bodyPr wrap="none" anchor="ctr">
            <a:noAutofit/>
          </a:bodyPr>
          <a:lstStyle/>
          <a:p>
            <a:pPr algn="l"/>
            <a:r>
              <a:rPr b="1" sz="1350" noProof="1">
                <a:solidFill>
                  <a:srgbClr val="2D6A6A"/>
                </a:solidFill>
                <a:latin typeface="Liter"/>
                <a:ea typeface="Liter"/>
              </a:rPr>
              <a:t>Installation Ordering</a:t>
            </a:r>
          </a:p>
        </p:txBody>
      </p:sp>
      <p:sp>
        <p:nvSpPr>
          <p:cNvPr id="29" name="dsl:order-card-desc"/>
          <p:cNvSpPr txBox="1"/>
          <p:nvPr/>
        </p:nvSpPr>
        <p:spPr>
          <a:xfrm>
            <a:off x="8001000" y="4781550"/>
            <a:ext cx="3429000" cy="762000"/>
          </a:xfrm>
          <a:prstGeom prst="rect">
            <a:avLst/>
          </a:prstGeom>
          <a:noFill/>
        </p:spPr>
        <p:txBody>
          <a:bodyPr wrap="square" anchor="t">
            <a:noAutofit/>
          </a:bodyPr>
          <a:lstStyle/>
          <a:p>
            <a:pPr algn="l"/>
            <a:r>
              <a:rPr sz="1125" noProof="1">
                <a:solidFill>
                  <a:srgbClr val="2B2D2F"/>
                </a:solidFill>
                <a:latin typeface="QuattrocentoSans"/>
                <a:ea typeface="QuattrocentoSans"/>
              </a:rPr>
              <a:t>Search core → Security tools → Detection rules → ARIA stack → Agents</a:t>
            </a:r>
          </a:p>
        </p:txBody>
      </p:sp>
      <p:sp>
        <p:nvSpPr>
          <p:cNvPr id="30"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31"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7-number-decorative"/>
          <p:cNvSpPr txBox="1"/>
          <p:nvPr/>
        </p:nvSpPr>
        <p:spPr>
          <a:xfrm>
            <a:off x="381000" y="571500"/>
            <a:ext cx="4381500" cy="2476500"/>
          </a:xfrm>
          <a:prstGeom prst="rect">
            <a:avLst/>
          </a:prstGeom>
          <a:noFill/>
        </p:spPr>
        <p:txBody>
          <a:bodyPr wrap="none" anchor="t">
            <a:noAutofit/>
          </a:bodyPr>
          <a:lstStyle/>
          <a:p>
            <a:pPr algn="l"/>
            <a:r>
              <a:rPr sz="15000" noProof="1">
                <a:solidFill>
                  <a:srgbClr val="2D6A6A"/>
                </a:solidFill>
                <a:latin typeface="Liter"/>
                <a:ea typeface="Liter"/>
              </a:rPr>
              <a:t>07</a:t>
            </a:r>
          </a:p>
        </p:txBody>
      </p:sp>
      <p:sp>
        <p:nvSpPr>
          <p:cNvPr id="3" name="dsl:ch7-accent-bar"/>
          <p:cNvSpPr/>
          <p:nvPr/>
        </p:nvSpPr>
        <p:spPr>
          <a:xfrm>
            <a:off x="571500" y="323850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7-title"/>
          <p:cNvSpPr txBox="1"/>
          <p:nvPr/>
        </p:nvSpPr>
        <p:spPr>
          <a:xfrm>
            <a:off x="571500" y="3429000"/>
            <a:ext cx="8572500" cy="523875"/>
          </a:xfrm>
          <a:prstGeom prst="rect">
            <a:avLst/>
          </a:prstGeom>
          <a:noFill/>
        </p:spPr>
        <p:txBody>
          <a:bodyPr wrap="none" anchor="ctr">
            <a:noAutofit/>
          </a:bodyPr>
          <a:lstStyle/>
          <a:p>
            <a:pPr algn="l"/>
            <a:r>
              <a:rPr sz="2850" noProof="1">
                <a:solidFill>
                  <a:srgbClr val="2D6A6A"/>
                </a:solidFill>
                <a:latin typeface="Liter"/>
                <a:ea typeface="Liter"/>
              </a:rPr>
              <a:t>07 — Security &amp; Validation</a:t>
            </a:r>
          </a:p>
        </p:txBody>
      </p:sp>
      <p:sp>
        <p:nvSpPr>
          <p:cNvPr id="5" name="dsl:ch7-subtitle"/>
          <p:cNvSpPr txBox="1"/>
          <p:nvPr/>
        </p:nvSpPr>
        <p:spPr>
          <a:xfrm>
            <a:off x="571500" y="4095750"/>
            <a:ext cx="8572500" cy="333375"/>
          </a:xfrm>
          <a:prstGeom prst="rect">
            <a:avLst/>
          </a:prstGeom>
          <a:noFill/>
        </p:spPr>
        <p:txBody>
          <a:bodyPr wrap="none" anchor="ctr">
            <a:noAutofit/>
          </a:bodyPr>
          <a:lstStyle/>
          <a:p>
            <a:pPr algn="l"/>
            <a:r>
              <a:rPr sz="1500" noProof="1">
                <a:solidFill>
                  <a:srgbClr val="5C6B73"/>
                </a:solidFill>
                <a:latin typeface="QuattrocentoSans"/>
                <a:ea typeface="QuattrocentoSans"/>
              </a:rPr>
              <a:t>Security by design, validated by evidence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9525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Security by Design</a:t>
            </a:r>
          </a:p>
        </p:txBody>
      </p:sp>
      <p:sp>
        <p:nvSpPr>
          <p:cNvPr id="14" name="dsl:ref-note"/>
          <p:cNvSpPr txBox="1"/>
          <p:nvPr/>
        </p:nvSpPr>
        <p:spPr>
          <a:xfrm>
            <a:off x="8572500" y="552450"/>
            <a:ext cx="30480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Section 3.16</a:t>
            </a:r>
          </a:p>
        </p:txBody>
      </p:sp>
      <p:sp>
        <p:nvSpPr>
          <p:cNvPr id="15" name="dsl:c1-bg"/>
          <p:cNvSpPr/>
          <p:nvPr/>
        </p:nvSpPr>
        <p:spPr>
          <a:xfrm>
            <a:off x="571500" y="1123950"/>
            <a:ext cx="3552825" cy="24288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1-accent"/>
          <p:cNvSpPr/>
          <p:nvPr/>
        </p:nvSpPr>
        <p:spPr>
          <a:xfrm>
            <a:off x="571500" y="1123950"/>
            <a:ext cx="3552825"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1-icon|i=fas:eye-slash"/>
          <p:cNvSpPr/>
          <p:nvPr/>
        </p:nvSpPr>
        <p:spPr>
          <a:xfrm>
            <a:off x="762000" y="1341120"/>
            <a:ext cx="266700" cy="213360"/>
          </a:xfrm>
          <a:custGeom>
            <a:avLst/>
            <a:gdLst/>
            <a:ahLst/>
            <a:cxnLst/>
            <a:rect l="l" t="t" r="r" b="b"/>
            <a:pathLst>
              <a:path w="266700" h="213360">
                <a:moveTo>
                  <a:pt x="16168" y="2125"/>
                </a:moveTo>
                <a:cubicBezTo>
                  <a:pt x="11834" y="-1291"/>
                  <a:pt x="5542" y="-500"/>
                  <a:pt x="2125" y="3833"/>
                </a:cubicBezTo>
                <a:cubicBezTo>
                  <a:pt x="-1291" y="8167"/>
                  <a:pt x="-500" y="14460"/>
                  <a:pt x="3833" y="17877"/>
                </a:cubicBezTo>
                <a:lnTo>
                  <a:pt x="250531" y="211234"/>
                </a:lnTo>
                <a:cubicBezTo>
                  <a:pt x="254865" y="214651"/>
                  <a:pt x="261157" y="213860"/>
                  <a:pt x="264574" y="209526"/>
                </a:cubicBezTo>
                <a:cubicBezTo>
                  <a:pt x="267991" y="205192"/>
                  <a:pt x="267200" y="198899"/>
                  <a:pt x="262866" y="195482"/>
                </a:cubicBezTo>
                <a:lnTo>
                  <a:pt x="219027" y="161145"/>
                </a:lnTo>
                <a:cubicBezTo>
                  <a:pt x="235529" y="144226"/>
                  <a:pt x="246697" y="125265"/>
                  <a:pt x="252323" y="111805"/>
                </a:cubicBezTo>
                <a:cubicBezTo>
                  <a:pt x="253698" y="108513"/>
                  <a:pt x="253698" y="104846"/>
                  <a:pt x="252323" y="101554"/>
                </a:cubicBezTo>
                <a:cubicBezTo>
                  <a:pt x="246114" y="86677"/>
                  <a:pt x="233070" y="65008"/>
                  <a:pt x="213568" y="46922"/>
                </a:cubicBezTo>
                <a:cubicBezTo>
                  <a:pt x="193982" y="28670"/>
                  <a:pt x="167020" y="13335"/>
                  <a:pt x="133350" y="13335"/>
                </a:cubicBezTo>
                <a:cubicBezTo>
                  <a:pt x="104929" y="13335"/>
                  <a:pt x="81260" y="24294"/>
                  <a:pt x="62799" y="38671"/>
                </a:cubicBezTo>
                <a:lnTo>
                  <a:pt x="16168" y="2125"/>
                </a:lnTo>
                <a:close/>
                <a:moveTo>
                  <a:pt x="79093" y="51423"/>
                </a:moveTo>
                <a:cubicBezTo>
                  <a:pt x="94178" y="40713"/>
                  <a:pt x="112305" y="33337"/>
                  <a:pt x="133350" y="33337"/>
                </a:cubicBezTo>
                <a:cubicBezTo>
                  <a:pt x="160520" y="33337"/>
                  <a:pt x="182856" y="45672"/>
                  <a:pt x="199983" y="61549"/>
                </a:cubicBezTo>
                <a:cubicBezTo>
                  <a:pt x="216027" y="76467"/>
                  <a:pt x="227111" y="94178"/>
                  <a:pt x="232779" y="106680"/>
                </a:cubicBezTo>
                <a:cubicBezTo>
                  <a:pt x="227528" y="118348"/>
                  <a:pt x="217527" y="134516"/>
                  <a:pt x="203233" y="148726"/>
                </a:cubicBezTo>
                <a:lnTo>
                  <a:pt x="180814" y="131141"/>
                </a:lnTo>
                <a:cubicBezTo>
                  <a:pt x="184606" y="123807"/>
                  <a:pt x="186731" y="115514"/>
                  <a:pt x="186731" y="106680"/>
                </a:cubicBezTo>
                <a:cubicBezTo>
                  <a:pt x="186731" y="77217"/>
                  <a:pt x="162853" y="53340"/>
                  <a:pt x="133391" y="53340"/>
                </a:cubicBezTo>
                <a:cubicBezTo>
                  <a:pt x="119973" y="53340"/>
                  <a:pt x="107680" y="58298"/>
                  <a:pt x="98303" y="66466"/>
                </a:cubicBezTo>
                <a:lnTo>
                  <a:pt x="79093" y="51423"/>
                </a:lnTo>
                <a:close/>
                <a:moveTo>
                  <a:pt x="164562" y="118431"/>
                </a:moveTo>
                <a:lnTo>
                  <a:pt x="130599" y="91803"/>
                </a:lnTo>
                <a:cubicBezTo>
                  <a:pt x="132349" y="88261"/>
                  <a:pt x="133350" y="84218"/>
                  <a:pt x="133350" y="80009"/>
                </a:cubicBezTo>
                <a:cubicBezTo>
                  <a:pt x="133350" y="77718"/>
                  <a:pt x="136267" y="75467"/>
                  <a:pt x="132516" y="73342"/>
                </a:cubicBezTo>
                <a:cubicBezTo>
                  <a:pt x="135433" y="73342"/>
                  <a:pt x="133058" y="73342"/>
                  <a:pt x="133350" y="73342"/>
                </a:cubicBezTo>
                <a:cubicBezTo>
                  <a:pt x="151768" y="73342"/>
                  <a:pt x="166687" y="88261"/>
                  <a:pt x="166687" y="106679"/>
                </a:cubicBezTo>
                <a:cubicBezTo>
                  <a:pt x="166687" y="110805"/>
                  <a:pt x="165937" y="114764"/>
                  <a:pt x="164562" y="118431"/>
                </a:cubicBezTo>
                <a:close/>
                <a:moveTo>
                  <a:pt x="185939" y="186481"/>
                </a:moveTo>
                <a:lnTo>
                  <a:pt x="168479" y="172729"/>
                </a:lnTo>
                <a:cubicBezTo>
                  <a:pt x="157853" y="177272"/>
                  <a:pt x="146143" y="180022"/>
                  <a:pt x="133350" y="180022"/>
                </a:cubicBezTo>
                <a:cubicBezTo>
                  <a:pt x="106179" y="180022"/>
                  <a:pt x="83843" y="167687"/>
                  <a:pt x="66716" y="151810"/>
                </a:cubicBezTo>
                <a:cubicBezTo>
                  <a:pt x="50673" y="136892"/>
                  <a:pt x="39588" y="119181"/>
                  <a:pt x="33920" y="106680"/>
                </a:cubicBezTo>
                <a:cubicBezTo>
                  <a:pt x="37379" y="99012"/>
                  <a:pt x="42880" y="89386"/>
                  <a:pt x="50339" y="79676"/>
                </a:cubicBezTo>
                <a:lnTo>
                  <a:pt x="34629" y="67300"/>
                </a:lnTo>
                <a:cubicBezTo>
                  <a:pt x="25128" y="79676"/>
                  <a:pt x="18335" y="92011"/>
                  <a:pt x="14376" y="101554"/>
                </a:cubicBezTo>
                <a:cubicBezTo>
                  <a:pt x="13001" y="104846"/>
                  <a:pt x="13001" y="108513"/>
                  <a:pt x="14376" y="111805"/>
                </a:cubicBezTo>
                <a:cubicBezTo>
                  <a:pt x="20585" y="126682"/>
                  <a:pt x="33629" y="148351"/>
                  <a:pt x="53131" y="166437"/>
                </a:cubicBezTo>
                <a:cubicBezTo>
                  <a:pt x="72717" y="184689"/>
                  <a:pt x="99679" y="200025"/>
                  <a:pt x="133350" y="200025"/>
                </a:cubicBezTo>
                <a:cubicBezTo>
                  <a:pt x="153269" y="200025"/>
                  <a:pt x="170813" y="194649"/>
                  <a:pt x="185939" y="186481"/>
                </a:cubicBezTo>
                <a:close/>
                <a:moveTo>
                  <a:pt x="149268" y="157603"/>
                </a:moveTo>
                <a:lnTo>
                  <a:pt x="125849" y="139184"/>
                </a:lnTo>
                <a:cubicBezTo>
                  <a:pt x="116056" y="136933"/>
                  <a:pt x="107888" y="130349"/>
                  <a:pt x="103471" y="121556"/>
                </a:cubicBezTo>
                <a:lnTo>
                  <a:pt x="80093" y="103137"/>
                </a:lnTo>
                <a:cubicBezTo>
                  <a:pt x="80926" y="104304"/>
                  <a:pt x="81343" y="105471"/>
                  <a:pt x="81343" y="106680"/>
                </a:cubicBezTo>
                <a:cubicBezTo>
                  <a:pt x="81343" y="136142"/>
                  <a:pt x="105221" y="160020"/>
                  <a:pt x="134683" y="160020"/>
                </a:cubicBezTo>
                <a:cubicBezTo>
                  <a:pt x="140225" y="160020"/>
                  <a:pt x="145559" y="159186"/>
                  <a:pt x="150602" y="157603"/>
                </a:cubicBezTo>
                <a:close/>
              </a:path>
            </a:pathLst>
          </a:custGeom>
          <a:solidFill>
            <a:srgbClr val="D4A373"/>
          </a:solidFill>
          <a:ln>
            <a:noFill/>
          </a:ln>
          <a:effectLst/>
        </p:spPr>
      </p:sp>
      <p:sp>
        <p:nvSpPr>
          <p:cNvPr id="18" name="dsl:c1-title"/>
          <p:cNvSpPr txBox="1"/>
          <p:nvPr/>
        </p:nvSpPr>
        <p:spPr>
          <a:xfrm>
            <a:off x="762000" y="1657350"/>
            <a:ext cx="3171825" cy="247650"/>
          </a:xfrm>
          <a:prstGeom prst="rect">
            <a:avLst/>
          </a:prstGeom>
          <a:noFill/>
        </p:spPr>
        <p:txBody>
          <a:bodyPr wrap="none" anchor="ctr">
            <a:noAutofit/>
          </a:bodyPr>
          <a:lstStyle/>
          <a:p>
            <a:pPr algn="l"/>
            <a:r>
              <a:rPr b="1" sz="1350" noProof="1">
                <a:solidFill>
                  <a:srgbClr val="2D6A6A"/>
                </a:solidFill>
                <a:latin typeface="Liter"/>
                <a:ea typeface="Liter"/>
              </a:rPr>
              <a:t>No Blind Execution</a:t>
            </a:r>
          </a:p>
        </p:txBody>
      </p:sp>
      <p:sp>
        <p:nvSpPr>
          <p:cNvPr id="19" name="dsl:c1-desc"/>
          <p:cNvSpPr txBox="1"/>
          <p:nvPr/>
        </p:nvSpPr>
        <p:spPr>
          <a:xfrm>
            <a:off x="762000" y="1962150"/>
            <a:ext cx="3171825" cy="1428750"/>
          </a:xfrm>
          <a:prstGeom prst="rect">
            <a:avLst/>
          </a:prstGeom>
          <a:noFill/>
        </p:spPr>
        <p:txBody>
          <a:bodyPr wrap="square" anchor="t">
            <a:noAutofit/>
          </a:bodyPr>
          <a:lstStyle/>
          <a:p>
            <a:pPr algn="l"/>
            <a:r>
              <a:rPr sz="1125" noProof="1">
                <a:solidFill>
                  <a:srgbClr val="2B2D2F"/>
                </a:solidFill>
                <a:latin typeface="QuattrocentoSans"/>
                <a:ea typeface="QuattrocentoSans"/>
              </a:rPr>
              <a:t>AI must produce a preview and risk classification before any action is taken. No automated remediation without structured output.</a:t>
            </a:r>
          </a:p>
        </p:txBody>
      </p:sp>
      <p:sp>
        <p:nvSpPr>
          <p:cNvPr id="20" name="dsl:c2-bg"/>
          <p:cNvSpPr/>
          <p:nvPr/>
        </p:nvSpPr>
        <p:spPr>
          <a:xfrm>
            <a:off x="4314825" y="1123950"/>
            <a:ext cx="3562350" cy="24288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c2-accent"/>
          <p:cNvSpPr/>
          <p:nvPr/>
        </p:nvSpPr>
        <p:spPr>
          <a:xfrm>
            <a:off x="4314825" y="1123950"/>
            <a:ext cx="3562350"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2-icon|i=fas:check-double"/>
          <p:cNvSpPr/>
          <p:nvPr/>
        </p:nvSpPr>
        <p:spPr>
          <a:xfrm>
            <a:off x="4521994" y="1314450"/>
            <a:ext cx="233362" cy="266700"/>
          </a:xfrm>
          <a:custGeom>
            <a:avLst/>
            <a:gdLst/>
            <a:ahLst/>
            <a:cxnLst/>
            <a:rect l="l" t="t" r="r" b="b"/>
            <a:pathLst>
              <a:path w="233362" h="266700">
                <a:moveTo>
                  <a:pt x="178459" y="45109"/>
                </a:moveTo>
                <a:cubicBezTo>
                  <a:pt x="184971" y="38598"/>
                  <a:pt x="184971" y="28024"/>
                  <a:pt x="178459" y="21513"/>
                </a:cubicBezTo>
                <a:cubicBezTo>
                  <a:pt x="171948" y="15001"/>
                  <a:pt x="161374" y="15001"/>
                  <a:pt x="154863" y="21513"/>
                </a:cubicBezTo>
                <a:lnTo>
                  <a:pt x="83343" y="93084"/>
                </a:lnTo>
                <a:lnTo>
                  <a:pt x="53444" y="63184"/>
                </a:lnTo>
                <a:cubicBezTo>
                  <a:pt x="46932" y="56673"/>
                  <a:pt x="36358" y="56673"/>
                  <a:pt x="29847" y="63184"/>
                </a:cubicBezTo>
                <a:cubicBezTo>
                  <a:pt x="23336" y="69696"/>
                  <a:pt x="23336" y="80270"/>
                  <a:pt x="29847" y="86781"/>
                </a:cubicBezTo>
                <a:lnTo>
                  <a:pt x="71519" y="128453"/>
                </a:lnTo>
                <a:cubicBezTo>
                  <a:pt x="78030" y="134964"/>
                  <a:pt x="88604" y="134964"/>
                  <a:pt x="95116" y="128453"/>
                </a:cubicBezTo>
                <a:lnTo>
                  <a:pt x="178459" y="45109"/>
                </a:lnTo>
                <a:close/>
                <a:moveTo>
                  <a:pt x="228466" y="111784"/>
                </a:moveTo>
                <a:cubicBezTo>
                  <a:pt x="234977" y="105273"/>
                  <a:pt x="234977" y="94699"/>
                  <a:pt x="228466" y="88188"/>
                </a:cubicBezTo>
                <a:cubicBezTo>
                  <a:pt x="221954" y="81676"/>
                  <a:pt x="211380" y="81676"/>
                  <a:pt x="204869" y="88188"/>
                </a:cubicBezTo>
                <a:lnTo>
                  <a:pt x="83343" y="209765"/>
                </a:lnTo>
                <a:lnTo>
                  <a:pt x="28441" y="154915"/>
                </a:lnTo>
                <a:cubicBezTo>
                  <a:pt x="21929" y="148403"/>
                  <a:pt x="11355" y="148403"/>
                  <a:pt x="4844" y="154915"/>
                </a:cubicBezTo>
                <a:cubicBezTo>
                  <a:pt x="-1666" y="161426"/>
                  <a:pt x="-1666" y="172000"/>
                  <a:pt x="4844" y="178511"/>
                </a:cubicBezTo>
                <a:lnTo>
                  <a:pt x="71519" y="245186"/>
                </a:lnTo>
                <a:cubicBezTo>
                  <a:pt x="78030" y="251698"/>
                  <a:pt x="88604" y="251698"/>
                  <a:pt x="95116" y="245186"/>
                </a:cubicBezTo>
                <a:lnTo>
                  <a:pt x="228466" y="111836"/>
                </a:lnTo>
                <a:close/>
              </a:path>
            </a:pathLst>
          </a:custGeom>
          <a:solidFill>
            <a:srgbClr val="D4A373"/>
          </a:solidFill>
          <a:ln>
            <a:noFill/>
          </a:ln>
          <a:effectLst/>
        </p:spPr>
      </p:sp>
      <p:sp>
        <p:nvSpPr>
          <p:cNvPr id="23" name="dsl:c2-title"/>
          <p:cNvSpPr txBox="1"/>
          <p:nvPr/>
        </p:nvSpPr>
        <p:spPr>
          <a:xfrm>
            <a:off x="4505325" y="1657350"/>
            <a:ext cx="3181350" cy="247650"/>
          </a:xfrm>
          <a:prstGeom prst="rect">
            <a:avLst/>
          </a:prstGeom>
          <a:noFill/>
        </p:spPr>
        <p:txBody>
          <a:bodyPr wrap="none" anchor="ctr">
            <a:noAutofit/>
          </a:bodyPr>
          <a:lstStyle/>
          <a:p>
            <a:pPr algn="l"/>
            <a:r>
              <a:rPr b="1" sz="1350" noProof="1">
                <a:solidFill>
                  <a:srgbClr val="2D6A6A"/>
                </a:solidFill>
                <a:latin typeface="Liter"/>
                <a:ea typeface="Liter"/>
              </a:rPr>
              <a:t>Approval Gate</a:t>
            </a:r>
          </a:p>
        </p:txBody>
      </p:sp>
      <p:sp>
        <p:nvSpPr>
          <p:cNvPr id="24" name="dsl:c2-desc"/>
          <p:cNvSpPr txBox="1"/>
          <p:nvPr/>
        </p:nvSpPr>
        <p:spPr>
          <a:xfrm>
            <a:off x="4505325" y="1962150"/>
            <a:ext cx="3181350" cy="666750"/>
          </a:xfrm>
          <a:prstGeom prst="rect">
            <a:avLst/>
          </a:prstGeom>
          <a:noFill/>
        </p:spPr>
        <p:txBody>
          <a:bodyPr wrap="square" anchor="t">
            <a:noAutofit/>
          </a:bodyPr>
          <a:lstStyle/>
          <a:p>
            <a:pPr algn="l"/>
            <a:r>
              <a:rPr sz="1125" noProof="1">
                <a:solidFill>
                  <a:srgbClr val="2B2D2F"/>
                </a:solidFill>
                <a:latin typeface="QuattrocentoSans"/>
                <a:ea typeface="QuattrocentoSans"/>
              </a:rPr>
              <a:t>Explicit analyst decision required for every remediation action. Three modes: manual, auto-approved (low-risk), blocked (critical).</a:t>
            </a:r>
          </a:p>
        </p:txBody>
      </p:sp>
      <p:sp>
        <p:nvSpPr>
          <p:cNvPr id="25" name="dsl:c3-bg"/>
          <p:cNvSpPr/>
          <p:nvPr/>
        </p:nvSpPr>
        <p:spPr>
          <a:xfrm>
            <a:off x="8067675" y="1123950"/>
            <a:ext cx="3552825" cy="24288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3-accent"/>
          <p:cNvSpPr/>
          <p:nvPr/>
        </p:nvSpPr>
        <p:spPr>
          <a:xfrm>
            <a:off x="8067675" y="1123950"/>
            <a:ext cx="3552825"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3-icon|i=fas:key"/>
          <p:cNvSpPr/>
          <p:nvPr/>
        </p:nvSpPr>
        <p:spPr>
          <a:xfrm>
            <a:off x="8258175" y="1314450"/>
            <a:ext cx="266700" cy="266700"/>
          </a:xfrm>
          <a:custGeom>
            <a:avLst/>
            <a:gdLst/>
            <a:ahLst/>
            <a:cxnLst/>
            <a:rect l="l" t="t" r="r" b="b"/>
            <a:pathLst>
              <a:path w="266700" h="266700">
                <a:moveTo>
                  <a:pt x="175021" y="183356"/>
                </a:moveTo>
                <a:cubicBezTo>
                  <a:pt x="225653" y="183356"/>
                  <a:pt x="266700" y="142309"/>
                  <a:pt x="266700" y="91678"/>
                </a:cubicBezTo>
                <a:cubicBezTo>
                  <a:pt x="266700" y="41046"/>
                  <a:pt x="225653" y="0"/>
                  <a:pt x="175021" y="0"/>
                </a:cubicBezTo>
                <a:cubicBezTo>
                  <a:pt x="124390" y="0"/>
                  <a:pt x="83343" y="41046"/>
                  <a:pt x="83343" y="91678"/>
                </a:cubicBezTo>
                <a:cubicBezTo>
                  <a:pt x="83343" y="101418"/>
                  <a:pt x="84854" y="110847"/>
                  <a:pt x="87667" y="119650"/>
                </a:cubicBezTo>
                <a:lnTo>
                  <a:pt x="3646" y="203671"/>
                </a:lnTo>
                <a:cubicBezTo>
                  <a:pt x="1302" y="206015"/>
                  <a:pt x="0" y="209192"/>
                  <a:pt x="0" y="212526"/>
                </a:cubicBezTo>
                <a:lnTo>
                  <a:pt x="0" y="254198"/>
                </a:lnTo>
                <a:cubicBezTo>
                  <a:pt x="0" y="261126"/>
                  <a:pt x="5573" y="266700"/>
                  <a:pt x="12501" y="266700"/>
                </a:cubicBezTo>
                <a:lnTo>
                  <a:pt x="54173" y="266700"/>
                </a:lnTo>
                <a:cubicBezTo>
                  <a:pt x="61101" y="266700"/>
                  <a:pt x="66675" y="261126"/>
                  <a:pt x="66675" y="254198"/>
                </a:cubicBezTo>
                <a:lnTo>
                  <a:pt x="66675" y="233362"/>
                </a:lnTo>
                <a:lnTo>
                  <a:pt x="87510" y="233362"/>
                </a:lnTo>
                <a:cubicBezTo>
                  <a:pt x="94438" y="233362"/>
                  <a:pt x="100012" y="227788"/>
                  <a:pt x="100012" y="220860"/>
                </a:cubicBezTo>
                <a:lnTo>
                  <a:pt x="100012" y="200025"/>
                </a:lnTo>
                <a:lnTo>
                  <a:pt x="120848" y="200025"/>
                </a:lnTo>
                <a:cubicBezTo>
                  <a:pt x="124182" y="200025"/>
                  <a:pt x="127359" y="198722"/>
                  <a:pt x="129703" y="196378"/>
                </a:cubicBezTo>
                <a:lnTo>
                  <a:pt x="147049" y="179032"/>
                </a:lnTo>
                <a:cubicBezTo>
                  <a:pt x="155852" y="181845"/>
                  <a:pt x="165281" y="183356"/>
                  <a:pt x="175021" y="183356"/>
                </a:cubicBezTo>
                <a:close/>
                <a:moveTo>
                  <a:pt x="195857" y="50006"/>
                </a:moveTo>
                <a:cubicBezTo>
                  <a:pt x="207288" y="50006"/>
                  <a:pt x="216693" y="59411"/>
                  <a:pt x="216693" y="70842"/>
                </a:cubicBezTo>
                <a:cubicBezTo>
                  <a:pt x="216693" y="82272"/>
                  <a:pt x="207288" y="91678"/>
                  <a:pt x="195857" y="91678"/>
                </a:cubicBezTo>
                <a:cubicBezTo>
                  <a:pt x="184427" y="91678"/>
                  <a:pt x="175021" y="82272"/>
                  <a:pt x="175021" y="70842"/>
                </a:cubicBezTo>
                <a:cubicBezTo>
                  <a:pt x="175021" y="59411"/>
                  <a:pt x="184427" y="50006"/>
                  <a:pt x="195857" y="50006"/>
                </a:cubicBezTo>
                <a:close/>
              </a:path>
            </a:pathLst>
          </a:custGeom>
          <a:solidFill>
            <a:srgbClr val="D4A373"/>
          </a:solidFill>
          <a:ln>
            <a:noFill/>
          </a:ln>
          <a:effectLst/>
        </p:spPr>
      </p:sp>
      <p:sp>
        <p:nvSpPr>
          <p:cNvPr id="28" name="dsl:c3-title"/>
          <p:cNvSpPr txBox="1"/>
          <p:nvPr/>
        </p:nvSpPr>
        <p:spPr>
          <a:xfrm>
            <a:off x="8258175" y="1657350"/>
            <a:ext cx="3171825" cy="247650"/>
          </a:xfrm>
          <a:prstGeom prst="rect">
            <a:avLst/>
          </a:prstGeom>
          <a:noFill/>
        </p:spPr>
        <p:txBody>
          <a:bodyPr wrap="none" anchor="ctr">
            <a:noAutofit/>
          </a:bodyPr>
          <a:lstStyle/>
          <a:p>
            <a:pPr algn="l"/>
            <a:r>
              <a:rPr b="1" sz="1350" noProof="1">
                <a:solidFill>
                  <a:srgbClr val="2D6A6A"/>
                </a:solidFill>
                <a:latin typeface="Liter"/>
                <a:ea typeface="Liter"/>
              </a:rPr>
              <a:t>Admin-Secret Gate</a:t>
            </a:r>
          </a:p>
        </p:txBody>
      </p:sp>
      <p:sp>
        <p:nvSpPr>
          <p:cNvPr id="29" name="dsl:c3-desc"/>
          <p:cNvSpPr txBox="1"/>
          <p:nvPr/>
        </p:nvSpPr>
        <p:spPr>
          <a:xfrm>
            <a:off x="8258175" y="1962150"/>
            <a:ext cx="3171825" cy="666750"/>
          </a:xfrm>
          <a:prstGeom prst="rect">
            <a:avLst/>
          </a:prstGeom>
          <a:noFill/>
        </p:spPr>
        <p:txBody>
          <a:bodyPr wrap="square" anchor="t">
            <a:noAutofit/>
          </a:bodyPr>
          <a:lstStyle/>
          <a:p>
            <a:pPr algn="l"/>
            <a:r>
              <a:rPr sz="1125" noProof="1">
                <a:solidFill>
                  <a:srgbClr val="2B2D2F"/>
                </a:solidFill>
                <a:latin typeface="QuattrocentoSans"/>
                <a:ea typeface="QuattrocentoSans"/>
              </a:rPr>
              <a:t>Protected endpoints require the X-ARIA-Admin-Secret header. Admin-level operations are cryptographically gated.</a:t>
            </a:r>
          </a:p>
        </p:txBody>
      </p:sp>
      <p:sp>
        <p:nvSpPr>
          <p:cNvPr id="30" name="dsl:c4-bg"/>
          <p:cNvSpPr/>
          <p:nvPr/>
        </p:nvSpPr>
        <p:spPr>
          <a:xfrm>
            <a:off x="571500" y="3743325"/>
            <a:ext cx="3552825" cy="24288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c4-accent"/>
          <p:cNvSpPr/>
          <p:nvPr/>
        </p:nvSpPr>
        <p:spPr>
          <a:xfrm>
            <a:off x="571500" y="3743325"/>
            <a:ext cx="3552825"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c4-icon|i=fas:server"/>
          <p:cNvSpPr/>
          <p:nvPr/>
        </p:nvSpPr>
        <p:spPr>
          <a:xfrm>
            <a:off x="762000" y="3933825"/>
            <a:ext cx="266700" cy="266700"/>
          </a:xfrm>
          <a:custGeom>
            <a:avLst/>
            <a:gdLst/>
            <a:ahLst/>
            <a:cxnLst/>
            <a:rect l="l" t="t" r="r" b="b"/>
            <a:pathLst>
              <a:path w="266700" h="266700">
                <a:moveTo>
                  <a:pt x="33337" y="16668"/>
                </a:moveTo>
                <a:cubicBezTo>
                  <a:pt x="14949" y="16668"/>
                  <a:pt x="0" y="31618"/>
                  <a:pt x="0" y="50006"/>
                </a:cubicBezTo>
                <a:lnTo>
                  <a:pt x="0" y="83343"/>
                </a:lnTo>
                <a:cubicBezTo>
                  <a:pt x="0" y="101731"/>
                  <a:pt x="14949" y="116681"/>
                  <a:pt x="33337" y="116681"/>
                </a:cubicBezTo>
                <a:lnTo>
                  <a:pt x="233362" y="116681"/>
                </a:lnTo>
                <a:cubicBezTo>
                  <a:pt x="251750" y="116681"/>
                  <a:pt x="266700" y="101731"/>
                  <a:pt x="266700" y="83343"/>
                </a:cubicBezTo>
                <a:lnTo>
                  <a:pt x="266700" y="50006"/>
                </a:lnTo>
                <a:cubicBezTo>
                  <a:pt x="266700" y="31618"/>
                  <a:pt x="251750" y="16668"/>
                  <a:pt x="233362" y="16668"/>
                </a:cubicBezTo>
                <a:lnTo>
                  <a:pt x="33337" y="16668"/>
                </a:lnTo>
                <a:close/>
                <a:moveTo>
                  <a:pt x="179189" y="54173"/>
                </a:moveTo>
                <a:cubicBezTo>
                  <a:pt x="186047" y="54173"/>
                  <a:pt x="191690" y="59816"/>
                  <a:pt x="191690" y="66675"/>
                </a:cubicBezTo>
                <a:cubicBezTo>
                  <a:pt x="191690" y="73533"/>
                  <a:pt x="186047" y="79176"/>
                  <a:pt x="179189" y="79176"/>
                </a:cubicBezTo>
                <a:cubicBezTo>
                  <a:pt x="172330" y="79176"/>
                  <a:pt x="166687" y="73533"/>
                  <a:pt x="166687" y="66675"/>
                </a:cubicBezTo>
                <a:cubicBezTo>
                  <a:pt x="166687" y="59816"/>
                  <a:pt x="172330" y="54173"/>
                  <a:pt x="179189" y="54173"/>
                </a:cubicBezTo>
                <a:close/>
                <a:moveTo>
                  <a:pt x="204192" y="66675"/>
                </a:moveTo>
                <a:cubicBezTo>
                  <a:pt x="204192" y="59816"/>
                  <a:pt x="209835" y="54173"/>
                  <a:pt x="216693" y="54173"/>
                </a:cubicBezTo>
                <a:cubicBezTo>
                  <a:pt x="223551" y="54173"/>
                  <a:pt x="229195" y="59816"/>
                  <a:pt x="229195" y="66675"/>
                </a:cubicBezTo>
                <a:cubicBezTo>
                  <a:pt x="229195" y="73533"/>
                  <a:pt x="223551" y="79176"/>
                  <a:pt x="216693" y="79176"/>
                </a:cubicBezTo>
                <a:cubicBezTo>
                  <a:pt x="209835" y="79176"/>
                  <a:pt x="204192" y="73533"/>
                  <a:pt x="204192" y="66675"/>
                </a:cubicBezTo>
                <a:close/>
                <a:moveTo>
                  <a:pt x="33337" y="150018"/>
                </a:moveTo>
                <a:cubicBezTo>
                  <a:pt x="14949" y="150018"/>
                  <a:pt x="0" y="164968"/>
                  <a:pt x="0" y="183356"/>
                </a:cubicBezTo>
                <a:lnTo>
                  <a:pt x="0" y="216693"/>
                </a:lnTo>
                <a:cubicBezTo>
                  <a:pt x="0" y="235081"/>
                  <a:pt x="14949" y="250031"/>
                  <a:pt x="33337" y="250031"/>
                </a:cubicBezTo>
                <a:lnTo>
                  <a:pt x="233362" y="250031"/>
                </a:lnTo>
                <a:cubicBezTo>
                  <a:pt x="251750" y="250031"/>
                  <a:pt x="266700" y="235081"/>
                  <a:pt x="266700" y="216693"/>
                </a:cubicBezTo>
                <a:lnTo>
                  <a:pt x="266700" y="183356"/>
                </a:lnTo>
                <a:cubicBezTo>
                  <a:pt x="266700" y="164968"/>
                  <a:pt x="251750" y="150018"/>
                  <a:pt x="233362" y="150018"/>
                </a:cubicBezTo>
                <a:lnTo>
                  <a:pt x="33337" y="150018"/>
                </a:lnTo>
                <a:close/>
                <a:moveTo>
                  <a:pt x="179189" y="187523"/>
                </a:moveTo>
                <a:cubicBezTo>
                  <a:pt x="186047" y="187523"/>
                  <a:pt x="191690" y="193166"/>
                  <a:pt x="191690" y="200025"/>
                </a:cubicBezTo>
                <a:cubicBezTo>
                  <a:pt x="191690" y="206883"/>
                  <a:pt x="186047" y="212526"/>
                  <a:pt x="179189" y="212526"/>
                </a:cubicBezTo>
                <a:cubicBezTo>
                  <a:pt x="172330" y="212526"/>
                  <a:pt x="166687" y="206883"/>
                  <a:pt x="166687" y="200025"/>
                </a:cubicBezTo>
                <a:cubicBezTo>
                  <a:pt x="166687" y="193166"/>
                  <a:pt x="172330" y="187523"/>
                  <a:pt x="179189" y="187523"/>
                </a:cubicBezTo>
                <a:close/>
                <a:moveTo>
                  <a:pt x="208359" y="200025"/>
                </a:moveTo>
                <a:cubicBezTo>
                  <a:pt x="208359" y="193166"/>
                  <a:pt x="214002" y="187523"/>
                  <a:pt x="220860" y="187523"/>
                </a:cubicBezTo>
                <a:cubicBezTo>
                  <a:pt x="227719" y="187523"/>
                  <a:pt x="233362" y="193166"/>
                  <a:pt x="233362" y="200025"/>
                </a:cubicBezTo>
                <a:cubicBezTo>
                  <a:pt x="233362" y="206883"/>
                  <a:pt x="227719" y="212526"/>
                  <a:pt x="220860" y="212526"/>
                </a:cubicBezTo>
                <a:cubicBezTo>
                  <a:pt x="214002" y="212526"/>
                  <a:pt x="208359" y="206883"/>
                  <a:pt x="208359" y="200025"/>
                </a:cubicBezTo>
                <a:close/>
              </a:path>
            </a:pathLst>
          </a:custGeom>
          <a:solidFill>
            <a:srgbClr val="2D6A6A"/>
          </a:solidFill>
          <a:ln>
            <a:noFill/>
          </a:ln>
          <a:effectLst/>
        </p:spPr>
      </p:sp>
      <p:sp>
        <p:nvSpPr>
          <p:cNvPr id="33" name="dsl:c4-title"/>
          <p:cNvSpPr txBox="1"/>
          <p:nvPr/>
        </p:nvSpPr>
        <p:spPr>
          <a:xfrm>
            <a:off x="762000" y="4276725"/>
            <a:ext cx="3171825" cy="247650"/>
          </a:xfrm>
          <a:prstGeom prst="rect">
            <a:avLst/>
          </a:prstGeom>
          <a:noFill/>
        </p:spPr>
        <p:txBody>
          <a:bodyPr wrap="none" anchor="ctr">
            <a:noAutofit/>
          </a:bodyPr>
          <a:lstStyle/>
          <a:p>
            <a:pPr algn="l"/>
            <a:r>
              <a:rPr b="1" sz="1350" noProof="1">
                <a:solidFill>
                  <a:srgbClr val="2D6A6A"/>
                </a:solidFill>
                <a:latin typeface="Liter"/>
                <a:ea typeface="Liter"/>
              </a:rPr>
              <a:t>Asset Validation</a:t>
            </a:r>
          </a:p>
        </p:txBody>
      </p:sp>
      <p:sp>
        <p:nvSpPr>
          <p:cNvPr id="34" name="dsl:c4-desc"/>
          <p:cNvSpPr txBox="1"/>
          <p:nvPr/>
        </p:nvSpPr>
        <p:spPr>
          <a:xfrm>
            <a:off x="762000" y="4581525"/>
            <a:ext cx="3171825" cy="666750"/>
          </a:xfrm>
          <a:prstGeom prst="rect">
            <a:avLst/>
          </a:prstGeom>
          <a:noFill/>
        </p:spPr>
        <p:txBody>
          <a:bodyPr wrap="square" anchor="t">
            <a:noAutofit/>
          </a:bodyPr>
          <a:lstStyle/>
          <a:p>
            <a:pPr algn="l"/>
            <a:r>
              <a:rPr sz="1125" noProof="1">
                <a:solidFill>
                  <a:srgbClr val="2B2D2F"/>
                </a:solidFill>
                <a:latin typeface="QuattrocentoSans"/>
                <a:ea typeface="QuattrocentoSans"/>
              </a:rPr>
              <a:t>Execution requires a concrete target asset. Global or wildcard selections are rejected to prevent accidental mass actions.</a:t>
            </a:r>
          </a:p>
        </p:txBody>
      </p:sp>
      <p:sp>
        <p:nvSpPr>
          <p:cNvPr id="35" name="dsl:c5-bg"/>
          <p:cNvSpPr/>
          <p:nvPr/>
        </p:nvSpPr>
        <p:spPr>
          <a:xfrm>
            <a:off x="4314825" y="3743325"/>
            <a:ext cx="3562350" cy="24288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sl:c5-accent"/>
          <p:cNvSpPr/>
          <p:nvPr/>
        </p:nvSpPr>
        <p:spPr>
          <a:xfrm>
            <a:off x="4314825" y="3743325"/>
            <a:ext cx="3562350"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l:c5-icon|i=fas:lock"/>
          <p:cNvSpPr/>
          <p:nvPr/>
        </p:nvSpPr>
        <p:spPr>
          <a:xfrm>
            <a:off x="4521994" y="3933825"/>
            <a:ext cx="233362" cy="266700"/>
          </a:xfrm>
          <a:custGeom>
            <a:avLst/>
            <a:gdLst/>
            <a:ahLst/>
            <a:cxnLst/>
            <a:rect l="l" t="t" r="r" b="b"/>
            <a:pathLst>
              <a:path w="233362" h="266700">
                <a:moveTo>
                  <a:pt x="75009" y="75009"/>
                </a:moveTo>
                <a:lnTo>
                  <a:pt x="75009" y="100012"/>
                </a:lnTo>
                <a:lnTo>
                  <a:pt x="158353" y="100012"/>
                </a:lnTo>
                <a:lnTo>
                  <a:pt x="158353" y="75009"/>
                </a:lnTo>
                <a:cubicBezTo>
                  <a:pt x="158353" y="51985"/>
                  <a:pt x="139704" y="33337"/>
                  <a:pt x="116681" y="33337"/>
                </a:cubicBezTo>
                <a:cubicBezTo>
                  <a:pt x="93657" y="33337"/>
                  <a:pt x="75009" y="51985"/>
                  <a:pt x="75009" y="75009"/>
                </a:cubicBezTo>
                <a:close/>
                <a:moveTo>
                  <a:pt x="41671" y="100012"/>
                </a:moveTo>
                <a:lnTo>
                  <a:pt x="41671" y="75009"/>
                </a:lnTo>
                <a:cubicBezTo>
                  <a:pt x="41671" y="33597"/>
                  <a:pt x="75269" y="0"/>
                  <a:pt x="116681" y="0"/>
                </a:cubicBezTo>
                <a:cubicBezTo>
                  <a:pt x="158092" y="0"/>
                  <a:pt x="191690" y="33597"/>
                  <a:pt x="191690" y="75009"/>
                </a:cubicBezTo>
                <a:lnTo>
                  <a:pt x="191690" y="100012"/>
                </a:lnTo>
                <a:lnTo>
                  <a:pt x="200025" y="100012"/>
                </a:lnTo>
                <a:cubicBezTo>
                  <a:pt x="218412" y="100012"/>
                  <a:pt x="233362" y="114962"/>
                  <a:pt x="233362" y="133350"/>
                </a:cubicBezTo>
                <a:lnTo>
                  <a:pt x="233362" y="233362"/>
                </a:lnTo>
                <a:cubicBezTo>
                  <a:pt x="233362" y="251750"/>
                  <a:pt x="218412" y="266700"/>
                  <a:pt x="200025" y="266700"/>
                </a:cubicBezTo>
                <a:lnTo>
                  <a:pt x="33337" y="266700"/>
                </a:lnTo>
                <a:cubicBezTo>
                  <a:pt x="14949" y="266700"/>
                  <a:pt x="0" y="251750"/>
                  <a:pt x="0" y="233362"/>
                </a:cubicBezTo>
                <a:lnTo>
                  <a:pt x="0" y="133350"/>
                </a:lnTo>
                <a:cubicBezTo>
                  <a:pt x="0" y="114962"/>
                  <a:pt x="14949" y="100012"/>
                  <a:pt x="33337" y="100012"/>
                </a:cubicBezTo>
                <a:lnTo>
                  <a:pt x="41671" y="100012"/>
                </a:lnTo>
                <a:close/>
              </a:path>
            </a:pathLst>
          </a:custGeom>
          <a:solidFill>
            <a:srgbClr val="2D6A6A"/>
          </a:solidFill>
          <a:ln>
            <a:noFill/>
          </a:ln>
          <a:effectLst/>
        </p:spPr>
      </p:sp>
      <p:sp>
        <p:nvSpPr>
          <p:cNvPr id="38" name="dsl:c5-title"/>
          <p:cNvSpPr txBox="1"/>
          <p:nvPr/>
        </p:nvSpPr>
        <p:spPr>
          <a:xfrm>
            <a:off x="4505325" y="4276725"/>
            <a:ext cx="3181350" cy="247650"/>
          </a:xfrm>
          <a:prstGeom prst="rect">
            <a:avLst/>
          </a:prstGeom>
          <a:noFill/>
        </p:spPr>
        <p:txBody>
          <a:bodyPr wrap="none" anchor="ctr">
            <a:noAutofit/>
          </a:bodyPr>
          <a:lstStyle/>
          <a:p>
            <a:pPr algn="l"/>
            <a:r>
              <a:rPr b="1" sz="1350" noProof="1">
                <a:solidFill>
                  <a:srgbClr val="2D6A6A"/>
                </a:solidFill>
                <a:latin typeface="Liter"/>
                <a:ea typeface="Liter"/>
              </a:rPr>
              <a:t>Secret Handling</a:t>
            </a:r>
          </a:p>
        </p:txBody>
      </p:sp>
      <p:sp>
        <p:nvSpPr>
          <p:cNvPr id="39" name="dsl:c5-desc"/>
          <p:cNvSpPr txBox="1"/>
          <p:nvPr/>
        </p:nvSpPr>
        <p:spPr>
          <a:xfrm>
            <a:off x="4505325" y="4581525"/>
            <a:ext cx="3181350" cy="666750"/>
          </a:xfrm>
          <a:prstGeom prst="rect">
            <a:avLst/>
          </a:prstGeom>
          <a:noFill/>
        </p:spPr>
        <p:txBody>
          <a:bodyPr wrap="square" anchor="t">
            <a:noAutofit/>
          </a:bodyPr>
          <a:lstStyle/>
          <a:p>
            <a:pPr algn="l"/>
            <a:r>
              <a:rPr sz="1125" noProof="1">
                <a:solidFill>
                  <a:srgbClr val="2B2D2F"/>
                </a:solidFill>
                <a:latin typeface="QuattrocentoSans"/>
                <a:ea typeface="QuattrocentoSans"/>
              </a:rPr>
              <a:t>Passwords and keys are redacted from all logs and API responses. Secrets never transit in plaintext.</a:t>
            </a:r>
          </a:p>
        </p:txBody>
      </p:sp>
      <p:sp>
        <p:nvSpPr>
          <p:cNvPr id="40" name="dsl:c6-bg"/>
          <p:cNvSpPr/>
          <p:nvPr/>
        </p:nvSpPr>
        <p:spPr>
          <a:xfrm>
            <a:off x="8067675" y="3743325"/>
            <a:ext cx="3552825" cy="24288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sl:c6-accent"/>
          <p:cNvSpPr/>
          <p:nvPr/>
        </p:nvSpPr>
        <p:spPr>
          <a:xfrm>
            <a:off x="8067675" y="3743325"/>
            <a:ext cx="3552825"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sl:c6-icon|i=fas:clipboard-check"/>
          <p:cNvSpPr/>
          <p:nvPr/>
        </p:nvSpPr>
        <p:spPr>
          <a:xfrm>
            <a:off x="8291512" y="3933825"/>
            <a:ext cx="200025" cy="266700"/>
          </a:xfrm>
          <a:custGeom>
            <a:avLst/>
            <a:gdLst/>
            <a:ahLst/>
            <a:cxnLst/>
            <a:rect l="l" t="t" r="r" b="b"/>
            <a:pathLst>
              <a:path w="200025" h="266700">
                <a:moveTo>
                  <a:pt x="100012" y="0"/>
                </a:moveTo>
                <a:cubicBezTo>
                  <a:pt x="78238" y="0"/>
                  <a:pt x="59694" y="13907"/>
                  <a:pt x="52871" y="33337"/>
                </a:cubicBezTo>
                <a:lnTo>
                  <a:pt x="33337" y="33337"/>
                </a:lnTo>
                <a:cubicBezTo>
                  <a:pt x="14949" y="33337"/>
                  <a:pt x="0" y="48287"/>
                  <a:pt x="0" y="66675"/>
                </a:cubicBezTo>
                <a:lnTo>
                  <a:pt x="0" y="233362"/>
                </a:lnTo>
                <a:cubicBezTo>
                  <a:pt x="0" y="251750"/>
                  <a:pt x="14949" y="266700"/>
                  <a:pt x="33337" y="266700"/>
                </a:cubicBezTo>
                <a:lnTo>
                  <a:pt x="166687" y="266700"/>
                </a:lnTo>
                <a:cubicBezTo>
                  <a:pt x="185075" y="266700"/>
                  <a:pt x="200025" y="251750"/>
                  <a:pt x="200025" y="233362"/>
                </a:cubicBezTo>
                <a:lnTo>
                  <a:pt x="200025" y="66675"/>
                </a:lnTo>
                <a:cubicBezTo>
                  <a:pt x="200025" y="48287"/>
                  <a:pt x="185075" y="33337"/>
                  <a:pt x="166687" y="33337"/>
                </a:cubicBezTo>
                <a:lnTo>
                  <a:pt x="147153" y="33337"/>
                </a:lnTo>
                <a:cubicBezTo>
                  <a:pt x="140330" y="13907"/>
                  <a:pt x="121786" y="0"/>
                  <a:pt x="100012" y="0"/>
                </a:cubicBezTo>
                <a:close/>
                <a:moveTo>
                  <a:pt x="100012" y="33337"/>
                </a:moveTo>
                <a:cubicBezTo>
                  <a:pt x="109156" y="33337"/>
                  <a:pt x="116681" y="40862"/>
                  <a:pt x="116681" y="50006"/>
                </a:cubicBezTo>
                <a:cubicBezTo>
                  <a:pt x="116681" y="59150"/>
                  <a:pt x="109156" y="66675"/>
                  <a:pt x="100012" y="66675"/>
                </a:cubicBezTo>
                <a:cubicBezTo>
                  <a:pt x="90868" y="66675"/>
                  <a:pt x="83343" y="59150"/>
                  <a:pt x="83343" y="50006"/>
                </a:cubicBezTo>
                <a:cubicBezTo>
                  <a:pt x="83343" y="40862"/>
                  <a:pt x="90868" y="33337"/>
                  <a:pt x="100012" y="33337"/>
                </a:cubicBezTo>
                <a:close/>
                <a:moveTo>
                  <a:pt x="158874" y="142205"/>
                </a:moveTo>
                <a:lnTo>
                  <a:pt x="92199" y="208880"/>
                </a:lnTo>
                <a:cubicBezTo>
                  <a:pt x="87302" y="213776"/>
                  <a:pt x="79384" y="213776"/>
                  <a:pt x="74540" y="208880"/>
                </a:cubicBezTo>
                <a:lnTo>
                  <a:pt x="41150" y="175542"/>
                </a:lnTo>
                <a:cubicBezTo>
                  <a:pt x="36254" y="170646"/>
                  <a:pt x="36254" y="162728"/>
                  <a:pt x="41150" y="157884"/>
                </a:cubicBezTo>
                <a:cubicBezTo>
                  <a:pt x="46047" y="153039"/>
                  <a:pt x="53965" y="152987"/>
                  <a:pt x="58809" y="157884"/>
                </a:cubicBezTo>
                <a:lnTo>
                  <a:pt x="83291" y="182366"/>
                </a:lnTo>
                <a:lnTo>
                  <a:pt x="141163" y="124494"/>
                </a:lnTo>
                <a:cubicBezTo>
                  <a:pt x="146059" y="119598"/>
                  <a:pt x="153977" y="119598"/>
                  <a:pt x="158821" y="124494"/>
                </a:cubicBezTo>
                <a:cubicBezTo>
                  <a:pt x="163666" y="129391"/>
                  <a:pt x="163718" y="137308"/>
                  <a:pt x="158821" y="142153"/>
                </a:cubicBezTo>
                <a:close/>
              </a:path>
            </a:pathLst>
          </a:custGeom>
          <a:solidFill>
            <a:srgbClr val="2D6A6A"/>
          </a:solidFill>
          <a:ln>
            <a:noFill/>
          </a:ln>
          <a:effectLst/>
        </p:spPr>
      </p:sp>
      <p:sp>
        <p:nvSpPr>
          <p:cNvPr id="43" name="dsl:c6-title"/>
          <p:cNvSpPr txBox="1"/>
          <p:nvPr/>
        </p:nvSpPr>
        <p:spPr>
          <a:xfrm>
            <a:off x="8258175" y="4276725"/>
            <a:ext cx="3171825" cy="247650"/>
          </a:xfrm>
          <a:prstGeom prst="rect">
            <a:avLst/>
          </a:prstGeom>
          <a:noFill/>
        </p:spPr>
        <p:txBody>
          <a:bodyPr wrap="none" anchor="ctr">
            <a:noAutofit/>
          </a:bodyPr>
          <a:lstStyle/>
          <a:p>
            <a:pPr algn="l"/>
            <a:r>
              <a:rPr b="1" sz="1350" noProof="1">
                <a:solidFill>
                  <a:srgbClr val="2D6A6A"/>
                </a:solidFill>
                <a:latin typeface="Liter"/>
                <a:ea typeface="Liter"/>
              </a:rPr>
              <a:t>Verification + Audit</a:t>
            </a:r>
          </a:p>
        </p:txBody>
      </p:sp>
      <p:sp>
        <p:nvSpPr>
          <p:cNvPr id="44" name="dsl:c6-desc"/>
          <p:cNvSpPr txBox="1"/>
          <p:nvPr/>
        </p:nvSpPr>
        <p:spPr>
          <a:xfrm>
            <a:off x="8258175" y="4581525"/>
            <a:ext cx="3171825" cy="666750"/>
          </a:xfrm>
          <a:prstGeom prst="rect">
            <a:avLst/>
          </a:prstGeom>
          <a:noFill/>
        </p:spPr>
        <p:txBody>
          <a:bodyPr wrap="square" anchor="t">
            <a:noAutofit/>
          </a:bodyPr>
          <a:lstStyle/>
          <a:p>
            <a:pPr algn="l"/>
            <a:r>
              <a:rPr sz="1125" noProof="1">
                <a:solidFill>
                  <a:srgbClr val="2B2D2F"/>
                </a:solidFill>
                <a:latin typeface="QuattrocentoSans"/>
                <a:ea typeface="QuattrocentoSans"/>
              </a:rPr>
              <a:t>Evidence is re-checked before case closure. Every sensitive transition is persisted with actor, timestamp, and full context.</a:t>
            </a:r>
          </a:p>
        </p:txBody>
      </p:sp>
      <p:sp>
        <p:nvSpPr>
          <p:cNvPr id="45" name="dsl:hilit-bg"/>
          <p:cNvSpPr/>
          <p:nvPr/>
        </p:nvSpPr>
        <p:spPr>
          <a:xfrm>
            <a:off x="571500" y="6286500"/>
            <a:ext cx="11049000" cy="2667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sl:hilit-text"/>
          <p:cNvSpPr txBox="1"/>
          <p:nvPr/>
        </p:nvSpPr>
        <p:spPr>
          <a:xfrm>
            <a:off x="571500" y="6286500"/>
            <a:ext cx="11049000" cy="266700"/>
          </a:xfrm>
          <a:prstGeom prst="rect">
            <a:avLst/>
          </a:prstGeom>
          <a:noFill/>
        </p:spPr>
        <p:txBody>
          <a:bodyPr wrap="none" anchor="ctr">
            <a:noAutofit/>
          </a:bodyPr>
          <a:lstStyle/>
          <a:p>
            <a:pPr algn="ctr"/>
            <a:r>
              <a:rPr b="1" sz="1050" noProof="1">
                <a:solidFill>
                  <a:srgbClr val="FFFFFF"/>
                </a:solidFill>
                <a:latin typeface="Liter"/>
                <a:ea typeface="Liter"/>
              </a:rPr>
              <a:t>HUMAN-IN-THE-LOOP:</a:t>
            </a:r>
            <a:r>
              <a:rPr sz="1050" noProof="1">
                <a:solidFill>
                  <a:srgbClr val="FFFFFF"/>
                </a:solidFill>
                <a:latin typeface="Liter"/>
                <a:ea typeface="Liter"/>
              </a:rPr>
              <a:t> AI proposes  •  Analyst reviews  •  System validates and controls</a:t>
            </a:r>
          </a:p>
        </p:txBody>
      </p:sp>
      <p:sp>
        <p:nvSpPr>
          <p:cNvPr id="47"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48"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9525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Validation &amp; Testing Results</a:t>
            </a:r>
          </a:p>
        </p:txBody>
      </p:sp>
      <p:sp>
        <p:nvSpPr>
          <p:cNvPr id="14" name="dsl:ref-note"/>
          <p:cNvSpPr txBox="1"/>
          <p:nvPr/>
        </p:nvSpPr>
        <p:spPr>
          <a:xfrm>
            <a:off x="8572500" y="552450"/>
            <a:ext cx="30480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Chapter 6</a:t>
            </a:r>
          </a:p>
        </p:txBody>
      </p:sp>
      <p:sp>
        <p:nvSpPr>
          <p:cNvPr id="15" name="dsl:kpi1-bg"/>
          <p:cNvSpPr/>
          <p:nvPr/>
        </p:nvSpPr>
        <p:spPr>
          <a:xfrm>
            <a:off x="571500" y="1123950"/>
            <a:ext cx="2571750" cy="1047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kpi1-number"/>
          <p:cNvSpPr txBox="1"/>
          <p:nvPr/>
        </p:nvSpPr>
        <p:spPr>
          <a:xfrm>
            <a:off x="571500" y="1181100"/>
            <a:ext cx="2571750" cy="495300"/>
          </a:xfrm>
          <a:prstGeom prst="rect">
            <a:avLst/>
          </a:prstGeom>
          <a:noFill/>
        </p:spPr>
        <p:txBody>
          <a:bodyPr wrap="none" anchor="ctr">
            <a:noAutofit/>
          </a:bodyPr>
          <a:lstStyle/>
          <a:p>
            <a:pPr algn="ctr"/>
            <a:r>
              <a:rPr b="1" sz="3150" noProof="1">
                <a:solidFill>
                  <a:srgbClr val="D4A373"/>
                </a:solidFill>
                <a:latin typeface="Liter"/>
                <a:ea typeface="Liter"/>
              </a:rPr>
              <a:t>910</a:t>
            </a:r>
          </a:p>
        </p:txBody>
      </p:sp>
      <p:sp>
        <p:nvSpPr>
          <p:cNvPr id="17" name="dsl:kpi1-label"/>
          <p:cNvSpPr txBox="1"/>
          <p:nvPr/>
        </p:nvSpPr>
        <p:spPr>
          <a:xfrm>
            <a:off x="571500" y="1714500"/>
            <a:ext cx="2571750" cy="381000"/>
          </a:xfrm>
          <a:prstGeom prst="rect">
            <a:avLst/>
          </a:prstGeom>
          <a:noFill/>
        </p:spPr>
        <p:txBody>
          <a:bodyPr wrap="none" anchor="ctr">
            <a:noAutofit/>
          </a:bodyPr>
          <a:lstStyle/>
          <a:p>
            <a:pPr algn="ctr"/>
            <a:r>
              <a:rPr sz="1050" noProof="1">
                <a:solidFill>
                  <a:srgbClr val="5C6B73"/>
                </a:solidFill>
                <a:latin typeface="QuattrocentoSans"/>
                <a:ea typeface="QuattrocentoSans"/>
              </a:rPr>
              <a:t>Automated Tests Passing</a:t>
            </a:r>
          </a:p>
        </p:txBody>
      </p:sp>
      <p:sp>
        <p:nvSpPr>
          <p:cNvPr id="18" name="dsl:kpi2-bg"/>
          <p:cNvSpPr/>
          <p:nvPr/>
        </p:nvSpPr>
        <p:spPr>
          <a:xfrm>
            <a:off x="3333750" y="1123950"/>
            <a:ext cx="2571750" cy="1047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kpi2-number"/>
          <p:cNvSpPr txBox="1"/>
          <p:nvPr/>
        </p:nvSpPr>
        <p:spPr>
          <a:xfrm>
            <a:off x="3333750" y="1181100"/>
            <a:ext cx="2571750" cy="495300"/>
          </a:xfrm>
          <a:prstGeom prst="rect">
            <a:avLst/>
          </a:prstGeom>
          <a:noFill/>
        </p:spPr>
        <p:txBody>
          <a:bodyPr wrap="none" anchor="ctr">
            <a:noAutofit/>
          </a:bodyPr>
          <a:lstStyle/>
          <a:p>
            <a:pPr algn="ctr"/>
            <a:r>
              <a:rPr b="1" sz="3150" noProof="1">
                <a:solidFill>
                  <a:srgbClr val="D4A373"/>
                </a:solidFill>
                <a:latin typeface="Liter"/>
                <a:ea typeface="Liter"/>
              </a:rPr>
              <a:t>146</a:t>
            </a:r>
          </a:p>
        </p:txBody>
      </p:sp>
      <p:sp>
        <p:nvSpPr>
          <p:cNvPr id="20" name="dsl:kpi2-label"/>
          <p:cNvSpPr txBox="1"/>
          <p:nvPr/>
        </p:nvSpPr>
        <p:spPr>
          <a:xfrm>
            <a:off x="3333750" y="1714500"/>
            <a:ext cx="2571750" cy="381000"/>
          </a:xfrm>
          <a:prstGeom prst="rect">
            <a:avLst/>
          </a:prstGeom>
          <a:noFill/>
        </p:spPr>
        <p:txBody>
          <a:bodyPr wrap="none" anchor="ctr">
            <a:noAutofit/>
          </a:bodyPr>
          <a:lstStyle/>
          <a:p>
            <a:pPr algn="ctr"/>
            <a:r>
              <a:rPr sz="1050" noProof="1">
                <a:solidFill>
                  <a:srgbClr val="5C6B73"/>
                </a:solidFill>
                <a:latin typeface="QuattrocentoSans"/>
                <a:ea typeface="QuattrocentoSans"/>
              </a:rPr>
              <a:t>Python Modules</a:t>
            </a:r>
          </a:p>
        </p:txBody>
      </p:sp>
      <p:sp>
        <p:nvSpPr>
          <p:cNvPr id="21" name="dsl:kpi3-bg"/>
          <p:cNvSpPr/>
          <p:nvPr/>
        </p:nvSpPr>
        <p:spPr>
          <a:xfrm>
            <a:off x="6096000" y="1123950"/>
            <a:ext cx="2571750" cy="1047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kpi3-number"/>
          <p:cNvSpPr txBox="1"/>
          <p:nvPr/>
        </p:nvSpPr>
        <p:spPr>
          <a:xfrm>
            <a:off x="6096000" y="1181100"/>
            <a:ext cx="2571750" cy="495300"/>
          </a:xfrm>
          <a:prstGeom prst="rect">
            <a:avLst/>
          </a:prstGeom>
          <a:noFill/>
        </p:spPr>
        <p:txBody>
          <a:bodyPr wrap="none" anchor="ctr">
            <a:noAutofit/>
          </a:bodyPr>
          <a:lstStyle/>
          <a:p>
            <a:pPr algn="ctr"/>
            <a:r>
              <a:rPr b="1" sz="3150" noProof="1">
                <a:solidFill>
                  <a:srgbClr val="D4A373"/>
                </a:solidFill>
                <a:latin typeface="Liter"/>
                <a:ea typeface="Liter"/>
              </a:rPr>
              <a:t>200</a:t>
            </a:r>
          </a:p>
        </p:txBody>
      </p:sp>
      <p:sp>
        <p:nvSpPr>
          <p:cNvPr id="23" name="dsl:kpi3-label"/>
          <p:cNvSpPr txBox="1"/>
          <p:nvPr/>
        </p:nvSpPr>
        <p:spPr>
          <a:xfrm>
            <a:off x="6096000" y="1714500"/>
            <a:ext cx="2571750" cy="381000"/>
          </a:xfrm>
          <a:prstGeom prst="rect">
            <a:avLst/>
          </a:prstGeom>
          <a:noFill/>
        </p:spPr>
        <p:txBody>
          <a:bodyPr wrap="none" anchor="ctr">
            <a:noAutofit/>
          </a:bodyPr>
          <a:lstStyle/>
          <a:p>
            <a:pPr algn="ctr"/>
            <a:r>
              <a:rPr sz="1050" noProof="1">
                <a:solidFill>
                  <a:srgbClr val="5C6B73"/>
                </a:solidFill>
                <a:latin typeface="QuattrocentoSans"/>
                <a:ea typeface="QuattrocentoSans"/>
              </a:rPr>
              <a:t>API Health OK</a:t>
            </a:r>
          </a:p>
        </p:txBody>
      </p:sp>
      <p:sp>
        <p:nvSpPr>
          <p:cNvPr id="24" name="dsl:kpi4-bg"/>
          <p:cNvSpPr/>
          <p:nvPr/>
        </p:nvSpPr>
        <p:spPr>
          <a:xfrm>
            <a:off x="8858250" y="1123950"/>
            <a:ext cx="2762250" cy="1047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kpi4-icon|i=fas:circle-check"/>
          <p:cNvSpPr/>
          <p:nvPr/>
        </p:nvSpPr>
        <p:spPr>
          <a:xfrm>
            <a:off x="9734550" y="1200150"/>
            <a:ext cx="342900" cy="342900"/>
          </a:xfrm>
          <a:custGeom>
            <a:avLst/>
            <a:gdLst/>
            <a:ahLst/>
            <a:cxnLst/>
            <a:rect l="l" t="t" r="r" b="b"/>
            <a:pathLst>
              <a:path w="342900" h="342900">
                <a:moveTo>
                  <a:pt x="171450" y="342900"/>
                </a:moveTo>
                <a:cubicBezTo>
                  <a:pt x="265504" y="342900"/>
                  <a:pt x="342900" y="265504"/>
                  <a:pt x="342900" y="171450"/>
                </a:cubicBezTo>
                <a:cubicBezTo>
                  <a:pt x="342900" y="77395"/>
                  <a:pt x="265504" y="0"/>
                  <a:pt x="171450" y="0"/>
                </a:cubicBezTo>
                <a:cubicBezTo>
                  <a:pt x="77395" y="0"/>
                  <a:pt x="0" y="77395"/>
                  <a:pt x="0" y="171449"/>
                </a:cubicBezTo>
                <a:cubicBezTo>
                  <a:pt x="0" y="265504"/>
                  <a:pt x="77395" y="342900"/>
                  <a:pt x="171449" y="342900"/>
                </a:cubicBezTo>
                <a:close/>
                <a:moveTo>
                  <a:pt x="247129" y="139972"/>
                </a:moveTo>
                <a:lnTo>
                  <a:pt x="161404" y="225697"/>
                </a:lnTo>
                <a:cubicBezTo>
                  <a:pt x="155108" y="231993"/>
                  <a:pt x="144928" y="231993"/>
                  <a:pt x="138700" y="225697"/>
                </a:cubicBezTo>
                <a:lnTo>
                  <a:pt x="95837" y="182835"/>
                </a:lnTo>
                <a:cubicBezTo>
                  <a:pt x="89542" y="176539"/>
                  <a:pt x="89542" y="166360"/>
                  <a:pt x="95837" y="160131"/>
                </a:cubicBezTo>
                <a:cubicBezTo>
                  <a:pt x="102133" y="153903"/>
                  <a:pt x="112313" y="153836"/>
                  <a:pt x="118541" y="160131"/>
                </a:cubicBezTo>
                <a:lnTo>
                  <a:pt x="150018" y="191608"/>
                </a:lnTo>
                <a:lnTo>
                  <a:pt x="224358" y="117202"/>
                </a:lnTo>
                <a:cubicBezTo>
                  <a:pt x="230653" y="110906"/>
                  <a:pt x="240833" y="110906"/>
                  <a:pt x="247062" y="117202"/>
                </a:cubicBezTo>
                <a:cubicBezTo>
                  <a:pt x="253290" y="123497"/>
                  <a:pt x="253357" y="133677"/>
                  <a:pt x="247062" y="139905"/>
                </a:cubicBezTo>
                <a:close/>
              </a:path>
            </a:pathLst>
          </a:custGeom>
          <a:solidFill>
            <a:srgbClr val="4CAF50"/>
          </a:solidFill>
          <a:ln>
            <a:noFill/>
          </a:ln>
          <a:effectLst/>
        </p:spPr>
      </p:sp>
      <p:sp>
        <p:nvSpPr>
          <p:cNvPr id="26" name="dsl:kpi4-label"/>
          <p:cNvSpPr txBox="1"/>
          <p:nvPr/>
        </p:nvSpPr>
        <p:spPr>
          <a:xfrm>
            <a:off x="8858250" y="1600200"/>
            <a:ext cx="2762250" cy="495300"/>
          </a:xfrm>
          <a:prstGeom prst="rect">
            <a:avLst/>
          </a:prstGeom>
          <a:noFill/>
        </p:spPr>
        <p:txBody>
          <a:bodyPr wrap="none" anchor="ctr">
            <a:noAutofit/>
          </a:bodyPr>
          <a:lstStyle/>
          <a:p>
            <a:pPr algn="ctr"/>
            <a:r>
              <a:rPr sz="1050" noProof="1">
                <a:solidFill>
                  <a:srgbClr val="5C6B73"/>
                </a:solidFill>
                <a:latin typeface="QuattrocentoSans"/>
                <a:ea typeface="QuattrocentoSans"/>
              </a:rPr>
              <a:t>Multi-Server Scoping Validated</a:t>
            </a:r>
          </a:p>
        </p:txBody>
      </p:sp>
      <p:sp>
        <p:nvSpPr>
          <p:cNvPr id="27" name="dsl:matrix-label"/>
          <p:cNvSpPr txBox="1"/>
          <p:nvPr/>
        </p:nvSpPr>
        <p:spPr>
          <a:xfrm>
            <a:off x="571500" y="2343150"/>
            <a:ext cx="3810000" cy="228600"/>
          </a:xfrm>
          <a:prstGeom prst="rect">
            <a:avLst/>
          </a:prstGeom>
          <a:noFill/>
        </p:spPr>
        <p:txBody>
          <a:bodyPr wrap="none" anchor="ctr">
            <a:noAutofit/>
          </a:bodyPr>
          <a:lstStyle/>
          <a:p>
            <a:pPr algn="l"/>
            <a:r>
              <a:rPr b="1" sz="1050" noProof="1">
                <a:solidFill>
                  <a:srgbClr val="5C6B73"/>
                </a:solidFill>
                <a:latin typeface="Liter"/>
                <a:ea typeface="Liter"/>
              </a:rPr>
              <a:t>SERVICE VALIDATION MATRIX</a:t>
            </a:r>
          </a:p>
        </p:txBody>
      </p:sp>
      <p:graphicFrame>
        <p:nvGraphicFramePr>
          <p:cNvPr id="28" name="dsl:matrix-table"/>
          <p:cNvGraphicFramePr>
            <a:graphicFrameLocks noGrp="1"/>
          </p:cNvGraphicFramePr>
          <p:nvPr/>
        </p:nvGraphicFramePr>
        <p:xfrm>
          <a:off x="571500" y="2647950"/>
          <a:ext cx="11049000" cy="2476496"/>
        </p:xfrm>
        <a:graphic>
          <a:graphicData uri="http://schemas.openxmlformats.org/drawingml/2006/table">
            <a:tbl>
              <a:tblPr firstRow="0" bandRow="0" lastRow="0" firstCol="0" lastCol="0" bandCol="0">
                <a:tableStyleId>{2D5ABB26-0587-4C30-8999-92F81FD0307C}</a:tableStyleId>
              </a:tblPr>
              <a:tblGrid>
                <a:gridCol w="3314700"/>
                <a:gridCol w="2762250"/>
                <a:gridCol w="4972050"/>
              </a:tblGrid>
              <a:tr h="354139">
                <a:tc>
                  <a:txBody>
                    <a:bodyPr wrap="square" anchor="ctr">
                      <a:noAutofit/>
                    </a:bodyPr>
                    <a:lstStyle/>
                    <a:p>
                      <a:pPr algn="ctr"/>
                      <a:r>
                        <a:rPr sz="1050" noProof="1" b="1">
                          <a:solidFill>
                            <a:srgbClr val="FFFFFF"/>
                          </a:solidFill>
                          <a:latin typeface="QuattrocentoSans"/>
                          <a:ea typeface="QuattrocentoSans"/>
                        </a:rPr>
                        <a:t>Component</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c>
                  <a:txBody>
                    <a:bodyPr wrap="square" anchor="ctr">
                      <a:noAutofit/>
                    </a:bodyPr>
                    <a:lstStyle/>
                    <a:p>
                      <a:pPr algn="ctr"/>
                      <a:r>
                        <a:rPr sz="1050" noProof="1" b="1">
                          <a:solidFill>
                            <a:srgbClr val="FFFFFF"/>
                          </a:solidFill>
                          <a:latin typeface="QuattrocentoSans"/>
                          <a:ea typeface="QuattrocentoSans"/>
                        </a:rPr>
                        <a:t>Status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c>
                  <a:txBody>
                    <a:bodyPr wrap="square" anchor="ctr">
                      <a:noAutofit/>
                    </a:bodyPr>
                    <a:lstStyle/>
                    <a:p>
                      <a:pPr algn="ctr"/>
                      <a:r>
                        <a:rPr sz="1050" noProof="1" b="1">
                          <a:solidFill>
                            <a:srgbClr val="FFFFFF"/>
                          </a:solidFill>
                          <a:latin typeface="QuattrocentoSans"/>
                          <a:ea typeface="QuattrocentoSans"/>
                        </a:rPr>
                        <a:t>Evidence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r>
              <a:tr h="354139">
                <a:tc>
                  <a:txBody>
                    <a:bodyPr wrap="square" anchor="ctr">
                      <a:noAutofit/>
                    </a:bodyPr>
                    <a:lstStyle/>
                    <a:p>
                      <a:pPr algn="ctr"/>
                      <a:r>
                        <a:rPr sz="1050" noProof="1" b="1">
                          <a:solidFill>
                            <a:srgbClr val="2B2D2F"/>
                          </a:solidFill>
                          <a:latin typeface="QuattrocentoSans"/>
                          <a:ea typeface="QuattrocentoSans"/>
                        </a:rPr>
                        <a:t>Backend Build</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b="1" sz="1050" noProof="1">
                          <a:solidFill>
                            <a:srgbClr val="2B2D2F"/>
                          </a:solidFill>
                          <a:latin typeface="QuattrocentoSans"/>
                          <a:ea typeface="QuattrocentoSans"/>
                        </a:rPr>
                        <a:t>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Lint and build complete, no errors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354139">
                <a:tc>
                  <a:txBody>
                    <a:bodyPr wrap="square" anchor="ctr">
                      <a:noAutofit/>
                    </a:bodyPr>
                    <a:lstStyle/>
                    <a:p>
                      <a:pPr algn="ctr"/>
                      <a:r>
                        <a:rPr sz="1050" noProof="1" b="1">
                          <a:solidFill>
                            <a:srgbClr val="2B2D2F"/>
                          </a:solidFill>
                          <a:latin typeface="QuattrocentoSans"/>
                          <a:ea typeface="QuattrocentoSans"/>
                        </a:rPr>
                        <a:t>Frontend TypeScript</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b="1" sz="1050" noProof="1">
                          <a:solidFill>
                            <a:srgbClr val="2B2D2F"/>
                          </a:solidFill>
                          <a:latin typeface="QuattrocentoSans"/>
                          <a:ea typeface="QuattrocentoSans"/>
                        </a:rPr>
                        <a:t>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Type check and build 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r h="354139">
                <a:tc>
                  <a:txBody>
                    <a:bodyPr wrap="square" anchor="ctr">
                      <a:noAutofit/>
                    </a:bodyPr>
                    <a:lstStyle/>
                    <a:p>
                      <a:pPr algn="ctr"/>
                      <a:r>
                        <a:rPr sz="1050" noProof="1" b="1">
                          <a:solidFill>
                            <a:srgbClr val="2B2D2F"/>
                          </a:solidFill>
                          <a:latin typeface="QuattrocentoSans"/>
                          <a:ea typeface="QuattrocentoSans"/>
                        </a:rPr>
                        <a:t>API Root</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b="1" sz="1050" noProof="1">
                          <a:solidFill>
                            <a:srgbClr val="2B2D2F"/>
                          </a:solidFill>
                          <a:latin typeface="QuattrocentoSans"/>
                          <a:ea typeface="QuattrocentoSans"/>
                        </a:rPr>
                        <a:t>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HTTP 200 OK response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354139">
                <a:tc>
                  <a:txBody>
                    <a:bodyPr wrap="square" anchor="ctr">
                      <a:noAutofit/>
                    </a:bodyPr>
                    <a:lstStyle/>
                    <a:p>
                      <a:pPr algn="ctr"/>
                      <a:r>
                        <a:rPr sz="1050" noProof="1" b="1">
                          <a:solidFill>
                            <a:srgbClr val="2B2D2F"/>
                          </a:solidFill>
                          <a:latin typeface="QuattrocentoSans"/>
                          <a:ea typeface="QuattrocentoSans"/>
                        </a:rPr>
                        <a:t>Elasticsearch Indices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b="1" sz="1050" noProof="1">
                          <a:solidFill>
                            <a:srgbClr val="2B2D2F"/>
                          </a:solidFill>
                          <a:latin typeface="QuattrocentoSans"/>
                          <a:ea typeface="QuattrocentoSans"/>
                        </a:rPr>
                        <a:t>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All source families with document counts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r h="354139">
                <a:tc>
                  <a:txBody>
                    <a:bodyPr wrap="square" anchor="ctr">
                      <a:noAutofit/>
                    </a:bodyPr>
                    <a:lstStyle/>
                    <a:p>
                      <a:pPr algn="ctr"/>
                      <a:r>
                        <a:rPr sz="1050" noProof="1" b="1">
                          <a:solidFill>
                            <a:srgbClr val="2B2D2F"/>
                          </a:solidFill>
                          <a:latin typeface="QuattrocentoSans"/>
                          <a:ea typeface="QuattrocentoSans"/>
                        </a:rPr>
                        <a:t>Remediation Workflow</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b="1" sz="1050" noProof="1">
                          <a:solidFill>
                            <a:srgbClr val="2B2D2F"/>
                          </a:solidFill>
                          <a:latin typeface="QuattrocentoSans"/>
                          <a:ea typeface="QuattrocentoSans"/>
                        </a:rPr>
                        <a:t>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Observe/no-remediation safety + full 9-stage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351662">
                <a:tc>
                  <a:txBody>
                    <a:bodyPr wrap="square" anchor="ctr">
                      <a:noAutofit/>
                    </a:bodyPr>
                    <a:lstStyle/>
                    <a:p>
                      <a:pPr algn="ctr"/>
                      <a:r>
                        <a:rPr sz="1050" noProof="1" b="1">
                          <a:solidFill>
                            <a:srgbClr val="2B2D2F"/>
                          </a:solidFill>
                          <a:latin typeface="QuattrocentoSans"/>
                          <a:ea typeface="QuattrocentoSans"/>
                        </a:rPr>
                        <a:t>Systemd Services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b="1" sz="1050" noProof="1">
                          <a:solidFill>
                            <a:srgbClr val="2B2D2F"/>
                          </a:solidFill>
                          <a:latin typeface="QuattrocentoSans"/>
                          <a:ea typeface="QuattrocentoSans"/>
                        </a:rPr>
                        <a:t>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All services active and healthy</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bl>
          </a:graphicData>
        </a:graphic>
      </p:graphicFrame>
      <p:sp>
        <p:nvSpPr>
          <p:cNvPr id="29" name="dsl:note-bg"/>
          <p:cNvSpPr/>
          <p:nvPr/>
        </p:nvSpPr>
        <p:spPr>
          <a:xfrm>
            <a:off x="571500" y="5314950"/>
            <a:ext cx="11049000" cy="4762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note-text"/>
          <p:cNvSpPr txBox="1"/>
          <p:nvPr/>
        </p:nvSpPr>
        <p:spPr>
          <a:xfrm>
            <a:off x="762000" y="5314950"/>
            <a:ext cx="10668000" cy="476250"/>
          </a:xfrm>
          <a:prstGeom prst="rect">
            <a:avLst/>
          </a:prstGeom>
          <a:noFill/>
        </p:spPr>
        <p:txBody>
          <a:bodyPr wrap="none" anchor="ctr">
            <a:noAutofit/>
          </a:bodyPr>
          <a:lstStyle/>
          <a:p>
            <a:pPr algn="ctr"/>
            <a:r>
              <a:rPr sz="1200" noProof="1">
                <a:solidFill>
                  <a:srgbClr val="FFFFFF"/>
                </a:solidFill>
                <a:latin typeface="QuattrocentoSans"/>
                <a:ea typeface="QuattrocentoSans"/>
              </a:rPr>
              <a:t>End-to-end SOC scenarios demonstrated with live data across all monitoring layers</a:t>
            </a:r>
          </a:p>
        </p:txBody>
      </p:sp>
      <p:sp>
        <p:nvSpPr>
          <p:cNvPr id="31"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32"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8-number-decorative"/>
          <p:cNvSpPr txBox="1"/>
          <p:nvPr/>
        </p:nvSpPr>
        <p:spPr>
          <a:xfrm>
            <a:off x="381000" y="571500"/>
            <a:ext cx="4381500" cy="2476500"/>
          </a:xfrm>
          <a:prstGeom prst="rect">
            <a:avLst/>
          </a:prstGeom>
          <a:noFill/>
        </p:spPr>
        <p:txBody>
          <a:bodyPr wrap="none" anchor="t">
            <a:noAutofit/>
          </a:bodyPr>
          <a:lstStyle/>
          <a:p>
            <a:pPr algn="l"/>
            <a:r>
              <a:rPr sz="15000" noProof="1">
                <a:solidFill>
                  <a:srgbClr val="2D6A6A"/>
                </a:solidFill>
                <a:latin typeface="Liter"/>
                <a:ea typeface="Liter"/>
              </a:rPr>
              <a:t>08</a:t>
            </a:r>
          </a:p>
        </p:txBody>
      </p:sp>
      <p:sp>
        <p:nvSpPr>
          <p:cNvPr id="3" name="dsl:ch8-accent-bar"/>
          <p:cNvSpPr/>
          <p:nvPr/>
        </p:nvSpPr>
        <p:spPr>
          <a:xfrm>
            <a:off x="571500" y="323850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8-title"/>
          <p:cNvSpPr txBox="1"/>
          <p:nvPr/>
        </p:nvSpPr>
        <p:spPr>
          <a:xfrm>
            <a:off x="571500" y="3429000"/>
            <a:ext cx="8572500" cy="523875"/>
          </a:xfrm>
          <a:prstGeom prst="rect">
            <a:avLst/>
          </a:prstGeom>
          <a:noFill/>
        </p:spPr>
        <p:txBody>
          <a:bodyPr wrap="none" anchor="ctr">
            <a:noAutofit/>
          </a:bodyPr>
          <a:lstStyle/>
          <a:p>
            <a:pPr algn="l"/>
            <a:r>
              <a:rPr sz="2850" noProof="1">
                <a:solidFill>
                  <a:srgbClr val="2D6A6A"/>
                </a:solidFill>
                <a:latin typeface="Liter"/>
                <a:ea typeface="Liter"/>
              </a:rPr>
              <a:t>08 — Value &amp; Roadmap</a:t>
            </a:r>
          </a:p>
        </p:txBody>
      </p:sp>
      <p:sp>
        <p:nvSpPr>
          <p:cNvPr id="5" name="dsl:ch8-subtitle"/>
          <p:cNvSpPr txBox="1"/>
          <p:nvPr/>
        </p:nvSpPr>
        <p:spPr>
          <a:xfrm>
            <a:off x="571500" y="4095750"/>
            <a:ext cx="8572500" cy="333375"/>
          </a:xfrm>
          <a:prstGeom prst="rect">
            <a:avLst/>
          </a:prstGeom>
          <a:noFill/>
        </p:spPr>
        <p:txBody>
          <a:bodyPr wrap="none" anchor="ctr">
            <a:noAutofit/>
          </a:bodyPr>
          <a:lstStyle/>
          <a:p>
            <a:pPr algn="l"/>
            <a:r>
              <a:rPr sz="1500" noProof="1">
                <a:solidFill>
                  <a:srgbClr val="5C6B73"/>
                </a:solidFill>
                <a:latin typeface="QuattrocentoSans"/>
                <a:ea typeface="QuattrocentoSans"/>
              </a:rPr>
              <a:t>From prototype to production-ready SOC platform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11049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Value of ARIA</a:t>
            </a:r>
          </a:p>
        </p:txBody>
      </p:sp>
      <p:sp>
        <p:nvSpPr>
          <p:cNvPr id="14" name="dsl:ref-note"/>
          <p:cNvSpPr txBox="1"/>
          <p:nvPr/>
        </p:nvSpPr>
        <p:spPr>
          <a:xfrm>
            <a:off x="8096250" y="552450"/>
            <a:ext cx="352425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General Conclusion</a:t>
            </a:r>
          </a:p>
        </p:txBody>
      </p:sp>
      <p:sp>
        <p:nvSpPr>
          <p:cNvPr id="15" name="dsl:v1-bg"/>
          <p:cNvSpPr/>
          <p:nvPr/>
        </p:nvSpPr>
        <p:spPr>
          <a:xfrm>
            <a:off x="571500" y="1123950"/>
            <a:ext cx="3552825"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v1-accent"/>
          <p:cNvSpPr/>
          <p:nvPr/>
        </p:nvSpPr>
        <p:spPr>
          <a:xfrm>
            <a:off x="571500" y="1123950"/>
            <a:ext cx="3552825"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v1-icon|i=fas:bolt"/>
          <p:cNvSpPr/>
          <p:nvPr/>
        </p:nvSpPr>
        <p:spPr>
          <a:xfrm>
            <a:off x="781050" y="1314450"/>
            <a:ext cx="266700" cy="304800"/>
          </a:xfrm>
          <a:custGeom>
            <a:avLst/>
            <a:gdLst/>
            <a:ahLst/>
            <a:cxnLst/>
            <a:rect l="l" t="t" r="r" b="b"/>
            <a:pathLst>
              <a:path w="266700" h="304800">
                <a:moveTo>
                  <a:pt x="208002" y="26550"/>
                </a:moveTo>
                <a:cubicBezTo>
                  <a:pt x="211514" y="18395"/>
                  <a:pt x="208895" y="8870"/>
                  <a:pt x="201691" y="3631"/>
                </a:cubicBezTo>
                <a:cubicBezTo>
                  <a:pt x="194488" y="-1607"/>
                  <a:pt x="184665" y="-1131"/>
                  <a:pt x="177938" y="4702"/>
                </a:cubicBezTo>
                <a:lnTo>
                  <a:pt x="25538" y="138052"/>
                </a:lnTo>
                <a:cubicBezTo>
                  <a:pt x="19585" y="143291"/>
                  <a:pt x="17442" y="151685"/>
                  <a:pt x="20240" y="159067"/>
                </a:cubicBezTo>
                <a:cubicBezTo>
                  <a:pt x="23038" y="166449"/>
                  <a:pt x="30182" y="171450"/>
                  <a:pt x="38100" y="171450"/>
                </a:cubicBezTo>
                <a:lnTo>
                  <a:pt x="104477" y="171450"/>
                </a:lnTo>
                <a:lnTo>
                  <a:pt x="58697" y="278249"/>
                </a:lnTo>
                <a:cubicBezTo>
                  <a:pt x="55185" y="286404"/>
                  <a:pt x="57804" y="295929"/>
                  <a:pt x="65008" y="301168"/>
                </a:cubicBezTo>
                <a:cubicBezTo>
                  <a:pt x="72211" y="306407"/>
                  <a:pt x="82034" y="305931"/>
                  <a:pt x="88761" y="300097"/>
                </a:cubicBezTo>
                <a:lnTo>
                  <a:pt x="241161" y="166747"/>
                </a:lnTo>
                <a:cubicBezTo>
                  <a:pt x="247114" y="161508"/>
                  <a:pt x="249257" y="153114"/>
                  <a:pt x="246459" y="145732"/>
                </a:cubicBezTo>
                <a:cubicBezTo>
                  <a:pt x="243661" y="138350"/>
                  <a:pt x="236577" y="133409"/>
                  <a:pt x="228600" y="133409"/>
                </a:cubicBezTo>
                <a:lnTo>
                  <a:pt x="162222" y="133409"/>
                </a:lnTo>
                <a:lnTo>
                  <a:pt x="208002" y="26550"/>
                </a:lnTo>
                <a:close/>
              </a:path>
            </a:pathLst>
          </a:custGeom>
          <a:solidFill>
            <a:srgbClr val="D4A373"/>
          </a:solidFill>
          <a:ln>
            <a:noFill/>
          </a:ln>
          <a:effectLst/>
        </p:spPr>
      </p:sp>
      <p:sp>
        <p:nvSpPr>
          <p:cNvPr id="18" name="dsl:v1-title"/>
          <p:cNvSpPr txBox="1"/>
          <p:nvPr/>
        </p:nvSpPr>
        <p:spPr>
          <a:xfrm>
            <a:off x="762000" y="1714500"/>
            <a:ext cx="3171825" cy="247650"/>
          </a:xfrm>
          <a:prstGeom prst="rect">
            <a:avLst/>
          </a:prstGeom>
          <a:noFill/>
        </p:spPr>
        <p:txBody>
          <a:bodyPr wrap="none" anchor="ctr">
            <a:noAutofit/>
          </a:bodyPr>
          <a:lstStyle/>
          <a:p>
            <a:pPr algn="l"/>
            <a:r>
              <a:rPr b="1" sz="1500" noProof="1">
                <a:solidFill>
                  <a:srgbClr val="2D6A6A"/>
                </a:solidFill>
                <a:latin typeface="Liter"/>
                <a:ea typeface="Liter"/>
              </a:rPr>
              <a:t>Faster Investigation</a:t>
            </a:r>
          </a:p>
        </p:txBody>
      </p:sp>
      <p:sp>
        <p:nvSpPr>
          <p:cNvPr id="19" name="dsl:v1-desc"/>
          <p:cNvSpPr txBox="1"/>
          <p:nvPr/>
        </p:nvSpPr>
        <p:spPr>
          <a:xfrm>
            <a:off x="762000" y="2038350"/>
            <a:ext cx="3171825" cy="1428750"/>
          </a:xfrm>
          <a:prstGeom prst="rect">
            <a:avLst/>
          </a:prstGeom>
          <a:noFill/>
        </p:spPr>
        <p:txBody>
          <a:bodyPr wrap="square" anchor="t">
            <a:noAutofit/>
          </a:bodyPr>
          <a:lstStyle/>
          <a:p>
            <a:pPr algn="l"/>
            <a:r>
              <a:rPr sz="1200" noProof="1">
                <a:solidFill>
                  <a:srgbClr val="2B2D2F"/>
                </a:solidFill>
                <a:latin typeface="QuattrocentoSans"/>
                <a:ea typeface="QuattrocentoSans"/>
              </a:rPr>
              <a:t>AI-generated summaries and narratives reduce manual analysis time. Analysts get context-rich investigations instantly.</a:t>
            </a:r>
          </a:p>
        </p:txBody>
      </p:sp>
      <p:sp>
        <p:nvSpPr>
          <p:cNvPr id="20" name="dsl:v2-bg"/>
          <p:cNvSpPr/>
          <p:nvPr/>
        </p:nvSpPr>
        <p:spPr>
          <a:xfrm>
            <a:off x="4314825" y="1123950"/>
            <a:ext cx="35623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v2-accent"/>
          <p:cNvSpPr/>
          <p:nvPr/>
        </p:nvSpPr>
        <p:spPr>
          <a:xfrm>
            <a:off x="4314825" y="1123950"/>
            <a:ext cx="3562350"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v2-icon|i=fas:link"/>
          <p:cNvSpPr/>
          <p:nvPr/>
        </p:nvSpPr>
        <p:spPr>
          <a:xfrm>
            <a:off x="4505325" y="1344930"/>
            <a:ext cx="304800" cy="243840"/>
          </a:xfrm>
          <a:custGeom>
            <a:avLst/>
            <a:gdLst/>
            <a:ahLst/>
            <a:cxnLst/>
            <a:rect l="l" t="t" r="r" b="b"/>
            <a:pathLst>
              <a:path w="304800" h="243840">
                <a:moveTo>
                  <a:pt x="276129" y="127492"/>
                </a:moveTo>
                <a:cubicBezTo>
                  <a:pt x="303037" y="100584"/>
                  <a:pt x="303037" y="57007"/>
                  <a:pt x="276129" y="30098"/>
                </a:cubicBezTo>
                <a:cubicBezTo>
                  <a:pt x="252317" y="6286"/>
                  <a:pt x="214788" y="3190"/>
                  <a:pt x="187404" y="22764"/>
                </a:cubicBezTo>
                <a:lnTo>
                  <a:pt x="186642" y="23288"/>
                </a:lnTo>
                <a:cubicBezTo>
                  <a:pt x="179784" y="28193"/>
                  <a:pt x="178212" y="37718"/>
                  <a:pt x="183118" y="44529"/>
                </a:cubicBezTo>
                <a:cubicBezTo>
                  <a:pt x="188023" y="51339"/>
                  <a:pt x="197548" y="52959"/>
                  <a:pt x="204358" y="48053"/>
                </a:cubicBezTo>
                <a:lnTo>
                  <a:pt x="205120" y="47529"/>
                </a:lnTo>
                <a:cubicBezTo>
                  <a:pt x="220408" y="36623"/>
                  <a:pt x="241315" y="38338"/>
                  <a:pt x="254555" y="51625"/>
                </a:cubicBezTo>
                <a:cubicBezTo>
                  <a:pt x="269557" y="66627"/>
                  <a:pt x="269557" y="90916"/>
                  <a:pt x="254555" y="105918"/>
                </a:cubicBezTo>
                <a:lnTo>
                  <a:pt x="201120" y="159448"/>
                </a:lnTo>
                <a:cubicBezTo>
                  <a:pt x="186118" y="174450"/>
                  <a:pt x="161829" y="174450"/>
                  <a:pt x="146827" y="159448"/>
                </a:cubicBezTo>
                <a:cubicBezTo>
                  <a:pt x="133540" y="146161"/>
                  <a:pt x="131826" y="125253"/>
                  <a:pt x="142732" y="110013"/>
                </a:cubicBezTo>
                <a:lnTo>
                  <a:pt x="143256" y="109251"/>
                </a:lnTo>
                <a:cubicBezTo>
                  <a:pt x="148161" y="102393"/>
                  <a:pt x="146542" y="92868"/>
                  <a:pt x="139731" y="88011"/>
                </a:cubicBezTo>
                <a:cubicBezTo>
                  <a:pt x="132921" y="83153"/>
                  <a:pt x="123348" y="84724"/>
                  <a:pt x="118491" y="91535"/>
                </a:cubicBezTo>
                <a:lnTo>
                  <a:pt x="117967" y="92297"/>
                </a:lnTo>
                <a:cubicBezTo>
                  <a:pt x="98345" y="119634"/>
                  <a:pt x="101441" y="157162"/>
                  <a:pt x="125253" y="180975"/>
                </a:cubicBezTo>
                <a:cubicBezTo>
                  <a:pt x="152161" y="207883"/>
                  <a:pt x="195738" y="207883"/>
                  <a:pt x="222646" y="180975"/>
                </a:cubicBezTo>
                <a:lnTo>
                  <a:pt x="276129" y="127492"/>
                </a:lnTo>
                <a:close/>
                <a:moveTo>
                  <a:pt x="28670" y="116347"/>
                </a:moveTo>
                <a:cubicBezTo>
                  <a:pt x="1762" y="143256"/>
                  <a:pt x="1762" y="186832"/>
                  <a:pt x="28670" y="213741"/>
                </a:cubicBezTo>
                <a:cubicBezTo>
                  <a:pt x="52482" y="237553"/>
                  <a:pt x="90011" y="240649"/>
                  <a:pt x="117395" y="221075"/>
                </a:cubicBezTo>
                <a:lnTo>
                  <a:pt x="118157" y="220551"/>
                </a:lnTo>
                <a:cubicBezTo>
                  <a:pt x="125015" y="215645"/>
                  <a:pt x="126587" y="206120"/>
                  <a:pt x="121681" y="199310"/>
                </a:cubicBezTo>
                <a:cubicBezTo>
                  <a:pt x="116776" y="192500"/>
                  <a:pt x="107251" y="190880"/>
                  <a:pt x="100441" y="195786"/>
                </a:cubicBezTo>
                <a:lnTo>
                  <a:pt x="99679" y="196310"/>
                </a:lnTo>
                <a:cubicBezTo>
                  <a:pt x="84391" y="207216"/>
                  <a:pt x="63484" y="205501"/>
                  <a:pt x="50244" y="192214"/>
                </a:cubicBezTo>
                <a:cubicBezTo>
                  <a:pt x="35242" y="177165"/>
                  <a:pt x="35242" y="152876"/>
                  <a:pt x="50244" y="137874"/>
                </a:cubicBezTo>
                <a:lnTo>
                  <a:pt x="103679" y="84391"/>
                </a:lnTo>
                <a:cubicBezTo>
                  <a:pt x="118681" y="69389"/>
                  <a:pt x="142970" y="69389"/>
                  <a:pt x="157972" y="84391"/>
                </a:cubicBezTo>
                <a:cubicBezTo>
                  <a:pt x="171259" y="97678"/>
                  <a:pt x="172974" y="118586"/>
                  <a:pt x="162067" y="133873"/>
                </a:cubicBezTo>
                <a:lnTo>
                  <a:pt x="161544" y="134635"/>
                </a:lnTo>
                <a:cubicBezTo>
                  <a:pt x="156638" y="141493"/>
                  <a:pt x="158257" y="151018"/>
                  <a:pt x="165068" y="155876"/>
                </a:cubicBezTo>
                <a:cubicBezTo>
                  <a:pt x="171878" y="160734"/>
                  <a:pt x="181451" y="159162"/>
                  <a:pt x="186309" y="152352"/>
                </a:cubicBezTo>
                <a:lnTo>
                  <a:pt x="186832" y="151590"/>
                </a:lnTo>
                <a:cubicBezTo>
                  <a:pt x="206454" y="124206"/>
                  <a:pt x="203358" y="86677"/>
                  <a:pt x="179546" y="62865"/>
                </a:cubicBezTo>
                <a:cubicBezTo>
                  <a:pt x="152638" y="35956"/>
                  <a:pt x="109061" y="35956"/>
                  <a:pt x="82153" y="62865"/>
                </a:cubicBezTo>
                <a:lnTo>
                  <a:pt x="28670" y="116347"/>
                </a:lnTo>
                <a:close/>
              </a:path>
            </a:pathLst>
          </a:custGeom>
          <a:solidFill>
            <a:srgbClr val="D4A373"/>
          </a:solidFill>
          <a:ln>
            <a:noFill/>
          </a:ln>
          <a:effectLst/>
        </p:spPr>
      </p:sp>
      <p:sp>
        <p:nvSpPr>
          <p:cNvPr id="23" name="dsl:v2-title"/>
          <p:cNvSpPr txBox="1"/>
          <p:nvPr/>
        </p:nvSpPr>
        <p:spPr>
          <a:xfrm>
            <a:off x="4505325" y="1714500"/>
            <a:ext cx="3181350" cy="247650"/>
          </a:xfrm>
          <a:prstGeom prst="rect">
            <a:avLst/>
          </a:prstGeom>
          <a:noFill/>
        </p:spPr>
        <p:txBody>
          <a:bodyPr wrap="none" anchor="ctr">
            <a:noAutofit/>
          </a:bodyPr>
          <a:lstStyle/>
          <a:p>
            <a:pPr algn="l"/>
            <a:r>
              <a:rPr b="1" sz="1500" noProof="1">
                <a:solidFill>
                  <a:srgbClr val="2D6A6A"/>
                </a:solidFill>
                <a:latin typeface="Liter"/>
                <a:ea typeface="Liter"/>
              </a:rPr>
              <a:t>Better Correlation</a:t>
            </a:r>
          </a:p>
        </p:txBody>
      </p:sp>
      <p:sp>
        <p:nvSpPr>
          <p:cNvPr id="24" name="dsl:v2-desc"/>
          <p:cNvSpPr txBox="1"/>
          <p:nvPr/>
        </p:nvSpPr>
        <p:spPr>
          <a:xfrm>
            <a:off x="4505325" y="2038350"/>
            <a:ext cx="3181350" cy="1428750"/>
          </a:xfrm>
          <a:prstGeom prst="rect">
            <a:avLst/>
          </a:prstGeom>
          <a:noFill/>
        </p:spPr>
        <p:txBody>
          <a:bodyPr wrap="square" anchor="t">
            <a:noAutofit/>
          </a:bodyPr>
          <a:lstStyle/>
          <a:p>
            <a:pPr algn="l"/>
            <a:r>
              <a:rPr sz="1200" noProof="1">
                <a:solidFill>
                  <a:srgbClr val="2B2D2F"/>
                </a:solidFill>
                <a:latin typeface="QuattrocentoSans"/>
                <a:ea typeface="QuattrocentoSans"/>
              </a:rPr>
              <a:t>Time-windowed and indicator-based grouping reconstructs complete attack chains from isolated alerts.</a:t>
            </a:r>
          </a:p>
        </p:txBody>
      </p:sp>
      <p:sp>
        <p:nvSpPr>
          <p:cNvPr id="25" name="dsl:v3-bg"/>
          <p:cNvSpPr/>
          <p:nvPr/>
        </p:nvSpPr>
        <p:spPr>
          <a:xfrm>
            <a:off x="8067675" y="1123950"/>
            <a:ext cx="3552825"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v3-accent"/>
          <p:cNvSpPr/>
          <p:nvPr/>
        </p:nvSpPr>
        <p:spPr>
          <a:xfrm>
            <a:off x="8067675" y="1123950"/>
            <a:ext cx="3552825"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v3-icon|i=fas:bell-slash"/>
          <p:cNvSpPr/>
          <p:nvPr/>
        </p:nvSpPr>
        <p:spPr>
          <a:xfrm>
            <a:off x="8258175" y="1344930"/>
            <a:ext cx="304800" cy="243840"/>
          </a:xfrm>
          <a:custGeom>
            <a:avLst/>
            <a:gdLst/>
            <a:ahLst/>
            <a:cxnLst/>
            <a:rect l="l" t="t" r="r" b="b"/>
            <a:pathLst>
              <a:path w="304800" h="243840">
                <a:moveTo>
                  <a:pt x="18478" y="2428"/>
                </a:moveTo>
                <a:cubicBezTo>
                  <a:pt x="13525" y="-1476"/>
                  <a:pt x="6334" y="-571"/>
                  <a:pt x="2428" y="4381"/>
                </a:cubicBezTo>
                <a:cubicBezTo>
                  <a:pt x="-1476" y="9334"/>
                  <a:pt x="-571" y="16525"/>
                  <a:pt x="4381" y="20431"/>
                </a:cubicBezTo>
                <a:lnTo>
                  <a:pt x="286321" y="241411"/>
                </a:lnTo>
                <a:cubicBezTo>
                  <a:pt x="291274" y="245316"/>
                  <a:pt x="298465" y="244411"/>
                  <a:pt x="302371" y="239458"/>
                </a:cubicBezTo>
                <a:cubicBezTo>
                  <a:pt x="306276" y="234505"/>
                  <a:pt x="305371" y="227314"/>
                  <a:pt x="300418" y="223408"/>
                </a:cubicBezTo>
                <a:lnTo>
                  <a:pt x="257460" y="189738"/>
                </a:lnTo>
                <a:cubicBezTo>
                  <a:pt x="258413" y="191643"/>
                  <a:pt x="259365" y="194024"/>
                  <a:pt x="260318" y="189118"/>
                </a:cubicBezTo>
                <a:cubicBezTo>
                  <a:pt x="262794" y="183641"/>
                  <a:pt x="261794" y="177212"/>
                  <a:pt x="257794" y="172735"/>
                </a:cubicBezTo>
                <a:lnTo>
                  <a:pt x="254269" y="168783"/>
                </a:lnTo>
                <a:cubicBezTo>
                  <a:pt x="236839" y="152019"/>
                  <a:pt x="228600" y="130444"/>
                  <a:pt x="228600" y="108013"/>
                </a:cubicBezTo>
                <a:lnTo>
                  <a:pt x="228600" y="99060"/>
                </a:lnTo>
                <a:cubicBezTo>
                  <a:pt x="228600" y="62198"/>
                  <a:pt x="202406" y="31432"/>
                  <a:pt x="167640" y="24383"/>
                </a:cubicBezTo>
                <a:lnTo>
                  <a:pt x="167640" y="15240"/>
                </a:lnTo>
                <a:cubicBezTo>
                  <a:pt x="167640" y="6810"/>
                  <a:pt x="160829" y="0"/>
                  <a:pt x="152400" y="0"/>
                </a:cubicBezTo>
                <a:cubicBezTo>
                  <a:pt x="143970" y="0"/>
                  <a:pt x="137160" y="6810"/>
                  <a:pt x="137160" y="15240"/>
                </a:cubicBezTo>
                <a:lnTo>
                  <a:pt x="137160" y="24384"/>
                </a:lnTo>
                <a:cubicBezTo>
                  <a:pt x="116871" y="28479"/>
                  <a:pt x="99536" y="40671"/>
                  <a:pt x="88582" y="57388"/>
                </a:cubicBezTo>
                <a:lnTo>
                  <a:pt x="18478" y="2428"/>
                </a:lnTo>
                <a:close/>
                <a:moveTo>
                  <a:pt x="193452" y="198120"/>
                </a:moveTo>
                <a:lnTo>
                  <a:pt x="76200" y="105775"/>
                </a:lnTo>
                <a:lnTo>
                  <a:pt x="76200" y="108061"/>
                </a:lnTo>
                <a:cubicBezTo>
                  <a:pt x="76200" y="130444"/>
                  <a:pt x="67960" y="152066"/>
                  <a:pt x="53101" y="168830"/>
                </a:cubicBezTo>
                <a:lnTo>
                  <a:pt x="49577" y="172783"/>
                </a:lnTo>
                <a:cubicBezTo>
                  <a:pt x="45577" y="177260"/>
                  <a:pt x="44624" y="183689"/>
                  <a:pt x="47053" y="189166"/>
                </a:cubicBezTo>
                <a:cubicBezTo>
                  <a:pt x="49482" y="194643"/>
                  <a:pt x="54959" y="198120"/>
                  <a:pt x="60960" y="198120"/>
                </a:cubicBezTo>
                <a:lnTo>
                  <a:pt x="193452" y="198120"/>
                </a:lnTo>
                <a:close/>
                <a:moveTo>
                  <a:pt x="173974" y="234934"/>
                </a:moveTo>
                <a:cubicBezTo>
                  <a:pt x="179689" y="229219"/>
                  <a:pt x="182880" y="221456"/>
                  <a:pt x="182880" y="213360"/>
                </a:cubicBezTo>
                <a:lnTo>
                  <a:pt x="152400" y="213360"/>
                </a:lnTo>
                <a:lnTo>
                  <a:pt x="121920" y="213360"/>
                </a:lnTo>
                <a:cubicBezTo>
                  <a:pt x="121920" y="221456"/>
                  <a:pt x="125110" y="229219"/>
                  <a:pt x="130825" y="234934"/>
                </a:cubicBezTo>
                <a:cubicBezTo>
                  <a:pt x="136540" y="240649"/>
                  <a:pt x="144303" y="243840"/>
                  <a:pt x="152400" y="243840"/>
                </a:cubicBezTo>
                <a:cubicBezTo>
                  <a:pt x="160496" y="243840"/>
                  <a:pt x="168259" y="240649"/>
                  <a:pt x="173974" y="234934"/>
                </a:cubicBezTo>
                <a:close/>
              </a:path>
            </a:pathLst>
          </a:custGeom>
          <a:solidFill>
            <a:srgbClr val="D4A373"/>
          </a:solidFill>
          <a:ln>
            <a:noFill/>
          </a:ln>
          <a:effectLst/>
        </p:spPr>
      </p:sp>
      <p:sp>
        <p:nvSpPr>
          <p:cNvPr id="28" name="dsl:v3-title"/>
          <p:cNvSpPr txBox="1"/>
          <p:nvPr/>
        </p:nvSpPr>
        <p:spPr>
          <a:xfrm>
            <a:off x="8258175" y="1714500"/>
            <a:ext cx="3171825" cy="247650"/>
          </a:xfrm>
          <a:prstGeom prst="rect">
            <a:avLst/>
          </a:prstGeom>
          <a:noFill/>
        </p:spPr>
        <p:txBody>
          <a:bodyPr wrap="none" anchor="ctr">
            <a:noAutofit/>
          </a:bodyPr>
          <a:lstStyle/>
          <a:p>
            <a:pPr algn="l"/>
            <a:r>
              <a:rPr b="1" sz="1500" noProof="1">
                <a:solidFill>
                  <a:srgbClr val="2D6A6A"/>
                </a:solidFill>
                <a:latin typeface="Liter"/>
                <a:ea typeface="Liter"/>
              </a:rPr>
              <a:t>Reduced Alert Fatigue</a:t>
            </a:r>
          </a:p>
        </p:txBody>
      </p:sp>
      <p:sp>
        <p:nvSpPr>
          <p:cNvPr id="29" name="dsl:v3-desc"/>
          <p:cNvSpPr txBox="1"/>
          <p:nvPr/>
        </p:nvSpPr>
        <p:spPr>
          <a:xfrm>
            <a:off x="8258175" y="2038350"/>
            <a:ext cx="3171825" cy="1428750"/>
          </a:xfrm>
          <a:prstGeom prst="rect">
            <a:avLst/>
          </a:prstGeom>
          <a:noFill/>
        </p:spPr>
        <p:txBody>
          <a:bodyPr wrap="square" anchor="t">
            <a:noAutofit/>
          </a:bodyPr>
          <a:lstStyle/>
          <a:p>
            <a:pPr algn="l"/>
            <a:r>
              <a:rPr sz="1200" noProof="1">
                <a:solidFill>
                  <a:srgbClr val="2B2D2F"/>
                </a:solidFill>
                <a:latin typeface="QuattrocentoSans"/>
                <a:ea typeface="QuattrocentoSans"/>
              </a:rPr>
              <a:t>Deduplication and Sigma noise filtering suppress repetitive and low-value alerts before they reach analysts.</a:t>
            </a:r>
          </a:p>
        </p:txBody>
      </p:sp>
      <p:sp>
        <p:nvSpPr>
          <p:cNvPr id="30" name="dsl:v4-bg"/>
          <p:cNvSpPr/>
          <p:nvPr/>
        </p:nvSpPr>
        <p:spPr>
          <a:xfrm>
            <a:off x="571500" y="3790950"/>
            <a:ext cx="3552825"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v4-accent"/>
          <p:cNvSpPr/>
          <p:nvPr/>
        </p:nvSpPr>
        <p:spPr>
          <a:xfrm>
            <a:off x="571500" y="3790950"/>
            <a:ext cx="3552825"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v4-icon|i=fas:eye"/>
          <p:cNvSpPr/>
          <p:nvPr/>
        </p:nvSpPr>
        <p:spPr>
          <a:xfrm>
            <a:off x="762000" y="3998383"/>
            <a:ext cx="304800" cy="270933"/>
          </a:xfrm>
          <a:custGeom>
            <a:avLst/>
            <a:gdLst/>
            <a:ahLst/>
            <a:cxnLst/>
            <a:rect l="l" t="t" r="r" b="b"/>
            <a:pathLst>
              <a:path w="304800" h="270933">
                <a:moveTo>
                  <a:pt x="152400" y="42333"/>
                </a:moveTo>
                <a:cubicBezTo>
                  <a:pt x="117898" y="42333"/>
                  <a:pt x="89534" y="57996"/>
                  <a:pt x="67786" y="78157"/>
                </a:cubicBezTo>
                <a:cubicBezTo>
                  <a:pt x="47413" y="97102"/>
                  <a:pt x="33337" y="119591"/>
                  <a:pt x="26140" y="135466"/>
                </a:cubicBezTo>
                <a:cubicBezTo>
                  <a:pt x="33337" y="151341"/>
                  <a:pt x="47413" y="173831"/>
                  <a:pt x="67733" y="192775"/>
                </a:cubicBezTo>
                <a:cubicBezTo>
                  <a:pt x="89534" y="212936"/>
                  <a:pt x="117898" y="228599"/>
                  <a:pt x="152400" y="228599"/>
                </a:cubicBezTo>
                <a:cubicBezTo>
                  <a:pt x="186901" y="228599"/>
                  <a:pt x="215265" y="212936"/>
                  <a:pt x="237013" y="192775"/>
                </a:cubicBezTo>
                <a:cubicBezTo>
                  <a:pt x="257386" y="173831"/>
                  <a:pt x="271462" y="151341"/>
                  <a:pt x="278659" y="135466"/>
                </a:cubicBezTo>
                <a:cubicBezTo>
                  <a:pt x="271462" y="119591"/>
                  <a:pt x="257386" y="97102"/>
                  <a:pt x="237066" y="78157"/>
                </a:cubicBezTo>
                <a:cubicBezTo>
                  <a:pt x="215265" y="57996"/>
                  <a:pt x="186901" y="42333"/>
                  <a:pt x="152400" y="42333"/>
                </a:cubicBezTo>
                <a:close/>
                <a:moveTo>
                  <a:pt x="50482" y="59584"/>
                </a:moveTo>
                <a:cubicBezTo>
                  <a:pt x="75406" y="36406"/>
                  <a:pt x="109643" y="16933"/>
                  <a:pt x="152400" y="16933"/>
                </a:cubicBezTo>
                <a:cubicBezTo>
                  <a:pt x="195156" y="16933"/>
                  <a:pt x="229393" y="36406"/>
                  <a:pt x="254317" y="59584"/>
                </a:cubicBezTo>
                <a:cubicBezTo>
                  <a:pt x="279082" y="82602"/>
                  <a:pt x="295645" y="110066"/>
                  <a:pt x="303530" y="128957"/>
                </a:cubicBezTo>
                <a:cubicBezTo>
                  <a:pt x="305276" y="133138"/>
                  <a:pt x="305276" y="137794"/>
                  <a:pt x="303530" y="141975"/>
                </a:cubicBezTo>
                <a:cubicBezTo>
                  <a:pt x="295645" y="160866"/>
                  <a:pt x="279082" y="188383"/>
                  <a:pt x="254317" y="211349"/>
                </a:cubicBezTo>
                <a:cubicBezTo>
                  <a:pt x="229393" y="234526"/>
                  <a:pt x="195156" y="253999"/>
                  <a:pt x="152400" y="253999"/>
                </a:cubicBezTo>
                <a:cubicBezTo>
                  <a:pt x="109643" y="253999"/>
                  <a:pt x="75406" y="234526"/>
                  <a:pt x="50482" y="211349"/>
                </a:cubicBezTo>
                <a:cubicBezTo>
                  <a:pt x="25717" y="188383"/>
                  <a:pt x="9154" y="160866"/>
                  <a:pt x="1322" y="141975"/>
                </a:cubicBezTo>
                <a:cubicBezTo>
                  <a:pt x="-423" y="137795"/>
                  <a:pt x="-423" y="133138"/>
                  <a:pt x="1322" y="128957"/>
                </a:cubicBezTo>
                <a:cubicBezTo>
                  <a:pt x="9154" y="110066"/>
                  <a:pt x="25717" y="82550"/>
                  <a:pt x="50482" y="59584"/>
                </a:cubicBezTo>
                <a:close/>
                <a:moveTo>
                  <a:pt x="152400" y="177800"/>
                </a:moveTo>
                <a:cubicBezTo>
                  <a:pt x="175789" y="177800"/>
                  <a:pt x="194733" y="158855"/>
                  <a:pt x="194733" y="135466"/>
                </a:cubicBezTo>
                <a:cubicBezTo>
                  <a:pt x="194733" y="112077"/>
                  <a:pt x="175789" y="93133"/>
                  <a:pt x="152400" y="93133"/>
                </a:cubicBezTo>
                <a:cubicBezTo>
                  <a:pt x="156104" y="93133"/>
                  <a:pt x="151712" y="93133"/>
                  <a:pt x="151341" y="93133"/>
                </a:cubicBezTo>
                <a:cubicBezTo>
                  <a:pt x="152029" y="95832"/>
                  <a:pt x="152400" y="98689"/>
                  <a:pt x="152400" y="101600"/>
                </a:cubicBezTo>
                <a:cubicBezTo>
                  <a:pt x="152400" y="120279"/>
                  <a:pt x="137212" y="135466"/>
                  <a:pt x="118533" y="135466"/>
                </a:cubicBezTo>
                <a:cubicBezTo>
                  <a:pt x="115622" y="135466"/>
                  <a:pt x="112765" y="139170"/>
                  <a:pt x="110066" y="134408"/>
                </a:cubicBezTo>
                <a:cubicBezTo>
                  <a:pt x="110066" y="138112"/>
                  <a:pt x="110066" y="135096"/>
                  <a:pt x="110066" y="135466"/>
                </a:cubicBezTo>
                <a:cubicBezTo>
                  <a:pt x="110066" y="158855"/>
                  <a:pt x="129010" y="177800"/>
                  <a:pt x="152400" y="177800"/>
                </a:cubicBezTo>
                <a:close/>
                <a:moveTo>
                  <a:pt x="152400" y="67733"/>
                </a:moveTo>
                <a:cubicBezTo>
                  <a:pt x="189557" y="67733"/>
                  <a:pt x="220133" y="98309"/>
                  <a:pt x="220133" y="135466"/>
                </a:cubicBezTo>
                <a:cubicBezTo>
                  <a:pt x="220133" y="172624"/>
                  <a:pt x="189557" y="203200"/>
                  <a:pt x="152400" y="203200"/>
                </a:cubicBezTo>
                <a:cubicBezTo>
                  <a:pt x="115242" y="203200"/>
                  <a:pt x="84666" y="172624"/>
                  <a:pt x="84666" y="135466"/>
                </a:cubicBezTo>
                <a:cubicBezTo>
                  <a:pt x="84666" y="98309"/>
                  <a:pt x="115242" y="67733"/>
                  <a:pt x="152400" y="67733"/>
                </a:cubicBezTo>
                <a:close/>
              </a:path>
            </a:pathLst>
          </a:custGeom>
          <a:solidFill>
            <a:srgbClr val="2D6A6A"/>
          </a:solidFill>
          <a:ln>
            <a:noFill/>
          </a:ln>
          <a:effectLst/>
        </p:spPr>
      </p:sp>
      <p:sp>
        <p:nvSpPr>
          <p:cNvPr id="33" name="dsl:v4-title"/>
          <p:cNvSpPr txBox="1"/>
          <p:nvPr/>
        </p:nvSpPr>
        <p:spPr>
          <a:xfrm>
            <a:off x="762000" y="4381500"/>
            <a:ext cx="3171825" cy="247650"/>
          </a:xfrm>
          <a:prstGeom prst="rect">
            <a:avLst/>
          </a:prstGeom>
          <a:noFill/>
        </p:spPr>
        <p:txBody>
          <a:bodyPr wrap="none" anchor="ctr">
            <a:noAutofit/>
          </a:bodyPr>
          <a:lstStyle/>
          <a:p>
            <a:pPr algn="l"/>
            <a:r>
              <a:rPr b="1" sz="1500" noProof="1">
                <a:solidFill>
                  <a:srgbClr val="2D6A6A"/>
                </a:solidFill>
                <a:latin typeface="Liter"/>
                <a:ea typeface="Liter"/>
              </a:rPr>
              <a:t>Stronger Visibility</a:t>
            </a:r>
          </a:p>
        </p:txBody>
      </p:sp>
      <p:sp>
        <p:nvSpPr>
          <p:cNvPr id="34" name="dsl:v4-desc"/>
          <p:cNvSpPr txBox="1"/>
          <p:nvPr/>
        </p:nvSpPr>
        <p:spPr>
          <a:xfrm>
            <a:off x="762000" y="4705350"/>
            <a:ext cx="3171825" cy="1428750"/>
          </a:xfrm>
          <a:prstGeom prst="rect">
            <a:avLst/>
          </a:prstGeom>
          <a:noFill/>
        </p:spPr>
        <p:txBody>
          <a:bodyPr wrap="square" anchor="t">
            <a:noAutofit/>
          </a:bodyPr>
          <a:lstStyle/>
          <a:p>
            <a:pPr algn="l"/>
            <a:r>
              <a:rPr sz="1200" noProof="1">
                <a:solidFill>
                  <a:srgbClr val="2B2D2F"/>
                </a:solidFill>
                <a:latin typeface="QuattrocentoSans"/>
                <a:ea typeface="QuattrocentoSans"/>
              </a:rPr>
              <a:t>Network + host + runtime + metrics in a unified monitoring stack. No blind spots across the attack surface.</a:t>
            </a:r>
          </a:p>
        </p:txBody>
      </p:sp>
      <p:sp>
        <p:nvSpPr>
          <p:cNvPr id="35" name="dsl:v5-bg"/>
          <p:cNvSpPr/>
          <p:nvPr/>
        </p:nvSpPr>
        <p:spPr>
          <a:xfrm>
            <a:off x="4314825" y="3790950"/>
            <a:ext cx="35623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sl:v5-accent"/>
          <p:cNvSpPr/>
          <p:nvPr/>
        </p:nvSpPr>
        <p:spPr>
          <a:xfrm>
            <a:off x="4314825" y="3790950"/>
            <a:ext cx="3562350"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l:v5-icon|i=fas:shield-halved"/>
          <p:cNvSpPr/>
          <p:nvPr/>
        </p:nvSpPr>
        <p:spPr>
          <a:xfrm>
            <a:off x="4505325" y="3981450"/>
            <a:ext cx="304800" cy="304800"/>
          </a:xfrm>
          <a:custGeom>
            <a:avLst/>
            <a:gdLst/>
            <a:ahLst/>
            <a:cxnLst/>
            <a:rect l="l" t="t" r="r" b="b"/>
            <a:pathLst>
              <a:path w="304800" h="304800">
                <a:moveTo>
                  <a:pt x="152400" y="0"/>
                </a:moveTo>
                <a:cubicBezTo>
                  <a:pt x="155138" y="0"/>
                  <a:pt x="157876" y="595"/>
                  <a:pt x="160377" y="1726"/>
                </a:cubicBezTo>
                <a:lnTo>
                  <a:pt x="272474" y="49291"/>
                </a:lnTo>
                <a:cubicBezTo>
                  <a:pt x="285571" y="54828"/>
                  <a:pt x="295334" y="67746"/>
                  <a:pt x="295275" y="83343"/>
                </a:cubicBezTo>
                <a:cubicBezTo>
                  <a:pt x="298251" y="142398"/>
                  <a:pt x="270688" y="250447"/>
                  <a:pt x="168116" y="299561"/>
                </a:cubicBezTo>
                <a:cubicBezTo>
                  <a:pt x="158174" y="304323"/>
                  <a:pt x="146625" y="304323"/>
                  <a:pt x="136683" y="299561"/>
                </a:cubicBezTo>
                <a:cubicBezTo>
                  <a:pt x="34111" y="250447"/>
                  <a:pt x="9822" y="142398"/>
                  <a:pt x="9525" y="83343"/>
                </a:cubicBezTo>
                <a:cubicBezTo>
                  <a:pt x="10120" y="67746"/>
                  <a:pt x="19228" y="54828"/>
                  <a:pt x="32325" y="49291"/>
                </a:cubicBezTo>
                <a:lnTo>
                  <a:pt x="144482" y="1726"/>
                </a:lnTo>
                <a:cubicBezTo>
                  <a:pt x="146923" y="595"/>
                  <a:pt x="149661" y="0"/>
                  <a:pt x="152400" y="0"/>
                </a:cubicBezTo>
                <a:close/>
                <a:moveTo>
                  <a:pt x="152400" y="39766"/>
                </a:moveTo>
                <a:lnTo>
                  <a:pt x="152400" y="264795"/>
                </a:lnTo>
                <a:cubicBezTo>
                  <a:pt x="234553" y="225028"/>
                  <a:pt x="256639" y="136981"/>
                  <a:pt x="257175" y="84177"/>
                </a:cubicBezTo>
                <a:lnTo>
                  <a:pt x="152400" y="39766"/>
                </a:lnTo>
                <a:lnTo>
                  <a:pt x="152400" y="39766"/>
                </a:lnTo>
                <a:close/>
              </a:path>
            </a:pathLst>
          </a:custGeom>
          <a:solidFill>
            <a:srgbClr val="2D6A6A"/>
          </a:solidFill>
          <a:ln>
            <a:noFill/>
          </a:ln>
          <a:effectLst/>
        </p:spPr>
      </p:sp>
      <p:sp>
        <p:nvSpPr>
          <p:cNvPr id="38" name="dsl:v5-title"/>
          <p:cNvSpPr txBox="1"/>
          <p:nvPr/>
        </p:nvSpPr>
        <p:spPr>
          <a:xfrm>
            <a:off x="4505325" y="4381500"/>
            <a:ext cx="3181350" cy="247650"/>
          </a:xfrm>
          <a:prstGeom prst="rect">
            <a:avLst/>
          </a:prstGeom>
          <a:noFill/>
        </p:spPr>
        <p:txBody>
          <a:bodyPr wrap="none" anchor="ctr">
            <a:noAutofit/>
          </a:bodyPr>
          <a:lstStyle/>
          <a:p>
            <a:pPr algn="l"/>
            <a:r>
              <a:rPr b="1" sz="1500" noProof="1">
                <a:solidFill>
                  <a:srgbClr val="2D6A6A"/>
                </a:solidFill>
                <a:latin typeface="Liter"/>
                <a:ea typeface="Liter"/>
              </a:rPr>
              <a:t>Consistent Response</a:t>
            </a:r>
          </a:p>
        </p:txBody>
      </p:sp>
      <p:sp>
        <p:nvSpPr>
          <p:cNvPr id="39" name="dsl:v5-desc"/>
          <p:cNvSpPr txBox="1"/>
          <p:nvPr/>
        </p:nvSpPr>
        <p:spPr>
          <a:xfrm>
            <a:off x="4505325" y="4705350"/>
            <a:ext cx="3181350" cy="1428750"/>
          </a:xfrm>
          <a:prstGeom prst="rect">
            <a:avLst/>
          </a:prstGeom>
          <a:noFill/>
        </p:spPr>
        <p:txBody>
          <a:bodyPr wrap="square" anchor="t">
            <a:noAutofit/>
          </a:bodyPr>
          <a:lstStyle/>
          <a:p>
            <a:pPr algn="l"/>
            <a:r>
              <a:rPr sz="1200" noProof="1">
                <a:solidFill>
                  <a:srgbClr val="2B2D2F"/>
                </a:solidFill>
                <a:latin typeface="QuattrocentoSans"/>
                <a:ea typeface="QuattrocentoSans"/>
              </a:rPr>
              <a:t>Approval-gated Ansible playbooks with verification ensure every response follows the same controlled process.</a:t>
            </a:r>
          </a:p>
        </p:txBody>
      </p:sp>
      <p:sp>
        <p:nvSpPr>
          <p:cNvPr id="40" name="dsl:v6-bg"/>
          <p:cNvSpPr/>
          <p:nvPr/>
        </p:nvSpPr>
        <p:spPr>
          <a:xfrm>
            <a:off x="8067675" y="3790950"/>
            <a:ext cx="3552825"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sl:v6-accent"/>
          <p:cNvSpPr/>
          <p:nvPr/>
        </p:nvSpPr>
        <p:spPr>
          <a:xfrm>
            <a:off x="8067675" y="3790950"/>
            <a:ext cx="3552825"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sl:v6-icon|i=fas:chart-line"/>
          <p:cNvSpPr/>
          <p:nvPr/>
        </p:nvSpPr>
        <p:spPr>
          <a:xfrm>
            <a:off x="8258175" y="3981450"/>
            <a:ext cx="304800" cy="304800"/>
          </a:xfrm>
          <a:custGeom>
            <a:avLst/>
            <a:gdLst/>
            <a:ahLst/>
            <a:cxnLst/>
            <a:rect l="l" t="t" r="r" b="b"/>
            <a:pathLst>
              <a:path w="304800" h="304800">
                <a:moveTo>
                  <a:pt x="38100" y="38100"/>
                </a:moveTo>
                <a:cubicBezTo>
                  <a:pt x="38100" y="27562"/>
                  <a:pt x="29587" y="19050"/>
                  <a:pt x="19050" y="19050"/>
                </a:cubicBezTo>
                <a:cubicBezTo>
                  <a:pt x="8512" y="19050"/>
                  <a:pt x="0" y="27562"/>
                  <a:pt x="0" y="38100"/>
                </a:cubicBezTo>
                <a:lnTo>
                  <a:pt x="0" y="238125"/>
                </a:lnTo>
                <a:cubicBezTo>
                  <a:pt x="0" y="264437"/>
                  <a:pt x="21312" y="285750"/>
                  <a:pt x="47625" y="285750"/>
                </a:cubicBezTo>
                <a:lnTo>
                  <a:pt x="285750" y="285750"/>
                </a:lnTo>
                <a:cubicBezTo>
                  <a:pt x="296287" y="285750"/>
                  <a:pt x="304800" y="277237"/>
                  <a:pt x="304800" y="266700"/>
                </a:cubicBezTo>
                <a:cubicBezTo>
                  <a:pt x="304800" y="256162"/>
                  <a:pt x="296287" y="247650"/>
                  <a:pt x="285750" y="247650"/>
                </a:cubicBezTo>
                <a:lnTo>
                  <a:pt x="47625" y="247650"/>
                </a:lnTo>
                <a:cubicBezTo>
                  <a:pt x="42386" y="247650"/>
                  <a:pt x="38100" y="243363"/>
                  <a:pt x="38100" y="238125"/>
                </a:cubicBezTo>
                <a:lnTo>
                  <a:pt x="38100" y="38100"/>
                </a:lnTo>
                <a:close/>
                <a:moveTo>
                  <a:pt x="280154" y="89654"/>
                </a:moveTo>
                <a:cubicBezTo>
                  <a:pt x="287595" y="82212"/>
                  <a:pt x="287595" y="70127"/>
                  <a:pt x="280154" y="62686"/>
                </a:cubicBezTo>
                <a:cubicBezTo>
                  <a:pt x="272712" y="55245"/>
                  <a:pt x="260627" y="55245"/>
                  <a:pt x="253186" y="62686"/>
                </a:cubicBezTo>
                <a:lnTo>
                  <a:pt x="190500" y="125432"/>
                </a:lnTo>
                <a:lnTo>
                  <a:pt x="156329" y="91261"/>
                </a:lnTo>
                <a:cubicBezTo>
                  <a:pt x="148887" y="83819"/>
                  <a:pt x="136802" y="83819"/>
                  <a:pt x="129361" y="91261"/>
                </a:cubicBezTo>
                <a:lnTo>
                  <a:pt x="62686" y="157936"/>
                </a:lnTo>
                <a:cubicBezTo>
                  <a:pt x="55245" y="165377"/>
                  <a:pt x="55245" y="177462"/>
                  <a:pt x="62686" y="184904"/>
                </a:cubicBezTo>
                <a:cubicBezTo>
                  <a:pt x="70127" y="192345"/>
                  <a:pt x="82212" y="192345"/>
                  <a:pt x="89654" y="184904"/>
                </a:cubicBezTo>
                <a:lnTo>
                  <a:pt x="142875" y="131742"/>
                </a:lnTo>
                <a:lnTo>
                  <a:pt x="177045" y="165913"/>
                </a:lnTo>
                <a:cubicBezTo>
                  <a:pt x="184487" y="173355"/>
                  <a:pt x="196572" y="173355"/>
                  <a:pt x="204013" y="165913"/>
                </a:cubicBezTo>
                <a:lnTo>
                  <a:pt x="280213" y="89713"/>
                </a:lnTo>
                <a:close/>
              </a:path>
            </a:pathLst>
          </a:custGeom>
          <a:solidFill>
            <a:srgbClr val="2D6A6A"/>
          </a:solidFill>
          <a:ln>
            <a:noFill/>
          </a:ln>
          <a:effectLst/>
        </p:spPr>
      </p:sp>
      <p:sp>
        <p:nvSpPr>
          <p:cNvPr id="43" name="dsl:v6-title"/>
          <p:cNvSpPr txBox="1"/>
          <p:nvPr/>
        </p:nvSpPr>
        <p:spPr>
          <a:xfrm>
            <a:off x="8258175" y="4381500"/>
            <a:ext cx="3171825" cy="247650"/>
          </a:xfrm>
          <a:prstGeom prst="rect">
            <a:avLst/>
          </a:prstGeom>
          <a:noFill/>
        </p:spPr>
        <p:txBody>
          <a:bodyPr wrap="none" anchor="ctr">
            <a:noAutofit/>
          </a:bodyPr>
          <a:lstStyle/>
          <a:p>
            <a:pPr algn="l"/>
            <a:r>
              <a:rPr b="1" sz="1500" noProof="1">
                <a:solidFill>
                  <a:srgbClr val="2D6A6A"/>
                </a:solidFill>
                <a:latin typeface="Liter"/>
                <a:ea typeface="Liter"/>
              </a:rPr>
              <a:t>Improved Efficiency</a:t>
            </a:r>
          </a:p>
        </p:txBody>
      </p:sp>
      <p:sp>
        <p:nvSpPr>
          <p:cNvPr id="44" name="dsl:v6-desc"/>
          <p:cNvSpPr txBox="1"/>
          <p:nvPr/>
        </p:nvSpPr>
        <p:spPr>
          <a:xfrm>
            <a:off x="8258175" y="4705350"/>
            <a:ext cx="3171825" cy="1428750"/>
          </a:xfrm>
          <a:prstGeom prst="rect">
            <a:avLst/>
          </a:prstGeom>
          <a:noFill/>
        </p:spPr>
        <p:txBody>
          <a:bodyPr wrap="square" anchor="t">
            <a:noAutofit/>
          </a:bodyPr>
          <a:lstStyle/>
          <a:p>
            <a:pPr algn="l"/>
            <a:r>
              <a:rPr sz="1200" noProof="1">
                <a:solidFill>
                  <a:srgbClr val="2B2D2F"/>
                </a:solidFill>
                <a:latin typeface="QuattrocentoSans"/>
                <a:ea typeface="QuattrocentoSans"/>
              </a:rPr>
              <a:t>Analysts focus on decisions, not repetitive tasks. The platform handles correlation, enrichment, and documentation.</a:t>
            </a:r>
          </a:p>
        </p:txBody>
      </p:sp>
      <p:sp>
        <p:nvSpPr>
          <p:cNvPr id="45" name="dsl:metrics-bg"/>
          <p:cNvSpPr/>
          <p:nvPr/>
        </p:nvSpPr>
        <p:spPr>
          <a:xfrm>
            <a:off x="571500" y="6400800"/>
            <a:ext cx="11049000" cy="1714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sl:metrics-text"/>
          <p:cNvSpPr txBox="1"/>
          <p:nvPr/>
        </p:nvSpPr>
        <p:spPr>
          <a:xfrm>
            <a:off x="571500" y="6400800"/>
            <a:ext cx="11049000" cy="171450"/>
          </a:xfrm>
          <a:prstGeom prst="rect">
            <a:avLst/>
          </a:prstGeom>
          <a:noFill/>
        </p:spPr>
        <p:txBody>
          <a:bodyPr wrap="none" anchor="ctr">
            <a:noAutofit/>
          </a:bodyPr>
          <a:lstStyle/>
          <a:p>
            <a:pPr algn="ctr"/>
            <a:r>
              <a:rPr sz="825" noProof="1" spc="75">
                <a:solidFill>
                  <a:srgbClr val="FFFFFF"/>
                </a:solidFill>
                <a:latin typeface="Liter"/>
                <a:ea typeface="Liter"/>
              </a:rPr>
              <a:t>910 TESTS  |  146 MODULES  |  12-STEP PIPELINE  |  MULTI-SERVER DEPLOYMENT</a:t>
            </a:r>
          </a:p>
        </p:txBody>
      </p:sp>
      <p:sp>
        <p:nvSpPr>
          <p:cNvPr id="47"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48"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11049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Roadmap &amp; Future Enhancements</a:t>
            </a:r>
          </a:p>
        </p:txBody>
      </p:sp>
      <p:sp>
        <p:nvSpPr>
          <p:cNvPr id="14" name="dsl:ref-note"/>
          <p:cNvSpPr txBox="1"/>
          <p:nvPr/>
        </p:nvSpPr>
        <p:spPr>
          <a:xfrm>
            <a:off x="8096250" y="552450"/>
            <a:ext cx="352425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Section 6.9</a:t>
            </a:r>
          </a:p>
        </p:txBody>
      </p:sp>
      <p:sp>
        <p:nvSpPr>
          <p:cNvPr id="15" name="dsl:limits-bg"/>
          <p:cNvSpPr/>
          <p:nvPr/>
        </p:nvSpPr>
        <p:spPr>
          <a:xfrm>
            <a:off x="571500" y="1123950"/>
            <a:ext cx="5143500" cy="2952750"/>
          </a:xfrm>
          <a:prstGeom prst="rect">
            <a:avLst/>
          </a:prstGeom>
          <a:solidFill>
            <a:srgbClr val="F5F5F2"/>
          </a:solidFill>
          <a:ln w="25400">
            <a:solidFill>
              <a:srgbClr val="E57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imits-header-bg"/>
          <p:cNvSpPr/>
          <p:nvPr/>
        </p:nvSpPr>
        <p:spPr>
          <a:xfrm>
            <a:off x="571500" y="1123950"/>
            <a:ext cx="5143500" cy="419100"/>
          </a:xfrm>
          <a:prstGeom prst="rect">
            <a:avLst/>
          </a:prstGeom>
          <a:solidFill>
            <a:srgbClr val="E57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limits-header"/>
          <p:cNvSpPr txBox="1"/>
          <p:nvPr/>
        </p:nvSpPr>
        <p:spPr>
          <a:xfrm>
            <a:off x="762000" y="1123950"/>
            <a:ext cx="4762500" cy="419100"/>
          </a:xfrm>
          <a:prstGeom prst="rect">
            <a:avLst/>
          </a:prstGeom>
          <a:noFill/>
        </p:spPr>
        <p:txBody>
          <a:bodyPr wrap="none" anchor="ctr">
            <a:noAutofit/>
          </a:bodyPr>
          <a:lstStyle/>
          <a:p>
            <a:pPr algn="l"/>
            <a:r>
              <a:rPr b="1" sz="1350" noProof="1">
                <a:solidFill>
                  <a:srgbClr val="FFFFFF"/>
                </a:solidFill>
                <a:latin typeface="Liter"/>
                <a:ea typeface="Liter"/>
              </a:rPr>
              <a:t>Current Limits (Honest)</a:t>
            </a:r>
          </a:p>
        </p:txBody>
      </p:sp>
      <p:sp>
        <p:nvSpPr>
          <p:cNvPr id="18" name="dsl:limits-body"/>
          <p:cNvSpPr txBox="1"/>
          <p:nvPr/>
        </p:nvSpPr>
        <p:spPr>
          <a:xfrm>
            <a:off x="762000" y="1695450"/>
            <a:ext cx="4762500" cy="2247900"/>
          </a:xfrm>
          <a:prstGeom prst="rect">
            <a:avLst/>
          </a:prstGeom>
          <a:noFill/>
        </p:spPr>
        <p:txBody>
          <a:bodyPr wrap="square" anchor="t">
            <a:noAutofit/>
          </a:bodyPr>
          <a:lstStyle/>
          <a:p>
            <a:pPr algn="l">
              <a:lnSpc>
                <a:spcPct val="160000"/>
              </a:lnSpc>
            </a:pPr>
            <a:r>
              <a:rPr b="1" sz="1350" noProof="1">
                <a:solidFill>
                  <a:srgbClr val="2B2D2F"/>
                </a:solidFill>
                <a:latin typeface="QuattrocentoSans"/>
                <a:ea typeface="QuattrocentoSans"/>
              </a:rPr>
              <a:t>Single-node Brain</a:t>
            </a:r>
            <a:r>
              <a:rPr sz="1350" noProof="1">
                <a:solidFill>
                  <a:srgbClr val="2B2D2F"/>
                </a:solidFill>
                <a:latin typeface="QuattrocentoSans"/>
                <a:ea typeface="QuattrocentoSans"/>
              </a:rPr>
              <a:t> model — no ES clustering or HA</a:t>
            </a:r>
          </a:p>
          <a:p>
            <a:pPr algn="l">
              <a:lnSpc>
                <a:spcPct val="160000"/>
              </a:lnSpc>
              <a:spcBef>
                <a:spcPts val="900"/>
              </a:spcBef>
            </a:pPr>
            <a:r>
              <a:rPr b="1" sz="1350" noProof="1">
                <a:solidFill>
                  <a:srgbClr val="2B2D2F"/>
                </a:solidFill>
                <a:latin typeface="QuattrocentoSans"/>
                <a:ea typeface="QuattrocentoSans"/>
              </a:rPr>
              <a:t>SQLite</a:t>
            </a:r>
            <a:r>
              <a:rPr sz="1350" noProof="1">
                <a:solidFill>
                  <a:srgbClr val="2B2D2F"/>
                </a:solidFill>
                <a:latin typeface="QuattrocentoSans"/>
                <a:ea typeface="QuattrocentoSans"/>
              </a:rPr>
              <a:t> as operational-state SPOF</a:t>
            </a:r>
          </a:p>
          <a:p>
            <a:pPr algn="l">
              <a:lnSpc>
                <a:spcPct val="160000"/>
              </a:lnSpc>
              <a:spcBef>
                <a:spcPts val="900"/>
              </a:spcBef>
            </a:pPr>
            <a:r>
              <a:rPr b="1" sz="1350" noProof="1">
                <a:solidFill>
                  <a:srgbClr val="2B2D2F"/>
                </a:solidFill>
                <a:latin typeface="QuattrocentoSans"/>
                <a:ea typeface="QuattrocentoSans"/>
              </a:rPr>
              <a:t>Mutable latest</a:t>
            </a:r>
            <a:r>
              <a:rPr sz="1350" noProof="1">
                <a:solidFill>
                  <a:srgbClr val="2B2D2F"/>
                </a:solidFill>
                <a:latin typeface="QuattrocentoSans"/>
                <a:ea typeface="QuattrocentoSans"/>
              </a:rPr>
              <a:t> Docker tags</a:t>
            </a:r>
          </a:p>
          <a:p>
            <a:pPr algn="l">
              <a:lnSpc>
                <a:spcPct val="160000"/>
              </a:lnSpc>
              <a:spcBef>
                <a:spcPts val="900"/>
              </a:spcBef>
            </a:pPr>
            <a:r>
              <a:rPr b="1" sz="1350" noProof="1">
                <a:solidFill>
                  <a:srgbClr val="2B2D2F"/>
                </a:solidFill>
                <a:latin typeface="QuattrocentoSans"/>
                <a:ea typeface="QuattrocentoSans"/>
              </a:rPr>
              <a:t>Production hardening</a:t>
            </a:r>
            <a:r>
              <a:rPr sz="1350" noProof="1">
                <a:solidFill>
                  <a:srgbClr val="2B2D2F"/>
                </a:solidFill>
                <a:latin typeface="QuattrocentoSans"/>
                <a:ea typeface="QuattrocentoSans"/>
              </a:rPr>
              <a:t> of TLS/SSH/authorization needs review</a:t>
            </a:r>
          </a:p>
        </p:txBody>
      </p:sp>
      <p:sp>
        <p:nvSpPr>
          <p:cNvPr id="19" name="dsl:future-bg"/>
          <p:cNvSpPr/>
          <p:nvPr/>
        </p:nvSpPr>
        <p:spPr>
          <a:xfrm>
            <a:off x="5905500" y="1123950"/>
            <a:ext cx="5715000" cy="5143500"/>
          </a:xfrm>
          <a:prstGeom prst="rect">
            <a:avLst/>
          </a:prstGeom>
          <a:solidFill>
            <a:srgbClr val="F5F5F2"/>
          </a:solidFill>
          <a:ln w="254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future-header-bg"/>
          <p:cNvSpPr/>
          <p:nvPr/>
        </p:nvSpPr>
        <p:spPr>
          <a:xfrm>
            <a:off x="5905500" y="1123950"/>
            <a:ext cx="5715000" cy="419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future-header"/>
          <p:cNvSpPr txBox="1"/>
          <p:nvPr/>
        </p:nvSpPr>
        <p:spPr>
          <a:xfrm>
            <a:off x="6096000" y="1123950"/>
            <a:ext cx="5334000" cy="419100"/>
          </a:xfrm>
          <a:prstGeom prst="rect">
            <a:avLst/>
          </a:prstGeom>
          <a:noFill/>
        </p:spPr>
        <p:txBody>
          <a:bodyPr wrap="none" anchor="ctr">
            <a:noAutofit/>
          </a:bodyPr>
          <a:lstStyle/>
          <a:p>
            <a:pPr algn="l"/>
            <a:r>
              <a:rPr b="1" sz="1350" noProof="1">
                <a:solidFill>
                  <a:srgbClr val="FFFFFF"/>
                </a:solidFill>
                <a:latin typeface="Liter"/>
                <a:ea typeface="Liter"/>
              </a:rPr>
              <a:t>Future Roadmap</a:t>
            </a:r>
          </a:p>
        </p:txBody>
      </p:sp>
      <p:sp>
        <p:nvSpPr>
          <p:cNvPr id="22" name="dsl:future-body"/>
          <p:cNvSpPr txBox="1"/>
          <p:nvPr/>
        </p:nvSpPr>
        <p:spPr>
          <a:xfrm>
            <a:off x="6096000" y="1695450"/>
            <a:ext cx="5334000" cy="4438650"/>
          </a:xfrm>
          <a:prstGeom prst="rect">
            <a:avLst/>
          </a:prstGeom>
          <a:noFill/>
        </p:spPr>
        <p:txBody>
          <a:bodyPr wrap="square" anchor="t">
            <a:noAutofit/>
          </a:bodyPr>
          <a:lstStyle/>
          <a:p>
            <a:pPr algn="l">
              <a:lnSpc>
                <a:spcPct val="140000"/>
              </a:lnSpc>
            </a:pPr>
            <a:r>
              <a:rPr b="1" sz="1200" noProof="1">
                <a:solidFill>
                  <a:srgbClr val="2D6A6A"/>
                </a:solidFill>
                <a:latin typeface="QuattrocentoSans"/>
                <a:ea typeface="QuattrocentoSans"/>
              </a:rPr>
              <a:t>Detection Model Improvement</a:t>
            </a:r>
            <a:r>
              <a:rPr sz="1200" noProof="1">
                <a:solidFill>
                  <a:srgbClr val="2B2D2F"/>
                </a:solidFill>
                <a:latin typeface="QuattrocentoSans"/>
                <a:ea typeface="QuattrocentoSans"/>
              </a:rPr>
              <a:t> — More Sigma rules, behavioral baselines</a:t>
            </a:r>
          </a:p>
          <a:p>
            <a:pPr algn="l">
              <a:lnSpc>
                <a:spcPct val="140000"/>
              </a:lnSpc>
              <a:spcBef>
                <a:spcPts val="750"/>
              </a:spcBef>
            </a:pPr>
            <a:r>
              <a:rPr b="1" sz="1200" noProof="1">
                <a:solidFill>
                  <a:srgbClr val="2D6A6A"/>
                </a:solidFill>
                <a:latin typeface="QuattrocentoSans"/>
                <a:ea typeface="QuattrocentoSans"/>
              </a:rPr>
              <a:t>Additional Connectors</a:t>
            </a:r>
            <a:r>
              <a:rPr sz="1200" noProof="1">
                <a:solidFill>
                  <a:srgbClr val="2B2D2F"/>
                </a:solidFill>
                <a:latin typeface="QuattrocentoSans"/>
                <a:ea typeface="QuattrocentoSans"/>
              </a:rPr>
              <a:t> — More data sources and ingestion paths</a:t>
            </a:r>
          </a:p>
          <a:p>
            <a:pPr algn="l">
              <a:lnSpc>
                <a:spcPct val="140000"/>
              </a:lnSpc>
              <a:spcBef>
                <a:spcPts val="750"/>
              </a:spcBef>
            </a:pPr>
            <a:r>
              <a:rPr b="1" sz="1200" noProof="1">
                <a:solidFill>
                  <a:srgbClr val="2D6A6A"/>
                </a:solidFill>
                <a:latin typeface="QuattrocentoSans"/>
                <a:ea typeface="QuattrocentoSans"/>
              </a:rPr>
              <a:t>Threat Intelligence Feeds</a:t>
            </a:r>
            <a:r>
              <a:rPr sz="1200" noProof="1">
                <a:solidFill>
                  <a:srgbClr val="2B2D2F"/>
                </a:solidFill>
                <a:latin typeface="QuattrocentoSans"/>
                <a:ea typeface="QuattrocentoSans"/>
              </a:rPr>
              <a:t> — STIX/TAXII integration</a:t>
            </a:r>
          </a:p>
          <a:p>
            <a:pPr algn="l">
              <a:lnSpc>
                <a:spcPct val="140000"/>
              </a:lnSpc>
              <a:spcBef>
                <a:spcPts val="750"/>
              </a:spcBef>
            </a:pPr>
            <a:r>
              <a:rPr b="1" sz="1200" noProof="1">
                <a:solidFill>
                  <a:srgbClr val="2D6A6A"/>
                </a:solidFill>
                <a:latin typeface="QuattrocentoSans"/>
                <a:ea typeface="QuattrocentoSans"/>
              </a:rPr>
              <a:t>ML Anomaly Detection</a:t>
            </a:r>
            <a:r>
              <a:rPr sz="1200" noProof="1">
                <a:solidFill>
                  <a:srgbClr val="2B2D2F"/>
                </a:solidFill>
                <a:latin typeface="QuattrocentoSans"/>
                <a:ea typeface="QuattrocentoSans"/>
              </a:rPr>
              <a:t> — Statistical + ML beyond threshold-based</a:t>
            </a:r>
          </a:p>
          <a:p>
            <a:pPr algn="l">
              <a:lnSpc>
                <a:spcPct val="140000"/>
              </a:lnSpc>
              <a:spcBef>
                <a:spcPts val="750"/>
              </a:spcBef>
            </a:pPr>
            <a:r>
              <a:rPr b="1" sz="1200" noProof="1">
                <a:solidFill>
                  <a:srgbClr val="2D6A6A"/>
                </a:solidFill>
                <a:latin typeface="QuattrocentoSans"/>
                <a:ea typeface="QuattrocentoSans"/>
              </a:rPr>
              <a:t>Expanded Playbooks</a:t>
            </a:r>
            <a:r>
              <a:rPr sz="1200" noProof="1">
                <a:solidFill>
                  <a:srgbClr val="2B2D2F"/>
                </a:solidFill>
                <a:latin typeface="QuattrocentoSans"/>
                <a:ea typeface="QuattrocentoSans"/>
              </a:rPr>
              <a:t> — Broader Ansible coverage</a:t>
            </a:r>
          </a:p>
          <a:p>
            <a:pPr algn="l">
              <a:lnSpc>
                <a:spcPct val="140000"/>
              </a:lnSpc>
              <a:spcBef>
                <a:spcPts val="750"/>
              </a:spcBef>
            </a:pPr>
            <a:r>
              <a:rPr b="1" sz="1200" noProof="1">
                <a:solidFill>
                  <a:srgbClr val="2D6A6A"/>
                </a:solidFill>
                <a:latin typeface="QuattrocentoSans"/>
                <a:ea typeface="QuattrocentoSans"/>
              </a:rPr>
              <a:t>Multi-Tenant &amp; HA</a:t>
            </a:r>
            <a:r>
              <a:rPr sz="1200" noProof="1">
                <a:solidFill>
                  <a:srgbClr val="2B2D2F"/>
                </a:solidFill>
                <a:latin typeface="QuattrocentoSans"/>
                <a:ea typeface="QuattrocentoSans"/>
              </a:rPr>
              <a:t> — ES cluster, PostgreSQL migration</a:t>
            </a:r>
          </a:p>
          <a:p>
            <a:pPr algn="l">
              <a:lnSpc>
                <a:spcPct val="140000"/>
              </a:lnSpc>
              <a:spcBef>
                <a:spcPts val="750"/>
              </a:spcBef>
            </a:pPr>
            <a:r>
              <a:rPr b="1" sz="1200" noProof="1">
                <a:solidFill>
                  <a:srgbClr val="2D6A6A"/>
                </a:solidFill>
                <a:latin typeface="QuattrocentoSans"/>
                <a:ea typeface="QuattrocentoSans"/>
              </a:rPr>
              <a:t>Scalability Optimization</a:t>
            </a:r>
            <a:r>
              <a:rPr sz="1200" noProof="1">
                <a:solidFill>
                  <a:srgbClr val="2B2D2F"/>
                </a:solidFill>
                <a:latin typeface="QuattrocentoSans"/>
                <a:ea typeface="QuattrocentoSans"/>
              </a:rPr>
              <a:t> — Distributed processing</a:t>
            </a:r>
          </a:p>
        </p:txBody>
      </p:sp>
      <p:sp>
        <p:nvSpPr>
          <p:cNvPr id="23" name="dsl:note-bg"/>
          <p:cNvSpPr/>
          <p:nvPr/>
        </p:nvSpPr>
        <p:spPr>
          <a:xfrm>
            <a:off x="571500" y="5791200"/>
            <a:ext cx="5143500" cy="4762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note-text"/>
          <p:cNvSpPr txBox="1"/>
          <p:nvPr/>
        </p:nvSpPr>
        <p:spPr>
          <a:xfrm>
            <a:off x="762000" y="5791200"/>
            <a:ext cx="4762500" cy="476250"/>
          </a:xfrm>
          <a:prstGeom prst="rect">
            <a:avLst/>
          </a:prstGeom>
          <a:noFill/>
        </p:spPr>
        <p:txBody>
          <a:bodyPr wrap="none" anchor="ctr">
            <a:noAutofit/>
          </a:bodyPr>
          <a:lstStyle/>
          <a:p>
            <a:pPr algn="l"/>
            <a:r>
              <a:rPr sz="1125" noProof="1">
                <a:solidFill>
                  <a:srgbClr val="FFFFFF"/>
                </a:solidFill>
                <a:latin typeface="QuattrocentoSans"/>
                <a:ea typeface="QuattrocentoSans"/>
              </a:rPr>
              <a:t>Acknowledging limits is the first step toward a production-ready platform</a:t>
            </a:r>
          </a:p>
        </p:txBody>
      </p:sp>
      <p:sp>
        <p:nvSpPr>
          <p:cNvPr id="25"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26"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aria-large"/>
          <p:cNvSpPr txBox="1"/>
          <p:nvPr/>
        </p:nvSpPr>
        <p:spPr>
          <a:xfrm>
            <a:off x="571500" y="1524000"/>
            <a:ext cx="11049000" cy="1143000"/>
          </a:xfrm>
          <a:prstGeom prst="rect">
            <a:avLst/>
          </a:prstGeom>
          <a:noFill/>
        </p:spPr>
        <p:txBody>
          <a:bodyPr wrap="none" anchor="ctr">
            <a:noAutofit/>
          </a:bodyPr>
          <a:lstStyle/>
          <a:p>
            <a:pPr algn="ctr"/>
            <a:r>
              <a:rPr b="1" sz="7200" noProof="1">
                <a:solidFill>
                  <a:srgbClr val="2D6A6A"/>
                </a:solidFill>
                <a:latin typeface="Liter"/>
                <a:ea typeface="Liter"/>
              </a:rPr>
              <a:t>ARIA</a:t>
            </a:r>
          </a:p>
        </p:txBody>
      </p:sp>
      <p:sp>
        <p:nvSpPr>
          <p:cNvPr id="3" name="dsl:accent-line"/>
          <p:cNvSpPr/>
          <p:nvPr/>
        </p:nvSpPr>
        <p:spPr>
          <a:xfrm>
            <a:off x="5143500" y="2857500"/>
            <a:ext cx="1905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agline1"/>
          <p:cNvSpPr txBox="1"/>
          <p:nvPr/>
        </p:nvSpPr>
        <p:spPr>
          <a:xfrm>
            <a:off x="1524000" y="3143250"/>
            <a:ext cx="9144000" cy="381000"/>
          </a:xfrm>
          <a:prstGeom prst="rect">
            <a:avLst/>
          </a:prstGeom>
          <a:noFill/>
        </p:spPr>
        <p:txBody>
          <a:bodyPr wrap="none" anchor="ctr">
            <a:noAutofit/>
          </a:bodyPr>
          <a:lstStyle/>
          <a:p>
            <a:pPr algn="ctr"/>
            <a:r>
              <a:rPr sz="1800" noProof="1">
                <a:solidFill>
                  <a:srgbClr val="5C6B73"/>
                </a:solidFill>
                <a:latin typeface="QuattrocentoSans"/>
                <a:ea typeface="QuattrocentoSans"/>
              </a:rPr>
              <a:t>From raw data to intelligent SOC operations.</a:t>
            </a:r>
          </a:p>
        </p:txBody>
      </p:sp>
      <p:sp>
        <p:nvSpPr>
          <p:cNvPr id="5" name="dsl:tagline2"/>
          <p:cNvSpPr txBox="1"/>
          <p:nvPr/>
        </p:nvSpPr>
        <p:spPr>
          <a:xfrm>
            <a:off x="1524000" y="3600450"/>
            <a:ext cx="9144000" cy="333375"/>
          </a:xfrm>
          <a:prstGeom prst="rect">
            <a:avLst/>
          </a:prstGeom>
          <a:noFill/>
        </p:spPr>
        <p:txBody>
          <a:bodyPr wrap="none" anchor="ctr">
            <a:noAutofit/>
          </a:bodyPr>
          <a:lstStyle/>
          <a:p>
            <a:pPr algn="ctr"/>
            <a:r>
              <a:rPr sz="1500" noProof="1">
                <a:solidFill>
                  <a:srgbClr val="2B2D2F"/>
                </a:solidFill>
                <a:latin typeface="QuattrocentoSans"/>
                <a:ea typeface="QuattrocentoSans"/>
              </a:rPr>
              <a:t>The platform thinks before acting.</a:t>
            </a:r>
          </a:p>
        </p:txBody>
      </p:sp>
      <p:sp>
        <p:nvSpPr>
          <p:cNvPr id="6" name="dsl:divider"/>
          <p:cNvSpPr/>
          <p:nvPr/>
        </p:nvSpPr>
        <p:spPr>
          <a:xfrm>
            <a:off x="4191000" y="4191000"/>
            <a:ext cx="3810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author-name"/>
          <p:cNvSpPr txBox="1"/>
          <p:nvPr/>
        </p:nvSpPr>
        <p:spPr>
          <a:xfrm>
            <a:off x="1524000" y="4429125"/>
            <a:ext cx="9144000" cy="285750"/>
          </a:xfrm>
          <a:prstGeom prst="rect">
            <a:avLst/>
          </a:prstGeom>
          <a:noFill/>
        </p:spPr>
        <p:txBody>
          <a:bodyPr wrap="none" anchor="ctr">
            <a:noAutofit/>
          </a:bodyPr>
          <a:lstStyle/>
          <a:p>
            <a:pPr algn="ctr"/>
            <a:r>
              <a:rPr b="1" sz="1500" noProof="1">
                <a:solidFill>
                  <a:srgbClr val="2D6A6A"/>
                </a:solidFill>
                <a:latin typeface="Liter"/>
                <a:ea typeface="Liter"/>
              </a:rPr>
              <a:t>Ghazi Mabrouki</a:t>
            </a:r>
          </a:p>
        </p:txBody>
      </p:sp>
      <p:sp>
        <p:nvSpPr>
          <p:cNvPr id="8" name="dsl:author-org"/>
          <p:cNvSpPr txBox="1"/>
          <p:nvPr/>
        </p:nvSpPr>
        <p:spPr>
          <a:xfrm>
            <a:off x="1524000" y="4762500"/>
            <a:ext cx="9144000" cy="266700"/>
          </a:xfrm>
          <a:prstGeom prst="rect">
            <a:avLst/>
          </a:prstGeom>
          <a:noFill/>
        </p:spPr>
        <p:txBody>
          <a:bodyPr wrap="none" anchor="ctr">
            <a:noAutofit/>
          </a:bodyPr>
          <a:lstStyle/>
          <a:p>
            <a:pPr algn="ctr"/>
            <a:r>
              <a:rPr sz="1200" noProof="1">
                <a:solidFill>
                  <a:srgbClr val="5C6B73"/>
                </a:solidFill>
                <a:latin typeface="QuattrocentoSans"/>
                <a:ea typeface="QuattrocentoSans"/>
              </a:rPr>
              <a:t>Adaptive Response Intelligence Automation | Huawei Technologies</a:t>
            </a:r>
          </a:p>
        </p:txBody>
      </p:sp>
      <p:sp>
        <p:nvSpPr>
          <p:cNvPr id="9" name="dsl:thankyou"/>
          <p:cNvSpPr txBox="1"/>
          <p:nvPr/>
        </p:nvSpPr>
        <p:spPr>
          <a:xfrm>
            <a:off x="1524000" y="5334000"/>
            <a:ext cx="9144000" cy="476250"/>
          </a:xfrm>
          <a:prstGeom prst="rect">
            <a:avLst/>
          </a:prstGeom>
          <a:noFill/>
        </p:spPr>
        <p:txBody>
          <a:bodyPr wrap="none" anchor="ctr">
            <a:noAutofit/>
          </a:bodyPr>
          <a:lstStyle/>
          <a:p>
            <a:pPr algn="ctr"/>
            <a:r>
              <a:rPr sz="2100" noProof="1">
                <a:solidFill>
                  <a:srgbClr val="D4A373"/>
                </a:solidFill>
                <a:latin typeface="Liter"/>
                <a:ea typeface="Liter"/>
              </a:rPr>
              <a:t>Thank You</a:t>
            </a:r>
          </a:p>
        </p:txBody>
      </p:sp>
      <p:sp>
        <p:nvSpPr>
          <p:cNvPr id="10" name="dsl:questions"/>
          <p:cNvSpPr txBox="1"/>
          <p:nvPr/>
        </p:nvSpPr>
        <p:spPr>
          <a:xfrm>
            <a:off x="1524000" y="5810250"/>
            <a:ext cx="9144000" cy="285750"/>
          </a:xfrm>
          <a:prstGeom prst="rect">
            <a:avLst/>
          </a:prstGeom>
          <a:noFill/>
        </p:spPr>
        <p:txBody>
          <a:bodyPr wrap="none" anchor="ctr">
            <a:noAutofit/>
          </a:bodyPr>
          <a:lstStyle/>
          <a:p>
            <a:pPr algn="ctr"/>
            <a:r>
              <a:rPr sz="1350" noProof="1">
                <a:solidFill>
                  <a:srgbClr val="5C6B73"/>
                </a:solidFill>
                <a:latin typeface="QuattrocentoSans"/>
                <a:ea typeface="QuattrocentoSans"/>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DslMetadata>
  <Colors>
    <Color name="primary" value="#2D6A6A"/>
    <Color name="secondary" value="#5C6B73"/>
    <Color name="accent" value="#D4A373"/>
    <Color name="background" value="#FAFAF8"/>
    <Color name="text" value="#2B2D2F"/>
    <Color name="textLight" value="#FFFFFF"/>
    <Color name="cardBg" value="#F5F5F2"/>
    <Color name="border" value="#E5E5E0"/>
    <Color name="navInactive" value="#8A9499"/>
    <Color name="tealLight" value="#8FB3B3"/>
    <Color name="amberLight" value="#E8C99A"/>
    <Color name="slateDark" value="#4A4E54"/>
  </Colors>
  <TextStyles>
    <TextStyle name="title" font_size="48.0" color="$primary" font_family="Liter" line_height="1.2"/>
    <TextStyle name="subtitle" font_size="22.0" color="$secondary" font_family="QuattrocentoSans" line_height="1.4"/>
    <TextStyle name="heading" font_size="30.0" color="$primary" font_family="Liter" line_height="1.3"/>
    <TextStyle name="subheading" font_size="22.0" color="$text" font_family="Liter" line_height="1.3"/>
    <TextStyle name="body" font_size="18.0" color="$text" font_family="QuattrocentoSans" line_height="1.6"/>
    <TextStyle name="caption" font_size="13.0" color="$secondary" font_family="QuattrocentoSans" line_height="1.4"/>
    <TextStyle name="kpi" font_size="52.0" color="$accent" font_family="Liter" line_height="1.1"/>
    <TextStyle name="nav" font_size="11.0" color="$navInactive" font_family="Liter" line_height="1.0" letter_spacing="2.0"/>
    <TextStyle name="navActive" font_size="11.0" color="$primary" font_family="Liter" line_height="1.0" letter_spacing="2.0"/>
  </TextStyles>
  <TableStyles>
    <TableStyle name="default" fontSize="14.0" fontFamily="QuattrocentoSans" headerFill="$primary" headerColor="$textLight" headerBold="true" bodyFill="#FFFFFF,$cardBg" bodyColor="$text" firstColumnBold="true">
      <Border style="solid" width="1.0" color="$border"/>
    </TableStyle>
  </TableStyles>
</DslMetadata>
</file>

<file path=customXml/itemProps1.xml><?xml version="1.0" encoding="utf-8"?>
<ns0:datastoreItem xmlns:ns0="http://schemas.openxmlformats.org/officeDocument/2006/customXml" ns0:itemID="{6B794786-0DAE-4B8E-95DD-AB0975557D59}">
  <ns0:schemaRefs/>
</ns0:datastoreItem>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