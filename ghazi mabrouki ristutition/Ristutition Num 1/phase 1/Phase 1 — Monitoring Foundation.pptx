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6256000" cy="9144000"/>
  <p:notesSz cx="9144000" cy="16256000"/>
  <p:embeddedFontLst>
    <p:embeddedFont>
      <p:font typeface="Liter" charset="-122" pitchFamily="34"/>
      <p:regular r:id="rId12"/>
    </p:embeddedFont>
    <p:embeddedFont>
      <p:font typeface="Quattrocento Sans" charset="-122" pitchFamily="34"/>
      <p:regular r:id="rId1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1651000" y="3048000"/>
            <a:ext cx="1295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spc="400" kern="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 — MONITORING FOUNDATION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223000" y="4191000"/>
            <a:ext cx="3810000" cy="254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3048000" y="457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the visibility backbone of the SOC platform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18000" y="533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B8B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· Host · Runtime · Infrastructure · SIEM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556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200" kern="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 — DEFINING THE MONITORING FOUNDATION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206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100" kern="0" dirty="0">
                <a:solidFill>
                  <a:srgbClr val="E8C8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" y="1625600"/>
            <a:ext cx="762000" cy="254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78000"/>
            <a:ext cx="685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E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Before any SOC logic can exist, the system must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E8E8E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see what is happening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8E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This phase defines the goal, layers to monitor, data types needed, and tools selected for full visibility.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3111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100" kern="0" dirty="0">
                <a:solidFill>
                  <a:srgbClr val="E8C8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IDEA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62000" y="3530600"/>
            <a:ext cx="762000" cy="254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3683000"/>
            <a:ext cx="685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E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monitoring foundation must cover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E8E8E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every critical layer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8E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the system — from network traffic down to infrastructure health.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4826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100" kern="0" dirty="0">
                <a:solidFill>
                  <a:srgbClr val="E8C8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TOOLS SELECTED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62000" y="5245100"/>
            <a:ext cx="762000" cy="25400"/>
          </a:xfrm>
          <a:prstGeom prst="rect">
            <a:avLst/>
          </a:prstGeom>
          <a:solidFill>
            <a:srgbClr val="D4A853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397500"/>
          <a:ext cx="6858000" cy="3238500"/>
        </p:xfrm>
        <a:graphic>
          <a:graphicData uri="http://schemas.openxmlformats.org/drawingml/2006/table">
            <a:tbl>
              <a:tblPr/>
              <a:tblGrid>
                <a:gridCol w="2400300"/>
                <a:gridCol w="4457700"/>
              </a:tblGrid>
              <a:tr h="359833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85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Tool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85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Main Role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8"/>
                    </a:solidFill>
                  </a:tcPr>
                </a:tc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A85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Suricata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Network IDS / network visibility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A85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Wazuh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Host and endpoint security monitoring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A85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Falco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Runtime and container security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A85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Telegraf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Metrics and infrastructure health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A85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Filebeat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Log collection and forwarding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A85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Falcosidekick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Falco alert forwarding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A85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Elasticsearch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Central storage, indexing, search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A85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Kibana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Dashboards, monitoring, analysis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8128000" y="1206500"/>
            <a:ext cx="7366000" cy="7429500"/>
          </a:xfrm>
          <a:prstGeom prst="rect">
            <a:avLst/>
          </a:prstGeom>
          <a:solidFill>
            <a:srgbClr val="1E1E28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09000" y="1460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spc="100" kern="0" dirty="0">
                <a:solidFill>
                  <a:srgbClr val="E8C8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VISIBILITY LAYERS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509000" y="1905000"/>
            <a:ext cx="635000" cy="254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6" name="Shape 13"/>
          <p:cNvSpPr/>
          <p:nvPr/>
        </p:nvSpPr>
        <p:spPr>
          <a:xfrm>
            <a:off x="8509000" y="2159000"/>
            <a:ext cx="6604000" cy="69850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99500" y="2159000"/>
            <a:ext cx="6223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A8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Detect suspicious traffic and attacks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509000" y="2984500"/>
            <a:ext cx="6604000" cy="69850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99500" y="2984500"/>
            <a:ext cx="6223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A8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Host / Endpoint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Detect suspicious activities on servers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509000" y="3810000"/>
            <a:ext cx="6604000" cy="69850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99500" y="3810000"/>
            <a:ext cx="6223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A8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Runtime / Container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Detect abnormal execution behavior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509000" y="4635500"/>
            <a:ext cx="6604000" cy="69850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99500" y="4635500"/>
            <a:ext cx="6223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A8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 / Infrastructure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Detect overload and health issues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509000" y="5461000"/>
            <a:ext cx="6604000" cy="69850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99500" y="5461000"/>
            <a:ext cx="6223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A8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Collection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Gather and forward logs / alerts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509000" y="6286500"/>
            <a:ext cx="6604000" cy="69850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699500" y="6286500"/>
            <a:ext cx="6223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A8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 Analysis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Store and search the data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509000" y="7112000"/>
            <a:ext cx="6604000" cy="69850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699500" y="7112000"/>
            <a:ext cx="6223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A8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Visualization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Make the data visible and usable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8B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556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200" kern="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2 — GLOBAL ARCHITECTURE &amp; DATA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4318000" cy="508000"/>
          </a:xfrm>
          <a:prstGeom prst="rect">
            <a:avLst/>
          </a:prstGeom>
          <a:solidFill>
            <a:srgbClr val="1E1E28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2000" y="1270000"/>
            <a:ext cx="431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200" kern="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SOURCES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968500"/>
            <a:ext cx="2032000" cy="57150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000" y="1968500"/>
            <a:ext cx="203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Logs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667000"/>
            <a:ext cx="2032000" cy="57150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2000" y="2667000"/>
            <a:ext cx="203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 Logs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48000" y="1968500"/>
            <a:ext cx="2032000" cy="57150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8000" y="1968500"/>
            <a:ext cx="203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Suricata IDS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48000" y="2667000"/>
            <a:ext cx="2032000" cy="57150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48000" y="2667000"/>
            <a:ext cx="203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Wazuh HIDS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556000"/>
            <a:ext cx="2032000" cy="57150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2000" y="3556000"/>
            <a:ext cx="203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 Runtime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4470400"/>
            <a:ext cx="2032000" cy="57150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2000" y="4470400"/>
            <a:ext cx="203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Telegraf Metrics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34000" y="2286000"/>
            <a:ext cx="762000" cy="0"/>
          </a:xfrm>
          <a:prstGeom prst="straightConnector1">
            <a:avLst/>
          </a:prstGeom>
          <a:noFill/>
          <a:ln w="25400">
            <a:solidFill>
              <a:srgbClr val="D4A853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5334000" y="2984500"/>
            <a:ext cx="762000" cy="0"/>
          </a:xfrm>
          <a:prstGeom prst="straightConnector1">
            <a:avLst/>
          </a:prstGeom>
          <a:noFill/>
          <a:ln w="25400">
            <a:solidFill>
              <a:srgbClr val="D4A853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2951800" y="3835400"/>
            <a:ext cx="3144200" cy="0"/>
          </a:xfrm>
          <a:prstGeom prst="straightConnector1">
            <a:avLst/>
          </a:prstGeom>
          <a:noFill/>
          <a:ln w="25400">
            <a:solidFill>
              <a:srgbClr val="D4A853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6350000" y="1270000"/>
            <a:ext cx="3556000" cy="508000"/>
          </a:xfrm>
          <a:prstGeom prst="rect">
            <a:avLst/>
          </a:prstGeom>
          <a:solidFill>
            <a:srgbClr val="1E1E28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0000" y="1270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200" kern="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COLLECTION LAYER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50000" y="2095500"/>
            <a:ext cx="3556000" cy="63500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0000" y="2095500"/>
            <a:ext cx="355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D4A8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Filebeat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50000" y="2768600"/>
            <a:ext cx="355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8B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Reads and ships logs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50000" y="3302000"/>
            <a:ext cx="3556000" cy="63500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0000" y="3302000"/>
            <a:ext cx="355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D4A8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Falcosidekick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0000" y="3975100"/>
            <a:ext cx="355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8B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Receives Falco alerts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227104" y="2254250"/>
            <a:ext cx="773184" cy="0"/>
          </a:xfrm>
          <a:prstGeom prst="straightConnector1">
            <a:avLst/>
          </a:prstGeom>
          <a:noFill/>
          <a:ln w="25400">
            <a:solidFill>
              <a:srgbClr val="D4A853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10059344" y="3619500"/>
            <a:ext cx="258718" cy="0"/>
          </a:xfrm>
          <a:prstGeom prst="straightConnector1">
            <a:avLst/>
          </a:prstGeom>
          <a:noFill/>
          <a:ln w="25400">
            <a:solidFill>
              <a:srgbClr val="D4A853"/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11176000" y="1270000"/>
            <a:ext cx="4318000" cy="508000"/>
          </a:xfrm>
          <a:prstGeom prst="rect">
            <a:avLst/>
          </a:prstGeom>
          <a:solidFill>
            <a:srgbClr val="1E1E28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176000" y="1270000"/>
            <a:ext cx="431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200" kern="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SIEM CORE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176000" y="2095500"/>
            <a:ext cx="4318000" cy="1380726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634546" y="2095500"/>
            <a:ext cx="3859454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D4A8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176000" y="3124200"/>
            <a:ext cx="431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8B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 Storage, Search, Indexing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3335000" y="3556000"/>
            <a:ext cx="0" cy="508000"/>
          </a:xfrm>
          <a:prstGeom prst="straightConnector1">
            <a:avLst/>
          </a:prstGeom>
          <a:noFill/>
          <a:ln w="25400">
            <a:solidFill>
              <a:srgbClr val="D4A853"/>
            </a:solidFill>
            <a:prstDash val="solid"/>
            <a:headEnd type="none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11176000" y="4191000"/>
            <a:ext cx="4318000" cy="69850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176000" y="4191000"/>
            <a:ext cx="431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D4A8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Kibana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176000" y="4927600"/>
            <a:ext cx="431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8B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Dashboards, Monitoring, Analysis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048000" y="4692650"/>
            <a:ext cx="7526858" cy="0"/>
          </a:xfrm>
          <a:prstGeom prst="straightConnector1">
            <a:avLst/>
          </a:prstGeom>
          <a:noFill/>
          <a:ln w="25400">
            <a:solidFill>
              <a:srgbClr val="D4A853"/>
            </a:solidFill>
            <a:prstDash val="solid"/>
            <a:headEnd type="none"/>
            <a:tailEnd type="arrow"/>
          </a:ln>
        </p:spPr>
      </p:sp>
      <p:sp>
        <p:nvSpPr>
          <p:cNvPr id="41" name="Text 39"/>
          <p:cNvSpPr/>
          <p:nvPr/>
        </p:nvSpPr>
        <p:spPr>
          <a:xfrm>
            <a:off x="4064000" y="48895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8B8B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Telegraf → ES (direct)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62000" y="5461000"/>
            <a:ext cx="14732000" cy="304800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79500" y="5651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100" kern="0" dirty="0">
                <a:solidFill>
                  <a:srgbClr val="E8C8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LOGIC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1079500" y="6070600"/>
            <a:ext cx="635000" cy="254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5" name="Text 43"/>
          <p:cNvSpPr/>
          <p:nvPr/>
        </p:nvSpPr>
        <p:spPr>
          <a:xfrm>
            <a:off x="1079500" y="6223000"/>
            <a:ext cx="14097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8E8E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Sources → Collection Layer → Elasticsearch → Kibana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E8E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/ auth logs → Filebeat | Suricata → eve.json → Filebeat | Wazuh alerts → Filebeat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E8E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Falco alerts → Falcosidekick | Telegraf metrics → Elasticsearch (direct)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E8E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Filebeat &amp; Falcosidekick → Elasticsearch | Elasticsearch → Kibana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8B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 flipV="1">
            <a:off x="10287000" y="2540000"/>
            <a:ext cx="0" cy="1040116"/>
          </a:xfrm>
          <a:prstGeom prst="straightConnector1">
            <a:avLst/>
          </a:prstGeom>
          <a:noFill/>
          <a:ln w="25400">
            <a:solidFill>
              <a:srgbClr val="D4A853"/>
            </a:solidFill>
            <a:prstDash val="solid"/>
            <a:headEnd type="none"/>
            <a:tailEnd type="arrow"/>
          </a:ln>
        </p:spPr>
      </p:sp>
      <p:sp>
        <p:nvSpPr>
          <p:cNvPr id="48" name="Shape 46"/>
          <p:cNvSpPr/>
          <p:nvPr/>
        </p:nvSpPr>
        <p:spPr>
          <a:xfrm>
            <a:off x="10287000" y="2540000"/>
            <a:ext cx="661344" cy="0"/>
          </a:xfrm>
          <a:prstGeom prst="straightConnector1">
            <a:avLst/>
          </a:prstGeom>
          <a:noFill/>
          <a:ln w="25400">
            <a:solidFill>
              <a:srgbClr val="D4A853"/>
            </a:solidFill>
            <a:prstDash val="solid"/>
            <a:headEnd type="none"/>
            <a:tailEnd type="arrow"/>
          </a:ln>
        </p:spPr>
      </p:sp>
      <p:sp>
        <p:nvSpPr>
          <p:cNvPr id="49" name="Shape 47"/>
          <p:cNvSpPr/>
          <p:nvPr/>
        </p:nvSpPr>
        <p:spPr>
          <a:xfrm flipV="1">
            <a:off x="10581761" y="2787759"/>
            <a:ext cx="0" cy="1901287"/>
          </a:xfrm>
          <a:prstGeom prst="straightConnector1">
            <a:avLst/>
          </a:prstGeom>
          <a:noFill/>
          <a:ln w="25400">
            <a:solidFill>
              <a:srgbClr val="D4A853"/>
            </a:solidFill>
            <a:prstDash val="solid"/>
            <a:headEnd type="none"/>
            <a:tailEnd type="arrow"/>
          </a:ln>
        </p:spPr>
      </p:sp>
      <p:sp>
        <p:nvSpPr>
          <p:cNvPr id="50" name="Shape 48"/>
          <p:cNvSpPr/>
          <p:nvPr/>
        </p:nvSpPr>
        <p:spPr>
          <a:xfrm>
            <a:off x="10581761" y="2730500"/>
            <a:ext cx="370559" cy="0"/>
          </a:xfrm>
          <a:prstGeom prst="straightConnector1">
            <a:avLst/>
          </a:prstGeom>
          <a:noFill/>
          <a:ln w="25400">
            <a:solidFill>
              <a:srgbClr val="D4A853"/>
            </a:solidFill>
            <a:prstDash val="solid"/>
            <a:headEnd type="none"/>
            <a:tailEnd type="arrow"/>
          </a:ln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55600"/>
            <a:ext cx="139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200" kern="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3 — DEPLOYMENT, TECHNICAL SETUP &amp; REQUIREMENTS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3175000" cy="406400"/>
          </a:xfrm>
          <a:prstGeom prst="rect">
            <a:avLst/>
          </a:prstGeom>
          <a:solidFill>
            <a:srgbClr val="1E1E28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2000" y="12065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200" kern="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UBUNTU HOST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841500"/>
            <a:ext cx="6858000" cy="40640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000" y="1841500"/>
            <a:ext cx="685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100" kern="0" dirty="0">
                <a:solidFill>
                  <a:srgbClr val="E8C8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NATIVE / SYSTEM SERVICES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413000"/>
            <a:ext cx="2159000" cy="69850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2000" y="2413000"/>
            <a:ext cx="2159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D4A8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149600"/>
            <a:ext cx="215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8B8B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9200 HTTPS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11500" y="2413000"/>
            <a:ext cx="2159000" cy="69850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11500" y="2413000"/>
            <a:ext cx="2159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D4A8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Kibana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11500" y="3149600"/>
            <a:ext cx="215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8B8B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5601 HTTPS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61000" y="2413000"/>
            <a:ext cx="2159000" cy="69850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1000" y="2413000"/>
            <a:ext cx="2159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D4A8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Filebeat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3556000"/>
            <a:ext cx="2159000" cy="69850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2000" y="3556000"/>
            <a:ext cx="2159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D4A8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Suricata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111500" y="3556000"/>
            <a:ext cx="2159000" cy="69850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11500" y="3556000"/>
            <a:ext cx="2159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D4A8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Wazuh Manager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111500" y="42926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8B8B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1514 / 1515 TCP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61000" y="3556000"/>
            <a:ext cx="2159000" cy="69850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61000" y="3556000"/>
            <a:ext cx="2159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D4A8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Telegraf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28000" y="1841500"/>
            <a:ext cx="7366000" cy="40640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28000" y="1841500"/>
            <a:ext cx="736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100" kern="0" dirty="0">
                <a:solidFill>
                  <a:srgbClr val="E8C8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DOCKER SERVICES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28000" y="2413000"/>
            <a:ext cx="3556000" cy="69850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28000" y="2413000"/>
            <a:ext cx="355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D4A8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938000" y="2413000"/>
            <a:ext cx="3556000" cy="698500"/>
          </a:xfrm>
          <a:prstGeom prst="rect">
            <a:avLst/>
          </a:prstGeom>
          <a:solidFill>
            <a:srgbClr val="1E1E28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938000" y="2413000"/>
            <a:ext cx="355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D4A8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Falcosidekick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938000" y="3149600"/>
            <a:ext cx="355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8B8B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2801 HTTP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128000" y="3683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E8C8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THE SPLIT?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8128000" y="4064000"/>
            <a:ext cx="635000" cy="254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2" name="Text 30"/>
          <p:cNvSpPr/>
          <p:nvPr/>
        </p:nvSpPr>
        <p:spPr>
          <a:xfrm>
            <a:off x="8128000" y="4191000"/>
            <a:ext cx="736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SIEM core stays stable and centralized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Runtime detection is isolated in containers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Architecture stays simple and maintainable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2000" y="5016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E8C8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 REQUIREMENTS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762000" y="5397500"/>
            <a:ext cx="635000" cy="25400"/>
          </a:xfrm>
          <a:prstGeom prst="rect">
            <a:avLst/>
          </a:prstGeom>
          <a:solidFill>
            <a:srgbClr val="D4A853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588000"/>
          <a:ext cx="6858000" cy="1524000"/>
        </p:xfrm>
        <a:graphic>
          <a:graphicData uri="http://schemas.openxmlformats.org/drawingml/2006/table">
            <a:tbl>
              <a:tblPr/>
              <a:tblGrid>
                <a:gridCol w="2057400"/>
                <a:gridCol w="1577340"/>
                <a:gridCol w="157734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85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Level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85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CPU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85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85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Minimum lab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 cores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 GB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50 GB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A85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Recommended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A85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 cores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A85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16 GB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A85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100 GB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36" name="Text 33"/>
          <p:cNvSpPr/>
          <p:nvPr/>
        </p:nvSpPr>
        <p:spPr>
          <a:xfrm>
            <a:off x="8128000" y="5778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E8C8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CONFIGURATION PATHS</a:t>
            </a:r>
            <a:endParaRPr lang="en-US" sz="2200" dirty="0"/>
          </a:p>
        </p:txBody>
      </p:sp>
      <p:sp>
        <p:nvSpPr>
          <p:cNvPr id="37" name="Shape 34"/>
          <p:cNvSpPr/>
          <p:nvPr/>
        </p:nvSpPr>
        <p:spPr>
          <a:xfrm>
            <a:off x="8128000" y="6197600"/>
            <a:ext cx="635000" cy="25400"/>
          </a:xfrm>
          <a:prstGeom prst="rect">
            <a:avLst/>
          </a:prstGeom>
          <a:solidFill>
            <a:srgbClr val="D4A853"/>
          </a:solidFill>
          <a:ln/>
        </p:spPr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0" y="6350000"/>
          <a:ext cx="7366000" cy="1524000"/>
        </p:xfrm>
        <a:graphic>
          <a:graphicData uri="http://schemas.openxmlformats.org/drawingml/2006/table">
            <a:tbl>
              <a:tblPr/>
              <a:tblGrid>
                <a:gridCol w="2578100"/>
                <a:gridCol w="4787900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85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Tool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85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Configuration Path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Elasticsearch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/etc/elasticsearch/*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Kibana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/etc/kibana/kibana.yml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Filebeat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/etc/filebeat/filebeat.yml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Suricata / Wazuh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8E8E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/etc/suricata/*  /var/ossec/*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39" name="Text 3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8B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55600"/>
            <a:ext cx="139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200" kern="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4 — VISIBILITY LAYERS, TOOL ROLES &amp; FINAL OUTCOME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8607" y="1270000"/>
            <a:ext cx="6939958" cy="736600"/>
          </a:xfrm>
          <a:prstGeom prst="rect">
            <a:avLst/>
          </a:prstGeom>
          <a:solidFill>
            <a:srgbClr val="2A2A3A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5000" y="1270000"/>
            <a:ext cx="14224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A8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Visualization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Kibana — Dashboards, monitoring, analysis, exploration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7527" y="2133600"/>
            <a:ext cx="6828118" cy="736600"/>
          </a:xfrm>
          <a:prstGeom prst="rect">
            <a:avLst/>
          </a:prstGeom>
          <a:solidFill>
            <a:srgbClr val="252535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1527" y="2133600"/>
            <a:ext cx="6574118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A8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 Analysis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Elasticsearch — Storage, indexing, search, centralization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7527" y="2997200"/>
            <a:ext cx="7366000" cy="736600"/>
          </a:xfrm>
          <a:prstGeom prst="rect">
            <a:avLst/>
          </a:prstGeom>
          <a:solidFill>
            <a:srgbClr val="202030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527" y="2997200"/>
            <a:ext cx="7178056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A8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 Collection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Filebeat + Falcosidekick — Shipping and forwarding logs / alerts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7527" y="3860800"/>
            <a:ext cx="7700473" cy="736600"/>
          </a:xfrm>
          <a:prstGeom prst="rect">
            <a:avLst/>
          </a:prstGeom>
          <a:solidFill>
            <a:srgbClr val="3A3A55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527" y="3860800"/>
            <a:ext cx="7446473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A8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Suricata — Traffic, suspicious packets, scans, protocol activity, IDS alerts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7527" y="4724400"/>
            <a:ext cx="8293227" cy="736600"/>
          </a:xfrm>
          <a:prstGeom prst="rect">
            <a:avLst/>
          </a:prstGeom>
          <a:solidFill>
            <a:srgbClr val="353550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527" y="4724400"/>
            <a:ext cx="8039227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A8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Host / Endpoint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Wazuh — Auth events, file integrity, suspicious host activity, agent alerts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7527" y="5643920"/>
            <a:ext cx="8539276" cy="736600"/>
          </a:xfrm>
          <a:prstGeom prst="rect">
            <a:avLst/>
          </a:prstGeom>
          <a:solidFill>
            <a:srgbClr val="303045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527" y="5643920"/>
            <a:ext cx="8285276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A8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Runtime / Container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Falco — Process behavior, syscalls, container activity, abnormal events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7527" y="6541072"/>
            <a:ext cx="6939958" cy="736600"/>
          </a:xfrm>
          <a:prstGeom prst="rect">
            <a:avLst/>
          </a:prstGeom>
          <a:solidFill>
            <a:srgbClr val="2B2B40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527" y="6541072"/>
            <a:ext cx="6685958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A8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 / Infrastructure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Telegraf — CPU, RAM, disk, load, system health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7493000"/>
            <a:ext cx="14732000" cy="1016000"/>
          </a:xfrm>
          <a:prstGeom prst="rect">
            <a:avLst/>
          </a:prstGeom>
          <a:solidFill>
            <a:srgbClr val="1E1E28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6000" y="7493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8C8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Outcome: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This layered architecture removes monitoring blind spots. Instead of watching only one part of the infrastructure, the system observes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network, hosts, runtime, and resources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all centralized and visualized together. That is what gives the project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D4A8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system visibility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8B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  <p:pic>
        <p:nvPicPr>
          <p:cNvPr id="21" name="Image 0" descr="https://kimi-img.moonshot.cn/pub/slides/26-04-28-18:39:35-d7o8sppl88bg6s8mul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0343" y="927100"/>
            <a:ext cx="7545657" cy="6657948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1 — Monitoring Foundation</dc:title>
  <dc:subject>Phase 1 — Monitoring Foundation</dc:subject>
  <dc:creator>Kimi</dc:creator>
  <cp:lastModifiedBy>Kimi</cp:lastModifiedBy>
  <cp:revision>1</cp:revision>
  <dcterms:created xsi:type="dcterms:W3CDTF">2026-04-28T11:01:06Z</dcterms:created>
  <dcterms:modified xsi:type="dcterms:W3CDTF">2026-04-28T11:01:06Z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{"Label":"Phase 1 — Monitoring Foundation","ContentProducer":"001191110108MACG2KBH8F10000","ProduceID":"19dd39af-44b2-8080-8000-00001a1c8785","ReservedCode1":"","ContentPropagator":"001191110108MACG2KBH8F20000","PropagateID":"19dd39af-44b2-8080-8000-00001a1c8785","ReservedCode2":""}</vt:lpwstr>
  </property>
</Properties>
</file>