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6256000" cy="9144000"/>
  <p:notesSz cx="9144000" cy="16256000"/>
  <p:embeddedFontLst>
    <p:embeddedFont>
      <p:font typeface="Liter" charset="-122" pitchFamily="34"/>
      <p:regular r:id="rId29"/>
    </p:embeddedFont>
    <p:embeddedFont>
      <p:font typeface="Quattrocento Sans" charset="-122" pitchFamily="34"/>
      <p:regular r:id="rId3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font" Target="fonts/font1.fntdata"/><Relationship Id="rId3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048000"/>
            <a:ext cx="2540000" cy="0"/>
          </a:xfrm>
          <a:prstGeom prst="straightConnector1">
            <a:avLst/>
          </a:prstGeom>
          <a:noFill/>
          <a:ln w="25400">
            <a:solidFill>
              <a:srgbClr val="C9A84C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1778000" y="3302000"/>
            <a:ext cx="1270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spc="2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778000" y="4318000"/>
            <a:ext cx="1270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spc="400" kern="0" dirty="0">
                <a:solidFill>
                  <a:srgbClr val="E2E4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INTELLIGENCE LAYER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0" y="5207000"/>
            <a:ext cx="2540000" cy="0"/>
          </a:xfrm>
          <a:prstGeom prst="straightConnector1">
            <a:avLst/>
          </a:prstGeom>
          <a:noFill/>
          <a:ln w="25400">
            <a:solidFill>
              <a:srgbClr val="C9A84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3048000" y="5461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8A94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Passive Monitoring to Intelligent SOC Operations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2A3038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762000" y="8509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SOC Platform Architecture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84000" y="8509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8A94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1079500"/>
            <a:ext cx="508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1968500"/>
            <a:ext cx="762000" cy="508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286000"/>
            <a:ext cx="14732000" cy="0"/>
          </a:xfrm>
          <a:prstGeom prst="straightConnector1">
            <a:avLst/>
          </a:prstGeom>
          <a:noFill/>
          <a:ln w="12700">
            <a:solidFill>
              <a:srgbClr val="2A3038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762000" y="2540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78000" y="2540000"/>
            <a:ext cx="558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 Ingestion &amp; Enrichment Pipeline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175000"/>
            <a:ext cx="88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78000" y="3175000"/>
            <a:ext cx="558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Incidents &amp; Correlation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810000"/>
            <a:ext cx="88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78000" y="3810000"/>
            <a:ext cx="558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Incident Watcher &amp; Investigation Lifecycle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4445000"/>
            <a:ext cx="88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78000" y="4445000"/>
            <a:ext cx="558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Response Engine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5080000"/>
            <a:ext cx="88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78000" y="5080000"/>
            <a:ext cx="558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Approval, Execution, Verification, Archive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82000" y="2540000"/>
            <a:ext cx="88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98000" y="2540000"/>
            <a:ext cx="609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Monitoring &amp; Remediation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82000" y="3175000"/>
            <a:ext cx="88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98000" y="3175000"/>
            <a:ext cx="609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IPS Attack Visualization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82000" y="3810000"/>
            <a:ext cx="88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98000" y="3810000"/>
            <a:ext cx="609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Assistant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82000" y="4445000"/>
            <a:ext cx="88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98000" y="4445000"/>
            <a:ext cx="609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Operator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2A3038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762000" y="8509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3 Overview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970000" y="8509000"/>
            <a:ext cx="152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/ 22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8A94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b="1" spc="200" kern="0" dirty="0">
                <a:solidFill>
                  <a:srgbClr val="E2E4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PASSIVE MONITORING TO INTELLIGENT SOC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14732000" cy="88900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0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" y="1587500"/>
            <a:ext cx="50800" cy="889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1587500"/>
            <a:ext cx="14173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i="1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3 is where the platform moves from passive monitoring to intelligent SOC operations.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730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INTELLIGENCE FLOW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175000"/>
            <a:ext cx="1651000" cy="571500"/>
          </a:xfrm>
          <a:prstGeom prst="rect">
            <a:avLst/>
          </a:prstGeom>
          <a:solidFill>
            <a:srgbClr val="161A2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2000" y="3175000"/>
            <a:ext cx="1651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ES Data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476500" y="3454400"/>
            <a:ext cx="317500" cy="0"/>
          </a:xfrm>
          <a:prstGeom prst="straightConnector1">
            <a:avLst/>
          </a:prstGeom>
          <a:noFill/>
          <a:ln w="12700">
            <a:solidFill>
              <a:srgbClr val="C9A84C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2857500" y="3175000"/>
            <a:ext cx="1397000" cy="571500"/>
          </a:xfrm>
          <a:prstGeom prst="rect">
            <a:avLst/>
          </a:prstGeom>
          <a:solidFill>
            <a:srgbClr val="161A2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57500" y="3175000"/>
            <a:ext cx="1397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 Alerts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18000" y="3454400"/>
            <a:ext cx="317500" cy="0"/>
          </a:xfrm>
          <a:prstGeom prst="straightConnector1">
            <a:avLst/>
          </a:prstGeom>
          <a:noFill/>
          <a:ln w="12700">
            <a:solidFill>
              <a:srgbClr val="C9A84C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4699000" y="3175000"/>
            <a:ext cx="1651000" cy="571500"/>
          </a:xfrm>
          <a:prstGeom prst="rect">
            <a:avLst/>
          </a:prstGeom>
          <a:solidFill>
            <a:srgbClr val="161A2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99000" y="3175000"/>
            <a:ext cx="1651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Correlated Incidents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13500" y="3454400"/>
            <a:ext cx="317500" cy="0"/>
          </a:xfrm>
          <a:prstGeom prst="straightConnector1">
            <a:avLst/>
          </a:prstGeom>
          <a:noFill/>
          <a:ln w="12700">
            <a:solidFill>
              <a:srgbClr val="C9A84C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6794500" y="3175000"/>
            <a:ext cx="1651000" cy="571500"/>
          </a:xfrm>
          <a:prstGeom prst="rect">
            <a:avLst/>
          </a:prstGeom>
          <a:solidFill>
            <a:srgbClr val="161A2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94500" y="3175000"/>
            <a:ext cx="1651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Investigations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09000" y="3454400"/>
            <a:ext cx="317500" cy="0"/>
          </a:xfrm>
          <a:prstGeom prst="straightConnector1">
            <a:avLst/>
          </a:prstGeom>
          <a:noFill/>
          <a:ln w="12700">
            <a:solidFill>
              <a:srgbClr val="C9A84C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8890000" y="3175000"/>
            <a:ext cx="1968500" cy="571500"/>
          </a:xfrm>
          <a:prstGeom prst="rect">
            <a:avLst/>
          </a:prstGeom>
          <a:solidFill>
            <a:srgbClr val="161A2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90000" y="3175000"/>
            <a:ext cx="203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Summaries &amp; Playbooks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985500" y="3454400"/>
            <a:ext cx="317500" cy="0"/>
          </a:xfrm>
          <a:prstGeom prst="straightConnector1">
            <a:avLst/>
          </a:prstGeom>
          <a:noFill/>
          <a:ln w="12700">
            <a:solidFill>
              <a:srgbClr val="C9A84C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1366500" y="3175000"/>
            <a:ext cx="1270000" cy="571500"/>
          </a:xfrm>
          <a:prstGeom prst="rect">
            <a:avLst/>
          </a:prstGeom>
          <a:solidFill>
            <a:srgbClr val="161A2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366500" y="3175000"/>
            <a:ext cx="127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Approval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2700000" y="3454400"/>
            <a:ext cx="317500" cy="0"/>
          </a:xfrm>
          <a:prstGeom prst="straightConnector1">
            <a:avLst/>
          </a:prstGeom>
          <a:noFill/>
          <a:ln w="12700">
            <a:solidFill>
              <a:srgbClr val="C9A84C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13081000" y="3175000"/>
            <a:ext cx="1270000" cy="571500"/>
          </a:xfrm>
          <a:prstGeom prst="rect">
            <a:avLst/>
          </a:prstGeom>
          <a:solidFill>
            <a:srgbClr val="161A2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081000" y="3175000"/>
            <a:ext cx="127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4351000" y="3454400"/>
            <a:ext cx="127000" cy="0"/>
          </a:xfrm>
          <a:prstGeom prst="straightConnector1">
            <a:avLst/>
          </a:prstGeom>
          <a:noFill/>
          <a:ln w="12700">
            <a:solidFill>
              <a:srgbClr val="C9A84C"/>
            </a:solidFill>
            <a:prstDash val="solid"/>
            <a:headEnd type="none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14541500" y="3175000"/>
            <a:ext cx="952500" cy="571500"/>
          </a:xfrm>
          <a:prstGeom prst="rect">
            <a:avLst/>
          </a:prstGeom>
          <a:solidFill>
            <a:srgbClr val="161A2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541500" y="3175000"/>
            <a:ext cx="952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2000" y="4064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PHASE 3 DIAGRAM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62000" y="4508500"/>
            <a:ext cx="14732000" cy="2794000"/>
          </a:xfrm>
          <a:prstGeom prst="rect">
            <a:avLst/>
          </a:prstGeom>
          <a:solidFill>
            <a:srgbClr val="161A20"/>
          </a:solidFill>
          <a:ln w="25400">
            <a:solidFill>
              <a:srgbClr val="C9A84C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762000" y="4508500"/>
            <a:ext cx="14732000" cy="279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8A94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DIAGRAM PLACEHOLDER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2000" y="7620000"/>
            <a:ext cx="1473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A94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 your Mermaid diagram here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2A3038"/>
            </a:solidFill>
            <a:prstDash val="solid"/>
            <a:headEnd type="none"/>
            <a:tailEnd type="none"/>
          </a:ln>
        </p:spPr>
      </p:sp>
      <p:sp>
        <p:nvSpPr>
          <p:cNvPr id="37" name="Text 35"/>
          <p:cNvSpPr/>
          <p:nvPr/>
        </p:nvSpPr>
        <p:spPr>
          <a:xfrm>
            <a:off x="762000" y="8509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3 — Backend Intelligence Layer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3970000" y="8509000"/>
            <a:ext cx="152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/ 22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spc="1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778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b="1" spc="200" kern="0" dirty="0">
                <a:solidFill>
                  <a:srgbClr val="E2E4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ALERT INGESTION &amp; ENRICHMENT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778000" y="914400"/>
            <a:ext cx="1143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C9A84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Pipeline — Entry Point of Phase 3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4732000" cy="0"/>
          </a:xfrm>
          <a:prstGeom prst="straightConnector1">
            <a:avLst/>
          </a:prstGeom>
          <a:noFill/>
          <a:ln w="12700">
            <a:solidFill>
              <a:srgbClr val="2A3038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762000" y="15240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18415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Polls Elasticsearch indices for Wazuh, Suricata, Falco, Filebeat, and generic alerts. Normalizes, deduplicates, filters noise, enriches, checks whitelist, tracks campaigns, and persists alerts locally or forwards upstream.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7305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048000"/>
            <a:ext cx="6858000" cy="177800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0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2500" y="3136900"/>
            <a:ext cx="6477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wazuh-*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suricata-*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falco-*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filebeat-*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custom index patterns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01000" y="2730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 LOGIC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01000" y="3048000"/>
            <a:ext cx="7493000" cy="139700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0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91500" y="3136900"/>
            <a:ext cx="711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Poll ES → map fields → deduplicate → filter noise → severity threshold → GeoIP enrich → MITRE map → campaign track → whitelist check → persist Alert → forward upstream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4889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 FILES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270500"/>
          <a:ext cx="14732000" cy="2603500"/>
        </p:xfrm>
        <a:graphic>
          <a:graphicData uri="http://schemas.openxmlformats.org/drawingml/2006/table">
            <a:tbl>
              <a:tblPr/>
              <a:tblGrid>
                <a:gridCol w="5892800"/>
                <a:gridCol w="8839200"/>
              </a:tblGrid>
              <a:tr h="26035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C9A84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C9A84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pipeline/poller/main.py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Forwarder loop and cursor management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2"/>
                    </a:solidFill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pipeline/poller/alert_processor.py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process_single_alert() pipeline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pipeline/mappers/wazuh.py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Wazuh normalization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2"/>
                    </a:solidFill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pipeline/mappers/suricata.py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Suricata normalization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pipeline/mappers/falco.py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Falco normalization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2"/>
                    </a:solidFill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pipeline/mappers/filebeat.py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Filebeat normalization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pipeline/enrichment/geoip.py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GeoIP enrichment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2"/>
                    </a:solidFill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pipeline/enrichment/mitrecraft.py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MITRE mapping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pipeline/dedup.py / noise_learner.py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Deduplication engine / Auto-learned noise rules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2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762000" y="8001000"/>
            <a:ext cx="50800" cy="571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7" name="Text 14"/>
          <p:cNvSpPr/>
          <p:nvPr/>
        </p:nvSpPr>
        <p:spPr>
          <a:xfrm>
            <a:off x="952500" y="7874000"/>
            <a:ext cx="10795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52500" y="8191500"/>
            <a:ext cx="1422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Wazuh SSH brute-force alert → severity high, MITRE T1110, GeoIP resolves attacker IP, campaign tracking groups it as SSH brute-force → visible in /alerts and /ips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62000" y="8667750"/>
            <a:ext cx="14732000" cy="0"/>
          </a:xfrm>
          <a:prstGeom prst="straightConnector1">
            <a:avLst/>
          </a:prstGeom>
          <a:noFill/>
          <a:ln w="12700">
            <a:solidFill>
              <a:srgbClr val="2A3038"/>
            </a:solidFill>
            <a:prstDash val="solid"/>
            <a:headEnd type="none"/>
            <a:tailEnd type="none"/>
          </a:ln>
        </p:spPr>
      </p:sp>
      <p:sp>
        <p:nvSpPr>
          <p:cNvPr id="20" name="Text 17"/>
          <p:cNvSpPr/>
          <p:nvPr/>
        </p:nvSpPr>
        <p:spPr>
          <a:xfrm>
            <a:off x="762000" y="8509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1 — Alert Ingestion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3970000" y="8509000"/>
            <a:ext cx="152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/ 22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spc="1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778000" y="381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b="1" spc="200" kern="0" dirty="0">
                <a:solidFill>
                  <a:srgbClr val="E2E4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ALERT INGESTION &amp; ENRICHMENT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778000" y="914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200" kern="0" dirty="0">
                <a:solidFill>
                  <a:srgbClr val="8A94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 DIAGRAM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4732000" cy="0"/>
          </a:xfrm>
          <a:prstGeom prst="straightConnector1">
            <a:avLst/>
          </a:prstGeom>
          <a:noFill/>
          <a:ln w="12700">
            <a:solidFill>
              <a:srgbClr val="2A3038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62000" y="1651000"/>
            <a:ext cx="14732000" cy="6096000"/>
          </a:xfrm>
          <a:prstGeom prst="rect">
            <a:avLst/>
          </a:prstGeom>
          <a:solidFill>
            <a:srgbClr val="161A20"/>
          </a:solidFill>
          <a:ln w="25400">
            <a:solidFill>
              <a:srgbClr val="C9A84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493000" y="3556000"/>
            <a:ext cx="1270000" cy="1270000"/>
          </a:xfrm>
          <a:custGeom>
            <a:avLst/>
            <a:gdLst/>
            <a:ahLst/>
            <a:cxnLst/>
            <a:rect l="l" t="t" r="r" b="b"/>
            <a:pathLst>
              <a:path w="1270000" h="1270000">
                <a:moveTo>
                  <a:pt x="0" y="198438"/>
                </a:moveTo>
                <a:cubicBezTo>
                  <a:pt x="0" y="132705"/>
                  <a:pt x="53330" y="79375"/>
                  <a:pt x="119062" y="79375"/>
                </a:cubicBezTo>
                <a:lnTo>
                  <a:pt x="357188" y="79375"/>
                </a:lnTo>
                <a:cubicBezTo>
                  <a:pt x="422920" y="79375"/>
                  <a:pt x="476250" y="132705"/>
                  <a:pt x="476250" y="198438"/>
                </a:cubicBezTo>
                <a:lnTo>
                  <a:pt x="476250" y="238125"/>
                </a:lnTo>
                <a:lnTo>
                  <a:pt x="793750" y="238125"/>
                </a:lnTo>
                <a:lnTo>
                  <a:pt x="793750" y="198438"/>
                </a:lnTo>
                <a:cubicBezTo>
                  <a:pt x="793750" y="132705"/>
                  <a:pt x="847080" y="79375"/>
                  <a:pt x="912813" y="79375"/>
                </a:cubicBezTo>
                <a:lnTo>
                  <a:pt x="1150938" y="79375"/>
                </a:lnTo>
                <a:cubicBezTo>
                  <a:pt x="1216670" y="79375"/>
                  <a:pt x="1270000" y="132705"/>
                  <a:pt x="1270000" y="198438"/>
                </a:cubicBezTo>
                <a:lnTo>
                  <a:pt x="1270000" y="436563"/>
                </a:lnTo>
                <a:cubicBezTo>
                  <a:pt x="1270000" y="502295"/>
                  <a:pt x="1216670" y="555625"/>
                  <a:pt x="1150938" y="555625"/>
                </a:cubicBezTo>
                <a:lnTo>
                  <a:pt x="912813" y="555625"/>
                </a:lnTo>
                <a:cubicBezTo>
                  <a:pt x="847080" y="555625"/>
                  <a:pt x="793750" y="502295"/>
                  <a:pt x="793750" y="436563"/>
                </a:cubicBezTo>
                <a:lnTo>
                  <a:pt x="793750" y="396875"/>
                </a:lnTo>
                <a:lnTo>
                  <a:pt x="476250" y="396875"/>
                </a:lnTo>
                <a:lnTo>
                  <a:pt x="476250" y="436563"/>
                </a:lnTo>
                <a:cubicBezTo>
                  <a:pt x="476250" y="454670"/>
                  <a:pt x="472033" y="472033"/>
                  <a:pt x="464840" y="487412"/>
                </a:cubicBezTo>
                <a:lnTo>
                  <a:pt x="635000" y="714375"/>
                </a:lnTo>
                <a:lnTo>
                  <a:pt x="833438" y="714375"/>
                </a:lnTo>
                <a:cubicBezTo>
                  <a:pt x="899170" y="714375"/>
                  <a:pt x="952500" y="767705"/>
                  <a:pt x="952500" y="833438"/>
                </a:cubicBezTo>
                <a:lnTo>
                  <a:pt x="952500" y="1071563"/>
                </a:lnTo>
                <a:cubicBezTo>
                  <a:pt x="952500" y="1137295"/>
                  <a:pt x="899170" y="1190625"/>
                  <a:pt x="833438" y="1190625"/>
                </a:cubicBezTo>
                <a:lnTo>
                  <a:pt x="595313" y="1190625"/>
                </a:lnTo>
                <a:cubicBezTo>
                  <a:pt x="529580" y="1190625"/>
                  <a:pt x="476250" y="1137295"/>
                  <a:pt x="476250" y="1071563"/>
                </a:cubicBezTo>
                <a:lnTo>
                  <a:pt x="476250" y="833438"/>
                </a:lnTo>
                <a:cubicBezTo>
                  <a:pt x="476250" y="815330"/>
                  <a:pt x="480467" y="797967"/>
                  <a:pt x="487660" y="782588"/>
                </a:cubicBezTo>
                <a:lnTo>
                  <a:pt x="317500" y="555625"/>
                </a:lnTo>
                <a:lnTo>
                  <a:pt x="119062" y="555625"/>
                </a:lnTo>
                <a:cubicBezTo>
                  <a:pt x="53330" y="555625"/>
                  <a:pt x="0" y="502295"/>
                  <a:pt x="0" y="436563"/>
                </a:cubicBezTo>
                <a:lnTo>
                  <a:pt x="0" y="198438"/>
                </a:lnTo>
                <a:close/>
              </a:path>
            </a:pathLst>
          </a:custGeom>
          <a:solidFill>
            <a:srgbClr val="C9A84C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4953000"/>
            <a:ext cx="147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8A94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DIAGRAM PLACEHOLDER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55245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A94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 your Mermaid diagram: Alert Ingestion &amp; Enrichment Pipeline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7937500"/>
            <a:ext cx="14732000" cy="381000"/>
          </a:xfrm>
          <a:prstGeom prst="rect">
            <a:avLst/>
          </a:prstGeom>
          <a:solidFill>
            <a:srgbClr val="0D0F12"/>
          </a:solidFill>
          <a:ln w="12700">
            <a:solidFill>
              <a:srgbClr val="2A30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2500" y="7937500"/>
            <a:ext cx="1435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A94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Context: Poll ES → map fields → deduplicate → filter noise → enrich → whitelist → persist → forward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2A3038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762000" y="8509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1 — Alert Ingestion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970000" y="8509000"/>
            <a:ext cx="152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 / 22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spc="1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778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b="1" spc="200" kern="0" dirty="0">
                <a:solidFill>
                  <a:srgbClr val="E2E4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INCIDENTS &amp; CORRELATION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778000" y="914400"/>
            <a:ext cx="1143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C9A84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From Alerts to Correlated Incidents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4732000" cy="0"/>
          </a:xfrm>
          <a:prstGeom prst="straightConnector1">
            <a:avLst/>
          </a:prstGeom>
          <a:noFill/>
          <a:ln w="12700">
            <a:solidFill>
              <a:srgbClr val="2A3038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762000" y="15240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1841500"/>
            <a:ext cx="1473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Correlates related alerts into incidents using attack patterns, kill-chain progression, shared observables, and time windows.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5400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 LOGIC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857500"/>
            <a:ext cx="8890000" cy="101600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0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2500" y="2946400"/>
            <a:ext cx="850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Normalized alerts → evaluate incident creation → calculate severity → generate title → create local Incident → create AlertIncidentLink → correlate by IOC, time, MITRE overlap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33000" y="25400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CREATION RULES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33000" y="2857500"/>
            <a:ext cx="5461000" cy="177800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0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23500" y="2946400"/>
            <a:ext cx="508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Alert is critical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Attack pattern detected (ssh_brute_force, port_scan, malware, c2)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Kill chain has 2+ MITRE phases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Medium severity + 2+ recent alerts in 15 min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4064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 FILES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381500"/>
          <a:ext cx="8890000" cy="1651000"/>
        </p:xfrm>
        <a:graphic>
          <a:graphicData uri="http://schemas.openxmlformats.org/drawingml/2006/table">
            <a:tbl>
              <a:tblPr/>
              <a:tblGrid>
                <a:gridCol w="4445000"/>
                <a:gridCol w="4445000"/>
              </a:tblGrid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C9A84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C9A84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pipeline/datausage/incident_manager.py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Creation logic, severity, titles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2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pipeline/datausage/local_incident_manager.py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Local SQLite shadow incidents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pipeline/correlators/correlator.py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 time + MITRE correlation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2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pipeline/correlators/observable_manager.py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Extract and track observables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762000" y="6350000"/>
            <a:ext cx="50800" cy="1270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7" name="Text 14"/>
          <p:cNvSpPr/>
          <p:nvPr/>
        </p:nvSpPr>
        <p:spPr>
          <a:xfrm>
            <a:off x="952500" y="6350000"/>
            <a:ext cx="10795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52500" y="66675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Wazuh SSH brute-force alerts plus one Suricata port scan from the same source IP within 10 minutes create a critical incident titled: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SSH Brute Force &amp; Port Scan Campaign from 185.220.101.4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2A3038"/>
            </a:solidFill>
            <a:prstDash val="solid"/>
            <a:headEnd type="none"/>
            <a:tailEnd type="none"/>
          </a:ln>
        </p:spPr>
      </p:sp>
      <p:sp>
        <p:nvSpPr>
          <p:cNvPr id="20" name="Text 17"/>
          <p:cNvSpPr/>
          <p:nvPr/>
        </p:nvSpPr>
        <p:spPr>
          <a:xfrm>
            <a:off x="762000" y="8509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2 — Incidents &amp; Correlation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3970000" y="8509000"/>
            <a:ext cx="152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 / 22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spc="1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778000" y="381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b="1" spc="200" kern="0" dirty="0">
                <a:solidFill>
                  <a:srgbClr val="E2E4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INCIDENTS &amp; CORRELATION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778000" y="9144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200" kern="0" dirty="0">
                <a:solidFill>
                  <a:srgbClr val="8A94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CORRELATION DIAGRAM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4732000" cy="0"/>
          </a:xfrm>
          <a:prstGeom prst="straightConnector1">
            <a:avLst/>
          </a:prstGeom>
          <a:noFill/>
          <a:ln w="12700">
            <a:solidFill>
              <a:srgbClr val="2A3038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62000" y="1651000"/>
            <a:ext cx="14732000" cy="6096000"/>
          </a:xfrm>
          <a:prstGeom prst="rect">
            <a:avLst/>
          </a:prstGeom>
          <a:solidFill>
            <a:srgbClr val="161A20"/>
          </a:solidFill>
          <a:ln w="25400">
            <a:solidFill>
              <a:srgbClr val="C9A84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493000" y="3556000"/>
            <a:ext cx="1270000" cy="1270000"/>
          </a:xfrm>
          <a:custGeom>
            <a:avLst/>
            <a:gdLst/>
            <a:ahLst/>
            <a:cxnLst/>
            <a:rect l="l" t="t" r="r" b="b"/>
            <a:pathLst>
              <a:path w="1270000" h="1270000">
                <a:moveTo>
                  <a:pt x="0" y="198438"/>
                </a:moveTo>
                <a:cubicBezTo>
                  <a:pt x="0" y="132705"/>
                  <a:pt x="53330" y="79375"/>
                  <a:pt x="119062" y="79375"/>
                </a:cubicBezTo>
                <a:lnTo>
                  <a:pt x="357188" y="79375"/>
                </a:lnTo>
                <a:cubicBezTo>
                  <a:pt x="422920" y="79375"/>
                  <a:pt x="476250" y="132705"/>
                  <a:pt x="476250" y="198438"/>
                </a:cubicBezTo>
                <a:lnTo>
                  <a:pt x="476250" y="238125"/>
                </a:lnTo>
                <a:lnTo>
                  <a:pt x="793750" y="238125"/>
                </a:lnTo>
                <a:lnTo>
                  <a:pt x="793750" y="198438"/>
                </a:lnTo>
                <a:cubicBezTo>
                  <a:pt x="793750" y="132705"/>
                  <a:pt x="847080" y="79375"/>
                  <a:pt x="912813" y="79375"/>
                </a:cubicBezTo>
                <a:lnTo>
                  <a:pt x="1150938" y="79375"/>
                </a:lnTo>
                <a:cubicBezTo>
                  <a:pt x="1216670" y="79375"/>
                  <a:pt x="1270000" y="132705"/>
                  <a:pt x="1270000" y="198438"/>
                </a:cubicBezTo>
                <a:lnTo>
                  <a:pt x="1270000" y="436563"/>
                </a:lnTo>
                <a:cubicBezTo>
                  <a:pt x="1270000" y="502295"/>
                  <a:pt x="1216670" y="555625"/>
                  <a:pt x="1150938" y="555625"/>
                </a:cubicBezTo>
                <a:lnTo>
                  <a:pt x="912813" y="555625"/>
                </a:lnTo>
                <a:cubicBezTo>
                  <a:pt x="847080" y="555625"/>
                  <a:pt x="793750" y="502295"/>
                  <a:pt x="793750" y="436563"/>
                </a:cubicBezTo>
                <a:lnTo>
                  <a:pt x="793750" y="396875"/>
                </a:lnTo>
                <a:lnTo>
                  <a:pt x="476250" y="396875"/>
                </a:lnTo>
                <a:lnTo>
                  <a:pt x="476250" y="436563"/>
                </a:lnTo>
                <a:cubicBezTo>
                  <a:pt x="476250" y="454670"/>
                  <a:pt x="472033" y="472033"/>
                  <a:pt x="464840" y="487412"/>
                </a:cubicBezTo>
                <a:lnTo>
                  <a:pt x="635000" y="714375"/>
                </a:lnTo>
                <a:lnTo>
                  <a:pt x="833438" y="714375"/>
                </a:lnTo>
                <a:cubicBezTo>
                  <a:pt x="899170" y="714375"/>
                  <a:pt x="952500" y="767705"/>
                  <a:pt x="952500" y="833438"/>
                </a:cubicBezTo>
                <a:lnTo>
                  <a:pt x="952500" y="1071563"/>
                </a:lnTo>
                <a:cubicBezTo>
                  <a:pt x="952500" y="1137295"/>
                  <a:pt x="899170" y="1190625"/>
                  <a:pt x="833438" y="1190625"/>
                </a:cubicBezTo>
                <a:lnTo>
                  <a:pt x="595313" y="1190625"/>
                </a:lnTo>
                <a:cubicBezTo>
                  <a:pt x="529580" y="1190625"/>
                  <a:pt x="476250" y="1137295"/>
                  <a:pt x="476250" y="1071563"/>
                </a:cubicBezTo>
                <a:lnTo>
                  <a:pt x="476250" y="833438"/>
                </a:lnTo>
                <a:cubicBezTo>
                  <a:pt x="476250" y="815330"/>
                  <a:pt x="480467" y="797967"/>
                  <a:pt x="487660" y="782588"/>
                </a:cubicBezTo>
                <a:lnTo>
                  <a:pt x="317500" y="555625"/>
                </a:lnTo>
                <a:lnTo>
                  <a:pt x="119062" y="555625"/>
                </a:lnTo>
                <a:cubicBezTo>
                  <a:pt x="53330" y="555625"/>
                  <a:pt x="0" y="502295"/>
                  <a:pt x="0" y="436563"/>
                </a:cubicBezTo>
                <a:lnTo>
                  <a:pt x="0" y="198438"/>
                </a:lnTo>
                <a:close/>
              </a:path>
            </a:pathLst>
          </a:custGeom>
          <a:solidFill>
            <a:srgbClr val="C9A84C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4953000"/>
            <a:ext cx="147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8A94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DIAGRAM PLACEHOLDER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55245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A94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 your Mermaid diagram: Incidents &amp; Correlation flow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7937500"/>
            <a:ext cx="14732000" cy="381000"/>
          </a:xfrm>
          <a:prstGeom prst="rect">
            <a:avLst/>
          </a:prstGeom>
          <a:solidFill>
            <a:srgbClr val="0D0F12"/>
          </a:solidFill>
          <a:ln w="12700">
            <a:solidFill>
              <a:srgbClr val="2A30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2500" y="7937500"/>
            <a:ext cx="1435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A94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Context: Alerts → incident creation → severity calc → title gen → AlertIncidentLink → IOC/time/MITRE correlation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2A3038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762000" y="8509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2 — Incidents &amp; Correlation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970000" y="8509000"/>
            <a:ext cx="152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 / 22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spc="1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778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b="1" spc="200" kern="0" dirty="0">
                <a:solidFill>
                  <a:srgbClr val="E2E4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INCIDENT WATCHER &amp; INVESTIGATION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778000" y="914400"/>
            <a:ext cx="1143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C9A84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Investigation Lifecycle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4732000" cy="0"/>
          </a:xfrm>
          <a:prstGeom prst="straightConnector1">
            <a:avLst/>
          </a:prstGeom>
          <a:noFill/>
          <a:ln w="12700">
            <a:solidFill>
              <a:srgbClr val="2A3038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762000" y="15240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1841500"/>
            <a:ext cx="1473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Watcher continuously looks for open incidents without investigations. Creates investigation rows, builds rich context, and triggers the AI engine.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5400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 LOGIC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857500"/>
            <a:ext cx="7620000" cy="63500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0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2500" y="2857500"/>
            <a:ext cx="723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 incident → watcher scan → skip whitelist → create Investigation → build context → trigger AI engine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763000" y="25400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 INCLUDES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763000" y="2857500"/>
            <a:ext cx="6731000" cy="215900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0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53500" y="2946400"/>
            <a:ext cx="635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Alert timeline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IOCs: IPs, ports, services, domains, hashes, usernames, file paths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MITRE tactics and techniques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Behavioral indicators &amp; auth pattern analysis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Attack type &amp; dynamic risk score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3746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 FILES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064000"/>
          <a:ext cx="7620000" cy="1397000"/>
        </p:xfrm>
        <a:graphic>
          <a:graphicData uri="http://schemas.openxmlformats.org/drawingml/2006/table">
            <a:tbl>
              <a:tblPr/>
              <a:tblGrid>
                <a:gridCol w="3810000"/>
                <a:gridCol w="3810000"/>
              </a:tblGrid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C9A84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C9A84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response/watcher/main.py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Polling loop and investigation creation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2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response/watcher/context_builder.py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Context assembly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response/db.py / models.py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Async SQLite session / Investigation models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2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762000" y="5842000"/>
            <a:ext cx="50800" cy="1270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7" name="Text 14"/>
          <p:cNvSpPr/>
          <p:nvPr/>
        </p:nvSpPr>
        <p:spPr>
          <a:xfrm>
            <a:off x="952500" y="5842000"/>
            <a:ext cx="10795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52500" y="61595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open incident with 5 linked alerts becomes an investigation. The context builder finds 2 source IPs, MITRE T1110 and T1078, failed-to-successful authentication pattern, and risk score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78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2A3038"/>
            </a:solidFill>
            <a:prstDash val="solid"/>
            <a:headEnd type="none"/>
            <a:tailEnd type="none"/>
          </a:ln>
        </p:spPr>
      </p:sp>
      <p:sp>
        <p:nvSpPr>
          <p:cNvPr id="20" name="Text 17"/>
          <p:cNvSpPr/>
          <p:nvPr/>
        </p:nvSpPr>
        <p:spPr>
          <a:xfrm>
            <a:off x="762000" y="8509000"/>
            <a:ext cx="444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3 — Incident Watcher &amp; Investigation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3970000" y="8509000"/>
            <a:ext cx="152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 / 22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spc="1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778000" y="38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b="1" spc="200" kern="0" dirty="0">
                <a:solidFill>
                  <a:srgbClr val="E2E4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INCIDENT WATCHER &amp; INVESTIGATION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778000" y="9144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200" kern="0" dirty="0">
                <a:solidFill>
                  <a:srgbClr val="8A94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INVESTIGATION LIFECYCLE DIAGRAM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4732000" cy="0"/>
          </a:xfrm>
          <a:prstGeom prst="straightConnector1">
            <a:avLst/>
          </a:prstGeom>
          <a:noFill/>
          <a:ln w="12700">
            <a:solidFill>
              <a:srgbClr val="2A3038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62000" y="1651000"/>
            <a:ext cx="14732000" cy="6096000"/>
          </a:xfrm>
          <a:prstGeom prst="rect">
            <a:avLst/>
          </a:prstGeom>
          <a:solidFill>
            <a:srgbClr val="161A20"/>
          </a:solidFill>
          <a:ln w="25400">
            <a:solidFill>
              <a:srgbClr val="C9A84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493000" y="3556000"/>
            <a:ext cx="1270000" cy="1270000"/>
          </a:xfrm>
          <a:custGeom>
            <a:avLst/>
            <a:gdLst/>
            <a:ahLst/>
            <a:cxnLst/>
            <a:rect l="l" t="t" r="r" b="b"/>
            <a:pathLst>
              <a:path w="1270000" h="1270000">
                <a:moveTo>
                  <a:pt x="0" y="198438"/>
                </a:moveTo>
                <a:cubicBezTo>
                  <a:pt x="0" y="132705"/>
                  <a:pt x="53330" y="79375"/>
                  <a:pt x="119062" y="79375"/>
                </a:cubicBezTo>
                <a:lnTo>
                  <a:pt x="357188" y="79375"/>
                </a:lnTo>
                <a:cubicBezTo>
                  <a:pt x="422920" y="79375"/>
                  <a:pt x="476250" y="132705"/>
                  <a:pt x="476250" y="198438"/>
                </a:cubicBezTo>
                <a:lnTo>
                  <a:pt x="476250" y="238125"/>
                </a:lnTo>
                <a:lnTo>
                  <a:pt x="793750" y="238125"/>
                </a:lnTo>
                <a:lnTo>
                  <a:pt x="793750" y="198438"/>
                </a:lnTo>
                <a:cubicBezTo>
                  <a:pt x="793750" y="132705"/>
                  <a:pt x="847080" y="79375"/>
                  <a:pt x="912813" y="79375"/>
                </a:cubicBezTo>
                <a:lnTo>
                  <a:pt x="1150938" y="79375"/>
                </a:lnTo>
                <a:cubicBezTo>
                  <a:pt x="1216670" y="79375"/>
                  <a:pt x="1270000" y="132705"/>
                  <a:pt x="1270000" y="198438"/>
                </a:cubicBezTo>
                <a:lnTo>
                  <a:pt x="1270000" y="436563"/>
                </a:lnTo>
                <a:cubicBezTo>
                  <a:pt x="1270000" y="502295"/>
                  <a:pt x="1216670" y="555625"/>
                  <a:pt x="1150938" y="555625"/>
                </a:cubicBezTo>
                <a:lnTo>
                  <a:pt x="912813" y="555625"/>
                </a:lnTo>
                <a:cubicBezTo>
                  <a:pt x="847080" y="555625"/>
                  <a:pt x="793750" y="502295"/>
                  <a:pt x="793750" y="436563"/>
                </a:cubicBezTo>
                <a:lnTo>
                  <a:pt x="793750" y="396875"/>
                </a:lnTo>
                <a:lnTo>
                  <a:pt x="476250" y="396875"/>
                </a:lnTo>
                <a:lnTo>
                  <a:pt x="476250" y="436563"/>
                </a:lnTo>
                <a:cubicBezTo>
                  <a:pt x="476250" y="454670"/>
                  <a:pt x="472033" y="472033"/>
                  <a:pt x="464840" y="487412"/>
                </a:cubicBezTo>
                <a:lnTo>
                  <a:pt x="635000" y="714375"/>
                </a:lnTo>
                <a:lnTo>
                  <a:pt x="833438" y="714375"/>
                </a:lnTo>
                <a:cubicBezTo>
                  <a:pt x="899170" y="714375"/>
                  <a:pt x="952500" y="767705"/>
                  <a:pt x="952500" y="833438"/>
                </a:cubicBezTo>
                <a:lnTo>
                  <a:pt x="952500" y="1071563"/>
                </a:lnTo>
                <a:cubicBezTo>
                  <a:pt x="952500" y="1137295"/>
                  <a:pt x="899170" y="1190625"/>
                  <a:pt x="833438" y="1190625"/>
                </a:cubicBezTo>
                <a:lnTo>
                  <a:pt x="595313" y="1190625"/>
                </a:lnTo>
                <a:cubicBezTo>
                  <a:pt x="529580" y="1190625"/>
                  <a:pt x="476250" y="1137295"/>
                  <a:pt x="476250" y="1071563"/>
                </a:cubicBezTo>
                <a:lnTo>
                  <a:pt x="476250" y="833438"/>
                </a:lnTo>
                <a:cubicBezTo>
                  <a:pt x="476250" y="815330"/>
                  <a:pt x="480467" y="797967"/>
                  <a:pt x="487660" y="782588"/>
                </a:cubicBezTo>
                <a:lnTo>
                  <a:pt x="317500" y="555625"/>
                </a:lnTo>
                <a:lnTo>
                  <a:pt x="119062" y="555625"/>
                </a:lnTo>
                <a:cubicBezTo>
                  <a:pt x="53330" y="555625"/>
                  <a:pt x="0" y="502295"/>
                  <a:pt x="0" y="436563"/>
                </a:cubicBezTo>
                <a:lnTo>
                  <a:pt x="0" y="198438"/>
                </a:lnTo>
                <a:close/>
              </a:path>
            </a:pathLst>
          </a:custGeom>
          <a:solidFill>
            <a:srgbClr val="C9A84C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4953000"/>
            <a:ext cx="147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8A94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DIAGRAM PLACEHOLDER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55245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A94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 your Mermaid diagram: Incident Watcher &amp; Investigation Lifecycle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7937500"/>
            <a:ext cx="14732000" cy="381000"/>
          </a:xfrm>
          <a:prstGeom prst="rect">
            <a:avLst/>
          </a:prstGeom>
          <a:solidFill>
            <a:srgbClr val="0D0F12"/>
          </a:solidFill>
          <a:ln w="12700">
            <a:solidFill>
              <a:srgbClr val="2A30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2500" y="7937500"/>
            <a:ext cx="1435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A94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Context: Open incident → watcher scan → create Investigation → build context → trigger AI engine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2A3038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762000" y="8509000"/>
            <a:ext cx="444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3 — Incident Watcher &amp; Investigation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970000" y="8509000"/>
            <a:ext cx="152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 / 22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spc="1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778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b="1" spc="200" kern="0" dirty="0">
                <a:solidFill>
                  <a:srgbClr val="E2E4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RESPONSE ENGINE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778000" y="914400"/>
            <a:ext cx="1143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C9A84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AI-Powered Investigation Analysis &amp; Remediation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4732000" cy="0"/>
          </a:xfrm>
          <a:prstGeom prst="straightConnector1">
            <a:avLst/>
          </a:prstGeom>
          <a:noFill/>
          <a:ln w="12700">
            <a:solidFill>
              <a:srgbClr val="2A3038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762000" y="15240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18415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Generates investigation summaries, narratives, risk assessments, and Ansible remediation playbooks. Supports multi-provider LLM routing, circuit breaker protection, fallback generation, and structured parsing.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730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 LOGIC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048000"/>
            <a:ext cx="8890000" cy="101600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0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2500" y="3136900"/>
            <a:ext cx="850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Investigation context → circuit breaker check → prompt building → call LLM provider → parse structured response → store summary/narrative/risk/playbook → auto-approval check → approval notification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33000" y="2730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33000" y="3048000"/>
            <a:ext cx="5461000" cy="177800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0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23500" y="3136900"/>
            <a:ext cx="508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Investigation.summary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Investigation.narrative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Investigation.risk_score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Investigation.playbook_yaml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PlaybookApproval row + WS update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5080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 FILES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397500"/>
          <a:ext cx="8890000" cy="2159000"/>
        </p:xfrm>
        <a:graphic>
          <a:graphicData uri="http://schemas.openxmlformats.org/drawingml/2006/table">
            <a:tbl>
              <a:tblPr/>
              <a:tblGrid>
                <a:gridCol w="4445000"/>
                <a:gridCol w="4445000"/>
              </a:tblGrid>
              <a:tr h="308429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C9A84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C9A84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</a:tr>
              <a:tr h="30842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response/ai_engine/main.py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Orchestration, parsing, storage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2"/>
                    </a:solidFill>
                  </a:tcPr>
                </a:tc>
              </a:tr>
              <a:tr h="30842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response/ai_engine/prompt_builder.py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Context to LLM prompt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</a:tr>
              <a:tr h="30842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response/ai_engine/llm_clients.py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Ollama, Gemini, OpenRouter, NVIDIA NIM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2"/>
                    </a:solidFill>
                  </a:tcPr>
                </a:tc>
              </a:tr>
              <a:tr h="30842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response/auto_approve.py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4-layer approval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</a:tr>
              <a:tr h="30842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response/confidence_tracker.py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Adaptive threshold learning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2"/>
                    </a:solidFill>
                  </a:tcPr>
                </a:tc>
              </a:tr>
              <a:tr h="30842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response/decision_logger.py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Audit trail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10033000" y="5080000"/>
            <a:ext cx="5461000" cy="247650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0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223500" y="51689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 PROVIDERS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223500" y="5499100"/>
            <a:ext cx="5080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Ollama (local)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Google Gemini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OpenRouter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NVIDIA NIM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8A94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Multi-provider routing with circuit breaker and fallback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2A3038"/>
            </a:solidFill>
            <a:prstDash val="solid"/>
            <a:headEnd type="none"/>
            <a:tailEnd type="none"/>
          </a:ln>
        </p:spPr>
      </p:sp>
      <p:sp>
        <p:nvSpPr>
          <p:cNvPr id="20" name="Text 17"/>
          <p:cNvSpPr/>
          <p:nvPr/>
        </p:nvSpPr>
        <p:spPr>
          <a:xfrm>
            <a:off x="762000" y="8509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4 — AI Response Engine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3970000" y="8509000"/>
            <a:ext cx="152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 / 22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spc="1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778000" y="381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b="1" spc="200" kern="0" dirty="0">
                <a:solidFill>
                  <a:srgbClr val="E2E4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RESPONSE ENGINE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778000" y="914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200" kern="0" dirty="0">
                <a:solidFill>
                  <a:srgbClr val="8A94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ENGINE DIAGRAM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4732000" cy="0"/>
          </a:xfrm>
          <a:prstGeom prst="straightConnector1">
            <a:avLst/>
          </a:prstGeom>
          <a:noFill/>
          <a:ln w="12700">
            <a:solidFill>
              <a:srgbClr val="2A3038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62000" y="1651000"/>
            <a:ext cx="14732000" cy="6096000"/>
          </a:xfrm>
          <a:prstGeom prst="rect">
            <a:avLst/>
          </a:prstGeom>
          <a:solidFill>
            <a:srgbClr val="161A20"/>
          </a:solidFill>
          <a:ln w="25400">
            <a:solidFill>
              <a:srgbClr val="C9A84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493000" y="3556000"/>
            <a:ext cx="1270000" cy="1270000"/>
          </a:xfrm>
          <a:custGeom>
            <a:avLst/>
            <a:gdLst/>
            <a:ahLst/>
            <a:cxnLst/>
            <a:rect l="l" t="t" r="r" b="b"/>
            <a:pathLst>
              <a:path w="1270000" h="1270000">
                <a:moveTo>
                  <a:pt x="0" y="198438"/>
                </a:moveTo>
                <a:cubicBezTo>
                  <a:pt x="0" y="132705"/>
                  <a:pt x="53330" y="79375"/>
                  <a:pt x="119062" y="79375"/>
                </a:cubicBezTo>
                <a:lnTo>
                  <a:pt x="357188" y="79375"/>
                </a:lnTo>
                <a:cubicBezTo>
                  <a:pt x="422920" y="79375"/>
                  <a:pt x="476250" y="132705"/>
                  <a:pt x="476250" y="198438"/>
                </a:cubicBezTo>
                <a:lnTo>
                  <a:pt x="476250" y="238125"/>
                </a:lnTo>
                <a:lnTo>
                  <a:pt x="793750" y="238125"/>
                </a:lnTo>
                <a:lnTo>
                  <a:pt x="793750" y="198438"/>
                </a:lnTo>
                <a:cubicBezTo>
                  <a:pt x="793750" y="132705"/>
                  <a:pt x="847080" y="79375"/>
                  <a:pt x="912813" y="79375"/>
                </a:cubicBezTo>
                <a:lnTo>
                  <a:pt x="1150938" y="79375"/>
                </a:lnTo>
                <a:cubicBezTo>
                  <a:pt x="1216670" y="79375"/>
                  <a:pt x="1270000" y="132705"/>
                  <a:pt x="1270000" y="198438"/>
                </a:cubicBezTo>
                <a:lnTo>
                  <a:pt x="1270000" y="436563"/>
                </a:lnTo>
                <a:cubicBezTo>
                  <a:pt x="1270000" y="502295"/>
                  <a:pt x="1216670" y="555625"/>
                  <a:pt x="1150938" y="555625"/>
                </a:cubicBezTo>
                <a:lnTo>
                  <a:pt x="912813" y="555625"/>
                </a:lnTo>
                <a:cubicBezTo>
                  <a:pt x="847080" y="555625"/>
                  <a:pt x="793750" y="502295"/>
                  <a:pt x="793750" y="436563"/>
                </a:cubicBezTo>
                <a:lnTo>
                  <a:pt x="793750" y="396875"/>
                </a:lnTo>
                <a:lnTo>
                  <a:pt x="476250" y="396875"/>
                </a:lnTo>
                <a:lnTo>
                  <a:pt x="476250" y="436563"/>
                </a:lnTo>
                <a:cubicBezTo>
                  <a:pt x="476250" y="454670"/>
                  <a:pt x="472033" y="472033"/>
                  <a:pt x="464840" y="487412"/>
                </a:cubicBezTo>
                <a:lnTo>
                  <a:pt x="635000" y="714375"/>
                </a:lnTo>
                <a:lnTo>
                  <a:pt x="833438" y="714375"/>
                </a:lnTo>
                <a:cubicBezTo>
                  <a:pt x="899170" y="714375"/>
                  <a:pt x="952500" y="767705"/>
                  <a:pt x="952500" y="833438"/>
                </a:cubicBezTo>
                <a:lnTo>
                  <a:pt x="952500" y="1071563"/>
                </a:lnTo>
                <a:cubicBezTo>
                  <a:pt x="952500" y="1137295"/>
                  <a:pt x="899170" y="1190625"/>
                  <a:pt x="833438" y="1190625"/>
                </a:cubicBezTo>
                <a:lnTo>
                  <a:pt x="595313" y="1190625"/>
                </a:lnTo>
                <a:cubicBezTo>
                  <a:pt x="529580" y="1190625"/>
                  <a:pt x="476250" y="1137295"/>
                  <a:pt x="476250" y="1071563"/>
                </a:cubicBezTo>
                <a:lnTo>
                  <a:pt x="476250" y="833438"/>
                </a:lnTo>
                <a:cubicBezTo>
                  <a:pt x="476250" y="815330"/>
                  <a:pt x="480467" y="797967"/>
                  <a:pt x="487660" y="782588"/>
                </a:cubicBezTo>
                <a:lnTo>
                  <a:pt x="317500" y="555625"/>
                </a:lnTo>
                <a:lnTo>
                  <a:pt x="119062" y="555625"/>
                </a:lnTo>
                <a:cubicBezTo>
                  <a:pt x="53330" y="555625"/>
                  <a:pt x="0" y="502295"/>
                  <a:pt x="0" y="436563"/>
                </a:cubicBezTo>
                <a:lnTo>
                  <a:pt x="0" y="198438"/>
                </a:lnTo>
                <a:close/>
              </a:path>
            </a:pathLst>
          </a:custGeom>
          <a:solidFill>
            <a:srgbClr val="C9A84C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4953000"/>
            <a:ext cx="147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8A94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DIAGRAM PLACEHOLDER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55245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A94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 your Mermaid diagram: AI Response Engine flow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7937500"/>
            <a:ext cx="14732000" cy="381000"/>
          </a:xfrm>
          <a:prstGeom prst="rect">
            <a:avLst/>
          </a:prstGeom>
          <a:solidFill>
            <a:srgbClr val="0D0F12"/>
          </a:solidFill>
          <a:ln w="12700">
            <a:solidFill>
              <a:srgbClr val="2A30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2500" y="7937500"/>
            <a:ext cx="1435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A94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Context: Investigation context → circuit breaker → LLM call → parse response → store → auto-approval → notification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2A3038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762000" y="8509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4 — AI Response Engine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970000" y="8509000"/>
            <a:ext cx="152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 / 22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spc="1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778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b="1" spc="200" kern="0" dirty="0">
                <a:solidFill>
                  <a:srgbClr val="E2E4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APPROVAL, EXECUTION, VERIFICATION, ARCHIVE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778000" y="914400"/>
            <a:ext cx="1143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C9A84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Controlled Remediation Lifecycle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4732000" cy="0"/>
          </a:xfrm>
          <a:prstGeom prst="straightConnector1">
            <a:avLst/>
          </a:prstGeom>
          <a:noFill/>
          <a:ln w="12700">
            <a:solidFill>
              <a:srgbClr val="2A3038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762000" y="15240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1841500"/>
            <a:ext cx="1473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backend never blindly executes generated remediation. It requires approval, executes through Ansible, verifies the result, and archives the evidence.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5400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 LOGIC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921000"/>
            <a:ext cx="2286000" cy="635000"/>
          </a:xfrm>
          <a:prstGeom prst="rect">
            <a:avLst/>
          </a:prstGeom>
          <a:solidFill>
            <a:srgbClr val="161A2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2000" y="29210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Generated Playbook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111500" y="3238500"/>
            <a:ext cx="381000" cy="0"/>
          </a:xfrm>
          <a:prstGeom prst="straightConnector1">
            <a:avLst/>
          </a:prstGeom>
          <a:noFill/>
          <a:ln w="12700">
            <a:solidFill>
              <a:srgbClr val="C9A84C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3556000" y="2921000"/>
            <a:ext cx="2540000" cy="635000"/>
          </a:xfrm>
          <a:prstGeom prst="rect">
            <a:avLst/>
          </a:prstGeom>
          <a:solidFill>
            <a:srgbClr val="161A2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56000" y="2921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Auto-Approval / Human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59500" y="3238500"/>
            <a:ext cx="381000" cy="0"/>
          </a:xfrm>
          <a:prstGeom prst="straightConnector1">
            <a:avLst/>
          </a:prstGeom>
          <a:noFill/>
          <a:ln w="12700">
            <a:solidFill>
              <a:srgbClr val="C9A84C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6604000" y="2921000"/>
            <a:ext cx="2286000" cy="635000"/>
          </a:xfrm>
          <a:prstGeom prst="rect">
            <a:avLst/>
          </a:prstGeom>
          <a:solidFill>
            <a:srgbClr val="161A2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4000" y="29210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Ansible Execution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953500" y="3238500"/>
            <a:ext cx="381000" cy="0"/>
          </a:xfrm>
          <a:prstGeom prst="straightConnector1">
            <a:avLst/>
          </a:prstGeom>
          <a:noFill/>
          <a:ln w="12700">
            <a:solidFill>
              <a:srgbClr val="C9A84C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9398000" y="2921000"/>
            <a:ext cx="2286000" cy="635000"/>
          </a:xfrm>
          <a:prstGeom prst="rect">
            <a:avLst/>
          </a:prstGeom>
          <a:solidFill>
            <a:srgbClr val="161A2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98000" y="29210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 Verification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747500" y="3238500"/>
            <a:ext cx="381000" cy="0"/>
          </a:xfrm>
          <a:prstGeom prst="straightConnector1">
            <a:avLst/>
          </a:prstGeom>
          <a:noFill/>
          <a:ln w="12700">
            <a:solidFill>
              <a:srgbClr val="C9A84C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12192000" y="2921000"/>
            <a:ext cx="2286000" cy="635000"/>
          </a:xfrm>
          <a:prstGeom prst="rect">
            <a:avLst/>
          </a:prstGeom>
          <a:solidFill>
            <a:srgbClr val="161A2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192000" y="29210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Archive Evidence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000" y="3937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DETAILS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4318000"/>
            <a:ext cx="4572000" cy="177800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0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2500" y="4406900"/>
            <a:ext cx="419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AUTO-APPROVAL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52500" y="47244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4-layer evaluation check before any playbook execution. Spread across AI response, auto-approval, and confidence tracking modules.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588000" y="4318000"/>
            <a:ext cx="4572000" cy="203200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0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78500" y="4406900"/>
            <a:ext cx="419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ANSIBLE EXECUTION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778500" y="47244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Shared Ansible execution engine (response/ansible_exec.py) handles both AI-generated and operator-requested playbook runs against target inventory.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414000" y="4318000"/>
            <a:ext cx="5080000" cy="203200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0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04500" y="4406900"/>
            <a:ext cx="469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VERIFICATION &amp; ARCHIVE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604500" y="4724400"/>
            <a:ext cx="4699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 verifier (response/fix_verifier.py) validates remediation results. Evidence is archived for audit trail and compliance. Both performance and AI response workflows use this chain.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62000" y="6413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MODULES INVOLVED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62000" y="6731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AI Response Engine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Auto-Approval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Ansible Execution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Fix Verification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Decision Logger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8A94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Logic is spread across multiple modules to ensure separation of concerns and auditability.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2A3038"/>
            </a:solidFill>
            <a:prstDash val="solid"/>
            <a:headEnd type="none"/>
            <a:tailEnd type="none"/>
          </a:ln>
        </p:spPr>
      </p:sp>
      <p:sp>
        <p:nvSpPr>
          <p:cNvPr id="36" name="Text 34"/>
          <p:cNvSpPr/>
          <p:nvPr/>
        </p:nvSpPr>
        <p:spPr>
          <a:xfrm>
            <a:off x="762000" y="8509000"/>
            <a:ext cx="444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5 — Approval &amp; Execution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3970000" y="8509000"/>
            <a:ext cx="152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 / 22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spc="1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778000" y="38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b="1" spc="200" kern="0" dirty="0">
                <a:solidFill>
                  <a:srgbClr val="E2E4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APPROVAL, EXECUTION, VERIFICATION, ARCHIVE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778000" y="9144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200" kern="0" dirty="0">
                <a:solidFill>
                  <a:srgbClr val="8A94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LIFECYCLE DIAGRAM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4732000" cy="0"/>
          </a:xfrm>
          <a:prstGeom prst="straightConnector1">
            <a:avLst/>
          </a:prstGeom>
          <a:noFill/>
          <a:ln w="12700">
            <a:solidFill>
              <a:srgbClr val="2A3038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62000" y="1651000"/>
            <a:ext cx="14732000" cy="6096000"/>
          </a:xfrm>
          <a:prstGeom prst="rect">
            <a:avLst/>
          </a:prstGeom>
          <a:solidFill>
            <a:srgbClr val="161A20"/>
          </a:solidFill>
          <a:ln w="25400">
            <a:solidFill>
              <a:srgbClr val="C9A84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493000" y="3556000"/>
            <a:ext cx="1270000" cy="1270000"/>
          </a:xfrm>
          <a:custGeom>
            <a:avLst/>
            <a:gdLst/>
            <a:ahLst/>
            <a:cxnLst/>
            <a:rect l="l" t="t" r="r" b="b"/>
            <a:pathLst>
              <a:path w="1270000" h="1270000">
                <a:moveTo>
                  <a:pt x="0" y="198438"/>
                </a:moveTo>
                <a:cubicBezTo>
                  <a:pt x="0" y="132705"/>
                  <a:pt x="53330" y="79375"/>
                  <a:pt x="119062" y="79375"/>
                </a:cubicBezTo>
                <a:lnTo>
                  <a:pt x="357188" y="79375"/>
                </a:lnTo>
                <a:cubicBezTo>
                  <a:pt x="422920" y="79375"/>
                  <a:pt x="476250" y="132705"/>
                  <a:pt x="476250" y="198438"/>
                </a:cubicBezTo>
                <a:lnTo>
                  <a:pt x="476250" y="238125"/>
                </a:lnTo>
                <a:lnTo>
                  <a:pt x="793750" y="238125"/>
                </a:lnTo>
                <a:lnTo>
                  <a:pt x="793750" y="198438"/>
                </a:lnTo>
                <a:cubicBezTo>
                  <a:pt x="793750" y="132705"/>
                  <a:pt x="847080" y="79375"/>
                  <a:pt x="912813" y="79375"/>
                </a:cubicBezTo>
                <a:lnTo>
                  <a:pt x="1150938" y="79375"/>
                </a:lnTo>
                <a:cubicBezTo>
                  <a:pt x="1216670" y="79375"/>
                  <a:pt x="1270000" y="132705"/>
                  <a:pt x="1270000" y="198438"/>
                </a:cubicBezTo>
                <a:lnTo>
                  <a:pt x="1270000" y="436563"/>
                </a:lnTo>
                <a:cubicBezTo>
                  <a:pt x="1270000" y="502295"/>
                  <a:pt x="1216670" y="555625"/>
                  <a:pt x="1150938" y="555625"/>
                </a:cubicBezTo>
                <a:lnTo>
                  <a:pt x="912813" y="555625"/>
                </a:lnTo>
                <a:cubicBezTo>
                  <a:pt x="847080" y="555625"/>
                  <a:pt x="793750" y="502295"/>
                  <a:pt x="793750" y="436563"/>
                </a:cubicBezTo>
                <a:lnTo>
                  <a:pt x="793750" y="396875"/>
                </a:lnTo>
                <a:lnTo>
                  <a:pt x="476250" y="396875"/>
                </a:lnTo>
                <a:lnTo>
                  <a:pt x="476250" y="436563"/>
                </a:lnTo>
                <a:cubicBezTo>
                  <a:pt x="476250" y="454670"/>
                  <a:pt x="472033" y="472033"/>
                  <a:pt x="464840" y="487412"/>
                </a:cubicBezTo>
                <a:lnTo>
                  <a:pt x="635000" y="714375"/>
                </a:lnTo>
                <a:lnTo>
                  <a:pt x="833438" y="714375"/>
                </a:lnTo>
                <a:cubicBezTo>
                  <a:pt x="899170" y="714375"/>
                  <a:pt x="952500" y="767705"/>
                  <a:pt x="952500" y="833438"/>
                </a:cubicBezTo>
                <a:lnTo>
                  <a:pt x="952500" y="1071563"/>
                </a:lnTo>
                <a:cubicBezTo>
                  <a:pt x="952500" y="1137295"/>
                  <a:pt x="899170" y="1190625"/>
                  <a:pt x="833438" y="1190625"/>
                </a:cubicBezTo>
                <a:lnTo>
                  <a:pt x="595313" y="1190625"/>
                </a:lnTo>
                <a:cubicBezTo>
                  <a:pt x="529580" y="1190625"/>
                  <a:pt x="476250" y="1137295"/>
                  <a:pt x="476250" y="1071563"/>
                </a:cubicBezTo>
                <a:lnTo>
                  <a:pt x="476250" y="833438"/>
                </a:lnTo>
                <a:cubicBezTo>
                  <a:pt x="476250" y="815330"/>
                  <a:pt x="480467" y="797967"/>
                  <a:pt x="487660" y="782588"/>
                </a:cubicBezTo>
                <a:lnTo>
                  <a:pt x="317500" y="555625"/>
                </a:lnTo>
                <a:lnTo>
                  <a:pt x="119062" y="555625"/>
                </a:lnTo>
                <a:cubicBezTo>
                  <a:pt x="53330" y="555625"/>
                  <a:pt x="0" y="502295"/>
                  <a:pt x="0" y="436563"/>
                </a:cubicBezTo>
                <a:lnTo>
                  <a:pt x="0" y="198438"/>
                </a:lnTo>
                <a:close/>
              </a:path>
            </a:pathLst>
          </a:custGeom>
          <a:solidFill>
            <a:srgbClr val="C9A84C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4953000"/>
            <a:ext cx="147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8A94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DIAGRAM PLACEHOLDER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55245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A94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 your Mermaid diagram: Approval → Execution → Verification → Archive flow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7937500"/>
            <a:ext cx="14732000" cy="381000"/>
          </a:xfrm>
          <a:prstGeom prst="rect">
            <a:avLst/>
          </a:prstGeom>
          <a:solidFill>
            <a:srgbClr val="0D0F12"/>
          </a:solidFill>
          <a:ln w="12700">
            <a:solidFill>
              <a:srgbClr val="2A30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2500" y="7937500"/>
            <a:ext cx="1435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A94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Context: Generated playbook → auto-approval / human approval → Ansible execution → fix verification → archive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2A3038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762000" y="8509000"/>
            <a:ext cx="444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5 — Approval &amp; Execution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970000" y="8509000"/>
            <a:ext cx="152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 / 22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spc="1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778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b="1" spc="200" kern="0" dirty="0">
                <a:solidFill>
                  <a:srgbClr val="E2E4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MONITORING &amp; REMEDIATION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778000" y="914400"/>
            <a:ext cx="1143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C9A84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Infrastructure Anomaly Detection &amp; Auto-Remediation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4732000" cy="0"/>
          </a:xfrm>
          <a:prstGeom prst="straightConnector1">
            <a:avLst/>
          </a:prstGeom>
          <a:noFill/>
          <a:ln w="12700">
            <a:solidFill>
              <a:srgbClr val="2A3038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762000" y="15240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18415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Continuously polls host metrics from Elasticsearch telegraf-*, detects anomalies using thresholds and statistical baselines, creates performance investigations, generates remediation playbooks, and verifies fixes.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7305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048000"/>
            <a:ext cx="6858000" cy="234950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0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2500" y="3136900"/>
            <a:ext cx="6477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CPU: cpu.usage_iowait, cpu.usage_user, cpu.usage_system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Memory: mem.used_percent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Disk: disk.used_percent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Network: net.bytes_recv, net.bytes_sent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Load: system.load1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Processes: procstat.cpu_usage, procstat.memory_rss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Netstat: netstat.tcp_established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01000" y="2730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 FILES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01000" y="3048000"/>
          <a:ext cx="7493000" cy="2463800"/>
        </p:xfrm>
        <a:graphic>
          <a:graphicData uri="http://schemas.openxmlformats.org/drawingml/2006/table">
            <a:tbl>
              <a:tblPr/>
              <a:tblGrid>
                <a:gridCol w="3746500"/>
                <a:gridCol w="3746500"/>
              </a:tblGrid>
              <a:tr h="307975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C9A84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C9A84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pipeline/performance_poller.py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ES polling and HostMetrics aggregation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2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pipeline/datausage/performance_orchestrator.py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Anomaly to investigation bridge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core/redis_performance.py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Redis time-series, baselines, cooldowns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2"/>
                    </a:solidFill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api/routes/performance.py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Dashboard, host detail, health endpoints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pipeline/response/dynamic_playbook.py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Dynamic playbook generation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2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response/ansible_exec.py / fix_verifier.py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Execution engine / Post-remediation verification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762000" y="5524500"/>
            <a:ext cx="50800" cy="101600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14" name="Text 11"/>
          <p:cNvSpPr/>
          <p:nvPr/>
        </p:nvSpPr>
        <p:spPr>
          <a:xfrm>
            <a:off x="952500" y="55245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E8B8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KNOWN GAPS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52500" y="58420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8A94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api/routes/performance.py Part B marked incomplete — disk-analysis, history, and root-cause endpoint bodies need implementation. The /metrics frontend page also needs repository verification.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2A3038"/>
            </a:solidFill>
            <a:prstDash val="solid"/>
            <a:headEnd type="none"/>
            <a:tailEnd type="none"/>
          </a:ln>
        </p:spPr>
      </p:sp>
      <p:sp>
        <p:nvSpPr>
          <p:cNvPr id="17" name="Text 14"/>
          <p:cNvSpPr/>
          <p:nvPr/>
        </p:nvSpPr>
        <p:spPr>
          <a:xfrm>
            <a:off x="762000" y="8509000"/>
            <a:ext cx="444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6 — Performance Monitoring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3970000" y="8509000"/>
            <a:ext cx="152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 / 22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spc="1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778000" y="38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b="1" spc="200" kern="0" dirty="0">
                <a:solidFill>
                  <a:srgbClr val="E2E4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MONITORING &amp; REMEDIATION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778000" y="9144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200" kern="0" dirty="0">
                <a:solidFill>
                  <a:srgbClr val="8A94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DIAGRAM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4732000" cy="0"/>
          </a:xfrm>
          <a:prstGeom prst="straightConnector1">
            <a:avLst/>
          </a:prstGeom>
          <a:noFill/>
          <a:ln w="12700">
            <a:solidFill>
              <a:srgbClr val="2A3038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62000" y="1651000"/>
            <a:ext cx="14732000" cy="6096000"/>
          </a:xfrm>
          <a:prstGeom prst="rect">
            <a:avLst/>
          </a:prstGeom>
          <a:solidFill>
            <a:srgbClr val="161A20"/>
          </a:solidFill>
          <a:ln w="25400">
            <a:solidFill>
              <a:srgbClr val="C9A84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493000" y="3556000"/>
            <a:ext cx="1270000" cy="1270000"/>
          </a:xfrm>
          <a:custGeom>
            <a:avLst/>
            <a:gdLst/>
            <a:ahLst/>
            <a:cxnLst/>
            <a:rect l="l" t="t" r="r" b="b"/>
            <a:pathLst>
              <a:path w="1270000" h="1270000">
                <a:moveTo>
                  <a:pt x="0" y="198438"/>
                </a:moveTo>
                <a:cubicBezTo>
                  <a:pt x="0" y="132705"/>
                  <a:pt x="53330" y="79375"/>
                  <a:pt x="119062" y="79375"/>
                </a:cubicBezTo>
                <a:lnTo>
                  <a:pt x="357188" y="79375"/>
                </a:lnTo>
                <a:cubicBezTo>
                  <a:pt x="422920" y="79375"/>
                  <a:pt x="476250" y="132705"/>
                  <a:pt x="476250" y="198438"/>
                </a:cubicBezTo>
                <a:lnTo>
                  <a:pt x="476250" y="238125"/>
                </a:lnTo>
                <a:lnTo>
                  <a:pt x="793750" y="238125"/>
                </a:lnTo>
                <a:lnTo>
                  <a:pt x="793750" y="198438"/>
                </a:lnTo>
                <a:cubicBezTo>
                  <a:pt x="793750" y="132705"/>
                  <a:pt x="847080" y="79375"/>
                  <a:pt x="912813" y="79375"/>
                </a:cubicBezTo>
                <a:lnTo>
                  <a:pt x="1150938" y="79375"/>
                </a:lnTo>
                <a:cubicBezTo>
                  <a:pt x="1216670" y="79375"/>
                  <a:pt x="1270000" y="132705"/>
                  <a:pt x="1270000" y="198438"/>
                </a:cubicBezTo>
                <a:lnTo>
                  <a:pt x="1270000" y="436563"/>
                </a:lnTo>
                <a:cubicBezTo>
                  <a:pt x="1270000" y="502295"/>
                  <a:pt x="1216670" y="555625"/>
                  <a:pt x="1150938" y="555625"/>
                </a:cubicBezTo>
                <a:lnTo>
                  <a:pt x="912813" y="555625"/>
                </a:lnTo>
                <a:cubicBezTo>
                  <a:pt x="847080" y="555625"/>
                  <a:pt x="793750" y="502295"/>
                  <a:pt x="793750" y="436563"/>
                </a:cubicBezTo>
                <a:lnTo>
                  <a:pt x="793750" y="396875"/>
                </a:lnTo>
                <a:lnTo>
                  <a:pt x="476250" y="396875"/>
                </a:lnTo>
                <a:lnTo>
                  <a:pt x="476250" y="436563"/>
                </a:lnTo>
                <a:cubicBezTo>
                  <a:pt x="476250" y="454670"/>
                  <a:pt x="472033" y="472033"/>
                  <a:pt x="464840" y="487412"/>
                </a:cubicBezTo>
                <a:lnTo>
                  <a:pt x="635000" y="714375"/>
                </a:lnTo>
                <a:lnTo>
                  <a:pt x="833438" y="714375"/>
                </a:lnTo>
                <a:cubicBezTo>
                  <a:pt x="899170" y="714375"/>
                  <a:pt x="952500" y="767705"/>
                  <a:pt x="952500" y="833438"/>
                </a:cubicBezTo>
                <a:lnTo>
                  <a:pt x="952500" y="1071563"/>
                </a:lnTo>
                <a:cubicBezTo>
                  <a:pt x="952500" y="1137295"/>
                  <a:pt x="899170" y="1190625"/>
                  <a:pt x="833438" y="1190625"/>
                </a:cubicBezTo>
                <a:lnTo>
                  <a:pt x="595313" y="1190625"/>
                </a:lnTo>
                <a:cubicBezTo>
                  <a:pt x="529580" y="1190625"/>
                  <a:pt x="476250" y="1137295"/>
                  <a:pt x="476250" y="1071563"/>
                </a:cubicBezTo>
                <a:lnTo>
                  <a:pt x="476250" y="833438"/>
                </a:lnTo>
                <a:cubicBezTo>
                  <a:pt x="476250" y="815330"/>
                  <a:pt x="480467" y="797967"/>
                  <a:pt x="487660" y="782588"/>
                </a:cubicBezTo>
                <a:lnTo>
                  <a:pt x="317500" y="555625"/>
                </a:lnTo>
                <a:lnTo>
                  <a:pt x="119062" y="555625"/>
                </a:lnTo>
                <a:cubicBezTo>
                  <a:pt x="53330" y="555625"/>
                  <a:pt x="0" y="502295"/>
                  <a:pt x="0" y="436563"/>
                </a:cubicBezTo>
                <a:lnTo>
                  <a:pt x="0" y="198438"/>
                </a:lnTo>
                <a:close/>
              </a:path>
            </a:pathLst>
          </a:custGeom>
          <a:solidFill>
            <a:srgbClr val="C9A84C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4953000"/>
            <a:ext cx="147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8A94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DIAGRAM PLACEHOLDER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55245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A94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 your Mermaid diagram: Performance Monitoring &amp; Remediation flow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7937500"/>
            <a:ext cx="14732000" cy="381000"/>
          </a:xfrm>
          <a:prstGeom prst="rect">
            <a:avLst/>
          </a:prstGeom>
          <a:solidFill>
            <a:srgbClr val="0D0F12"/>
          </a:solidFill>
          <a:ln w="12700">
            <a:solidFill>
              <a:srgbClr val="2A30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2500" y="7937500"/>
            <a:ext cx="1435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A94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Context: Poll telegraf-* metrics → anomaly detection → performance investigation → dynamic playbook → Ansible execution → fix verification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2A3038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762000" y="8509000"/>
            <a:ext cx="444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6 — Performance Monitoring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970000" y="8509000"/>
            <a:ext cx="152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 / 22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spc="1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778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b="1" spc="200" kern="0" dirty="0">
                <a:solidFill>
                  <a:srgbClr val="E2E4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IPS ATTACK VISUALIZATION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778000" y="914400"/>
            <a:ext cx="1143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C9A84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Geo-Enriched Attack Mapping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4732000" cy="0"/>
          </a:xfrm>
          <a:prstGeom prst="straightConnector1">
            <a:avLst/>
          </a:prstGeom>
          <a:noFill/>
          <a:ln w="12700">
            <a:solidFill>
              <a:srgbClr val="2A3038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762000" y="15240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18415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IPS Map merges upstream alerts and local SQLite alerts into geo-enriched attack events. Renders a world map with attack paths, lifecycle status, live events, and statistics.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730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 LOGIC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048000"/>
            <a:ext cx="7620000" cy="63500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0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2500" y="3048000"/>
            <a:ext cx="723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alerts → deduplicate → geolocate IP → categorize attack → derive lifecycle → filter and serve map data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763000" y="2730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CONSTRAINTS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763000" y="3048000"/>
            <a:ext cx="6731000" cy="177800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0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53500" y="3136900"/>
            <a:ext cx="635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Private RFC-1918 IPs are filtered out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Coordinates (0,0) are rejected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Lifecycle derived from investigation, approval, run, and verification chain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5080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 FILES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397500"/>
          <a:ext cx="8890000" cy="1397000"/>
        </p:xfrm>
        <a:graphic>
          <a:graphicData uri="http://schemas.openxmlformats.org/drawingml/2006/table">
            <a:tbl>
              <a:tblPr/>
              <a:tblGrid>
                <a:gridCol w="4445000"/>
                <a:gridCol w="4445000"/>
              </a:tblGrid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C9A84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C9A84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api/routes/ips.py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Merge, dedup, geo-enrich, lifecycle, endpoints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2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core/geoip.py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MaxMind + ipapi.co + ip-api.com resolver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pipeline/enrichment/geoip.py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Cloud provider enrichment via ASN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2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10033000" y="5397500"/>
            <a:ext cx="5461000" cy="171450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0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223500" y="5486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223500" y="5803900"/>
            <a:ext cx="5080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frontend/app/(dashboard)/ips/page.tsx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World map UI with attack paths, lifecycle status, live events, and statistics overlay.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2A3038"/>
            </a:solidFill>
            <a:prstDash val="solid"/>
            <a:headEnd type="none"/>
            <a:tailEnd type="none"/>
          </a:ln>
        </p:spPr>
      </p:sp>
      <p:sp>
        <p:nvSpPr>
          <p:cNvPr id="20" name="Text 17"/>
          <p:cNvSpPr/>
          <p:nvPr/>
        </p:nvSpPr>
        <p:spPr>
          <a:xfrm>
            <a:off x="762000" y="8509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7 — IPS Attack Visualization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3970000" y="8509000"/>
            <a:ext cx="152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 / 22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spc="1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778000" y="381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b="1" spc="200" kern="0" dirty="0">
                <a:solidFill>
                  <a:srgbClr val="E2E4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IPS ATTACK VISUALIZATION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778000" y="914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200" kern="0" dirty="0">
                <a:solidFill>
                  <a:srgbClr val="8A94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IPS MAP DIAGRAM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4732000" cy="0"/>
          </a:xfrm>
          <a:prstGeom prst="straightConnector1">
            <a:avLst/>
          </a:prstGeom>
          <a:noFill/>
          <a:ln w="12700">
            <a:solidFill>
              <a:srgbClr val="2A3038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62000" y="1651000"/>
            <a:ext cx="14732000" cy="6096000"/>
          </a:xfrm>
          <a:prstGeom prst="rect">
            <a:avLst/>
          </a:prstGeom>
          <a:solidFill>
            <a:srgbClr val="161A20"/>
          </a:solidFill>
          <a:ln w="25400">
            <a:solidFill>
              <a:srgbClr val="C9A84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493000" y="3556000"/>
            <a:ext cx="1270000" cy="1270000"/>
          </a:xfrm>
          <a:custGeom>
            <a:avLst/>
            <a:gdLst/>
            <a:ahLst/>
            <a:cxnLst/>
            <a:rect l="l" t="t" r="r" b="b"/>
            <a:pathLst>
              <a:path w="1270000" h="1270000">
                <a:moveTo>
                  <a:pt x="0" y="198438"/>
                </a:moveTo>
                <a:cubicBezTo>
                  <a:pt x="0" y="132705"/>
                  <a:pt x="53330" y="79375"/>
                  <a:pt x="119062" y="79375"/>
                </a:cubicBezTo>
                <a:lnTo>
                  <a:pt x="357188" y="79375"/>
                </a:lnTo>
                <a:cubicBezTo>
                  <a:pt x="422920" y="79375"/>
                  <a:pt x="476250" y="132705"/>
                  <a:pt x="476250" y="198438"/>
                </a:cubicBezTo>
                <a:lnTo>
                  <a:pt x="476250" y="238125"/>
                </a:lnTo>
                <a:lnTo>
                  <a:pt x="793750" y="238125"/>
                </a:lnTo>
                <a:lnTo>
                  <a:pt x="793750" y="198438"/>
                </a:lnTo>
                <a:cubicBezTo>
                  <a:pt x="793750" y="132705"/>
                  <a:pt x="847080" y="79375"/>
                  <a:pt x="912813" y="79375"/>
                </a:cubicBezTo>
                <a:lnTo>
                  <a:pt x="1150938" y="79375"/>
                </a:lnTo>
                <a:cubicBezTo>
                  <a:pt x="1216670" y="79375"/>
                  <a:pt x="1270000" y="132705"/>
                  <a:pt x="1270000" y="198438"/>
                </a:cubicBezTo>
                <a:lnTo>
                  <a:pt x="1270000" y="436563"/>
                </a:lnTo>
                <a:cubicBezTo>
                  <a:pt x="1270000" y="502295"/>
                  <a:pt x="1216670" y="555625"/>
                  <a:pt x="1150938" y="555625"/>
                </a:cubicBezTo>
                <a:lnTo>
                  <a:pt x="912813" y="555625"/>
                </a:lnTo>
                <a:cubicBezTo>
                  <a:pt x="847080" y="555625"/>
                  <a:pt x="793750" y="502295"/>
                  <a:pt x="793750" y="436563"/>
                </a:cubicBezTo>
                <a:lnTo>
                  <a:pt x="793750" y="396875"/>
                </a:lnTo>
                <a:lnTo>
                  <a:pt x="476250" y="396875"/>
                </a:lnTo>
                <a:lnTo>
                  <a:pt x="476250" y="436563"/>
                </a:lnTo>
                <a:cubicBezTo>
                  <a:pt x="476250" y="454670"/>
                  <a:pt x="472033" y="472033"/>
                  <a:pt x="464840" y="487412"/>
                </a:cubicBezTo>
                <a:lnTo>
                  <a:pt x="635000" y="714375"/>
                </a:lnTo>
                <a:lnTo>
                  <a:pt x="833438" y="714375"/>
                </a:lnTo>
                <a:cubicBezTo>
                  <a:pt x="899170" y="714375"/>
                  <a:pt x="952500" y="767705"/>
                  <a:pt x="952500" y="833438"/>
                </a:cubicBezTo>
                <a:lnTo>
                  <a:pt x="952500" y="1071563"/>
                </a:lnTo>
                <a:cubicBezTo>
                  <a:pt x="952500" y="1137295"/>
                  <a:pt x="899170" y="1190625"/>
                  <a:pt x="833438" y="1190625"/>
                </a:cubicBezTo>
                <a:lnTo>
                  <a:pt x="595313" y="1190625"/>
                </a:lnTo>
                <a:cubicBezTo>
                  <a:pt x="529580" y="1190625"/>
                  <a:pt x="476250" y="1137295"/>
                  <a:pt x="476250" y="1071563"/>
                </a:cubicBezTo>
                <a:lnTo>
                  <a:pt x="476250" y="833438"/>
                </a:lnTo>
                <a:cubicBezTo>
                  <a:pt x="476250" y="815330"/>
                  <a:pt x="480467" y="797967"/>
                  <a:pt x="487660" y="782588"/>
                </a:cubicBezTo>
                <a:lnTo>
                  <a:pt x="317500" y="555625"/>
                </a:lnTo>
                <a:lnTo>
                  <a:pt x="119062" y="555625"/>
                </a:lnTo>
                <a:cubicBezTo>
                  <a:pt x="53330" y="555625"/>
                  <a:pt x="0" y="502295"/>
                  <a:pt x="0" y="436563"/>
                </a:cubicBezTo>
                <a:lnTo>
                  <a:pt x="0" y="198438"/>
                </a:lnTo>
                <a:close/>
              </a:path>
            </a:pathLst>
          </a:custGeom>
          <a:solidFill>
            <a:srgbClr val="C9A84C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4953000"/>
            <a:ext cx="147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8A94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DIAGRAM PLACEHOLDER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55245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A94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 your Mermaid diagram: IPS Attack Visualization flow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7937500"/>
            <a:ext cx="14732000" cy="381000"/>
          </a:xfrm>
          <a:prstGeom prst="rect">
            <a:avLst/>
          </a:prstGeom>
          <a:solidFill>
            <a:srgbClr val="0D0F12"/>
          </a:solidFill>
          <a:ln w="12700">
            <a:solidFill>
              <a:srgbClr val="2A30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2500" y="7937500"/>
            <a:ext cx="1435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A94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Context: alerts → deduplicate → geolocate IP → categorize attack → derive lifecycle → filter and serve map data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2A3038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762000" y="8509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7 — IPS Attack Visualization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970000" y="8509000"/>
            <a:ext cx="152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 / 22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spc="1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778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b="1" spc="200" kern="0" dirty="0">
                <a:solidFill>
                  <a:srgbClr val="E2E4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ASSISTANT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778000" y="914400"/>
            <a:ext cx="1143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C9A84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Conversational SOC Analyst Interface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4732000" cy="0"/>
          </a:xfrm>
          <a:prstGeom prst="straightConnector1">
            <a:avLst/>
          </a:prstGeom>
          <a:noFill/>
          <a:ln w="12700">
            <a:solidFill>
              <a:srgbClr val="2A3038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762000" y="15240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18415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Gives operators a conversational interface to query SOC data, receive contextual answers with sources, and execute approved actions such as approving, declining, executing, or archiving investigations.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730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 LOGIC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048000"/>
            <a:ext cx="8890000" cy="101600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0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2500" y="3136900"/>
            <a:ext cx="850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 → keyword extraction → deep entity fetch → relevance ranking → prompt building → LLM or fallback answer → action suggestions → persist conversation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33000" y="2730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33000" y="3048000"/>
            <a:ext cx="5461000" cy="152400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0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23500" y="3136900"/>
            <a:ext cx="508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Approve investigations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Decline investigations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Execute playbooks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Archive investigations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4318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 FILES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635500"/>
          <a:ext cx="8890000" cy="1397000"/>
        </p:xfrm>
        <a:graphic>
          <a:graphicData uri="http://schemas.openxmlformats.org/drawingml/2006/table">
            <a:tbl>
              <a:tblPr/>
              <a:tblGrid>
                <a:gridCol w="4445000"/>
                <a:gridCol w="4445000"/>
              </a:tblGrid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C9A84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C9A84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response/assistant.py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Core logic: answer_question(), execute_action()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2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api/routes/assistant.py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Query, actions, context, sources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response/models.py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AssistantConversation, AssistantMessage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2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762000" y="6413500"/>
            <a:ext cx="50800" cy="76200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17" name="Text 14"/>
          <p:cNvSpPr/>
          <p:nvPr/>
        </p:nvSpPr>
        <p:spPr>
          <a:xfrm>
            <a:off x="952500" y="64135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E8B8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KNOWN GAPS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52500" y="6731000"/>
            <a:ext cx="1422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frontend /assistant page was not returned in the source exploration and should be verified.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2A3038"/>
            </a:solidFill>
            <a:prstDash val="solid"/>
            <a:headEnd type="none"/>
            <a:tailEnd type="none"/>
          </a:ln>
        </p:spPr>
      </p:sp>
      <p:sp>
        <p:nvSpPr>
          <p:cNvPr id="20" name="Text 17"/>
          <p:cNvSpPr/>
          <p:nvPr/>
        </p:nvSpPr>
        <p:spPr>
          <a:xfrm>
            <a:off x="762000" y="8509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8 — AI Assistant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3970000" y="8509000"/>
            <a:ext cx="152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 / 22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spc="1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778000" y="381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b="1" spc="200" kern="0" dirty="0">
                <a:solidFill>
                  <a:srgbClr val="E2E4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ASSISTANT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778000" y="9144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200" kern="0" dirty="0">
                <a:solidFill>
                  <a:srgbClr val="8A94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ASSISTANT DIAGRAM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4732000" cy="0"/>
          </a:xfrm>
          <a:prstGeom prst="straightConnector1">
            <a:avLst/>
          </a:prstGeom>
          <a:noFill/>
          <a:ln w="12700">
            <a:solidFill>
              <a:srgbClr val="2A3038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62000" y="1651000"/>
            <a:ext cx="14732000" cy="6096000"/>
          </a:xfrm>
          <a:prstGeom prst="rect">
            <a:avLst/>
          </a:prstGeom>
          <a:solidFill>
            <a:srgbClr val="161A20"/>
          </a:solidFill>
          <a:ln w="25400">
            <a:solidFill>
              <a:srgbClr val="C9A84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493000" y="3556000"/>
            <a:ext cx="1270000" cy="1270000"/>
          </a:xfrm>
          <a:custGeom>
            <a:avLst/>
            <a:gdLst/>
            <a:ahLst/>
            <a:cxnLst/>
            <a:rect l="l" t="t" r="r" b="b"/>
            <a:pathLst>
              <a:path w="1270000" h="1270000">
                <a:moveTo>
                  <a:pt x="0" y="198438"/>
                </a:moveTo>
                <a:cubicBezTo>
                  <a:pt x="0" y="132705"/>
                  <a:pt x="53330" y="79375"/>
                  <a:pt x="119062" y="79375"/>
                </a:cubicBezTo>
                <a:lnTo>
                  <a:pt x="357188" y="79375"/>
                </a:lnTo>
                <a:cubicBezTo>
                  <a:pt x="422920" y="79375"/>
                  <a:pt x="476250" y="132705"/>
                  <a:pt x="476250" y="198438"/>
                </a:cubicBezTo>
                <a:lnTo>
                  <a:pt x="476250" y="238125"/>
                </a:lnTo>
                <a:lnTo>
                  <a:pt x="793750" y="238125"/>
                </a:lnTo>
                <a:lnTo>
                  <a:pt x="793750" y="198438"/>
                </a:lnTo>
                <a:cubicBezTo>
                  <a:pt x="793750" y="132705"/>
                  <a:pt x="847080" y="79375"/>
                  <a:pt x="912813" y="79375"/>
                </a:cubicBezTo>
                <a:lnTo>
                  <a:pt x="1150938" y="79375"/>
                </a:lnTo>
                <a:cubicBezTo>
                  <a:pt x="1216670" y="79375"/>
                  <a:pt x="1270000" y="132705"/>
                  <a:pt x="1270000" y="198438"/>
                </a:cubicBezTo>
                <a:lnTo>
                  <a:pt x="1270000" y="436563"/>
                </a:lnTo>
                <a:cubicBezTo>
                  <a:pt x="1270000" y="502295"/>
                  <a:pt x="1216670" y="555625"/>
                  <a:pt x="1150938" y="555625"/>
                </a:cubicBezTo>
                <a:lnTo>
                  <a:pt x="912813" y="555625"/>
                </a:lnTo>
                <a:cubicBezTo>
                  <a:pt x="847080" y="555625"/>
                  <a:pt x="793750" y="502295"/>
                  <a:pt x="793750" y="436563"/>
                </a:cubicBezTo>
                <a:lnTo>
                  <a:pt x="793750" y="396875"/>
                </a:lnTo>
                <a:lnTo>
                  <a:pt x="476250" y="396875"/>
                </a:lnTo>
                <a:lnTo>
                  <a:pt x="476250" y="436563"/>
                </a:lnTo>
                <a:cubicBezTo>
                  <a:pt x="476250" y="454670"/>
                  <a:pt x="472033" y="472033"/>
                  <a:pt x="464840" y="487412"/>
                </a:cubicBezTo>
                <a:lnTo>
                  <a:pt x="635000" y="714375"/>
                </a:lnTo>
                <a:lnTo>
                  <a:pt x="833438" y="714375"/>
                </a:lnTo>
                <a:cubicBezTo>
                  <a:pt x="899170" y="714375"/>
                  <a:pt x="952500" y="767705"/>
                  <a:pt x="952500" y="833438"/>
                </a:cubicBezTo>
                <a:lnTo>
                  <a:pt x="952500" y="1071563"/>
                </a:lnTo>
                <a:cubicBezTo>
                  <a:pt x="952500" y="1137295"/>
                  <a:pt x="899170" y="1190625"/>
                  <a:pt x="833438" y="1190625"/>
                </a:cubicBezTo>
                <a:lnTo>
                  <a:pt x="595313" y="1190625"/>
                </a:lnTo>
                <a:cubicBezTo>
                  <a:pt x="529580" y="1190625"/>
                  <a:pt x="476250" y="1137295"/>
                  <a:pt x="476250" y="1071563"/>
                </a:cubicBezTo>
                <a:lnTo>
                  <a:pt x="476250" y="833438"/>
                </a:lnTo>
                <a:cubicBezTo>
                  <a:pt x="476250" y="815330"/>
                  <a:pt x="480467" y="797967"/>
                  <a:pt x="487660" y="782588"/>
                </a:cubicBezTo>
                <a:lnTo>
                  <a:pt x="317500" y="555625"/>
                </a:lnTo>
                <a:lnTo>
                  <a:pt x="119062" y="555625"/>
                </a:lnTo>
                <a:cubicBezTo>
                  <a:pt x="53330" y="555625"/>
                  <a:pt x="0" y="502295"/>
                  <a:pt x="0" y="436563"/>
                </a:cubicBezTo>
                <a:lnTo>
                  <a:pt x="0" y="198438"/>
                </a:lnTo>
                <a:close/>
              </a:path>
            </a:pathLst>
          </a:custGeom>
          <a:solidFill>
            <a:srgbClr val="C9A84C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4953000"/>
            <a:ext cx="147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8A94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DIAGRAM PLACEHOLDER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55245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A94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 your Mermaid diagram: AI Assistant flow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7937500"/>
            <a:ext cx="14732000" cy="381000"/>
          </a:xfrm>
          <a:prstGeom prst="rect">
            <a:avLst/>
          </a:prstGeom>
          <a:solidFill>
            <a:srgbClr val="0D0F12"/>
          </a:solidFill>
          <a:ln w="12700">
            <a:solidFill>
              <a:srgbClr val="2A30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2500" y="7937500"/>
            <a:ext cx="1435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A94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Context: question → keyword extraction → deep entity fetch → relevance ranking → prompt building → LLM answer → action suggestions → persist conversation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2A3038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762000" y="8509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8 — AI Assistant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970000" y="8509000"/>
            <a:ext cx="152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 / 22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spc="1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778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b="1" spc="200" kern="0" dirty="0">
                <a:solidFill>
                  <a:srgbClr val="E2E4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OPERATOR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778000" y="914400"/>
            <a:ext cx="1143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C9A84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Natural-Language to Ansible Execution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4732000" cy="0"/>
          </a:xfrm>
          <a:prstGeom prst="straightConnector1">
            <a:avLst/>
          </a:prstGeom>
          <a:noFill/>
          <a:ln w="12700">
            <a:solidFill>
              <a:srgbClr val="2A3038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762000" y="15240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18415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Translates natural-language operational requests into Ansible playbooks, executes them against target hosts with approval when needed, and returns structured analysis.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730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 LOGIC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048000"/>
            <a:ext cx="8890000" cy="101600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0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2500" y="3136900"/>
            <a:ext cx="850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NL request → reason about intent → match template or generate playbook → store pending run → auto-execute read-only if safe → approval gate for mutating actions → execute Ansible → parse output → return analysis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33000" y="2603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BUILT-IN TEMPLATES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33000" y="2921000"/>
            <a:ext cx="5461000" cy="260350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0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23500" y="3009900"/>
            <a:ext cx="5080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RAM usage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Disk usage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CPU processes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Open ports / SSH failures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Service status / Firewall rules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Docker containers / File read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Package check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5651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 FILES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969000"/>
          <a:ext cx="8890000" cy="1270000"/>
        </p:xfrm>
        <a:graphic>
          <a:graphicData uri="http://schemas.openxmlformats.org/drawingml/2006/table">
            <a:tbl>
              <a:tblPr/>
              <a:tblGrid>
                <a:gridCol w="4445000"/>
                <a:gridCol w="4445000"/>
              </a:tblGrid>
              <a:tr h="3175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C9A84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C9A84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api/routes/operator.py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Sessions, messages, approval, status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2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response/ansible_exec.py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Shared Ansible execution engine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0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response/models.py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E4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OperatorRun, OperatorSession, OperatorMessage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2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10033000" y="5969000"/>
            <a:ext cx="5461000" cy="146050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0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223500" y="60579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INVENTORY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223500" y="6375400"/>
            <a:ext cx="50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config/ansible_inventory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host inventory for playbook execution against infrastructure.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62000" y="7556500"/>
            <a:ext cx="50800" cy="57150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20" name="Text 17"/>
          <p:cNvSpPr/>
          <p:nvPr/>
        </p:nvSpPr>
        <p:spPr>
          <a:xfrm>
            <a:off x="952500" y="76835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E8B8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KNOWN GAPS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52500" y="8001000"/>
            <a:ext cx="1422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/operator frontend not delivered. No DB examples for result_json or playbook_yaml.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2A3038"/>
            </a:solidFill>
            <a:prstDash val="solid"/>
            <a:headEnd type="none"/>
            <a:tailEnd type="none"/>
          </a:ln>
        </p:spPr>
      </p:sp>
      <p:sp>
        <p:nvSpPr>
          <p:cNvPr id="23" name="Text 20"/>
          <p:cNvSpPr/>
          <p:nvPr/>
        </p:nvSpPr>
        <p:spPr>
          <a:xfrm>
            <a:off x="762000" y="8509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9 — AI Operator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3970000" y="8509000"/>
            <a:ext cx="152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 / 22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spc="1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778000" y="381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b="1" spc="200" kern="0" dirty="0">
                <a:solidFill>
                  <a:srgbClr val="E2E4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OPERATOR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778000" y="9144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200" kern="0" dirty="0">
                <a:solidFill>
                  <a:srgbClr val="8A94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OPERATOR DIAGRAM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4732000" cy="0"/>
          </a:xfrm>
          <a:prstGeom prst="straightConnector1">
            <a:avLst/>
          </a:prstGeom>
          <a:noFill/>
          <a:ln w="12700">
            <a:solidFill>
              <a:srgbClr val="2A3038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62000" y="1651000"/>
            <a:ext cx="14732000" cy="6096000"/>
          </a:xfrm>
          <a:prstGeom prst="rect">
            <a:avLst/>
          </a:prstGeom>
          <a:solidFill>
            <a:srgbClr val="161A20"/>
          </a:solidFill>
          <a:ln w="25400">
            <a:solidFill>
              <a:srgbClr val="C9A84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493000" y="3556000"/>
            <a:ext cx="1270000" cy="1270000"/>
          </a:xfrm>
          <a:custGeom>
            <a:avLst/>
            <a:gdLst/>
            <a:ahLst/>
            <a:cxnLst/>
            <a:rect l="l" t="t" r="r" b="b"/>
            <a:pathLst>
              <a:path w="1270000" h="1270000">
                <a:moveTo>
                  <a:pt x="0" y="198438"/>
                </a:moveTo>
                <a:cubicBezTo>
                  <a:pt x="0" y="132705"/>
                  <a:pt x="53330" y="79375"/>
                  <a:pt x="119062" y="79375"/>
                </a:cubicBezTo>
                <a:lnTo>
                  <a:pt x="357188" y="79375"/>
                </a:lnTo>
                <a:cubicBezTo>
                  <a:pt x="422920" y="79375"/>
                  <a:pt x="476250" y="132705"/>
                  <a:pt x="476250" y="198438"/>
                </a:cubicBezTo>
                <a:lnTo>
                  <a:pt x="476250" y="238125"/>
                </a:lnTo>
                <a:lnTo>
                  <a:pt x="793750" y="238125"/>
                </a:lnTo>
                <a:lnTo>
                  <a:pt x="793750" y="198438"/>
                </a:lnTo>
                <a:cubicBezTo>
                  <a:pt x="793750" y="132705"/>
                  <a:pt x="847080" y="79375"/>
                  <a:pt x="912813" y="79375"/>
                </a:cubicBezTo>
                <a:lnTo>
                  <a:pt x="1150938" y="79375"/>
                </a:lnTo>
                <a:cubicBezTo>
                  <a:pt x="1216670" y="79375"/>
                  <a:pt x="1270000" y="132705"/>
                  <a:pt x="1270000" y="198438"/>
                </a:cubicBezTo>
                <a:lnTo>
                  <a:pt x="1270000" y="436563"/>
                </a:lnTo>
                <a:cubicBezTo>
                  <a:pt x="1270000" y="502295"/>
                  <a:pt x="1216670" y="555625"/>
                  <a:pt x="1150938" y="555625"/>
                </a:cubicBezTo>
                <a:lnTo>
                  <a:pt x="912813" y="555625"/>
                </a:lnTo>
                <a:cubicBezTo>
                  <a:pt x="847080" y="555625"/>
                  <a:pt x="793750" y="502295"/>
                  <a:pt x="793750" y="436563"/>
                </a:cubicBezTo>
                <a:lnTo>
                  <a:pt x="793750" y="396875"/>
                </a:lnTo>
                <a:lnTo>
                  <a:pt x="476250" y="396875"/>
                </a:lnTo>
                <a:lnTo>
                  <a:pt x="476250" y="436563"/>
                </a:lnTo>
                <a:cubicBezTo>
                  <a:pt x="476250" y="454670"/>
                  <a:pt x="472033" y="472033"/>
                  <a:pt x="464840" y="487412"/>
                </a:cubicBezTo>
                <a:lnTo>
                  <a:pt x="635000" y="714375"/>
                </a:lnTo>
                <a:lnTo>
                  <a:pt x="833438" y="714375"/>
                </a:lnTo>
                <a:cubicBezTo>
                  <a:pt x="899170" y="714375"/>
                  <a:pt x="952500" y="767705"/>
                  <a:pt x="952500" y="833438"/>
                </a:cubicBezTo>
                <a:lnTo>
                  <a:pt x="952500" y="1071563"/>
                </a:lnTo>
                <a:cubicBezTo>
                  <a:pt x="952500" y="1137295"/>
                  <a:pt x="899170" y="1190625"/>
                  <a:pt x="833438" y="1190625"/>
                </a:cubicBezTo>
                <a:lnTo>
                  <a:pt x="595313" y="1190625"/>
                </a:lnTo>
                <a:cubicBezTo>
                  <a:pt x="529580" y="1190625"/>
                  <a:pt x="476250" y="1137295"/>
                  <a:pt x="476250" y="1071563"/>
                </a:cubicBezTo>
                <a:lnTo>
                  <a:pt x="476250" y="833438"/>
                </a:lnTo>
                <a:cubicBezTo>
                  <a:pt x="476250" y="815330"/>
                  <a:pt x="480467" y="797967"/>
                  <a:pt x="487660" y="782588"/>
                </a:cubicBezTo>
                <a:lnTo>
                  <a:pt x="317500" y="555625"/>
                </a:lnTo>
                <a:lnTo>
                  <a:pt x="119062" y="555625"/>
                </a:lnTo>
                <a:cubicBezTo>
                  <a:pt x="53330" y="555625"/>
                  <a:pt x="0" y="502295"/>
                  <a:pt x="0" y="436563"/>
                </a:cubicBezTo>
                <a:lnTo>
                  <a:pt x="0" y="198438"/>
                </a:lnTo>
                <a:close/>
              </a:path>
            </a:pathLst>
          </a:custGeom>
          <a:solidFill>
            <a:srgbClr val="C9A84C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4953000"/>
            <a:ext cx="147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8A94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DIAGRAM PLACEHOLDER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55245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A94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 your Mermaid diagram: AI Operator flow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7937500"/>
            <a:ext cx="14732000" cy="381000"/>
          </a:xfrm>
          <a:prstGeom prst="rect">
            <a:avLst/>
          </a:prstGeom>
          <a:solidFill>
            <a:srgbClr val="0D0F12"/>
          </a:solidFill>
          <a:ln w="12700">
            <a:solidFill>
              <a:srgbClr val="2A30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2500" y="7937500"/>
            <a:ext cx="1435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A94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Context: NL request → reason intent → match template / generate playbook → store pending → auto-execute read-only → approval gate → execute Ansible → parse output → return analysis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2A3038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762000" y="8509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9 — AI Operator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970000" y="8509000"/>
            <a:ext cx="152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 / 22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8000" y="2286000"/>
            <a:ext cx="5080000" cy="0"/>
          </a:xfrm>
          <a:prstGeom prst="straightConnector1">
            <a:avLst/>
          </a:prstGeom>
          <a:noFill/>
          <a:ln w="25400">
            <a:solidFill>
              <a:srgbClr val="C9A84C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1778000" y="2540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spc="300" kern="0" dirty="0">
                <a:solidFill>
                  <a:srgbClr val="C9A8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 SUMMARY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588000" y="3492500"/>
            <a:ext cx="5080000" cy="0"/>
          </a:xfrm>
          <a:prstGeom prst="straightConnector1">
            <a:avLst/>
          </a:prstGeom>
          <a:noFill/>
          <a:ln w="25400">
            <a:solidFill>
              <a:srgbClr val="C9A84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524000" y="3810000"/>
            <a:ext cx="13208000" cy="279400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0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24000" y="3810000"/>
            <a:ext cx="50800" cy="2794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3937000"/>
            <a:ext cx="1270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3 is the backend intelligence layer of the SOC platform. It starts with the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 Pipeline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which pulls raw documents from Elasticsearch and transforms them into normalized, enriched alerts. These alerts are correlated into incidents, watched by the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Investigation Lifecycle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module, and analyzed by the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Response Engine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produce summaries, risks, narratives, and remediation playbooks.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platform then controls actions through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approval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Ansible execution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verification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archiving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In parallel,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Monitoring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detects infrastructure anomalies,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IPS Map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visualizes attacks geographically,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Assistant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supports analysts with contextual SOC answers, and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Operator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E2E4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converts natural-language operational requests into controlled Ansible actions.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524000" y="6858000"/>
            <a:ext cx="13208000" cy="762000"/>
          </a:xfrm>
          <a:prstGeom prst="rect">
            <a:avLst/>
          </a:prstGeom>
          <a:solidFill>
            <a:srgbClr val="0D0F12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78000" y="6858000"/>
            <a:ext cx="1270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i="1" dirty="0">
                <a:solidFill>
                  <a:srgbClr val="C9A8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3 transforms raw monitoring data into actionable SOC intelligence, operational visibility, and controlled response workflows.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2A3038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762000" y="8509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3 — Backend Intelligence Layer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970000" y="8509000"/>
            <a:ext cx="152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4A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 / 22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3 — Backend Intelligence Layer</dc:title>
  <dc:subject>Phase 3 — Backend Intelligence Layer</dc:subject>
  <dc:creator>Kimi</dc:creator>
  <cp:lastModifiedBy>Kimi</cp:lastModifiedBy>
  <cp:revision>1</cp:revision>
  <dcterms:created xsi:type="dcterms:W3CDTF">2026-04-28T14:09:48Z</dcterms:created>
  <dcterms:modified xsi:type="dcterms:W3CDTF">2026-04-28T14:09:48Z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{"Label":"Phase 3 — Backend Intelligence Layer","ContentProducer":"001191110108MACG2KBH8F10000","ProduceID":"19dd45a7-fad2-8f89-8000-000076976a6d","ReservedCode1":"","ContentPropagator":"001191110108MACG2KBH8F20000","PropagateID":"19dd45a7-fad2-8f89-8000-000076976a6d","ReservedCode2":""}</vt:lpwstr>
  </property>
</Properties>
</file>