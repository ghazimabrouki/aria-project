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6256000" cy="9144000"/>
  <p:notesSz cx="9144000" cy="16256000"/>
  <p:embeddedFontLst>
    <p:embeddedFont>
      <p:font typeface="Liter" charset="-122" pitchFamily="34"/>
      <p:regular r:id="rId40"/>
    </p:embeddedFont>
    <p:embeddedFont>
      <p:font typeface="Quattrocento 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2032000"/>
            <a:ext cx="762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286000"/>
            <a:ext cx="12573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INTELLIGENTE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SUPERVISION ET SECURITE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AUTOMATISEE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270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Conception et deploiement d'une plateforme centralisee de supervision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de securite avec intelligence artificielle et reponse automatisee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6477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7175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825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3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970000" y="635000"/>
            <a:ext cx="1905000" cy="1905000"/>
          </a:xfrm>
          <a:prstGeom prst="ellipse">
            <a:avLst/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70000" y="5715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Contenu de la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266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49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Solution Proposee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514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596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604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66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3302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492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Exigences Fonctionnelles &amp; Non-Fonctionnelles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4127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Strategie de 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953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5143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5778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596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6604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38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Contexte du projet, problematiques identifiees et enjeux strategiques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0" y="1270000"/>
            <a:ext cx="2286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335000" y="6350000"/>
            <a:ext cx="1651000" cy="0"/>
          </a:xfrm>
          <a:prstGeom prst="straightConnector1">
            <a:avLst/>
          </a:prstGeom>
          <a:noFill/>
          <a:ln w="12700">
            <a:solidFill>
              <a:srgbClr val="FFFFFF">
                <a:alpha val="6275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PROBLEMATIQUES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FRAGMENTEES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solutions de supervision sont multiples et non centralisees, compliquant la gestion globale des infrastructures.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4725" y="177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DONNEES HETEROGENES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donnees de differentes sources sont difficiles a analyser de maniere unifiee et coherente.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361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5556"/>
                </a:moveTo>
                <a:cubicBezTo>
                  <a:pt x="201574" y="5556"/>
                  <a:pt x="238919" y="42901"/>
                  <a:pt x="238919" y="88900"/>
                </a:cubicBezTo>
                <a:cubicBezTo>
                  <a:pt x="238919" y="134899"/>
                  <a:pt x="201574" y="172244"/>
                  <a:pt x="155575" y="172244"/>
                </a:cubicBezTo>
                <a:cubicBezTo>
                  <a:pt x="109576" y="172244"/>
                  <a:pt x="72231" y="134899"/>
                  <a:pt x="72231" y="88900"/>
                </a:cubicBezTo>
                <a:cubicBezTo>
                  <a:pt x="72231" y="42901"/>
                  <a:pt x="109576" y="5556"/>
                  <a:pt x="155575" y="5556"/>
                </a:cubicBezTo>
                <a:close/>
                <a:moveTo>
                  <a:pt x="134947" y="211138"/>
                </a:moveTo>
                <a:lnTo>
                  <a:pt x="176203" y="211138"/>
                </a:lnTo>
                <a:cubicBezTo>
                  <a:pt x="178911" y="211138"/>
                  <a:pt x="181689" y="211207"/>
                  <a:pt x="184398" y="211415"/>
                </a:cubicBezTo>
                <a:cubicBezTo>
                  <a:pt x="173147" y="231001"/>
                  <a:pt x="166688" y="253643"/>
                  <a:pt x="166688" y="277813"/>
                </a:cubicBezTo>
                <a:cubicBezTo>
                  <a:pt x="166688" y="306844"/>
                  <a:pt x="175994" y="333722"/>
                  <a:pt x="191691" y="355600"/>
                </a:cubicBezTo>
                <a:lnTo>
                  <a:pt x="31740" y="355600"/>
                </a:lnTo>
                <a:cubicBezTo>
                  <a:pt x="20350" y="355600"/>
                  <a:pt x="11112" y="346363"/>
                  <a:pt x="11112" y="334972"/>
                </a:cubicBezTo>
                <a:cubicBezTo>
                  <a:pt x="11112" y="266561"/>
                  <a:pt x="66536" y="211138"/>
                  <a:pt x="134947" y="211138"/>
                </a:cubicBezTo>
                <a:close/>
                <a:moveTo>
                  <a:pt x="200025" y="277813"/>
                </a:moveTo>
                <a:cubicBezTo>
                  <a:pt x="200025" y="222614"/>
                  <a:pt x="244839" y="177800"/>
                  <a:pt x="300038" y="177800"/>
                </a:cubicBezTo>
                <a:cubicBezTo>
                  <a:pt x="355236" y="177800"/>
                  <a:pt x="400050" y="222614"/>
                  <a:pt x="400050" y="277812"/>
                </a:cubicBezTo>
                <a:cubicBezTo>
                  <a:pt x="400050" y="333011"/>
                  <a:pt x="355236" y="377825"/>
                  <a:pt x="300038" y="377825"/>
                </a:cubicBezTo>
                <a:cubicBezTo>
                  <a:pt x="244839" y="377825"/>
                  <a:pt x="200025" y="333011"/>
                  <a:pt x="200025" y="277813"/>
                </a:cubicBezTo>
                <a:close/>
                <a:moveTo>
                  <a:pt x="300038" y="222250"/>
                </a:moveTo>
                <a:cubicBezTo>
                  <a:pt x="293926" y="222250"/>
                  <a:pt x="288925" y="227251"/>
                  <a:pt x="288925" y="233363"/>
                </a:cubicBezTo>
                <a:lnTo>
                  <a:pt x="288925" y="277813"/>
                </a:lnTo>
                <a:cubicBezTo>
                  <a:pt x="288925" y="283924"/>
                  <a:pt x="293926" y="288925"/>
                  <a:pt x="300038" y="288925"/>
                </a:cubicBezTo>
                <a:lnTo>
                  <a:pt x="333375" y="288925"/>
                </a:lnTo>
                <a:cubicBezTo>
                  <a:pt x="339487" y="288925"/>
                  <a:pt x="344488" y="283924"/>
                  <a:pt x="344488" y="277813"/>
                </a:cubicBezTo>
                <a:cubicBezTo>
                  <a:pt x="344488" y="271701"/>
                  <a:pt x="339487" y="266700"/>
                  <a:pt x="333375" y="266700"/>
                </a:cubicBezTo>
                <a:lnTo>
                  <a:pt x="311150" y="266700"/>
                </a:lnTo>
                <a:lnTo>
                  <a:pt x="311150" y="233363"/>
                </a:lnTo>
                <a:cubicBezTo>
                  <a:pt x="311150" y="227251"/>
                  <a:pt x="306149" y="222250"/>
                  <a:pt x="300038" y="2222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DEPENDANCE AUX EXPERTS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L'analyse des incidents repose fortement sur des experts, ralentissant la detection et la reponse.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47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ALERTES TECHNIQUES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alertes generees sont techniques et difficiles a interpreter rapidement pour les non-experts.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270500"/>
            <a:ext cx="147320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70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550" y="546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5435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MANQUE D'AUTOMATISATION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867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actions correctives ne sont pas systematiquement automatisees, augmentant le temps de reaction face aux menaces. Resultat: reponse plus lente, patterns d'attaque multi-etapes manques, et epuisement des analystes.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Reponse aux incidents plus lente, patterns d'attaque multi-etapes manques, et epuisement des analystes par correlation manuelle sur des outils deconnectes.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905000" y="1651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1778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VISIBILITE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2260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Monitorer les couches reseau, hote, runtime et infrastructure dans une pile unifiee. Aucun angle mort — chaque couche critique observee, collectee et centralisee.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1905000" y="38735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2159000" y="400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TRAITEMENT INTELLIGENT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44831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les alertes brutes en incidents enrichis et correles avec analyse IA. De la surcharge de donnees a l'intelligence actionnable et contextualisee.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096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905000" y="6096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159000" y="622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REPONSE CONTROLEE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59000" y="6705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Automatiser l'investigation, la generation de playbooks, les workflows d'approbation et la remediation Ansible avec audit complet. La plateforme reflechit avant d'agir.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EXISTANTES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Etat de l'art des solutions de supervision et de securite sur le marche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ETAT DE L'ART DES SOLUTIONS SOC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1320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SIEM Traditionnel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Splunk, QRadar, ArcSight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centralisee mais couteux et complexes a deployer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EDR / XDR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CrowdStrike, SentinelOne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Focalises sur endpoints, vision reseau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Palo Alto XSOAR, Splunk 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Orchestration avancee mais integration couteuse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Wazuh, Suricata, ELK Stack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Puissants mais non integres nativement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Plateformes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Sentinel, Chronicle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Lock-in vendeur, personnalisation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286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IDENTIFIE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51000" y="6794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Aucune solution ne combine supervision multi-couches, enrichissement automatique, correlation d'incidents, analyse IA et remediation automatisee dans une architecture unifiee et deployable sur cloud.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Solutions Existantes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SOLUTION PROPOSEE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globale de la plateforme SOC et flux de donnees entre les composants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GLOBALE DE LA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Fondation de Supervision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1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DE DONNEES GLOBAL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8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Couche 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&amp; Indexation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74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017000" y="33020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7000" y="3175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318000"/>
            <a:ext cx="381000" cy="381000"/>
          </a:xfrm>
          <a:prstGeom prst="straightConnector1">
            <a:avLst/>
          </a:prstGeom>
          <a:noFill/>
          <a:ln w="25400">
            <a:solidFill>
              <a:srgbClr val="CF0A2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604536" y="4635500"/>
            <a:ext cx="3810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84000" y="4635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Dashboard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Alertes, Incidents, Metriques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03000" y="5080000"/>
            <a:ext cx="30153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62000" y="5969000"/>
            <a:ext cx="14732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096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Collecte, detection, stockage et visualisation des evenements de securite.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Deploiement sur Huawei Cloud avec VPC, Security Groups et ECS VM optimisee.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Enrichissement, correlation, analyse IA, generation de playbooks et remediation Ansible.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 plateforme SOC unifiee qui voit tout, comprend les patterns et repond avec controle.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&amp; Solution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FONDATION DE SUPERVISION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Construction de la colonne vertebrale de visibilite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COUCHES DE VISIBILITE &amp; OUTILS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9428480"/>
              </a:tblGrid>
              <a:tr h="55740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Outil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Trafic, paquets, protocoles, alertes 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Hote / Endpoint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Evenements auth, integrite fichiers, alertes agents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Comportement processus, syscalls, conteneurs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CPU, RAM, disque, charge, sante systeme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et transfert des logs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Transfert des alertes 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&amp; Viz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Stockage central, indexation, recherche + Kibana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215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985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en couches qui elimine les angles morts. Le systeme observe le reseau, les hotes, le runtime et les ressources — tous centralises et visualises ensemble.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ARCHITECTURE &amp; FLUX DE DONNEES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8000" y="26289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810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 et envoie les logs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 alertes Falco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direct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4352" y="2286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985000" y="1905000"/>
            <a:ext cx="2794000" cy="279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2159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5000" y="2540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9200 HTTPS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2000" y="2921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Central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Recoit: Filebeat, Falcosidekick, Telegraf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06000" y="3175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668000" y="1905000"/>
            <a:ext cx="4826000" cy="279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68000" y="215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KIBANA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68000" y="25400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5601 HTTPS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22000" y="2921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&amp; Exploration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GLOBALE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486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5651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 principal: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Sources → Couche de Collecte → Elasticsearch → Kibana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/ auth logs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eve.json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Falcosidekick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(direct)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 &amp; Falcosidekick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Kibana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25128" y="32385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225128" y="4191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1301750" y="3238500"/>
            <a:ext cx="0" cy="22703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301750" y="3505980"/>
            <a:ext cx="249743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508250" y="3238500"/>
            <a:ext cx="0" cy="107843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508250" y="4336802"/>
            <a:ext cx="127141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7" name="Shape 45"/>
          <p:cNvSpPr/>
          <p:nvPr/>
        </p:nvSpPr>
        <p:spPr>
          <a:xfrm flipV="1">
            <a:off x="1270000" y="1901169"/>
            <a:ext cx="0" cy="181631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 flipH="1">
            <a:off x="421441" y="2628900"/>
            <a:ext cx="34055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412218" y="1822911"/>
            <a:ext cx="0" cy="80598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 flipH="1">
            <a:off x="421441" y="1841500"/>
            <a:ext cx="313314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536134" y="2286000"/>
            <a:ext cx="27386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3549615" y="1841500"/>
            <a:ext cx="0" cy="44272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 flipV="1">
            <a:off x="3551743" y="2265637"/>
            <a:ext cx="0" cy="363263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048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DEPLOIEMENT &amp; RESULTAT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RESSOURCES MATERIELLES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4445000" cy="1651000"/>
        </p:xfrm>
        <a:graphic>
          <a:graphicData uri="http://schemas.openxmlformats.org/drawingml/2006/table">
            <a:tbl>
              <a:tblPr/>
              <a:tblGrid>
                <a:gridCol w="1555750"/>
                <a:gridCol w="977900"/>
                <a:gridCol w="977900"/>
                <a:gridCol w="93345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Niveau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88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DEPLoYES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Natifs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(9200), Kibana (5601)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Filebeat, Suricata, Wazuh (1514/1515)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Docker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(runtime detection)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 (2801)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393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CETTE ARCHITECTURE?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4343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6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5" name="Text 12"/>
          <p:cNvSpPr/>
          <p:nvPr/>
        </p:nvSpPr>
        <p:spPr>
          <a:xfrm>
            <a:off x="1460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coeur SIEM reste stable et centralise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8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runtime isolee dans conteneurs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9" name="Text 16"/>
          <p:cNvSpPr/>
          <p:nvPr/>
        </p:nvSpPr>
        <p:spPr>
          <a:xfrm>
            <a:off x="1460500" y="5270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simple et maintenable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6223000"/>
            <a:ext cx="14732000" cy="190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 FINAL — PHASE 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de supervision securitaire complete avec visibilite globale sur reseau, hote, runtime et ressources. Tous les outils sont centralises dans Elasticsearch et visualises via Kibana.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Prete pour les Phases 2 et 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INFRASTRUCTURE CLOUD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Deploiement de la plateforme SOC sur Huawei Cloud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ENVIRONNEMENT HUAWEI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Huawei%20Cloud%20Environment.png">    </p:cNvPr>
          <p:cNvPicPr>
            <a:picLocks noChangeAspect="1"/>
          </p:cNvPicPr>
          <p:nvPr/>
        </p:nvPicPr>
        <p:blipFill>
          <a:blip r:embed="rId1"/>
          <a:srcRect l="0" r="0" t="-5166" b="-5166"/>
          <a:stretch/>
        </p:blipFill>
        <p:spPr>
          <a:xfrm>
            <a:off x="762000" y="1524000"/>
            <a:ext cx="7620000" cy="482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3000" y="15240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 ECS VM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0" y="1968500"/>
            <a:ext cx="6731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9017000" y="2095500"/>
            <a:ext cx="622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Puissance de calcul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GB RAM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Memoire pour ES et analyses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GB Storage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OS, indices, logs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Publique: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193.95.30.97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63000" y="42545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SOC HEBERGEE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763000" y="4699000"/>
            <a:ext cx="67310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9017000" y="4826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· Kibana · Wazuh · Suricata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· Telegraf · Filebeat · Docker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fondation cloud heberge la stack SOC complete et permet une expansion securisee.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60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RESEAU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010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Reseau prive isole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18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communication interne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Group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Regles firewall controlees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446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4" name="Text 21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 IP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193.95.30.97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STRATEGIE DE SECURITE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4318000"/>
        </p:xfrm>
        <a:graphic>
          <a:graphicData uri="http://schemas.openxmlformats.org/drawingml/2006/table">
            <a:tbl>
              <a:tblPr/>
              <a:tblGrid>
                <a:gridCol w="2667000"/>
                <a:gridCol w="1333500"/>
                <a:gridCol w="4889500"/>
              </a:tblGrid>
              <a:tr h="46852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Exposition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IP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/ VPN / public si requis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Jamais expose publiquement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Events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Reg.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8000/8001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HTTP/HTTPS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80/443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+ TLS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524000"/>
            <a:ext cx="5461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287000" y="1651000"/>
            <a:ext cx="495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CRITIQUE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87000" y="2032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doit rester interne. Kibana et SSH strictement restreints aux sources autorisees.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33000" y="34290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PROJET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033000" y="3873500"/>
            <a:ext cx="5461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10287000" y="4000500"/>
            <a:ext cx="495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Connecte architecture theorique aux operations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Heberge la stack SOC completement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Permet expansion securisee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ECS Ubuntu VM heberge tous les outils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Fondation pour couche intelligence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223000"/>
            <a:ext cx="14732000" cy="177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762000" y="6223000"/>
            <a:ext cx="50800" cy="1651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63500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phase supporte le projet en: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Fournissant une infrastructure cloud securisee et scalable pour l'ensemble de la plateforme SOC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Garantissant l'isolation reseau et le controle d'acces via Security Groups et VPC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Posant les jalons pour le deploiement de la couche d'intelligence backend (Phase 3)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COUCHE D'INTELLIGENCE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donnees brutes aux operations SOC intelligentes et verifiees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VUE GLOBALE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D'INTELLIGENCE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Donnees brutes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1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Incidents correles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25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Approbation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827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351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2857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ETAPES CLES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3238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762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825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0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&amp; Enrichissement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778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23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d'Alertes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68000" y="3429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10731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76000" y="3454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 Contextuel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825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70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Local (SQLite)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5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778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3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d'Incidents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668000" y="4318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10731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76000" y="4343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2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825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70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15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778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23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d'Approbation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668000" y="5207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10731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76000" y="5232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&amp; Verification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2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825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397000" y="61214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Performance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715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63"/>
          <p:cNvSpPr/>
          <p:nvPr/>
        </p:nvSpPr>
        <p:spPr>
          <a:xfrm>
            <a:off x="5778500" y="6121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2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IPS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668000" y="6096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10731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30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IA &amp; Operateur IA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1" name="Text 69"/>
          <p:cNvSpPr/>
          <p:nvPr/>
        </p:nvSpPr>
        <p:spPr>
          <a:xfrm>
            <a:off x="1016000" y="717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 les donnees brutes Elasticsearch en operations SOC intelligentes: alertes normalisees, incidents correles, investigations, analyse IA, playbooks, approbation, execution Ansible, verification et archivage.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1 — INGESTION &amp; ENRICHISSEMENT DES ALERTES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2%20%E2%80%94%20Alert%20Ingestion%20&amp;%20Enrichment%20Pipeline.png">    </p:cNvPr>
          <p:cNvPicPr>
            <a:picLocks noChangeAspect="1"/>
          </p:cNvPicPr>
          <p:nvPr/>
        </p:nvPicPr>
        <p:blipFill>
          <a:blip r:embed="rId1"/>
          <a:srcRect l="0" r="0" t="-114486" b="-114486"/>
          <a:stretch/>
        </p:blipFill>
        <p:spPr>
          <a:xfrm>
            <a:off x="762000" y="1498600"/>
            <a:ext cx="14732000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530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ELASTICSEARCH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911600"/>
            <a:ext cx="6858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000500"/>
            <a:ext cx="635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wazuh-alerts-*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Wazuh (HIDS)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Suricata (NIDS)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falco-events-*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Evenements Falco (runtime)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filebeat-* / telegraf-*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Logs et metriques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3530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TRAITEMENT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01000" y="3911600"/>
            <a:ext cx="7493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255000" y="4000500"/>
            <a:ext cx="698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Mappers sources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Deduplication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Filtrage bruit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(GeoIP + MITRE)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Detection campagne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Whitelist 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Persistance SQLite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Broadcast WebSocket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223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350000"/>
            <a:ext cx="14732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" y="64516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 propres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avec: source, source_id, titre, severite, categorie, IPs, hostname, tags, IOCs, techniques MITRE, metadonnees, cle de dedup, compte d'occurrences.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Visibles dans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/alerts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/ips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Pretes pour la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Mises a jour en temps reel via WebSocket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2 — CORRELATION D'INCIDENTS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7%20%E2%80%94%20Incident%20Correlation.png">    </p:cNvPr>
          <p:cNvPicPr>
            <a:picLocks noChangeAspect="1"/>
          </p:cNvPicPr>
          <p:nvPr/>
        </p:nvPicPr>
        <p:blipFill>
          <a:blip r:embed="rId1"/>
          <a:srcRect l="0" r="0" t="-83867" b="-83867"/>
          <a:stretch/>
        </p:blipFill>
        <p:spPr>
          <a:xfrm>
            <a:off x="762000" y="1498600"/>
            <a:ext cx="7112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5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SIGNAUX DE CORRELATION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0" y="1905000"/>
            <a:ext cx="7239000" cy="3149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8509000" y="2032000"/>
            <a:ext cx="673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Source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origine attaquante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Hostname / Container 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cible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d'attaque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tactiques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Kill-chain progression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etapes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Fenetre temporelle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repetees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Observable Extraction: IP, host, container, MITRE → Correlation Engine: time window + IOC + MITRE overlap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334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DE CORRELATION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port scan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7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69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159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 SSH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 force (meme IP)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4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176000" y="5905500"/>
            <a:ext cx="4318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11366500" y="5969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activite shell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7112000"/>
            <a:ext cx="14732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7112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fort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confiance elevee: "SSH Brute Force &amp; Port Scan Campaign from 185.220.101.4"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3 — INVESTIGATION &amp; MOTEUR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9%20%E2%80%94%20AI%20Response%20Engine.png">    </p:cNvPr>
          <p:cNvPicPr>
            <a:picLocks noChangeAspect="1"/>
          </p:cNvPicPr>
          <p:nvPr/>
        </p:nvPicPr>
        <p:blipFill>
          <a:blip r:embed="rId1"/>
          <a:srcRect l="0" r="0" t="-36711" b="-36711"/>
          <a:stretch/>
        </p:blipFill>
        <p:spPr>
          <a:xfrm>
            <a:off x="762000" y="1498600"/>
            <a:ext cx="14732000" cy="139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AUTOMATIQUE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92500"/>
            <a:ext cx="7112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3581400"/>
            <a:ext cx="6604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watcher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surveille les incidents ouverts et cree automatiquement des investigations avec contexte riche: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Timeline complete des alertes liees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IOCs: IPs, ports, services, domaines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Tactiques et techniques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 comportementaux &amp; auth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 de risque dynamique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55000" y="3492500"/>
            <a:ext cx="7239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509000" y="3581400"/>
            <a:ext cx="6731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Genere automatiquement: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d'investigation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la chaine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risque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YAML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remediation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syntaxe YAML + check auto-approbation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22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FOURNISSEURS LLM SUPPORTES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(Local)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NIM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 Le systeme n'execute pas aveuglement — la sortie passe par approbation et validation avant toute action.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4 — APPROBATION, EXECUTION &amp;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10%20%E2%80%94%20Approval,%20Execution,%20Verification%20and%20Archive.png">    </p:cNvPr>
          <p:cNvPicPr>
            <a:picLocks noChangeAspect="1"/>
          </p:cNvPicPr>
          <p:nvPr/>
        </p:nvPicPr>
        <p:blipFill>
          <a:blip r:embed="rId1"/>
          <a:srcRect l="0" r="0" t="-21267" b="-21267"/>
          <a:stretch/>
        </p:blipFill>
        <p:spPr>
          <a:xfrm>
            <a:off x="762000" y="1498600"/>
            <a:ext cx="14732000" cy="1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2984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D'APPROBATION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3403600"/>
            <a:ext cx="5080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0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L'analyste examine et decide de l'action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0" y="3403600"/>
            <a:ext cx="508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AUTO-APPROUVEE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a faible risque uniquement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3403600"/>
            <a:ext cx="4826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0668000" y="3403600"/>
            <a:ext cx="50800" cy="1143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10896600" y="3492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BLOQUEE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96600" y="3848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critiques / haut risque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CONTROLES D'EXECUTION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5207000"/>
            <a:ext cx="7112000" cy="152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5270500"/>
            <a:ext cx="660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syntaxe playbook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SSH connectivite prealable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Protection whitelist cibles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Journalisation complete execution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55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DE VERIFICATION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5207000"/>
          <a:ext cx="7239000" cy="1397000"/>
        </p:xfrm>
        <a:graphic>
          <a:graphicData uri="http://schemas.openxmlformats.org/drawingml/2006/table">
            <a:tbl>
              <a:tblPr/>
              <a:tblGrid>
                <a:gridCol w="2895600"/>
                <a:gridCol w="43434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Succes, pas de nouvelles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Alertes continuent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Signaux ambigus restants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fondamental: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 backend n'execute jamais aveuglement. Chaque action de remediation passe par un workflow d'approbation controlee avec audit complet — de la detection a l'archivage.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MODULES OPERATIONNELS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continu des metriques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telegraf-*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d'anomalies par seuils et baselines statistiques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d'investigations de performance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de remediation dynamiques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Metriques: CPU, RAM, disque, reseau, charge, processus, TCP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mondiale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geo-enrichie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attaques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Chemins d'attaque avec statut lifecycle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Evenements en temps reel sur la carte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Statistiques et categories d'attaques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Categories: brute-force, web attack, recon, malware, DoS, C2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533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conversationnelle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analystes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contextuelles avec reponses enrichies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Reponses basees sur les donnees SOC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approuvees: approuver, decliner, executer, archiver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Flux: Question → Extraction keywords → Deep entity fetch → Context prompt → LLM Answer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naturel →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Traduction de requetes operationnelles en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controlee avec gate d'approbation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Resultats structures et analyse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Templates: RAM, disque, CPU, ports, services, Docker, packages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33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 &amp; NON-FONCTIONNELLES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Specification complete des exigences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096000"/>
        </p:xfrm>
        <a:graphic>
          <a:graphicData uri="http://schemas.openxmlformats.org/drawingml/2006/table">
            <a:tbl>
              <a:tblPr/>
              <a:tblGrid>
                <a:gridCol w="736600"/>
                <a:gridCol w="4419600"/>
                <a:gridCol w="9575800"/>
              </a:tblGrid>
              <a:tr h="46104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Exigence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&amp;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 architecture globale, mise en place infrastructure Cloud securisee (VPC, SG, EIP)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Deploiement Automatise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Scripts d'installation centralises pour tous les composants SOC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 &amp; 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stockage securise (TLS, auth), index patterns,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Logs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pour logs systeme et securite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Supervision Metriques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 pour CPU, RAM, disque, reseau avec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NIDS/HIDS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(reseau) + Wazuh (hote) avec regles de detection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pour appels systeme et comportements anormaux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 &amp;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Tableaux de bord structures, regles detection, visualisations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 IA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automatique, resumes, actions correctives avec LLM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Automatisation Ansible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Playbooks pour actions correctives systeme/infrastructure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NON-FONCTIONNELLES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2095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35050" y="167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Temps de reponse dashboards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Ingestion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1000 evenements/seconde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Disponibilite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50800" cy="2095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043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095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 pour toutes les communications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Authentification requise sur tous les 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Elasticsearch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expose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publiquement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 complet des 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095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5050" y="40259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modulaire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horizontal scaling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Polling adaptatif curseur-based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873500"/>
            <a:ext cx="50800" cy="2095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402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043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FIABILITE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SQLite pour persistance locale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Circuit breaker sur LLM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Gestion d'erreurs graceful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223000"/>
            <a:ext cx="50800" cy="1841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950" y="6375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MAINTENABILITE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d'installation centralises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Configuration via fichiers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Logging complet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85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8500" y="6223000"/>
            <a:ext cx="50800" cy="1841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591550" y="6375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-19050"/>
                </a:moveTo>
                <a:cubicBezTo>
                  <a:pt x="86737" y="-19050"/>
                  <a:pt x="95250" y="-10537"/>
                  <a:pt x="95250" y="0"/>
                </a:cubicBezTo>
                <a:lnTo>
                  <a:pt x="95250" y="57150"/>
                </a:lnTo>
                <a:lnTo>
                  <a:pt x="171450" y="57150"/>
                </a:lnTo>
                <a:lnTo>
                  <a:pt x="171450" y="0"/>
                </a:lnTo>
                <a:cubicBezTo>
                  <a:pt x="171450" y="-10537"/>
                  <a:pt x="179963" y="-19050"/>
                  <a:pt x="190500" y="-19050"/>
                </a:cubicBezTo>
                <a:cubicBezTo>
                  <a:pt x="201037" y="-19050"/>
                  <a:pt x="209550" y="-10537"/>
                  <a:pt x="209550" y="0"/>
                </a:cubicBezTo>
                <a:lnTo>
                  <a:pt x="209550" y="57150"/>
                </a:ln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cubicBezTo>
                  <a:pt x="266700" y="86737"/>
                  <a:pt x="258187" y="95250"/>
                  <a:pt x="247650" y="95250"/>
                </a:cubicBezTo>
                <a:lnTo>
                  <a:pt x="247650" y="133350"/>
                </a:lnTo>
                <a:cubicBezTo>
                  <a:pt x="247650" y="189964"/>
                  <a:pt x="206454" y="236994"/>
                  <a:pt x="152400" y="246043"/>
                </a:cubicBezTo>
                <a:lnTo>
                  <a:pt x="152400" y="285750"/>
                </a:lnTo>
                <a:cubicBezTo>
                  <a:pt x="152400" y="296287"/>
                  <a:pt x="143887" y="304800"/>
                  <a:pt x="133350" y="304800"/>
                </a:cubicBezTo>
                <a:cubicBezTo>
                  <a:pt x="122813" y="304800"/>
                  <a:pt x="114300" y="296287"/>
                  <a:pt x="114300" y="285750"/>
                </a:cubicBezTo>
                <a:lnTo>
                  <a:pt x="114300" y="246043"/>
                </a:lnTo>
                <a:cubicBezTo>
                  <a:pt x="60246" y="236994"/>
                  <a:pt x="19050" y="189964"/>
                  <a:pt x="19050" y="1333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lnTo>
                  <a:pt x="57150" y="0"/>
                </a:lnTo>
                <a:cubicBezTo>
                  <a:pt x="57150" y="-10537"/>
                  <a:pt x="65663" y="-19050"/>
                  <a:pt x="76200" y="-190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90043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25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APIs REST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temps reel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multi-fournisseurs LLM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validation et verification de la plateforme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6529"/>
                </a:moveTo>
                <a:cubicBezTo>
                  <a:pt x="229265" y="-2153"/>
                  <a:pt x="215166" y="-2153"/>
                  <a:pt x="206484" y="6529"/>
                </a:cubicBezTo>
                <a:cubicBezTo>
                  <a:pt x="197803" y="15210"/>
                  <a:pt x="197803" y="29309"/>
                  <a:pt x="206484" y="37991"/>
                </a:cubicBezTo>
                <a:lnTo>
                  <a:pt x="213013" y="44450"/>
                </a:lnTo>
                <a:lnTo>
                  <a:pt x="19516" y="237946"/>
                </a:lnTo>
                <a:cubicBezTo>
                  <a:pt x="7015" y="250448"/>
                  <a:pt x="0" y="267395"/>
                  <a:pt x="0" y="28510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70495" y="355600"/>
                </a:lnTo>
                <a:cubicBezTo>
                  <a:pt x="88205" y="355600"/>
                  <a:pt x="105152" y="348585"/>
                  <a:pt x="117654" y="336084"/>
                </a:cubicBezTo>
                <a:lnTo>
                  <a:pt x="311150" y="142587"/>
                </a:lnTo>
                <a:lnTo>
                  <a:pt x="317679" y="149116"/>
                </a:lnTo>
                <a:cubicBezTo>
                  <a:pt x="326360" y="157797"/>
                  <a:pt x="340459" y="157797"/>
                  <a:pt x="349141" y="149116"/>
                </a:cubicBezTo>
                <a:cubicBezTo>
                  <a:pt x="357823" y="140434"/>
                  <a:pt x="357823" y="126335"/>
                  <a:pt x="349141" y="117654"/>
                </a:cubicBezTo>
                <a:lnTo>
                  <a:pt x="238016" y="6529"/>
                </a:lnTo>
                <a:close/>
                <a:moveTo>
                  <a:pt x="142587" y="177800"/>
                </a:moveTo>
                <a:lnTo>
                  <a:pt x="244475" y="75912"/>
                </a:lnTo>
                <a:lnTo>
                  <a:pt x="279688" y="111125"/>
                </a:lnTo>
                <a:lnTo>
                  <a:pt x="213013" y="177800"/>
                </a:lnTo>
                <a:lnTo>
                  <a:pt x="142518" y="177800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UNITAIRES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mappers d'alertes (Wazuh, Suricata, Falco)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Logique de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Moteur d'enrichissement (GeoIP, MITRE)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Generation de playbooks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Parsing et validation YAML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50275" y="177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D'INTEGRATION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Flux complet ES → Pipeline → SQLite → API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inter-services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LLM (Ollama, Gemini)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broadcast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alert lifecycle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8225" y="533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FONCTIONNELS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Scenarios d'attaque simules (brute-force, port scan, malware)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des alertes generees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investigations et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workflows d'approbation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DE PERFORMANCE &amp; SECURITE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Charge d'evenements, latence dashboards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Stabilite polling continu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testing, regles firewall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TLS/authentification, audit trails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Strategie de Test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developpement et gestion de projet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 DE DEVELOPPEMENT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APPROCHE AGILE ITERATIVE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14732000" cy="76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431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 agile avec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phases majeures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correspondant aux livrables fonctionnels. Chaque phase produit un increment operationnel de la plateforme SOC.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14732000" cy="3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476500" y="2819400"/>
            <a:ext cx="228600" cy="228600"/>
          </a:xfrm>
          <a:prstGeom prst="ellipse">
            <a:avLst/>
          </a:prstGeom>
          <a:solidFill>
            <a:srgbClr val="CF0A2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Supervision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Mise en place visibilite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outils securite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flux donnees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+ Kibana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0500" y="2819400"/>
            <a:ext cx="228600" cy="228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Huawei Cloud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Securisation VPC/SG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Optimisation ressources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VM 64vCPU/128GB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144500" y="28194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3175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3492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3810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alertes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incidents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IA + Ansible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Modules operationnels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 PROJET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994400"/>
            <a:ext cx="7112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1214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Sprints de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semaines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Revues de code continues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Documentation en parallele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automatises a chaque sprint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continue des composants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PAR PHASE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5994400"/>
            <a:ext cx="7239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6121400"/>
            <a:ext cx="673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documentee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de deploiement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Dashboards operationnels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intelligence avec 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et 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Bilan du projet, resultats obtenus et perspectives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&amp; REALISATIONS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SOC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 multi-couches (reseau, hote, runtime, infrastructure) deployee sur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stack securisee.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1" name="Text 9"/>
          <p:cNvSpPr/>
          <p:nvPr/>
        </p:nvSpPr>
        <p:spPr>
          <a:xfrm>
            <a:off x="90551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D'INTELLIGENCE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etapes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l'ingestion des donnees brutes a la verification des corrections, avec correlation automatique et analyse 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810000"/>
            <a:ext cx="50800" cy="1968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" name="Shape 13"/>
          <p:cNvSpPr/>
          <p:nvPr/>
        </p:nvSpPr>
        <p:spPr>
          <a:xfrm>
            <a:off x="971550" y="4000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AUTOMATISATION CONTROLEE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Ansible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workflows d'approbation, execution securisee avec audit complet des actions.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18500" y="3810000"/>
            <a:ext cx="50800" cy="1968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0551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IA AVANCES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conversationnel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operateur langage naturel, visualisation geo-attaque avec cartographie mondiale.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96000"/>
            <a:ext cx="14732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096000"/>
            <a:ext cx="508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93775" y="628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6261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SCALABLE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731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cloud avec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 / 128 GB RAM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securise avec VPC, Security Groups et TLS. Architecture modulaire supportant l'expansion horizontale.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transforme les donnees de supervision brutes en intelligence SOC actionnable, visibilite operationnelle et workflows de reponse controles.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2667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0" y="3683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reflechit avant d'agir.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4318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donnees brutes aux operations SOC intelligentes.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5080000"/>
            <a:ext cx="381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40000" y="5334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5842000"/>
            <a:ext cx="1117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40000" y="6985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05000" y="1270000"/>
            <a:ext cx="1270000" cy="1270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70000" y="7620000"/>
            <a:ext cx="1524000" cy="1524000"/>
          </a:xfrm>
          <a:prstGeom prst="ellipse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3137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Intelligente de Supervision et Securite Automatisee</dc:title>
  <dc:subject>Plateforme Intelligente de Supervision et Securite Automatisee</dc:subject>
  <dc:creator>Kimi</dc:creator>
  <cp:lastModifiedBy>Kimi</cp:lastModifiedBy>
  <cp:revision>1</cp:revision>
  <dcterms:created xsi:type="dcterms:W3CDTF">2026-04-29T14:24:58Z</dcterms:created>
  <dcterms:modified xsi:type="dcterms:W3CDTF">2026-04-29T14:24:58Z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{"Label":"Plateforme Intelligente de Supervision et Securite Automatisee","ContentProducer":"001191110108MACG2KBH8F10000","ProduceID":"19dd8a20-3642-805b-8000-000094b435a7","ReservedCode1":"","ContentPropagator":"001191110108MACG2KBH8F20000","PropagateID":"19dd8a20-3642-805b-8000-000094b435a7","ReservedCode2":""}</vt:lpwstr>
  </property>
</Properties>
</file>