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6256000" cy="9144000"/>
  <p:notesSz cx="9144000" cy="16256000"/>
  <p:embeddedFontLst>
    <p:embeddedFont>
      <p:font typeface="Quattrocento Sans" charset="-122" pitchFamily="34"/>
      <p:regular r:id="rId4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2667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spc="4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PLATFORM FOR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200" b="1" spc="4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MONITORING AND SECURITY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0" y="4445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spc="600" kern="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 + AI + SOAR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0" y="5080000"/>
            <a:ext cx="990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Production-Grade Security Operations Center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5842000"/>
            <a:ext cx="2540000" cy="254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0" y="6604000"/>
            <a:ext cx="863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75000" y="7112000"/>
            <a:ext cx="990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 — Cloud Department, Innovation Department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48500" y="8128000"/>
            <a:ext cx="2159000" cy="381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8128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EXECUTIVE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270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342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841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540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429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challenges, SOC importance, industry context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0" y="1651000"/>
            <a:ext cx="342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9000" y="1841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9000" y="2540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9000" y="3429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 of current SIEM/SOC solutions, market gaps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1651000"/>
            <a:ext cx="342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2000" y="1841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2540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&amp;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3429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overview, global architecture, three-phase implementation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11000" y="1651000"/>
            <a:ext cx="342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65000" y="1841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65000" y="2540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65000" y="3429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Suricata, Wazuh, Falco — network, host, runtime detection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826000"/>
            <a:ext cx="342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" y="5016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715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&amp;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Lifecycle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6604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correlation logic, alert-to-incident flow, lifecycle management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5000" y="4826000"/>
            <a:ext cx="342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9000" y="5016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99000" y="5715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Intelligence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99000" y="6604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response engine, assistant, operator, root cause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8000" y="4826000"/>
            <a:ext cx="342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2000" y="5016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2000" y="5715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SOAR &amp;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2000" y="6604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 workflows, Ansible execution, automated remediation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811000" y="4826000"/>
            <a:ext cx="342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65000" y="5016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065000" y="5715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&amp;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065000" y="6604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strategy, achieved results, before vs after comparison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8382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732000" y="8382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32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CONTEXT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096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challenges, SOC strategic importance, and the industry imperative for intelligent security operations in cloud and distributed environments.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 &amp; Cybersecurity Challenges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587500"/>
            <a:ext cx="4699000" cy="152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1587500"/>
            <a:ext cx="50800" cy="1524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175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" y="1714500"/>
            <a:ext cx="375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2159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disconnected security consoles with no centralization, complicating global infrastructure management.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1587500"/>
            <a:ext cx="4699000" cy="152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87500"/>
            <a:ext cx="50800" cy="1524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Shape 19"/>
          <p:cNvSpPr/>
          <p:nvPr/>
        </p:nvSpPr>
        <p:spPr>
          <a:xfrm>
            <a:off x="5988050" y="1752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714500"/>
            <a:ext cx="375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Heterogeneous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69000" y="2159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logs, host events, container runtime, and metrics in different formats — difficult to analyze uniformly.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1587500"/>
            <a:ext cx="4826000" cy="152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68000" y="1587500"/>
            <a:ext cx="50800" cy="1524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41050" y="1752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0"/>
                </a:moveTo>
                <a:cubicBezTo>
                  <a:pt x="122813" y="0"/>
                  <a:pt x="114300" y="8513"/>
                  <a:pt x="114300" y="19050"/>
                </a:cubicBezTo>
                <a:lnTo>
                  <a:pt x="114300" y="20955"/>
                </a:lnTo>
                <a:cubicBezTo>
                  <a:pt x="70842" y="29766"/>
                  <a:pt x="38100" y="68223"/>
                  <a:pt x="38100" y="114300"/>
                </a:cubicBezTo>
                <a:lnTo>
                  <a:pt x="38100" y="127218"/>
                </a:lnTo>
                <a:cubicBezTo>
                  <a:pt x="38100" y="155853"/>
                  <a:pt x="28337" y="183654"/>
                  <a:pt x="10478" y="206038"/>
                </a:cubicBezTo>
                <a:lnTo>
                  <a:pt x="4643" y="213300"/>
                </a:lnTo>
                <a:cubicBezTo>
                  <a:pt x="1607" y="217051"/>
                  <a:pt x="0" y="221694"/>
                  <a:pt x="0" y="226516"/>
                </a:cubicBezTo>
                <a:cubicBezTo>
                  <a:pt x="0" y="238185"/>
                  <a:pt x="9465" y="247650"/>
                  <a:pt x="21134" y="247650"/>
                </a:cubicBezTo>
                <a:lnTo>
                  <a:pt x="245507" y="247650"/>
                </a:lnTo>
                <a:cubicBezTo>
                  <a:pt x="257175" y="247650"/>
                  <a:pt x="266640" y="238185"/>
                  <a:pt x="266640" y="226516"/>
                </a:cubicBezTo>
                <a:cubicBezTo>
                  <a:pt x="266640" y="221694"/>
                  <a:pt x="265033" y="217051"/>
                  <a:pt x="261997" y="213300"/>
                </a:cubicBezTo>
                <a:lnTo>
                  <a:pt x="256163" y="206038"/>
                </a:lnTo>
                <a:cubicBezTo>
                  <a:pt x="238363" y="183654"/>
                  <a:pt x="228600" y="155853"/>
                  <a:pt x="228600" y="127218"/>
                </a:cubicBezTo>
                <a:lnTo>
                  <a:pt x="228600" y="114300"/>
                </a:lnTo>
                <a:cubicBezTo>
                  <a:pt x="228600" y="68223"/>
                  <a:pt x="195858" y="29766"/>
                  <a:pt x="152400" y="20955"/>
                </a:cubicBezTo>
                <a:lnTo>
                  <a:pt x="152400" y="19050"/>
                </a:lnTo>
                <a:cubicBezTo>
                  <a:pt x="152400" y="8513"/>
                  <a:pt x="143887" y="0"/>
                  <a:pt x="133350" y="0"/>
                </a:cubicBezTo>
                <a:close/>
                <a:moveTo>
                  <a:pt x="96441" y="276225"/>
                </a:moveTo>
                <a:cubicBezTo>
                  <a:pt x="100667" y="292656"/>
                  <a:pt x="115610" y="304800"/>
                  <a:pt x="133350" y="304800"/>
                </a:cubicBezTo>
                <a:cubicBezTo>
                  <a:pt x="151090" y="304800"/>
                  <a:pt x="166033" y="292656"/>
                  <a:pt x="170259" y="276225"/>
                </a:cubicBezTo>
                <a:lnTo>
                  <a:pt x="96441" y="276225"/>
                </a:ln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11353800" y="1714500"/>
            <a:ext cx="388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Noise &amp; False Positives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0" y="21590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Analysts drown in raw technical alerts without context, correlation, or prioritization.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3365500"/>
            <a:ext cx="4699000" cy="152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2000" y="3365500"/>
            <a:ext cx="50800" cy="1524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Shape 29"/>
          <p:cNvSpPr/>
          <p:nvPr/>
        </p:nvSpPr>
        <p:spPr>
          <a:xfrm>
            <a:off x="996950" y="3530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350" y="4763"/>
                </a:moveTo>
                <a:cubicBezTo>
                  <a:pt x="172777" y="4763"/>
                  <a:pt x="204787" y="36773"/>
                  <a:pt x="204787" y="76200"/>
                </a:cubicBezTo>
                <a:cubicBezTo>
                  <a:pt x="204787" y="115627"/>
                  <a:pt x="172777" y="147638"/>
                  <a:pt x="133350" y="147638"/>
                </a:cubicBezTo>
                <a:cubicBezTo>
                  <a:pt x="93923" y="147638"/>
                  <a:pt x="61913" y="115627"/>
                  <a:pt x="61912" y="76200"/>
                </a:cubicBezTo>
                <a:cubicBezTo>
                  <a:pt x="61912" y="36773"/>
                  <a:pt x="93923" y="4763"/>
                  <a:pt x="133350" y="4763"/>
                </a:cubicBezTo>
                <a:close/>
                <a:moveTo>
                  <a:pt x="115669" y="180975"/>
                </a:moveTo>
                <a:lnTo>
                  <a:pt x="151031" y="180975"/>
                </a:lnTo>
                <a:cubicBezTo>
                  <a:pt x="153353" y="180975"/>
                  <a:pt x="155734" y="181035"/>
                  <a:pt x="158055" y="181213"/>
                </a:cubicBezTo>
                <a:cubicBezTo>
                  <a:pt x="148411" y="198001"/>
                  <a:pt x="142875" y="217408"/>
                  <a:pt x="142875" y="238125"/>
                </a:cubicBezTo>
                <a:cubicBezTo>
                  <a:pt x="142875" y="263009"/>
                  <a:pt x="150852" y="286048"/>
                  <a:pt x="164306" y="304800"/>
                </a:cubicBezTo>
                <a:lnTo>
                  <a:pt x="27206" y="304800"/>
                </a:lnTo>
                <a:cubicBezTo>
                  <a:pt x="17443" y="304800"/>
                  <a:pt x="9525" y="296882"/>
                  <a:pt x="9525" y="287119"/>
                </a:cubicBezTo>
                <a:cubicBezTo>
                  <a:pt x="9525" y="228481"/>
                  <a:pt x="57031" y="180975"/>
                  <a:pt x="115669" y="180975"/>
                </a:cubicBezTo>
                <a:close/>
                <a:moveTo>
                  <a:pt x="171450" y="238125"/>
                </a:moveTo>
                <a:cubicBezTo>
                  <a:pt x="171450" y="190812"/>
                  <a:pt x="209862" y="152400"/>
                  <a:pt x="257175" y="152400"/>
                </a:cubicBezTo>
                <a:cubicBezTo>
                  <a:pt x="304488" y="152400"/>
                  <a:pt x="342900" y="190812"/>
                  <a:pt x="342900" y="238125"/>
                </a:cubicBezTo>
                <a:cubicBezTo>
                  <a:pt x="342900" y="285438"/>
                  <a:pt x="304488" y="323850"/>
                  <a:pt x="257175" y="323850"/>
                </a:cubicBezTo>
                <a:cubicBezTo>
                  <a:pt x="209862" y="323850"/>
                  <a:pt x="171450" y="285438"/>
                  <a:pt x="171450" y="238125"/>
                </a:cubicBezTo>
                <a:close/>
                <a:moveTo>
                  <a:pt x="257175" y="190500"/>
                </a:moveTo>
                <a:cubicBezTo>
                  <a:pt x="251936" y="190500"/>
                  <a:pt x="247650" y="194786"/>
                  <a:pt x="247650" y="200025"/>
                </a:cubicBezTo>
                <a:lnTo>
                  <a:pt x="247650" y="238125"/>
                </a:lnTo>
                <a:cubicBezTo>
                  <a:pt x="247650" y="243364"/>
                  <a:pt x="251936" y="247650"/>
                  <a:pt x="257175" y="247650"/>
                </a:cubicBezTo>
                <a:lnTo>
                  <a:pt x="285750" y="247650"/>
                </a:lnTo>
                <a:cubicBezTo>
                  <a:pt x="290989" y="247650"/>
                  <a:pt x="295275" y="243364"/>
                  <a:pt x="295275" y="238125"/>
                </a:cubicBezTo>
                <a:cubicBezTo>
                  <a:pt x="295275" y="232886"/>
                  <a:pt x="290989" y="228600"/>
                  <a:pt x="285750" y="228600"/>
                </a:cubicBezTo>
                <a:lnTo>
                  <a:pt x="266700" y="228600"/>
                </a:lnTo>
                <a:lnTo>
                  <a:pt x="266700" y="200025"/>
                </a:lnTo>
                <a:cubicBezTo>
                  <a:pt x="266700" y="194786"/>
                  <a:pt x="262414" y="190500"/>
                  <a:pt x="257175" y="190500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1447800" y="3492500"/>
            <a:ext cx="375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Manual, Slow Investigations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3937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across tools requires expert knowledge and significant time, delaying response.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0" y="3365500"/>
            <a:ext cx="4699000" cy="152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3365500"/>
            <a:ext cx="50800" cy="1524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6" name="Shape 34"/>
          <p:cNvSpPr/>
          <p:nvPr/>
        </p:nvSpPr>
        <p:spPr>
          <a:xfrm>
            <a:off x="5969000" y="353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104775"/>
                </a:moveTo>
                <a:cubicBezTo>
                  <a:pt x="141863" y="104775"/>
                  <a:pt x="133350" y="113288"/>
                  <a:pt x="133350" y="123825"/>
                </a:cubicBezTo>
                <a:cubicBezTo>
                  <a:pt x="133350" y="131743"/>
                  <a:pt x="126980" y="138113"/>
                  <a:pt x="119062" y="138113"/>
                </a:cubicBezTo>
                <a:cubicBezTo>
                  <a:pt x="111145" y="138113"/>
                  <a:pt x="104775" y="131743"/>
                  <a:pt x="104775" y="123825"/>
                </a:cubicBezTo>
                <a:cubicBezTo>
                  <a:pt x="104775" y="97512"/>
                  <a:pt x="126087" y="76200"/>
                  <a:pt x="152400" y="76200"/>
                </a:cubicBezTo>
                <a:cubicBezTo>
                  <a:pt x="178713" y="76200"/>
                  <a:pt x="200025" y="97512"/>
                  <a:pt x="200025" y="123825"/>
                </a:cubicBezTo>
                <a:cubicBezTo>
                  <a:pt x="200025" y="151924"/>
                  <a:pt x="178594" y="163830"/>
                  <a:pt x="166688" y="168176"/>
                </a:cubicBezTo>
                <a:lnTo>
                  <a:pt x="166688" y="170438"/>
                </a:lnTo>
                <a:cubicBezTo>
                  <a:pt x="166688" y="178356"/>
                  <a:pt x="160318" y="184725"/>
                  <a:pt x="152400" y="184725"/>
                </a:cubicBezTo>
                <a:cubicBezTo>
                  <a:pt x="144482" y="184725"/>
                  <a:pt x="138113" y="178356"/>
                  <a:pt x="138113" y="170438"/>
                </a:cubicBezTo>
                <a:lnTo>
                  <a:pt x="138113" y="165616"/>
                </a:lnTo>
                <a:cubicBezTo>
                  <a:pt x="138113" y="153412"/>
                  <a:pt x="146923" y="144661"/>
                  <a:pt x="156031" y="141684"/>
                </a:cubicBezTo>
                <a:cubicBezTo>
                  <a:pt x="159841" y="140434"/>
                  <a:pt x="163890" y="138410"/>
                  <a:pt x="166866" y="135553"/>
                </a:cubicBezTo>
                <a:cubicBezTo>
                  <a:pt x="169426" y="133052"/>
                  <a:pt x="171450" y="129600"/>
                  <a:pt x="171450" y="123885"/>
                </a:cubicBezTo>
                <a:cubicBezTo>
                  <a:pt x="171450" y="113348"/>
                  <a:pt x="162937" y="104835"/>
                  <a:pt x="152400" y="104835"/>
                </a:cubicBezTo>
                <a:close/>
                <a:moveTo>
                  <a:pt x="133350" y="219075"/>
                </a:moveTo>
                <a:cubicBezTo>
                  <a:pt x="133350" y="208561"/>
                  <a:pt x="141886" y="200025"/>
                  <a:pt x="152400" y="200025"/>
                </a:cubicBezTo>
                <a:cubicBezTo>
                  <a:pt x="162914" y="200025"/>
                  <a:pt x="171450" y="208561"/>
                  <a:pt x="171450" y="219075"/>
                </a:cubicBezTo>
                <a:cubicBezTo>
                  <a:pt x="171450" y="229589"/>
                  <a:pt x="162914" y="238125"/>
                  <a:pt x="152400" y="238125"/>
                </a:cubicBezTo>
                <a:cubicBezTo>
                  <a:pt x="141886" y="238125"/>
                  <a:pt x="133350" y="229589"/>
                  <a:pt x="133350" y="219075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492500"/>
            <a:ext cx="375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Incident Understanding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69000" y="3937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Alerts are technical and difficult to interpret for rapid decision-making by non-experts.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668000" y="3365500"/>
            <a:ext cx="4826000" cy="152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68000" y="3365500"/>
            <a:ext cx="50800" cy="1524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83900" y="3530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42" name="Text 40"/>
          <p:cNvSpPr/>
          <p:nvPr/>
        </p:nvSpPr>
        <p:spPr>
          <a:xfrm>
            <a:off x="11353800" y="3492500"/>
            <a:ext cx="388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Automation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22000" y="39370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Corrective actions are rarely automated, increasing reaction time against active threats.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000" y="5270500"/>
            <a:ext cx="14732000" cy="1270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79500" y="558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1651000" y="5461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651000" y="5842000"/>
            <a:ext cx="134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 incident response, missed multi-stage attack patterns, and analyst burnout from manual correlation across disconnected tools.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587500"/>
            <a:ext cx="469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1778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41500" y="1841500"/>
            <a:ext cx="3365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VISIBILITY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2476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network, host, runtime, and infrastructure layers in one unified stack. No blind spots — every critical layer observed, collected, and centralized.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0" y="1587500"/>
            <a:ext cx="4699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9000" y="1778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94500" y="1841500"/>
            <a:ext cx="3365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PROCESSING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69000" y="2476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raw alerts into enriched, correlated incidents with AI-powered analysis. From data overload to actionable, contextualized intelligence.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68000" y="1587500"/>
            <a:ext cx="4826000" cy="292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22000" y="1778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47500" y="1841500"/>
            <a:ext cx="3492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RESPONSE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22000" y="24765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investigation, playbook generation, approval workflows, and Ansible-based remediation with full audit trails. The platform thinks before it acts.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889500"/>
            <a:ext cx="1473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6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5461000"/>
            <a:ext cx="444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Differentiate informational / suspicious / malicious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Distinguish blocked vs successful attacks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0" y="5461000"/>
            <a:ext cx="444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Correlate events intelligently across sources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Produce real SOC-grade logic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14000" y="54610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"everything = attack" simplification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repetitive generic remediation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096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traditional SIEM/SOC approaches fall short and the identified gap in the security operations market.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 — Security Operations Gaps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587500"/>
            <a:ext cx="469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1587500"/>
            <a:ext cx="4699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1841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VISIBILITY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2286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 watch only one layer — network OR host OR runtime — creating dangerous blind spots attackers exploit.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0" y="1587500"/>
            <a:ext cx="469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1587500"/>
            <a:ext cx="4699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5969000" y="1841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 OVERLOAD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69000" y="2286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SIEMs collect massive unstructured technical data. Analysts drown in alerts without context, correlation, or prioritization.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68000" y="1587500"/>
            <a:ext cx="4826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68000" y="1587500"/>
            <a:ext cx="4826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10922000" y="18415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RESPONSE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22000" y="22860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SOC platforms only detect and display alerts. Correlation, investigation, and remediation remain entirely manual.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254500"/>
            <a:ext cx="14732000" cy="177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4419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9500" y="4826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 incident response, missed multi-stage attack patterns, and analyst burnout from manual correlation across disconnected tools. Current systems suffer from no centralization, heterogeneous data, alert noise, manual investigation, poor understanding, and no automation.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641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PROBLEM STATEMENT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858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Fragmented tools with no centralization — security teams juggle multiple disconnected consoles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Heterogeneous data sources — impossible to analyze in a unified, coherent manner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alert noise — analysts waste time on false positives instead of real threats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automated response — every corrective action requires manual intervention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Existing Solutions &amp; Identified Gap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0640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73660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SIEM Traditional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Splunk, QRadar, ArcSight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Centralized collection but costly and complex to deploy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EDR / XDR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CrowdStrike, SentinelOne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Focused on endpoints, limited network visibility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Palo Alto XSOAR, Splunk SOAR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Advanced orchestration but costly integration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Open-Source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Wazuh, Suricata, ELK Stack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Powerful but not natively integrated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Cloud Platforms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Azure Sentinel, Chronicle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Vendor lock-in, limited customization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62000" y="5969000"/>
            <a:ext cx="14732000" cy="1587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3"/>
          <p:cNvSpPr/>
          <p:nvPr/>
        </p:nvSpPr>
        <p:spPr>
          <a:xfrm>
            <a:off x="1079500" y="609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IDENTIFIED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9500" y="64770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solution combines multi-layer monitoring, automatic enrichment, incident correlation, AI analysis, and automated remediation in a unified, cloud-deployable architecture.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096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overview, key innovations, and the complete three-phase architecture with full data pipeline.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 Overview &amp; Key Innovation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986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intelligent SOC platform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integrating log collection, advanced threat detection, multi-layer security monitoring, AI-powered incident explanation, and automated remediation using Ansible.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2540000"/>
            <a:ext cx="14732000" cy="1270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2641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2921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+ Correlation + Automation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platform doesn't just collect alerts; it understands them, correlates across sources, explains in natural language, and automates response with human-in-the-loop control.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12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THREE-PHASE IMPLEMENTATION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635500"/>
            <a:ext cx="4699000" cy="177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2500" y="476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14500" y="48006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Foundation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2500" y="52705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+ Wazuh + Falco + Telegraf → Filebeat → Elasticsearch → Kibana. Complete visibility backbone.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0" y="4635500"/>
            <a:ext cx="4699000" cy="177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05500" y="476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67500" y="48006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05500" y="52705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 deployment with VPC, Security Groups, ECS VM (64 vCPU / 128 GB RAM). Secure and scalable.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68000" y="4635500"/>
            <a:ext cx="4826000" cy="177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58500" y="4762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620500" y="4800600"/>
            <a:ext cx="361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Intelligence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58500" y="52705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12-step pipeline: ingestion → enrichment → correlation → AI → approval → Ansible → verification → archive.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858000"/>
            <a:ext cx="14732000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" y="68580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unified SOC platform that sees everything, understands patterns, and responds with control. The platform thinks before it acts.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 Architecture &amp; Data Flow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4" name="Image 0" descr="https://kimi-img.moonshot.cn/pub/slides/okc/vj3d5clsusuts/mnt/agents/output/soc_pfe/images/Diagram%201%20%E2%80%94%20Global%20Phase%203%20Backend%20Intelligence%20Layer.png">    </p:cNvPr>
          <p:cNvPicPr>
            <a:picLocks noChangeAspect="1"/>
          </p:cNvPicPr>
          <p:nvPr/>
        </p:nvPicPr>
        <p:blipFill>
          <a:blip r:embed="rId1"/>
          <a:srcRect l="-27817" r="-27817" t="0" b="0"/>
          <a:stretch/>
        </p:blipFill>
        <p:spPr>
          <a:xfrm>
            <a:off x="762000" y="1460500"/>
            <a:ext cx="14732000" cy="5080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2000" y="66675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Security Sources (Suricata, Wazuh, Falco, System logs) → Fluent Bit Collection → Kafka Streaming → ETL Processing + Threat Intel Enrichment → Neo4j Correlation → AI Layer (LLM/Ollama) → Elasticsearch + Kibana → Ansible SOAR Execution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component has a specific, well-defined role. The pipeline transforms raw security data into actionable intelligence through enrichment, correlation, and AI-powered analysis.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Three-Phase Implementation Strategy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4" name="Image 0" descr="https://kimi-img.moonshot.cn/pub/slides/okc/vj3d5clsusuts/mnt/agents/output/soc_pfe/images/Huawei%20Cloud%20Environment.png">    </p:cNvPr>
          <p:cNvPicPr>
            <a:picLocks noChangeAspect="1"/>
          </p:cNvPicPr>
          <p:nvPr/>
        </p:nvPicPr>
        <p:blipFill>
          <a:blip r:embed="rId1"/>
          <a:srcRect l="-1221" r="-1221" t="0" b="0"/>
          <a:stretch/>
        </p:blipFill>
        <p:spPr>
          <a:xfrm>
            <a:off x="762000" y="1498600"/>
            <a:ext cx="6350000" cy="3556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493000" y="1498600"/>
            <a:ext cx="8001000" cy="1206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3000" y="1498600"/>
            <a:ext cx="63500" cy="1079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4"/>
          <p:cNvSpPr/>
          <p:nvPr/>
        </p:nvSpPr>
        <p:spPr>
          <a:xfrm>
            <a:off x="7747000" y="1587500"/>
            <a:ext cx="1524000" cy="2794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5"/>
          <p:cNvSpPr/>
          <p:nvPr/>
        </p:nvSpPr>
        <p:spPr>
          <a:xfrm>
            <a:off x="7747000" y="1587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98000" y="1562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Foundation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47000" y="1968500"/>
            <a:ext cx="755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Collect, detect, store, and visualize security events. Suricata + Wazuh + Falco + Telegraf → Elasticsearch → Kibana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3000" y="2768600"/>
            <a:ext cx="8001000" cy="1206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3000" y="2768600"/>
            <a:ext cx="63500" cy="1079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Shape 20"/>
          <p:cNvSpPr/>
          <p:nvPr/>
        </p:nvSpPr>
        <p:spPr>
          <a:xfrm>
            <a:off x="7747000" y="2857500"/>
            <a:ext cx="1524000" cy="2794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1"/>
          <p:cNvSpPr/>
          <p:nvPr/>
        </p:nvSpPr>
        <p:spPr>
          <a:xfrm>
            <a:off x="7747000" y="2857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398000" y="2832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747000" y="3238500"/>
            <a:ext cx="755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on Huawei Cloud with VPC, Security Groups, ECS VM (64 vCPU / 128 GB RAM). Secure access controls.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493000" y="4038600"/>
            <a:ext cx="8001000" cy="1206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3000" y="4038600"/>
            <a:ext cx="63500" cy="1079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Shape 26"/>
          <p:cNvSpPr/>
          <p:nvPr/>
        </p:nvSpPr>
        <p:spPr>
          <a:xfrm>
            <a:off x="7747000" y="4127500"/>
            <a:ext cx="1524000" cy="2794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7"/>
          <p:cNvSpPr/>
          <p:nvPr/>
        </p:nvSpPr>
        <p:spPr>
          <a:xfrm>
            <a:off x="7747000" y="4127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398000" y="4102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Intelligence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747000" y="4508500"/>
            <a:ext cx="755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12-step pipeline: ingestion → enrichment → correlation → AI → approval → Ansible → verification → archive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2000" y="5461000"/>
            <a:ext cx="14732000" cy="165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1"/>
          <p:cNvSpPr/>
          <p:nvPr/>
        </p:nvSpPr>
        <p:spPr>
          <a:xfrm>
            <a:off x="1079500" y="558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FLOW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79500" y="59690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ES Data → Clean Alerts → Correlated Incidents → Investigations → AI Summaries &amp; Playbooks → Approval → Execution → Verification → Archives → Dashboards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phase produces an operational increment. The platform transforms raw monitoring data into actionable SOC intelligence.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457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32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5715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technical coverage of network, host, and runtime detection engines with their specific roles and capabilities.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26250" y="254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31750"/>
                </a:moveTo>
                <a:cubicBezTo>
                  <a:pt x="205581" y="31750"/>
                  <a:pt x="141387" y="68263"/>
                  <a:pt x="94655" y="111720"/>
                </a:cubicBezTo>
                <a:cubicBezTo>
                  <a:pt x="48220" y="154880"/>
                  <a:pt x="17165" y="206375"/>
                  <a:pt x="2381" y="241796"/>
                </a:cubicBezTo>
                <a:cubicBezTo>
                  <a:pt x="-893" y="249634"/>
                  <a:pt x="-893" y="258366"/>
                  <a:pt x="2381" y="266204"/>
                </a:cubicBezTo>
                <a:cubicBezTo>
                  <a:pt x="17165" y="301625"/>
                  <a:pt x="48220" y="353219"/>
                  <a:pt x="94655" y="396280"/>
                </a:cubicBezTo>
                <a:cubicBezTo>
                  <a:pt x="141387" y="439638"/>
                  <a:pt x="205581" y="476250"/>
                  <a:pt x="285750" y="476250"/>
                </a:cubicBezTo>
                <a:cubicBezTo>
                  <a:pt x="365919" y="476250"/>
                  <a:pt x="430113" y="439737"/>
                  <a:pt x="476845" y="396280"/>
                </a:cubicBezTo>
                <a:cubicBezTo>
                  <a:pt x="523280" y="353120"/>
                  <a:pt x="554335" y="301625"/>
                  <a:pt x="569119" y="266204"/>
                </a:cubicBezTo>
                <a:cubicBezTo>
                  <a:pt x="572393" y="258366"/>
                  <a:pt x="572393" y="249634"/>
                  <a:pt x="569119" y="241796"/>
                </a:cubicBezTo>
                <a:cubicBezTo>
                  <a:pt x="554335" y="206375"/>
                  <a:pt x="523280" y="154781"/>
                  <a:pt x="476845" y="111720"/>
                </a:cubicBezTo>
                <a:cubicBezTo>
                  <a:pt x="430113" y="68362"/>
                  <a:pt x="365919" y="31750"/>
                  <a:pt x="285750" y="31750"/>
                </a:cubicBezTo>
                <a:close/>
                <a:moveTo>
                  <a:pt x="142875" y="254000"/>
                </a:moveTo>
                <a:cubicBezTo>
                  <a:pt x="142875" y="175145"/>
                  <a:pt x="206895" y="111125"/>
                  <a:pt x="285750" y="111125"/>
                </a:cubicBezTo>
                <a:cubicBezTo>
                  <a:pt x="364605" y="111125"/>
                  <a:pt x="428625" y="175145"/>
                  <a:pt x="428625" y="254000"/>
                </a:cubicBezTo>
                <a:cubicBezTo>
                  <a:pt x="428625" y="332855"/>
                  <a:pt x="364605" y="396875"/>
                  <a:pt x="285750" y="396875"/>
                </a:cubicBezTo>
                <a:cubicBezTo>
                  <a:pt x="206895" y="396875"/>
                  <a:pt x="142875" y="332855"/>
                  <a:pt x="142875" y="254000"/>
                </a:cubicBezTo>
                <a:close/>
                <a:moveTo>
                  <a:pt x="285750" y="190500"/>
                </a:moveTo>
                <a:cubicBezTo>
                  <a:pt x="285750" y="225524"/>
                  <a:pt x="257274" y="254000"/>
                  <a:pt x="222250" y="254000"/>
                </a:cubicBezTo>
                <a:cubicBezTo>
                  <a:pt x="210840" y="254000"/>
                  <a:pt x="200124" y="251023"/>
                  <a:pt x="190798" y="245666"/>
                </a:cubicBezTo>
                <a:cubicBezTo>
                  <a:pt x="189805" y="256480"/>
                  <a:pt x="190698" y="267593"/>
                  <a:pt x="193675" y="278606"/>
                </a:cubicBezTo>
                <a:cubicBezTo>
                  <a:pt x="207268" y="329406"/>
                  <a:pt x="259556" y="359569"/>
                  <a:pt x="310356" y="345976"/>
                </a:cubicBezTo>
                <a:cubicBezTo>
                  <a:pt x="361156" y="332383"/>
                  <a:pt x="391319" y="280095"/>
                  <a:pt x="377726" y="229295"/>
                </a:cubicBezTo>
                <a:cubicBezTo>
                  <a:pt x="365621" y="183952"/>
                  <a:pt x="322659" y="155079"/>
                  <a:pt x="277416" y="159048"/>
                </a:cubicBezTo>
                <a:cubicBezTo>
                  <a:pt x="282674" y="168275"/>
                  <a:pt x="285750" y="178991"/>
                  <a:pt x="285750" y="190500"/>
                </a:cubicBez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Suricata — Network Detection (NIDS)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498600"/>
            <a:ext cx="14732000" cy="635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15240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 IDS providing traffic, packet, protocol, and IDS alert visibility. Suricata sees what happens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THE WIRE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before attacks reach hosts.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2476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CAPABILITIES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2895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Port scans and network reconnaissance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 exploits and vulnerability probes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C2 (Command &amp; Control) communications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Protocol anomalies and misuse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Malware download attempts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DDoS and flooding patterns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0" y="2476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&amp;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0" y="2895600"/>
            <a:ext cx="736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Output: eve.json alerts → Filebeat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Indices: suricata-* in Elasticsearch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Mapped to normalized alert model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MITRE ATT&amp;CK technique mapping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715000"/>
            <a:ext cx="14732000" cy="127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5715000"/>
            <a:ext cx="635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5816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SOC LOGIC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6096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port scan detection + Wazuh brute force from same IP = correlated attack pattern, not isolated events. Cross-source correlation elevates confidence and reduces false positives.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Wazuh — Host Detection (HIDS)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498600"/>
            <a:ext cx="14732000" cy="698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1498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Host and endpoint security monitoring — auth events, file integrity, agent alerts. Wazuh sees what happens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THE HOST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user behavior, file changes, system calls.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2476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CAPABILITIES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2895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SSH brute force and authentication anomalies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 integrity monitoring (FIM)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Privilege escalation detection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Suspicious process execution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Malware detection and rootkit checks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and command auditing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0" y="2476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&amp;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0" y="2895600"/>
            <a:ext cx="736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Indices: wazuh-alerts-* via Filebeat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MITRE ATT&amp;CK mapping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Severity classification per rule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Agent-based distributed coverage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715000"/>
            <a:ext cx="14732000" cy="127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5715000"/>
            <a:ext cx="635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5816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SOC LOGIC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6159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Failed logins → successful login → file change = potential compromise chain. Wazuh tracks the full host-level attack progression that network tools alone cannot see.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Falco — Runtime &amp; Container Detection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498600"/>
            <a:ext cx="14732000" cy="698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14986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Runtime and container security — process behavior, syscalls, container activity. Falco sees what happens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RUNTIME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final layer where attacks manifest.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2476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CAPABILITIES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2895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Abnormal process execution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Unauthorized syscall patterns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Container escape attempts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Sensitive file access detection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Crypto-mining detection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Reverse shell activity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0" y="2476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&amp;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0" y="2895600"/>
            <a:ext cx="736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Indices: falco-events-* via Falcosidekick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Container-aware detection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Kubernetes-native integration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Low-overhead kernel instrumentation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715000"/>
            <a:ext cx="14732000" cy="127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5715000"/>
            <a:ext cx="635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5816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SOC LOGIC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6159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scan (Suricata) + shell activity (Falco) = active intrusion confirmed. Runtime detection provides the final confirmation layer that closes the visibility gap.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CORRELATION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INCIDENT LIFECYCLE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096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to raise alerts, when to create incidents, cross-source correlation logic, and the complete incident lifecycle from detection to resolution.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26250" y="254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16223" y="95250"/>
                </a:moveTo>
                <a:cubicBezTo>
                  <a:pt x="399752" y="95250"/>
                  <a:pt x="383778" y="99715"/>
                  <a:pt x="369788" y="107851"/>
                </a:cubicBezTo>
                <a:cubicBezTo>
                  <a:pt x="354112" y="91976"/>
                  <a:pt x="335855" y="78680"/>
                  <a:pt x="315714" y="68659"/>
                </a:cubicBezTo>
                <a:cubicBezTo>
                  <a:pt x="343694" y="44847"/>
                  <a:pt x="379313" y="31750"/>
                  <a:pt x="416223" y="31750"/>
                </a:cubicBezTo>
                <a:cubicBezTo>
                  <a:pt x="501948" y="31750"/>
                  <a:pt x="571500" y="101203"/>
                  <a:pt x="571500" y="187027"/>
                </a:cubicBezTo>
                <a:cubicBezTo>
                  <a:pt x="571500" y="228203"/>
                  <a:pt x="555129" y="267692"/>
                  <a:pt x="526058" y="296763"/>
                </a:cubicBezTo>
                <a:lnTo>
                  <a:pt x="455513" y="367308"/>
                </a:lnTo>
                <a:cubicBezTo>
                  <a:pt x="426442" y="396379"/>
                  <a:pt x="386953" y="412750"/>
                  <a:pt x="345777" y="412750"/>
                </a:cubicBezTo>
                <a:cubicBezTo>
                  <a:pt x="260052" y="412750"/>
                  <a:pt x="190500" y="343297"/>
                  <a:pt x="190500" y="257473"/>
                </a:cubicBezTo>
                <a:cubicBezTo>
                  <a:pt x="190500" y="255984"/>
                  <a:pt x="190500" y="254496"/>
                  <a:pt x="190599" y="253008"/>
                </a:cubicBezTo>
                <a:cubicBezTo>
                  <a:pt x="191095" y="235446"/>
                  <a:pt x="205680" y="221655"/>
                  <a:pt x="223242" y="222151"/>
                </a:cubicBezTo>
                <a:cubicBezTo>
                  <a:pt x="240804" y="222647"/>
                  <a:pt x="254595" y="237232"/>
                  <a:pt x="254099" y="254794"/>
                </a:cubicBezTo>
                <a:cubicBezTo>
                  <a:pt x="254099" y="255687"/>
                  <a:pt x="254099" y="256580"/>
                  <a:pt x="254099" y="257373"/>
                </a:cubicBezTo>
                <a:cubicBezTo>
                  <a:pt x="254099" y="308074"/>
                  <a:pt x="295176" y="349151"/>
                  <a:pt x="345877" y="349151"/>
                </a:cubicBezTo>
                <a:cubicBezTo>
                  <a:pt x="370185" y="349151"/>
                  <a:pt x="393502" y="339527"/>
                  <a:pt x="410766" y="322263"/>
                </a:cubicBezTo>
                <a:lnTo>
                  <a:pt x="481310" y="251718"/>
                </a:lnTo>
                <a:cubicBezTo>
                  <a:pt x="498475" y="234553"/>
                  <a:pt x="508198" y="211138"/>
                  <a:pt x="508198" y="186829"/>
                </a:cubicBezTo>
                <a:cubicBezTo>
                  <a:pt x="508198" y="136128"/>
                  <a:pt x="467122" y="95052"/>
                  <a:pt x="416421" y="95052"/>
                </a:cubicBezTo>
                <a:close/>
                <a:moveTo>
                  <a:pt x="273050" y="171946"/>
                </a:moveTo>
                <a:cubicBezTo>
                  <a:pt x="271165" y="171152"/>
                  <a:pt x="269280" y="170061"/>
                  <a:pt x="267593" y="168870"/>
                </a:cubicBezTo>
                <a:cubicBezTo>
                  <a:pt x="255091" y="162421"/>
                  <a:pt x="240804" y="158750"/>
                  <a:pt x="225822" y="158750"/>
                </a:cubicBezTo>
                <a:cubicBezTo>
                  <a:pt x="201513" y="158750"/>
                  <a:pt x="178197" y="168374"/>
                  <a:pt x="160933" y="185638"/>
                </a:cubicBezTo>
                <a:lnTo>
                  <a:pt x="90388" y="256183"/>
                </a:lnTo>
                <a:cubicBezTo>
                  <a:pt x="73223" y="273348"/>
                  <a:pt x="63500" y="296763"/>
                  <a:pt x="63500" y="321072"/>
                </a:cubicBezTo>
                <a:cubicBezTo>
                  <a:pt x="63500" y="371773"/>
                  <a:pt x="104577" y="412849"/>
                  <a:pt x="155277" y="412849"/>
                </a:cubicBezTo>
                <a:cubicBezTo>
                  <a:pt x="171648" y="412849"/>
                  <a:pt x="187623" y="408484"/>
                  <a:pt x="201613" y="400348"/>
                </a:cubicBezTo>
                <a:cubicBezTo>
                  <a:pt x="217289" y="416223"/>
                  <a:pt x="235545" y="429518"/>
                  <a:pt x="255786" y="439539"/>
                </a:cubicBezTo>
                <a:cubicBezTo>
                  <a:pt x="227806" y="463252"/>
                  <a:pt x="192286" y="476448"/>
                  <a:pt x="155277" y="476448"/>
                </a:cubicBezTo>
                <a:cubicBezTo>
                  <a:pt x="69552" y="476448"/>
                  <a:pt x="0" y="406995"/>
                  <a:pt x="0" y="321171"/>
                </a:cubicBezTo>
                <a:cubicBezTo>
                  <a:pt x="0" y="279995"/>
                  <a:pt x="16371" y="240506"/>
                  <a:pt x="45442" y="211435"/>
                </a:cubicBezTo>
                <a:lnTo>
                  <a:pt x="115987" y="140891"/>
                </a:lnTo>
                <a:cubicBezTo>
                  <a:pt x="145058" y="111820"/>
                  <a:pt x="184547" y="95448"/>
                  <a:pt x="225723" y="95448"/>
                </a:cubicBezTo>
                <a:cubicBezTo>
                  <a:pt x="311646" y="95448"/>
                  <a:pt x="381000" y="165497"/>
                  <a:pt x="381000" y="251123"/>
                </a:cubicBezTo>
                <a:cubicBezTo>
                  <a:pt x="381000" y="252413"/>
                  <a:pt x="381000" y="253702"/>
                  <a:pt x="381000" y="254992"/>
                </a:cubicBezTo>
                <a:cubicBezTo>
                  <a:pt x="380603" y="272554"/>
                  <a:pt x="366018" y="286345"/>
                  <a:pt x="348456" y="285948"/>
                </a:cubicBezTo>
                <a:cubicBezTo>
                  <a:pt x="330895" y="285552"/>
                  <a:pt x="317103" y="270966"/>
                  <a:pt x="317500" y="253405"/>
                </a:cubicBezTo>
                <a:cubicBezTo>
                  <a:pt x="317500" y="252611"/>
                  <a:pt x="317500" y="251916"/>
                  <a:pt x="317500" y="251123"/>
                </a:cubicBezTo>
                <a:cubicBezTo>
                  <a:pt x="317500" y="217686"/>
                  <a:pt x="299641" y="188317"/>
                  <a:pt x="273050" y="172145"/>
                </a:cubicBez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Correlation Logic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4" name="Image 0" descr="https://kimi-img.moonshot.cn/pub/slides/okc/vj3d5clsusuts/mnt/agents/output/soc_pfe/images/Diagram%207%20%E2%80%94%20Incident%20Correlation.png">    </p:cNvPr>
          <p:cNvPicPr>
            <a:picLocks noChangeAspect="1"/>
          </p:cNvPicPr>
          <p:nvPr/>
        </p:nvPicPr>
        <p:blipFill>
          <a:blip r:embed="rId1"/>
          <a:srcRect l="0" r="0" t="-83867" b="-83867"/>
          <a:stretch/>
        </p:blipFill>
        <p:spPr>
          <a:xfrm>
            <a:off x="762000" y="1460500"/>
            <a:ext cx="7112000" cy="3556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55000" y="1460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CREATION RULES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55000" y="1879600"/>
            <a:ext cx="723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Critical severity alert detected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Attack pattern: ssh_brute_force, port_scan, malware, c2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Kill-chain has 2+ MITRE phases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Medium severity + 2+ alerts in 15 min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55000" y="3683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SIGNALS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55000" y="4064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 IP (same attacker origin)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Hostname/Container ID (same target)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MITRE tactics + time window overlap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5334000"/>
            <a:ext cx="14732000" cy="1651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7"/>
          <p:cNvSpPr/>
          <p:nvPr/>
        </p:nvSpPr>
        <p:spPr>
          <a:xfrm>
            <a:off x="1079500" y="546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EXAMPLE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9500" y="58420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detects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scan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Wazuh detects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SSH brute force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same IP + Falco detects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shell activity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One stronger incident with higher confidence: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"SSH Brute Force &amp; Port Scan Campaign from 185.220.101.4"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" y="7302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POSITIVE AVOIDANCE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768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Whitelist checks | Noise learner with auto-learned rules | Deduplication engine | Confidence scoring per correlation | Kill-chain progression validation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Incident Lifecycle — From Alert to Archive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651000"/>
            <a:ext cx="1524000" cy="635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1651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49500" y="1905000"/>
            <a:ext cx="317500" cy="0"/>
          </a:xfrm>
          <a:prstGeom prst="straightConnector1">
            <a:avLst/>
          </a:prstGeom>
          <a:noFill/>
          <a:ln w="25400">
            <a:solidFill>
              <a:srgbClr val="B91C1C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730500" y="1651000"/>
            <a:ext cx="1524000" cy="635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2730500" y="1651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18000" y="1905000"/>
            <a:ext cx="317500" cy="0"/>
          </a:xfrm>
          <a:prstGeom prst="straightConnector1">
            <a:avLst/>
          </a:prstGeom>
          <a:noFill/>
          <a:ln w="25400">
            <a:solidFill>
              <a:srgbClr val="B91C1C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699000" y="1651000"/>
            <a:ext cx="1778000" cy="635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4699000" y="1651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40500" y="1905000"/>
            <a:ext cx="317500" cy="0"/>
          </a:xfrm>
          <a:prstGeom prst="straightConnector1">
            <a:avLst/>
          </a:prstGeom>
          <a:noFill/>
          <a:ln w="25400">
            <a:solidFill>
              <a:srgbClr val="B91C1C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921500" y="1651000"/>
            <a:ext cx="1524000" cy="635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6921500" y="1651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9000" y="1905000"/>
            <a:ext cx="317500" cy="0"/>
          </a:xfrm>
          <a:prstGeom prst="straightConnector1">
            <a:avLst/>
          </a:prstGeom>
          <a:noFill/>
          <a:ln w="25400">
            <a:solidFill>
              <a:srgbClr val="B91C1C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8890000" y="1651000"/>
            <a:ext cx="1651000" cy="635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8890000" y="1651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04500" y="1905000"/>
            <a:ext cx="3175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0985500" y="1651000"/>
            <a:ext cx="1651000" cy="635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10985500" y="1651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700000" y="1905000"/>
            <a:ext cx="3175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3081000" y="1651000"/>
            <a:ext cx="1651000" cy="635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3081000" y="16510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2667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FLOW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3073400"/>
            <a:ext cx="7112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Watcher detects open incidents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investigation with rich context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Triggers AI engine for analysis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Generates remediation playbook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Auto-approval check based on risk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2000" y="2667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2000" y="30734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Manual approval for high-risk cases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Analyst review for medium-risk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Auto-approval only for low-risk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audit trail for every decision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Analyst override at any stage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5080000"/>
            <a:ext cx="14732000" cy="1524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9500" y="5207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INVESTIGATION CONTEXT INCLUDES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9500" y="55245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 alerts timeline | IOCs (IPs, ports, services, domains) | MITRE tactics &amp; techniques | Behavioral patterns | Risk score | Auth pattern analysis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2000" y="6731000"/>
            <a:ext cx="14732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1079500" y="6731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platform never executes blindly — every action passes through approval and validation gates.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Alert Processing Pipeline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1524000"/>
            <a:ext cx="3429000" cy="1016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" y="1587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Cursor-based ES polling from all security indices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45000" y="1524000"/>
            <a:ext cx="3429000" cy="1016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587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mappers normalize into one alert model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1524000"/>
            <a:ext cx="3429000" cy="1016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8255000" y="15875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processor: dedup → filter → enrich → whitelist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11000" y="1524000"/>
            <a:ext cx="3683000" cy="1016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11938000" y="1587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persistence + WebSocket broadcast</a:t>
            </a:r>
            <a:endParaRPr lang="en-US" sz="1600" dirty="0"/>
          </a:p>
        </p:txBody>
      </p:sp>
      <p:pic>
        <p:nvPicPr>
          <p:cNvPr id="22" name="Image 0" descr="https://kimi-img.moonshot.cn/pub/slides/okc/vj3d5clsusuts/mnt/agents/output/soc_pfe/images/Diagram%202%20%E2%80%94%20Alert%20Ingestion%20&amp;%20Enrichment%20Pipeline.png">    </p:cNvPr>
          <p:cNvPicPr>
            <a:picLocks noChangeAspect="1"/>
          </p:cNvPicPr>
          <p:nvPr/>
        </p:nvPicPr>
        <p:blipFill>
          <a:blip r:embed="rId1"/>
          <a:srcRect l="0" r="0" t="-560950" b="-560950"/>
          <a:stretch/>
        </p:blipFill>
        <p:spPr>
          <a:xfrm>
            <a:off x="762000" y="2794000"/>
            <a:ext cx="7112000" cy="3302000"/>
          </a:xfrm>
          <a:prstGeom prst="rect">
            <a:avLst/>
          </a:prstGeom>
        </p:spPr>
      </p:pic>
      <p:pic>
        <p:nvPicPr>
          <p:cNvPr id="23" name="Image 1" descr="https://kimi-img.moonshot.cn/pub/slides/okc/vj3d5clsusuts/mnt/agents/output/soc_pfe/images/Diagram%204%20%E2%80%94%20Raw%20Document%20to%20Clean%20SOC%20Alert.png">    </p:cNvPr>
          <p:cNvPicPr>
            <a:picLocks noChangeAspect="1"/>
          </p:cNvPicPr>
          <p:nvPr/>
        </p:nvPicPr>
        <p:blipFill>
          <a:blip r:embed="rId2"/>
          <a:srcRect l="0" r="0" t="-297279" b="-297278"/>
          <a:stretch/>
        </p:blipFill>
        <p:spPr>
          <a:xfrm>
            <a:off x="8128000" y="2794000"/>
            <a:ext cx="7366000" cy="33020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62000" y="6413500"/>
            <a:ext cx="14732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62000" y="6413500"/>
            <a:ext cx="635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2"/>
          <p:cNvSpPr/>
          <p:nvPr/>
        </p:nvSpPr>
        <p:spPr>
          <a:xfrm>
            <a:off x="1079500" y="6502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079500" y="68326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normalized alerts with: source, source_id, title, severity, category, IPs, hostname, tags, IOCs, MITRE techniques, metadata, dedup_key, occurrence_count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LAYER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096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engine that explains alerts, performs root cause analysis, generates remediation playbooks, and enhances SOC analyst decision-making.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14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Response Engine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4" name="Image 0" descr="https://kimi-img.moonshot.cn/pub/slides/okc/vj3d5clsusuts/mnt/agents/output/soc_pfe/images/Diagram%209%20%E2%80%94%20AI%20Response%20Engine.png">    </p:cNvPr>
          <p:cNvPicPr>
            <a:picLocks noChangeAspect="1"/>
          </p:cNvPicPr>
          <p:nvPr/>
        </p:nvPicPr>
        <p:blipFill>
          <a:blip r:embed="rId1"/>
          <a:srcRect l="0" r="0" t="-194367" b="-194367"/>
          <a:stretch/>
        </p:blipFill>
        <p:spPr>
          <a:xfrm>
            <a:off x="762000" y="1460500"/>
            <a:ext cx="14732000" cy="3937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62000" y="5651500"/>
            <a:ext cx="4572000" cy="165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5651500"/>
            <a:ext cx="4572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581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16000" y="6159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Investigation context: timeline, IOCs, MITRE tactics, risk score, behavioral patterns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588000" y="5651500"/>
            <a:ext cx="4572000" cy="165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88000" y="5651500"/>
            <a:ext cx="457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5842000" y="581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842000" y="6159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Circuit breaker → Prompt builder → LLM provider routing (Ollama, Gemini, OpenRouter, NVIDIA NIM)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414000" y="5651500"/>
            <a:ext cx="5080000" cy="165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414000" y="5651500"/>
            <a:ext cx="5080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2"/>
          <p:cNvSpPr/>
          <p:nvPr/>
        </p:nvSpPr>
        <p:spPr>
          <a:xfrm>
            <a:off x="10668000" y="581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668000" y="6159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Summary, attack chain narrative, risk assessment, YAML remediation playbook, auto-approval check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2000" y="7620000"/>
            <a:ext cx="14732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5"/>
          <p:cNvSpPr/>
          <p:nvPr/>
        </p:nvSpPr>
        <p:spPr>
          <a:xfrm>
            <a:off x="1079500" y="7620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does not blindly execute. Output goes through approval and validation before any action is taken.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14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Assistant &amp; AI Operator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4" name="Image 0" descr="https://kimi-img.moonshot.cn/pub/slides/okc/vj3d5clsusuts/mnt/agents/output/soc_pfe/images/Diagram%2013%20%E2%80%94%20AI%20Assistant.png">    </p:cNvPr>
          <p:cNvPicPr>
            <a:picLocks noChangeAspect="1"/>
          </p:cNvPicPr>
          <p:nvPr/>
        </p:nvPicPr>
        <p:blipFill>
          <a:blip r:embed="rId1"/>
          <a:srcRect l="0" r="0" t="-251605" b="-251605"/>
          <a:stretch/>
        </p:blipFill>
        <p:spPr>
          <a:xfrm>
            <a:off x="762000" y="1460500"/>
            <a:ext cx="7366000" cy="3429000"/>
          </a:xfrm>
          <a:prstGeom prst="rect">
            <a:avLst/>
          </a:prstGeom>
        </p:spPr>
      </p:pic>
      <p:pic>
        <p:nvPicPr>
          <p:cNvPr id="15" name="Image 1" descr="https://kimi-img.moonshot.cn/pub/slides/okc/vj3d5clsusuts/mnt/agents/output/soc_pfe/images/Diagram%2014%20%E2%80%94%20AI%20Operator.png">    </p:cNvPr>
          <p:cNvPicPr>
            <a:picLocks noChangeAspect="1"/>
          </p:cNvPicPr>
          <p:nvPr/>
        </p:nvPicPr>
        <p:blipFill>
          <a:blip r:embed="rId2"/>
          <a:srcRect l="0" r="0" t="-254462" b="-254462"/>
          <a:stretch/>
        </p:blipFill>
        <p:spPr>
          <a:xfrm>
            <a:off x="8382000" y="1460500"/>
            <a:ext cx="7112000" cy="3429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62000" y="5143500"/>
            <a:ext cx="7366000" cy="165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62000" y="5143500"/>
            <a:ext cx="7366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4"/>
          <p:cNvSpPr/>
          <p:nvPr/>
        </p:nvSpPr>
        <p:spPr>
          <a:xfrm>
            <a:off x="1016000" y="5308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 — CONVERSATIONAL ANALYST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016000" y="5651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→ Keyword extraction → Deep entity fetch → Context prompt → LLM answer → Suggested actions (approve, decline, execute, archive)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382000" y="5143500"/>
            <a:ext cx="7112000" cy="1651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82000" y="5143500"/>
            <a:ext cx="711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18"/>
          <p:cNvSpPr/>
          <p:nvPr/>
        </p:nvSpPr>
        <p:spPr>
          <a:xfrm>
            <a:off x="8636000" y="5308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OPERATOR — NL TO ANSIBLE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636000" y="56515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 request → Reason intent → Match template or generate playbook → Approval gate → Execute Ansible → Parse output → Return analysis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62000" y="7112000"/>
            <a:ext cx="14732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1"/>
          <p:cNvSpPr/>
          <p:nvPr/>
        </p:nvSpPr>
        <p:spPr>
          <a:xfrm>
            <a:off x="1079500" y="7112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 Templates: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RAM usage | Disk usage | CPU processes | Open ports / SSH failures | Service status | Docker containers | Package check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457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SOAR &amp;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32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5715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remediation through approval workflows, Ansible execution engine, and automated response capabilities.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94500" y="2540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412651" y="208855"/>
                </a:moveTo>
                <a:cubicBezTo>
                  <a:pt x="424755" y="205581"/>
                  <a:pt x="437455" y="211336"/>
                  <a:pt x="442912" y="222548"/>
                </a:cubicBezTo>
                <a:lnTo>
                  <a:pt x="461367" y="259854"/>
                </a:lnTo>
                <a:cubicBezTo>
                  <a:pt x="471587" y="261243"/>
                  <a:pt x="481608" y="264021"/>
                  <a:pt x="491034" y="267891"/>
                </a:cubicBezTo>
                <a:lnTo>
                  <a:pt x="525760" y="244773"/>
                </a:lnTo>
                <a:cubicBezTo>
                  <a:pt x="536178" y="237827"/>
                  <a:pt x="549970" y="239216"/>
                  <a:pt x="558800" y="248047"/>
                </a:cubicBezTo>
                <a:lnTo>
                  <a:pt x="577850" y="267097"/>
                </a:lnTo>
                <a:cubicBezTo>
                  <a:pt x="586680" y="275927"/>
                  <a:pt x="588070" y="289818"/>
                  <a:pt x="581124" y="300137"/>
                </a:cubicBezTo>
                <a:lnTo>
                  <a:pt x="558006" y="334764"/>
                </a:lnTo>
                <a:cubicBezTo>
                  <a:pt x="559891" y="339427"/>
                  <a:pt x="561578" y="344289"/>
                  <a:pt x="562967" y="349349"/>
                </a:cubicBezTo>
                <a:cubicBezTo>
                  <a:pt x="564356" y="354409"/>
                  <a:pt x="565249" y="359370"/>
                  <a:pt x="565944" y="364430"/>
                </a:cubicBezTo>
                <a:lnTo>
                  <a:pt x="603349" y="382885"/>
                </a:lnTo>
                <a:cubicBezTo>
                  <a:pt x="614561" y="388441"/>
                  <a:pt x="620316" y="401141"/>
                  <a:pt x="617041" y="413147"/>
                </a:cubicBezTo>
                <a:lnTo>
                  <a:pt x="610096" y="439142"/>
                </a:lnTo>
                <a:cubicBezTo>
                  <a:pt x="606822" y="451148"/>
                  <a:pt x="595610" y="459284"/>
                  <a:pt x="583109" y="458490"/>
                </a:cubicBezTo>
                <a:lnTo>
                  <a:pt x="541437" y="455811"/>
                </a:lnTo>
                <a:cubicBezTo>
                  <a:pt x="535186" y="463848"/>
                  <a:pt x="527943" y="471289"/>
                  <a:pt x="519708" y="477639"/>
                </a:cubicBezTo>
                <a:lnTo>
                  <a:pt x="522387" y="519212"/>
                </a:lnTo>
                <a:cubicBezTo>
                  <a:pt x="523180" y="531713"/>
                  <a:pt x="515045" y="543024"/>
                  <a:pt x="503039" y="546199"/>
                </a:cubicBezTo>
                <a:lnTo>
                  <a:pt x="477044" y="553145"/>
                </a:lnTo>
                <a:cubicBezTo>
                  <a:pt x="464939" y="556419"/>
                  <a:pt x="452338" y="550664"/>
                  <a:pt x="446782" y="539452"/>
                </a:cubicBezTo>
                <a:lnTo>
                  <a:pt x="428327" y="502146"/>
                </a:lnTo>
                <a:cubicBezTo>
                  <a:pt x="418108" y="500757"/>
                  <a:pt x="408087" y="497979"/>
                  <a:pt x="398661" y="494109"/>
                </a:cubicBezTo>
                <a:lnTo>
                  <a:pt x="363934" y="517227"/>
                </a:lnTo>
                <a:cubicBezTo>
                  <a:pt x="353516" y="524173"/>
                  <a:pt x="339725" y="522784"/>
                  <a:pt x="330895" y="513953"/>
                </a:cubicBezTo>
                <a:lnTo>
                  <a:pt x="311845" y="494903"/>
                </a:lnTo>
                <a:cubicBezTo>
                  <a:pt x="303014" y="486073"/>
                  <a:pt x="301625" y="472281"/>
                  <a:pt x="308570" y="461863"/>
                </a:cubicBezTo>
                <a:lnTo>
                  <a:pt x="331688" y="427137"/>
                </a:lnTo>
                <a:cubicBezTo>
                  <a:pt x="329803" y="422473"/>
                  <a:pt x="328116" y="417612"/>
                  <a:pt x="326727" y="412552"/>
                </a:cubicBezTo>
                <a:cubicBezTo>
                  <a:pt x="325338" y="407491"/>
                  <a:pt x="324445" y="402431"/>
                  <a:pt x="323751" y="397470"/>
                </a:cubicBezTo>
                <a:lnTo>
                  <a:pt x="286345" y="379016"/>
                </a:lnTo>
                <a:cubicBezTo>
                  <a:pt x="275134" y="373459"/>
                  <a:pt x="269478" y="360759"/>
                  <a:pt x="272653" y="348754"/>
                </a:cubicBezTo>
                <a:lnTo>
                  <a:pt x="279598" y="322759"/>
                </a:lnTo>
                <a:cubicBezTo>
                  <a:pt x="282873" y="310753"/>
                  <a:pt x="294084" y="302617"/>
                  <a:pt x="306586" y="303411"/>
                </a:cubicBezTo>
                <a:lnTo>
                  <a:pt x="348159" y="306090"/>
                </a:lnTo>
                <a:cubicBezTo>
                  <a:pt x="354409" y="298053"/>
                  <a:pt x="361652" y="290612"/>
                  <a:pt x="369887" y="284262"/>
                </a:cubicBezTo>
                <a:lnTo>
                  <a:pt x="367209" y="242788"/>
                </a:lnTo>
                <a:cubicBezTo>
                  <a:pt x="366415" y="230287"/>
                  <a:pt x="374551" y="218976"/>
                  <a:pt x="386556" y="215801"/>
                </a:cubicBezTo>
                <a:lnTo>
                  <a:pt x="412552" y="208855"/>
                </a:lnTo>
                <a:close/>
                <a:moveTo>
                  <a:pt x="444897" y="337344"/>
                </a:moveTo>
                <a:cubicBezTo>
                  <a:pt x="420802" y="337371"/>
                  <a:pt x="401263" y="356955"/>
                  <a:pt x="401290" y="381050"/>
                </a:cubicBezTo>
                <a:cubicBezTo>
                  <a:pt x="401318" y="405144"/>
                  <a:pt x="420902" y="424684"/>
                  <a:pt x="444996" y="424656"/>
                </a:cubicBezTo>
                <a:cubicBezTo>
                  <a:pt x="469091" y="424629"/>
                  <a:pt x="488630" y="405045"/>
                  <a:pt x="488603" y="380950"/>
                </a:cubicBezTo>
                <a:cubicBezTo>
                  <a:pt x="488575" y="356856"/>
                  <a:pt x="468991" y="337316"/>
                  <a:pt x="444897" y="337344"/>
                </a:cubicBezTo>
                <a:close/>
                <a:moveTo>
                  <a:pt x="223143" y="-45145"/>
                </a:moveTo>
                <a:lnTo>
                  <a:pt x="249138" y="-38199"/>
                </a:lnTo>
                <a:cubicBezTo>
                  <a:pt x="261144" y="-34925"/>
                  <a:pt x="269280" y="-23614"/>
                  <a:pt x="268486" y="-11212"/>
                </a:cubicBezTo>
                <a:lnTo>
                  <a:pt x="265807" y="30262"/>
                </a:lnTo>
                <a:cubicBezTo>
                  <a:pt x="274042" y="36612"/>
                  <a:pt x="281285" y="43954"/>
                  <a:pt x="287536" y="52090"/>
                </a:cubicBezTo>
                <a:lnTo>
                  <a:pt x="329208" y="49411"/>
                </a:lnTo>
                <a:cubicBezTo>
                  <a:pt x="341610" y="48617"/>
                  <a:pt x="352921" y="56753"/>
                  <a:pt x="356195" y="68759"/>
                </a:cubicBezTo>
                <a:lnTo>
                  <a:pt x="363141" y="94754"/>
                </a:lnTo>
                <a:cubicBezTo>
                  <a:pt x="366316" y="106759"/>
                  <a:pt x="360660" y="119459"/>
                  <a:pt x="349448" y="125016"/>
                </a:cubicBezTo>
                <a:lnTo>
                  <a:pt x="312043" y="143470"/>
                </a:lnTo>
                <a:cubicBezTo>
                  <a:pt x="311348" y="148530"/>
                  <a:pt x="310356" y="153591"/>
                  <a:pt x="309066" y="158552"/>
                </a:cubicBezTo>
                <a:cubicBezTo>
                  <a:pt x="307777" y="163512"/>
                  <a:pt x="305991" y="168473"/>
                  <a:pt x="304105" y="173137"/>
                </a:cubicBezTo>
                <a:lnTo>
                  <a:pt x="327223" y="207863"/>
                </a:lnTo>
                <a:cubicBezTo>
                  <a:pt x="334169" y="218281"/>
                  <a:pt x="332780" y="232073"/>
                  <a:pt x="323949" y="240903"/>
                </a:cubicBezTo>
                <a:lnTo>
                  <a:pt x="304899" y="259953"/>
                </a:lnTo>
                <a:cubicBezTo>
                  <a:pt x="296069" y="268784"/>
                  <a:pt x="282277" y="270173"/>
                  <a:pt x="271859" y="263227"/>
                </a:cubicBezTo>
                <a:lnTo>
                  <a:pt x="237133" y="240109"/>
                </a:lnTo>
                <a:cubicBezTo>
                  <a:pt x="227707" y="243979"/>
                  <a:pt x="217686" y="246757"/>
                  <a:pt x="207466" y="248146"/>
                </a:cubicBezTo>
                <a:lnTo>
                  <a:pt x="189012" y="285452"/>
                </a:lnTo>
                <a:cubicBezTo>
                  <a:pt x="183455" y="296664"/>
                  <a:pt x="170755" y="302320"/>
                  <a:pt x="158750" y="299145"/>
                </a:cubicBezTo>
                <a:lnTo>
                  <a:pt x="132755" y="292199"/>
                </a:lnTo>
                <a:cubicBezTo>
                  <a:pt x="120650" y="288925"/>
                  <a:pt x="112613" y="277614"/>
                  <a:pt x="113407" y="265212"/>
                </a:cubicBezTo>
                <a:lnTo>
                  <a:pt x="116086" y="223639"/>
                </a:lnTo>
                <a:cubicBezTo>
                  <a:pt x="107851" y="217289"/>
                  <a:pt x="100608" y="209947"/>
                  <a:pt x="94357" y="201811"/>
                </a:cubicBezTo>
                <a:lnTo>
                  <a:pt x="52685" y="204490"/>
                </a:lnTo>
                <a:cubicBezTo>
                  <a:pt x="40283" y="205284"/>
                  <a:pt x="28972" y="197148"/>
                  <a:pt x="25698" y="185142"/>
                </a:cubicBezTo>
                <a:lnTo>
                  <a:pt x="18752" y="159147"/>
                </a:lnTo>
                <a:cubicBezTo>
                  <a:pt x="15577" y="147141"/>
                  <a:pt x="21233" y="134441"/>
                  <a:pt x="32445" y="128885"/>
                </a:cubicBezTo>
                <a:lnTo>
                  <a:pt x="69850" y="110430"/>
                </a:lnTo>
                <a:cubicBezTo>
                  <a:pt x="70545" y="105370"/>
                  <a:pt x="71537" y="100409"/>
                  <a:pt x="72827" y="95349"/>
                </a:cubicBezTo>
                <a:cubicBezTo>
                  <a:pt x="74216" y="90289"/>
                  <a:pt x="75803" y="85427"/>
                  <a:pt x="77788" y="80764"/>
                </a:cubicBezTo>
                <a:lnTo>
                  <a:pt x="54670" y="46137"/>
                </a:lnTo>
                <a:cubicBezTo>
                  <a:pt x="47724" y="35719"/>
                  <a:pt x="49113" y="21927"/>
                  <a:pt x="57944" y="13097"/>
                </a:cubicBezTo>
                <a:lnTo>
                  <a:pt x="76994" y="-5953"/>
                </a:lnTo>
                <a:cubicBezTo>
                  <a:pt x="85824" y="-14784"/>
                  <a:pt x="99616" y="-16173"/>
                  <a:pt x="110034" y="-9227"/>
                </a:cubicBezTo>
                <a:lnTo>
                  <a:pt x="144760" y="13891"/>
                </a:lnTo>
                <a:cubicBezTo>
                  <a:pt x="154186" y="10021"/>
                  <a:pt x="164207" y="7243"/>
                  <a:pt x="174427" y="5854"/>
                </a:cubicBezTo>
                <a:lnTo>
                  <a:pt x="192881" y="-31452"/>
                </a:lnTo>
                <a:cubicBezTo>
                  <a:pt x="198437" y="-42664"/>
                  <a:pt x="211038" y="-48320"/>
                  <a:pt x="223143" y="-45145"/>
                </a:cubicBezTo>
                <a:close/>
                <a:moveTo>
                  <a:pt x="190897" y="83344"/>
                </a:moveTo>
                <a:cubicBezTo>
                  <a:pt x="166802" y="83344"/>
                  <a:pt x="147241" y="102905"/>
                  <a:pt x="147241" y="127000"/>
                </a:cubicBezTo>
                <a:cubicBezTo>
                  <a:pt x="147241" y="151095"/>
                  <a:pt x="166802" y="170656"/>
                  <a:pt x="190897" y="170656"/>
                </a:cubicBezTo>
                <a:cubicBezTo>
                  <a:pt x="214991" y="170656"/>
                  <a:pt x="234553" y="151095"/>
                  <a:pt x="234553" y="127000"/>
                </a:cubicBezTo>
                <a:cubicBezTo>
                  <a:pt x="234553" y="102905"/>
                  <a:pt x="214991" y="83344"/>
                  <a:pt x="190897" y="83344"/>
                </a:cubicBez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46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Approval, Execution &amp; Verification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4" name="Image 0" descr="https://kimi-img.moonshot.cn/pub/slides/okc/vj3d5clsusuts/mnt/agents/output/soc_pfe/images/Diagram%2010%20%E2%80%94%20Approval,%20Execution,%20Verification%20and%20Archive.png">    </p:cNvPr>
          <p:cNvPicPr>
            <a:picLocks noChangeAspect="1"/>
          </p:cNvPicPr>
          <p:nvPr/>
        </p:nvPicPr>
        <p:blipFill>
          <a:blip r:embed="rId1"/>
          <a:srcRect l="0" r="0" t="-336680" b="-336680"/>
          <a:stretch/>
        </p:blipFill>
        <p:spPr>
          <a:xfrm>
            <a:off x="762000" y="1460500"/>
            <a:ext cx="7874000" cy="3683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017000" y="1460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 TYPES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17000" y="1905000"/>
            <a:ext cx="3175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17000" y="1905000"/>
            <a:ext cx="63500" cy="762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9207500" y="1968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Analyst reviews and decides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2446000" y="1905000"/>
            <a:ext cx="3048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446000" y="1905000"/>
            <a:ext cx="63500" cy="762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8"/>
          <p:cNvSpPr/>
          <p:nvPr/>
        </p:nvSpPr>
        <p:spPr>
          <a:xfrm>
            <a:off x="12636500" y="19685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AUTO-APPROVED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Low-risk cases only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017000" y="2857500"/>
            <a:ext cx="6477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17000" y="2857500"/>
            <a:ext cx="63500" cy="762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1"/>
          <p:cNvSpPr/>
          <p:nvPr/>
        </p:nvSpPr>
        <p:spPr>
          <a:xfrm>
            <a:off x="9207500" y="2921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/ high-risk cases require senior analyst review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017000" y="3937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CONTROLS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017000" y="4318000"/>
            <a:ext cx="6477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Playbook YAML validation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SSH connectivity pre-check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Whitelist target protection + full logging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546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 VERIFICATION OUTCOMES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905500"/>
          <a:ext cx="14732000" cy="1778000"/>
        </p:xfrm>
        <a:graphic>
          <a:graphicData uri="http://schemas.openxmlformats.org/drawingml/2006/table">
            <a:tbl>
              <a:tblPr/>
              <a:tblGrid>
                <a:gridCol w="3683000"/>
                <a:gridCol w="110490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Outcome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likely_fixed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 succeeded, no new alerts detected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not_fixed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Alerts continue or verification failed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inconclusive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Some signals remain unclear after verification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762000" y="8001000"/>
            <a:ext cx="14732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6"/>
          <p:cNvSpPr/>
          <p:nvPr/>
        </p:nvSpPr>
        <p:spPr>
          <a:xfrm>
            <a:off x="1079500" y="8001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 Principle: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backend never blindly executes — controlled remediation with full audit trails from detection to archive.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CORRELATION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0" y="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TESTING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46000" y="469900"/>
            <a:ext cx="1778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Ansible Automation &amp; SOAR Capabilities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49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1930400"/>
            <a:ext cx="3429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0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2" y="286494"/>
                </a:moveTo>
                <a:lnTo>
                  <a:pt x="69106" y="100568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0"/>
                  <a:pt x="104180" y="311150"/>
                  <a:pt x="177800" y="311150"/>
                </a:cubicBezTo>
                <a:cubicBezTo>
                  <a:pt x="206623" y="311150"/>
                  <a:pt x="233293" y="302052"/>
                  <a:pt x="255032" y="286494"/>
                </a:cubicBezTo>
                <a:close/>
                <a:moveTo>
                  <a:pt x="286494" y="255032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80"/>
                  <a:pt x="251420" y="44450"/>
                  <a:pt x="177800" y="44450"/>
                </a:cubicBezTo>
                <a:cubicBezTo>
                  <a:pt x="148977" y="44450"/>
                  <a:pt x="122307" y="53548"/>
                  <a:pt x="100568" y="69106"/>
                </a:cubicBezTo>
                <a:lnTo>
                  <a:pt x="286494" y="255032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2095500"/>
            <a:ext cx="2489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IP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 rules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45000" y="1930400"/>
            <a:ext cx="3429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6775" y="2133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72244" y="61119"/>
                </a:moveTo>
                <a:lnTo>
                  <a:pt x="227806" y="61119"/>
                </a:lnTo>
                <a:lnTo>
                  <a:pt x="227806" y="94456"/>
                </a:lnTo>
                <a:lnTo>
                  <a:pt x="172244" y="94456"/>
                </a:lnTo>
                <a:lnTo>
                  <a:pt x="172244" y="61119"/>
                </a:lnTo>
                <a:close/>
                <a:moveTo>
                  <a:pt x="166688" y="22225"/>
                </a:moveTo>
                <a:cubicBezTo>
                  <a:pt x="148282" y="22225"/>
                  <a:pt x="133350" y="37157"/>
                  <a:pt x="133350" y="55563"/>
                </a:cubicBezTo>
                <a:lnTo>
                  <a:pt x="133350" y="100013"/>
                </a:lnTo>
                <a:cubicBezTo>
                  <a:pt x="133350" y="118418"/>
                  <a:pt x="148282" y="133350"/>
                  <a:pt x="166688" y="133350"/>
                </a:cubicBezTo>
                <a:lnTo>
                  <a:pt x="177800" y="133350"/>
                </a:lnTo>
                <a:lnTo>
                  <a:pt x="177800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88900" y="200025"/>
                </a:lnTo>
                <a:lnTo>
                  <a:pt x="88900" y="222250"/>
                </a:lnTo>
                <a:lnTo>
                  <a:pt x="77788" y="222250"/>
                </a:lnTo>
                <a:cubicBezTo>
                  <a:pt x="59382" y="222250"/>
                  <a:pt x="44450" y="237182"/>
                  <a:pt x="44450" y="255587"/>
                </a:cubicBezTo>
                <a:lnTo>
                  <a:pt x="44450" y="300038"/>
                </a:lnTo>
                <a:cubicBezTo>
                  <a:pt x="44450" y="318443"/>
                  <a:pt x="59382" y="333375"/>
                  <a:pt x="77788" y="333375"/>
                </a:cubicBezTo>
                <a:lnTo>
                  <a:pt x="144463" y="333375"/>
                </a:lnTo>
                <a:cubicBezTo>
                  <a:pt x="162868" y="333375"/>
                  <a:pt x="177800" y="318443"/>
                  <a:pt x="177800" y="300038"/>
                </a:cubicBezTo>
                <a:lnTo>
                  <a:pt x="177800" y="255587"/>
                </a:lnTo>
                <a:cubicBezTo>
                  <a:pt x="177800" y="237182"/>
                  <a:pt x="162868" y="222250"/>
                  <a:pt x="144463" y="222250"/>
                </a:cubicBezTo>
                <a:lnTo>
                  <a:pt x="133350" y="222250"/>
                </a:lnTo>
                <a:lnTo>
                  <a:pt x="133350" y="200025"/>
                </a:lnTo>
                <a:lnTo>
                  <a:pt x="266700" y="200025"/>
                </a:lnTo>
                <a:lnTo>
                  <a:pt x="266700" y="222250"/>
                </a:lnTo>
                <a:lnTo>
                  <a:pt x="255587" y="222250"/>
                </a:lnTo>
                <a:cubicBezTo>
                  <a:pt x="237182" y="222250"/>
                  <a:pt x="222250" y="237182"/>
                  <a:pt x="222250" y="255587"/>
                </a:cubicBezTo>
                <a:lnTo>
                  <a:pt x="222250" y="300038"/>
                </a:lnTo>
                <a:cubicBezTo>
                  <a:pt x="222250" y="318443"/>
                  <a:pt x="237182" y="333375"/>
                  <a:pt x="25558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255587"/>
                </a:lnTo>
                <a:cubicBezTo>
                  <a:pt x="355600" y="237182"/>
                  <a:pt x="340668" y="222250"/>
                  <a:pt x="322263" y="222250"/>
                </a:cubicBezTo>
                <a:lnTo>
                  <a:pt x="311150" y="222250"/>
                </a:lnTo>
                <a:lnTo>
                  <a:pt x="311150" y="200025"/>
                </a:lnTo>
                <a:lnTo>
                  <a:pt x="377825" y="200025"/>
                </a:lnTo>
                <a:cubicBezTo>
                  <a:pt x="390118" y="200025"/>
                  <a:pt x="400050" y="190093"/>
                  <a:pt x="400050" y="177800"/>
                </a:cubicBezTo>
                <a:cubicBezTo>
                  <a:pt x="400050" y="165507"/>
                  <a:pt x="390118" y="155575"/>
                  <a:pt x="377825" y="155575"/>
                </a:cubicBezTo>
                <a:lnTo>
                  <a:pt x="222250" y="155575"/>
                </a:lnTo>
                <a:lnTo>
                  <a:pt x="222250" y="133350"/>
                </a:lnTo>
                <a:lnTo>
                  <a:pt x="233363" y="133350"/>
                </a:lnTo>
                <a:cubicBezTo>
                  <a:pt x="251768" y="133350"/>
                  <a:pt x="266700" y="118418"/>
                  <a:pt x="266700" y="100013"/>
                </a:cubicBezTo>
                <a:lnTo>
                  <a:pt x="266700" y="55563"/>
                </a:lnTo>
                <a:cubicBezTo>
                  <a:pt x="266700" y="37157"/>
                  <a:pt x="251768" y="22225"/>
                  <a:pt x="233363" y="22225"/>
                </a:cubicBezTo>
                <a:lnTo>
                  <a:pt x="166688" y="22225"/>
                </a:lnTo>
                <a:close/>
                <a:moveTo>
                  <a:pt x="311150" y="261144"/>
                </a:moveTo>
                <a:lnTo>
                  <a:pt x="316706" y="261144"/>
                </a:lnTo>
                <a:lnTo>
                  <a:pt x="316706" y="294481"/>
                </a:lnTo>
                <a:lnTo>
                  <a:pt x="261144" y="294481"/>
                </a:lnTo>
                <a:lnTo>
                  <a:pt x="261144" y="261144"/>
                </a:lnTo>
                <a:lnTo>
                  <a:pt x="311150" y="261144"/>
                </a:lnTo>
                <a:close/>
                <a:moveTo>
                  <a:pt x="133350" y="261144"/>
                </a:moveTo>
                <a:lnTo>
                  <a:pt x="138906" y="261144"/>
                </a:lnTo>
                <a:lnTo>
                  <a:pt x="138906" y="294481"/>
                </a:lnTo>
                <a:lnTo>
                  <a:pt x="83344" y="294481"/>
                </a:lnTo>
                <a:lnTo>
                  <a:pt x="83344" y="261144"/>
                </a:lnTo>
                <a:lnTo>
                  <a:pt x="133350" y="261144"/>
                </a:ln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5181600" y="2095500"/>
            <a:ext cx="2489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Isolate Host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segmentation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0" y="1930400"/>
            <a:ext cx="3429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820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8864600" y="2095500"/>
            <a:ext cx="2489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Restart Services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Recovery actions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11000" y="1930400"/>
            <a:ext cx="3683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42775" y="2133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3794" y="68481"/>
                </a:moveTo>
                <a:cubicBezTo>
                  <a:pt x="359073" y="63202"/>
                  <a:pt x="367893" y="64522"/>
                  <a:pt x="370532" y="71467"/>
                </a:cubicBezTo>
                <a:cubicBezTo>
                  <a:pt x="375255" y="83760"/>
                  <a:pt x="377825" y="97165"/>
                  <a:pt x="377825" y="111125"/>
                </a:cubicBezTo>
                <a:cubicBezTo>
                  <a:pt x="377825" y="172522"/>
                  <a:pt x="328097" y="222250"/>
                  <a:pt x="266700" y="222250"/>
                </a:cubicBezTo>
                <a:cubicBezTo>
                  <a:pt x="254546" y="222250"/>
                  <a:pt x="242808" y="220305"/>
                  <a:pt x="231835" y="216694"/>
                </a:cubicBezTo>
                <a:lnTo>
                  <a:pt x="102027" y="346502"/>
                </a:lnTo>
                <a:cubicBezTo>
                  <a:pt x="82510" y="366018"/>
                  <a:pt x="50840" y="366018"/>
                  <a:pt x="31323" y="346502"/>
                </a:cubicBezTo>
                <a:cubicBezTo>
                  <a:pt x="11807" y="326985"/>
                  <a:pt x="11807" y="295315"/>
                  <a:pt x="31323" y="275798"/>
                </a:cubicBezTo>
                <a:lnTo>
                  <a:pt x="161131" y="145990"/>
                </a:lnTo>
                <a:cubicBezTo>
                  <a:pt x="157520" y="135017"/>
                  <a:pt x="155575" y="123349"/>
                  <a:pt x="155575" y="111125"/>
                </a:cubicBezTo>
                <a:cubicBezTo>
                  <a:pt x="155575" y="49728"/>
                  <a:pt x="205303" y="0"/>
                  <a:pt x="266700" y="0"/>
                </a:cubicBezTo>
                <a:cubicBezTo>
                  <a:pt x="280660" y="0"/>
                  <a:pt x="294065" y="2570"/>
                  <a:pt x="306358" y="7293"/>
                </a:cubicBezTo>
                <a:cubicBezTo>
                  <a:pt x="313303" y="9932"/>
                  <a:pt x="314553" y="18752"/>
                  <a:pt x="309344" y="24031"/>
                </a:cubicBezTo>
                <a:lnTo>
                  <a:pt x="247739" y="85636"/>
                </a:lnTo>
                <a:cubicBezTo>
                  <a:pt x="245656" y="87719"/>
                  <a:pt x="244475" y="90567"/>
                  <a:pt x="244475" y="93484"/>
                </a:cubicBezTo>
                <a:lnTo>
                  <a:pt x="244475" y="122238"/>
                </a:lnTo>
                <a:cubicBezTo>
                  <a:pt x="244475" y="128349"/>
                  <a:pt x="249476" y="133350"/>
                  <a:pt x="255588" y="133350"/>
                </a:cubicBezTo>
                <a:lnTo>
                  <a:pt x="284341" y="133350"/>
                </a:lnTo>
                <a:cubicBezTo>
                  <a:pt x="287258" y="133350"/>
                  <a:pt x="290106" y="132169"/>
                  <a:pt x="292189" y="130086"/>
                </a:cubicBezTo>
                <a:lnTo>
                  <a:pt x="353794" y="68481"/>
                </a:ln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12547600" y="2095500"/>
            <a:ext cx="2743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Patch Configs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330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ENGINE STEPS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3708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Load investigation and approval record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Validate playbook syntax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 whitelist + dry-run mode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SSH connectivity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Write playbook and inventory files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 ansible-playbook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 exit code + broadcast completion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3302000"/>
            <a:ext cx="7112000" cy="3175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2000" y="3302000"/>
            <a:ext cx="711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636000" y="34671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 &amp; AUDITABILITY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0" y="38735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Playbook validation before execution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SSH connectivity check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Whitelist protection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execution logging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Status tracking per run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Shared engine for AI + operator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604000"/>
            <a:ext cx="14732000" cy="762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1079500" y="6604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Turns investigation into action — with full controls and auditability. The shared execution engine (response/ansible_exec.py) handles both AI-generated and operator-requested playbook runs.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 &amp;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096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and non-functional requirements, agile development approach, and project management strategy.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32755" y="36016"/>
                </a:moveTo>
                <a:cubicBezTo>
                  <a:pt x="143570" y="43557"/>
                  <a:pt x="146149" y="58440"/>
                  <a:pt x="138609" y="69155"/>
                </a:cubicBezTo>
                <a:lnTo>
                  <a:pt x="83046" y="148530"/>
                </a:lnTo>
                <a:cubicBezTo>
                  <a:pt x="78978" y="154285"/>
                  <a:pt x="72628" y="157956"/>
                  <a:pt x="65584" y="158552"/>
                </a:cubicBezTo>
                <a:cubicBezTo>
                  <a:pt x="58539" y="159147"/>
                  <a:pt x="51594" y="156766"/>
                  <a:pt x="46633" y="151805"/>
                </a:cubicBezTo>
                <a:lnTo>
                  <a:pt x="6945" y="112117"/>
                </a:lnTo>
                <a:cubicBezTo>
                  <a:pt x="-2282" y="102791"/>
                  <a:pt x="-2282" y="87709"/>
                  <a:pt x="6945" y="78383"/>
                </a:cubicBezTo>
                <a:cubicBezTo>
                  <a:pt x="16173" y="69056"/>
                  <a:pt x="31353" y="69155"/>
                  <a:pt x="40680" y="78383"/>
                </a:cubicBezTo>
                <a:lnTo>
                  <a:pt x="60325" y="98028"/>
                </a:lnTo>
                <a:lnTo>
                  <a:pt x="99616" y="41870"/>
                </a:lnTo>
                <a:cubicBezTo>
                  <a:pt x="107156" y="31055"/>
                  <a:pt x="122039" y="28476"/>
                  <a:pt x="132755" y="36016"/>
                </a:cubicBezTo>
                <a:close/>
                <a:moveTo>
                  <a:pt x="132755" y="194766"/>
                </a:moveTo>
                <a:cubicBezTo>
                  <a:pt x="143570" y="202307"/>
                  <a:pt x="146149" y="217190"/>
                  <a:pt x="138609" y="227905"/>
                </a:cubicBezTo>
                <a:lnTo>
                  <a:pt x="83046" y="307280"/>
                </a:lnTo>
                <a:cubicBezTo>
                  <a:pt x="78978" y="313035"/>
                  <a:pt x="72628" y="316706"/>
                  <a:pt x="65584" y="317302"/>
                </a:cubicBezTo>
                <a:cubicBezTo>
                  <a:pt x="58539" y="317897"/>
                  <a:pt x="51594" y="315516"/>
                  <a:pt x="46633" y="310555"/>
                </a:cubicBezTo>
                <a:lnTo>
                  <a:pt x="6945" y="270867"/>
                </a:lnTo>
                <a:cubicBezTo>
                  <a:pt x="-2381" y="261541"/>
                  <a:pt x="-2381" y="246459"/>
                  <a:pt x="6945" y="237232"/>
                </a:cubicBezTo>
                <a:cubicBezTo>
                  <a:pt x="16272" y="228005"/>
                  <a:pt x="31353" y="227905"/>
                  <a:pt x="40580" y="237232"/>
                </a:cubicBezTo>
                <a:lnTo>
                  <a:pt x="60226" y="256877"/>
                </a:lnTo>
                <a:lnTo>
                  <a:pt x="99516" y="200720"/>
                </a:lnTo>
                <a:cubicBezTo>
                  <a:pt x="107057" y="189905"/>
                  <a:pt x="121940" y="187325"/>
                  <a:pt x="132655" y="194866"/>
                </a:cubicBezTo>
                <a:close/>
                <a:moveTo>
                  <a:pt x="222250" y="95250"/>
                </a:moveTo>
                <a:cubicBezTo>
                  <a:pt x="222250" y="77688"/>
                  <a:pt x="236438" y="63500"/>
                  <a:pt x="254000" y="63500"/>
                </a:cubicBezTo>
                <a:lnTo>
                  <a:pt x="476250" y="63500"/>
                </a:lnTo>
                <a:cubicBezTo>
                  <a:pt x="493812" y="63500"/>
                  <a:pt x="508000" y="77688"/>
                  <a:pt x="508000" y="95250"/>
                </a:cubicBezTo>
                <a:cubicBezTo>
                  <a:pt x="508000" y="112812"/>
                  <a:pt x="493812" y="127000"/>
                  <a:pt x="476250" y="127000"/>
                </a:cubicBezTo>
                <a:lnTo>
                  <a:pt x="254000" y="127000"/>
                </a:lnTo>
                <a:cubicBezTo>
                  <a:pt x="236438" y="127000"/>
                  <a:pt x="222250" y="112812"/>
                  <a:pt x="222250" y="95250"/>
                </a:cubicBezTo>
                <a:close/>
                <a:moveTo>
                  <a:pt x="222250" y="254000"/>
                </a:moveTo>
                <a:cubicBezTo>
                  <a:pt x="222250" y="236438"/>
                  <a:pt x="236438" y="222250"/>
                  <a:pt x="254000" y="222250"/>
                </a:cubicBezTo>
                <a:lnTo>
                  <a:pt x="476250" y="222250"/>
                </a:lnTo>
                <a:cubicBezTo>
                  <a:pt x="493812" y="222250"/>
                  <a:pt x="508000" y="236438"/>
                  <a:pt x="508000" y="254000"/>
                </a:cubicBezTo>
                <a:cubicBezTo>
                  <a:pt x="508000" y="271562"/>
                  <a:pt x="493812" y="285750"/>
                  <a:pt x="476250" y="285750"/>
                </a:cubicBezTo>
                <a:lnTo>
                  <a:pt x="254000" y="285750"/>
                </a:lnTo>
                <a:cubicBezTo>
                  <a:pt x="236438" y="285750"/>
                  <a:pt x="222250" y="271562"/>
                  <a:pt x="222250" y="254000"/>
                </a:cubicBezTo>
                <a:close/>
                <a:moveTo>
                  <a:pt x="158750" y="412750"/>
                </a:moveTo>
                <a:cubicBezTo>
                  <a:pt x="158750" y="395188"/>
                  <a:pt x="172938" y="381000"/>
                  <a:pt x="190500" y="381000"/>
                </a:cubicBezTo>
                <a:lnTo>
                  <a:pt x="476250" y="381000"/>
                </a:lnTo>
                <a:cubicBezTo>
                  <a:pt x="493812" y="381000"/>
                  <a:pt x="508000" y="395188"/>
                  <a:pt x="508000" y="412750"/>
                </a:cubicBezTo>
                <a:cubicBezTo>
                  <a:pt x="508000" y="430312"/>
                  <a:pt x="493812" y="444500"/>
                  <a:pt x="476250" y="444500"/>
                </a:cubicBezTo>
                <a:lnTo>
                  <a:pt x="190500" y="444500"/>
                </a:lnTo>
                <a:cubicBezTo>
                  <a:pt x="172938" y="444500"/>
                  <a:pt x="158750" y="430312"/>
                  <a:pt x="158750" y="412750"/>
                </a:cubicBezTo>
                <a:close/>
                <a:moveTo>
                  <a:pt x="63500" y="373063"/>
                </a:moveTo>
                <a:cubicBezTo>
                  <a:pt x="85404" y="373063"/>
                  <a:pt x="103188" y="390846"/>
                  <a:pt x="103188" y="412750"/>
                </a:cubicBezTo>
                <a:cubicBezTo>
                  <a:pt x="103188" y="434654"/>
                  <a:pt x="85404" y="452437"/>
                  <a:pt x="63500" y="452437"/>
                </a:cubicBezTo>
                <a:cubicBezTo>
                  <a:pt x="41596" y="452437"/>
                  <a:pt x="23813" y="434654"/>
                  <a:pt x="23812" y="412750"/>
                </a:cubicBezTo>
                <a:cubicBezTo>
                  <a:pt x="23812" y="390846"/>
                  <a:pt x="41596" y="373063"/>
                  <a:pt x="63500" y="373063"/>
                </a:cubicBez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9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REQ &amp; METH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0" y="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54000" y="469900"/>
            <a:ext cx="1651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98600"/>
          <a:ext cx="14732000" cy="5334000"/>
        </p:xfrm>
        <a:graphic>
          <a:graphicData uri="http://schemas.openxmlformats.org/drawingml/2006/table">
            <a:tbl>
              <a:tblPr/>
              <a:tblGrid>
                <a:gridCol w="736600"/>
                <a:gridCol w="3683000"/>
                <a:gridCol w="10312400"/>
              </a:tblGrid>
              <a:tr h="42772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Architecture &amp; Cloud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 architecture definition, secure cloud infrastructure (VPC, SG, EIP)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Automated Deployment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Centralized installation scripts for all SOC components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 &amp; Kibana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Secure backend storage (TLS, auth), index patterns, dashboards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 Collection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 for system and security logs to Elasticsearch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Metrics Monitoring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 for CPU, RAM, disk, network with dashboards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NIDS/HIDS Detection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 (network) + Wazuh (host) with detection rules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Runtime Detection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 for syscalls and abnormal behaviors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Dashboards &amp; Alerting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Structured dashboards, detection rules, visualizations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Layer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Automatic analysis, summaries, corrective actions with LLM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62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Ansible Automation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Playbooks for system/infrastructure corrective actions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9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REQ &amp; METH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0" y="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54000" y="469900"/>
            <a:ext cx="1651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Non-Functional Requirements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1524000"/>
            <a:ext cx="4699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1524000"/>
            <a:ext cx="4699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175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1714500"/>
            <a:ext cx="375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2159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response &lt; 2s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&gt; 1000 events/sec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 availability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1524000"/>
            <a:ext cx="4699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1524000"/>
            <a:ext cx="4699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6007100" y="1752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714500"/>
            <a:ext cx="375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2159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for all communications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on all services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never publicly exposed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audit trail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1524000"/>
            <a:ext cx="4826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68000" y="1524000"/>
            <a:ext cx="4826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41050" y="1752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95250"/>
                </a:lnTo>
                <a:cubicBezTo>
                  <a:pt x="0" y="105787"/>
                  <a:pt x="8513" y="114300"/>
                  <a:pt x="19050" y="114300"/>
                </a:cubicBezTo>
                <a:cubicBezTo>
                  <a:pt x="29587" y="114300"/>
                  <a:pt x="38100" y="105787"/>
                  <a:pt x="38100" y="95250"/>
                </a:cubicBezTo>
                <a:lnTo>
                  <a:pt x="38100" y="57150"/>
                </a:lnTo>
                <a:lnTo>
                  <a:pt x="76200" y="57150"/>
                </a:lnTo>
                <a:cubicBezTo>
                  <a:pt x="86737" y="57150"/>
                  <a:pt x="95250" y="48637"/>
                  <a:pt x="95250" y="38100"/>
                </a:cubicBezTo>
                <a:cubicBezTo>
                  <a:pt x="95250" y="27563"/>
                  <a:pt x="86737" y="19050"/>
                  <a:pt x="76200" y="19050"/>
                </a:cubicBezTo>
                <a:lnTo>
                  <a:pt x="19050" y="19050"/>
                </a:lnTo>
                <a:close/>
                <a:moveTo>
                  <a:pt x="38100" y="209550"/>
                </a:moveTo>
                <a:cubicBezTo>
                  <a:pt x="38100" y="199013"/>
                  <a:pt x="29587" y="190500"/>
                  <a:pt x="19050" y="190500"/>
                </a:cubicBezTo>
                <a:cubicBezTo>
                  <a:pt x="8513" y="190500"/>
                  <a:pt x="0" y="199013"/>
                  <a:pt x="0" y="209550"/>
                </a:cubicBezTo>
                <a:lnTo>
                  <a:pt x="0" y="266700"/>
                </a:lnTo>
                <a:cubicBezTo>
                  <a:pt x="0" y="277237"/>
                  <a:pt x="8513" y="285750"/>
                  <a:pt x="19050" y="285750"/>
                </a:cubicBezTo>
                <a:lnTo>
                  <a:pt x="76200" y="285750"/>
                </a:lnTo>
                <a:cubicBezTo>
                  <a:pt x="86737" y="285750"/>
                  <a:pt x="95250" y="277237"/>
                  <a:pt x="95250" y="266700"/>
                </a:cubicBezTo>
                <a:cubicBezTo>
                  <a:pt x="95250" y="256163"/>
                  <a:pt x="86737" y="247650"/>
                  <a:pt x="76200" y="247650"/>
                </a:cubicBezTo>
                <a:lnTo>
                  <a:pt x="38100" y="247650"/>
                </a:lnTo>
                <a:lnTo>
                  <a:pt x="38100" y="209550"/>
                </a:lnTo>
                <a:close/>
                <a:moveTo>
                  <a:pt x="190500" y="19050"/>
                </a:moveTo>
                <a:cubicBezTo>
                  <a:pt x="179963" y="19050"/>
                  <a:pt x="171450" y="27563"/>
                  <a:pt x="171450" y="38100"/>
                </a:cubicBezTo>
                <a:cubicBezTo>
                  <a:pt x="171450" y="48637"/>
                  <a:pt x="179963" y="57150"/>
                  <a:pt x="190500" y="57150"/>
                </a:cubicBezTo>
                <a:lnTo>
                  <a:pt x="228600" y="57150"/>
                </a:lnTo>
                <a:lnTo>
                  <a:pt x="228600" y="95250"/>
                </a:lnTo>
                <a:cubicBezTo>
                  <a:pt x="228600" y="105787"/>
                  <a:pt x="237113" y="114300"/>
                  <a:pt x="247650" y="114300"/>
                </a:cubicBezTo>
                <a:cubicBezTo>
                  <a:pt x="258187" y="114300"/>
                  <a:pt x="266700" y="105787"/>
                  <a:pt x="266700" y="95250"/>
                </a:cubicBezTo>
                <a:lnTo>
                  <a:pt x="266700" y="38100"/>
                </a:lnTo>
                <a:cubicBezTo>
                  <a:pt x="266700" y="27563"/>
                  <a:pt x="258187" y="19050"/>
                  <a:pt x="247650" y="19050"/>
                </a:cubicBezTo>
                <a:lnTo>
                  <a:pt x="190500" y="19050"/>
                </a:lnTo>
                <a:close/>
                <a:moveTo>
                  <a:pt x="266700" y="209550"/>
                </a:moveTo>
                <a:cubicBezTo>
                  <a:pt x="266700" y="199013"/>
                  <a:pt x="258187" y="190500"/>
                  <a:pt x="247650" y="190500"/>
                </a:cubicBezTo>
                <a:cubicBezTo>
                  <a:pt x="237113" y="190500"/>
                  <a:pt x="228600" y="199013"/>
                  <a:pt x="228600" y="209550"/>
                </a:cubicBezTo>
                <a:lnTo>
                  <a:pt x="228600" y="247650"/>
                </a:lnTo>
                <a:lnTo>
                  <a:pt x="190500" y="247650"/>
                </a:lnTo>
                <a:cubicBezTo>
                  <a:pt x="179963" y="247650"/>
                  <a:pt x="171450" y="256163"/>
                  <a:pt x="171450" y="266700"/>
                </a:cubicBezTo>
                <a:cubicBezTo>
                  <a:pt x="171450" y="277237"/>
                  <a:pt x="179963" y="285750"/>
                  <a:pt x="190500" y="285750"/>
                </a:cubicBezTo>
                <a:lnTo>
                  <a:pt x="247650" y="285750"/>
                </a:lnTo>
                <a:cubicBezTo>
                  <a:pt x="258187" y="285750"/>
                  <a:pt x="266700" y="277237"/>
                  <a:pt x="266700" y="266700"/>
                </a:cubicBezTo>
                <a:lnTo>
                  <a:pt x="266700" y="209550"/>
                </a:ln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28" name="Text 26"/>
          <p:cNvSpPr/>
          <p:nvPr/>
        </p:nvSpPr>
        <p:spPr>
          <a:xfrm>
            <a:off x="11353800" y="1714500"/>
            <a:ext cx="388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22000" y="21590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architecture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scaling support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cursor-based polling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3810000"/>
            <a:ext cx="4699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" y="3810000"/>
            <a:ext cx="4699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403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447800" y="4000500"/>
            <a:ext cx="375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6000" y="4445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 local persistence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Circuit breaker on LLM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Graceful error handling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5000" y="3810000"/>
            <a:ext cx="4699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3810000"/>
            <a:ext cx="4699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9950" y="4038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000500"/>
            <a:ext cx="375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69000" y="4445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install scripts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YAML configuration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logging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668000" y="3810000"/>
            <a:ext cx="4826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68000" y="3810000"/>
            <a:ext cx="4826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941050" y="4038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-19050"/>
                </a:moveTo>
                <a:cubicBezTo>
                  <a:pt x="86737" y="-19050"/>
                  <a:pt x="95250" y="-10537"/>
                  <a:pt x="95250" y="0"/>
                </a:cubicBezTo>
                <a:lnTo>
                  <a:pt x="95250" y="57150"/>
                </a:lnTo>
                <a:lnTo>
                  <a:pt x="171450" y="57150"/>
                </a:lnTo>
                <a:lnTo>
                  <a:pt x="171450" y="0"/>
                </a:lnTo>
                <a:cubicBezTo>
                  <a:pt x="171450" y="-10537"/>
                  <a:pt x="179963" y="-19050"/>
                  <a:pt x="190500" y="-19050"/>
                </a:cubicBezTo>
                <a:cubicBezTo>
                  <a:pt x="201037" y="-19050"/>
                  <a:pt x="209550" y="-10537"/>
                  <a:pt x="209550" y="0"/>
                </a:cubicBezTo>
                <a:lnTo>
                  <a:pt x="209550" y="57150"/>
                </a:ln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cubicBezTo>
                  <a:pt x="266700" y="86737"/>
                  <a:pt x="258187" y="95250"/>
                  <a:pt x="247650" y="95250"/>
                </a:cubicBezTo>
                <a:lnTo>
                  <a:pt x="247650" y="133350"/>
                </a:lnTo>
                <a:cubicBezTo>
                  <a:pt x="247650" y="189964"/>
                  <a:pt x="206454" y="236994"/>
                  <a:pt x="152400" y="246043"/>
                </a:cubicBezTo>
                <a:lnTo>
                  <a:pt x="152400" y="285750"/>
                </a:lnTo>
                <a:cubicBezTo>
                  <a:pt x="152400" y="296287"/>
                  <a:pt x="143887" y="304800"/>
                  <a:pt x="133350" y="304800"/>
                </a:cubicBezTo>
                <a:cubicBezTo>
                  <a:pt x="122813" y="304800"/>
                  <a:pt x="114300" y="296287"/>
                  <a:pt x="114300" y="285750"/>
                </a:cubicBezTo>
                <a:lnTo>
                  <a:pt x="114300" y="246043"/>
                </a:lnTo>
                <a:cubicBezTo>
                  <a:pt x="60246" y="236994"/>
                  <a:pt x="19050" y="189964"/>
                  <a:pt x="19050" y="133350"/>
                </a:cubicBez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57150" y="57150"/>
                </a:lnTo>
                <a:lnTo>
                  <a:pt x="57150" y="0"/>
                </a:lnTo>
                <a:cubicBezTo>
                  <a:pt x="57150" y="-10537"/>
                  <a:pt x="65663" y="-19050"/>
                  <a:pt x="76200" y="-190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11353800" y="4000500"/>
            <a:ext cx="3886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INTEROPERABILITY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22000" y="44450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real-time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Multi-provider LLM integration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9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REQ &amp; METH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0" y="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54000" y="469900"/>
            <a:ext cx="1651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 — Agile &amp; Iterative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1524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Agile approach with 3 major phases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each phase produces an operational increment of the SOC platform. 2-week sprints, continuous code reviews, parallel documentation.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2667000"/>
            <a:ext cx="4699000" cy="254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000" y="2857500"/>
            <a:ext cx="1270000" cy="304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2857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76500" y="2832100"/>
            <a:ext cx="273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Foundation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3365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Documented architecture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scripts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dashboards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data flow validation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2667000"/>
            <a:ext cx="4699000" cy="254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9000" y="2857500"/>
            <a:ext cx="1270000" cy="304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5969000" y="2857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29500" y="2832100"/>
            <a:ext cx="2730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69000" y="3365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infrastructure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VPC/SG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resources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deployment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68000" y="2667000"/>
            <a:ext cx="4826000" cy="254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22000" y="2857500"/>
            <a:ext cx="1270000" cy="304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10922000" y="2857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82500" y="2832100"/>
            <a:ext cx="285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Intelligence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22000" y="3365500"/>
            <a:ext cx="431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backend with APIs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 integration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SOAR automation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 and documentation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5588000"/>
            <a:ext cx="14732000" cy="139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1079500" y="571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SPRINT STRUCTURE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79500" y="60706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2-week cycles | Continuous code reviews | Parallel documentation | Automated tests each sprint | Integration testing at each sprint | End-to-end validation per phase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457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TESTING,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8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COMPARISON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6223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testing strategy, achieved results, and before-vs-after platform comparison.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9923" y="9327"/>
                </a:moveTo>
                <a:cubicBezTo>
                  <a:pt x="327521" y="-3076"/>
                  <a:pt x="307380" y="-3076"/>
                  <a:pt x="294977" y="9327"/>
                </a:cubicBezTo>
                <a:cubicBezTo>
                  <a:pt x="282575" y="21729"/>
                  <a:pt x="282575" y="41870"/>
                  <a:pt x="294977" y="54273"/>
                </a:cubicBezTo>
                <a:lnTo>
                  <a:pt x="304304" y="63500"/>
                </a:lnTo>
                <a:lnTo>
                  <a:pt x="27880" y="339923"/>
                </a:lnTo>
                <a:cubicBezTo>
                  <a:pt x="10021" y="357783"/>
                  <a:pt x="0" y="381992"/>
                  <a:pt x="0" y="407293"/>
                </a:cubicBezTo>
                <a:lnTo>
                  <a:pt x="0" y="412750"/>
                </a:lnTo>
                <a:cubicBezTo>
                  <a:pt x="0" y="465336"/>
                  <a:pt x="42664" y="508000"/>
                  <a:pt x="95250" y="508000"/>
                </a:cubicBezTo>
                <a:lnTo>
                  <a:pt x="100707" y="508000"/>
                </a:lnTo>
                <a:cubicBezTo>
                  <a:pt x="126008" y="508000"/>
                  <a:pt x="150217" y="497979"/>
                  <a:pt x="168077" y="480120"/>
                </a:cubicBezTo>
                <a:lnTo>
                  <a:pt x="444500" y="203696"/>
                </a:lnTo>
                <a:lnTo>
                  <a:pt x="453827" y="213023"/>
                </a:lnTo>
                <a:cubicBezTo>
                  <a:pt x="466229" y="225425"/>
                  <a:pt x="486370" y="225425"/>
                  <a:pt x="498773" y="213023"/>
                </a:cubicBezTo>
                <a:cubicBezTo>
                  <a:pt x="511175" y="200620"/>
                  <a:pt x="511175" y="180479"/>
                  <a:pt x="498773" y="168077"/>
                </a:cubicBezTo>
                <a:lnTo>
                  <a:pt x="340023" y="9327"/>
                </a:lnTo>
                <a:close/>
                <a:moveTo>
                  <a:pt x="203696" y="254000"/>
                </a:moveTo>
                <a:lnTo>
                  <a:pt x="349250" y="108446"/>
                </a:lnTo>
                <a:lnTo>
                  <a:pt x="399554" y="158750"/>
                </a:lnTo>
                <a:lnTo>
                  <a:pt x="304304" y="254000"/>
                </a:lnTo>
                <a:lnTo>
                  <a:pt x="203597" y="254000"/>
                </a:ln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9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REQ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0" y="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732000" y="469900"/>
            <a:ext cx="1270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1524000"/>
            <a:ext cx="7239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1524000"/>
            <a:ext cx="7239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5050" y="1752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71450" y="0"/>
                </a:moveTo>
                <a:lnTo>
                  <a:pt x="76200" y="0"/>
                </a:lnTo>
                <a:cubicBezTo>
                  <a:pt x="65663" y="0"/>
                  <a:pt x="57150" y="8513"/>
                  <a:pt x="57150" y="19050"/>
                </a:cubicBezTo>
                <a:cubicBezTo>
                  <a:pt x="57150" y="29587"/>
                  <a:pt x="65663" y="38100"/>
                  <a:pt x="76200" y="38100"/>
                </a:cubicBezTo>
                <a:lnTo>
                  <a:pt x="76200" y="128290"/>
                </a:lnTo>
                <a:lnTo>
                  <a:pt x="4465" y="253782"/>
                </a:lnTo>
                <a:cubicBezTo>
                  <a:pt x="1548" y="258961"/>
                  <a:pt x="0" y="264735"/>
                  <a:pt x="0" y="270689"/>
                </a:cubicBezTo>
                <a:cubicBezTo>
                  <a:pt x="0" y="289560"/>
                  <a:pt x="15240" y="304800"/>
                  <a:pt x="34111" y="304800"/>
                </a:cubicBezTo>
                <a:lnTo>
                  <a:pt x="232589" y="304800"/>
                </a:lnTo>
                <a:cubicBezTo>
                  <a:pt x="251400" y="304800"/>
                  <a:pt x="266700" y="289560"/>
                  <a:pt x="266700" y="270689"/>
                </a:cubicBezTo>
                <a:cubicBezTo>
                  <a:pt x="266700" y="264735"/>
                  <a:pt x="265152" y="258901"/>
                  <a:pt x="262235" y="253782"/>
                </a:cubicBezTo>
                <a:lnTo>
                  <a:pt x="190500" y="128290"/>
                </a:lnTo>
                <a:lnTo>
                  <a:pt x="190500" y="38100"/>
                </a:lnTo>
                <a:cubicBezTo>
                  <a:pt x="201037" y="38100"/>
                  <a:pt x="209550" y="29587"/>
                  <a:pt x="209550" y="19050"/>
                </a:cubicBezTo>
                <a:cubicBezTo>
                  <a:pt x="209550" y="8513"/>
                  <a:pt x="201037" y="0"/>
                  <a:pt x="190500" y="0"/>
                </a:cubicBezTo>
                <a:lnTo>
                  <a:pt x="171450" y="0"/>
                </a:lnTo>
                <a:close/>
                <a:moveTo>
                  <a:pt x="114300" y="128290"/>
                </a:moveTo>
                <a:lnTo>
                  <a:pt x="114300" y="38100"/>
                </a:lnTo>
                <a:lnTo>
                  <a:pt x="152400" y="38100"/>
                </a:lnTo>
                <a:lnTo>
                  <a:pt x="152400" y="128290"/>
                </a:lnTo>
                <a:cubicBezTo>
                  <a:pt x="152400" y="134898"/>
                  <a:pt x="154126" y="141446"/>
                  <a:pt x="157401" y="147221"/>
                </a:cubicBezTo>
                <a:lnTo>
                  <a:pt x="182166" y="190500"/>
                </a:lnTo>
                <a:lnTo>
                  <a:pt x="84534" y="190500"/>
                </a:lnTo>
                <a:lnTo>
                  <a:pt x="109299" y="147221"/>
                </a:lnTo>
                <a:cubicBezTo>
                  <a:pt x="112574" y="141446"/>
                  <a:pt x="114300" y="134957"/>
                  <a:pt x="114300" y="128290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2159000"/>
            <a:ext cx="673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Alert mapper validation (Wazuh, Suricata, Falco)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Incident correlation logic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Enrichment engine (GeoIP, MITRE)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Playbook generation + YAML validation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55000" y="1524000"/>
            <a:ext cx="7239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55000" y="1524000"/>
            <a:ext cx="7239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9000" y="175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89408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TESTS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2159000"/>
            <a:ext cx="673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flow ES → Pipeline → SQLite → API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 integration (Ollama, Gemini)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broadcast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alert lifecycle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3683000"/>
            <a:ext cx="7239000" cy="2095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3683000"/>
            <a:ext cx="7239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Shape 25"/>
          <p:cNvSpPr/>
          <p:nvPr/>
        </p:nvSpPr>
        <p:spPr>
          <a:xfrm>
            <a:off x="996950" y="3911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14300" y="57150"/>
                </a:moveTo>
                <a:cubicBezTo>
                  <a:pt x="114300" y="25598"/>
                  <a:pt x="139898" y="0"/>
                  <a:pt x="171450" y="0"/>
                </a:cubicBezTo>
                <a:cubicBezTo>
                  <a:pt x="203002" y="0"/>
                  <a:pt x="228600" y="25598"/>
                  <a:pt x="228600" y="57150"/>
                </a:cubicBezTo>
                <a:lnTo>
                  <a:pt x="228600" y="59293"/>
                </a:lnTo>
                <a:cubicBezTo>
                  <a:pt x="228600" y="68640"/>
                  <a:pt x="221040" y="76200"/>
                  <a:pt x="211693" y="76200"/>
                </a:cubicBezTo>
                <a:lnTo>
                  <a:pt x="131266" y="76200"/>
                </a:lnTo>
                <a:cubicBezTo>
                  <a:pt x="121920" y="76200"/>
                  <a:pt x="114360" y="68640"/>
                  <a:pt x="114360" y="59293"/>
                </a:cubicBezTo>
                <a:lnTo>
                  <a:pt x="114360" y="57150"/>
                </a:lnTo>
                <a:close/>
                <a:moveTo>
                  <a:pt x="320040" y="64770"/>
                </a:moveTo>
                <a:cubicBezTo>
                  <a:pt x="326350" y="73164"/>
                  <a:pt x="324624" y="85130"/>
                  <a:pt x="316230" y="91440"/>
                </a:cubicBezTo>
                <a:lnTo>
                  <a:pt x="258008" y="135076"/>
                </a:lnTo>
                <a:cubicBezTo>
                  <a:pt x="261164" y="140375"/>
                  <a:pt x="263545" y="146209"/>
                  <a:pt x="265033" y="152400"/>
                </a:cubicBezTo>
                <a:lnTo>
                  <a:pt x="323850" y="152400"/>
                </a:lnTo>
                <a:cubicBezTo>
                  <a:pt x="334387" y="152400"/>
                  <a:pt x="342900" y="160913"/>
                  <a:pt x="342900" y="171450"/>
                </a:cubicBezTo>
                <a:cubicBezTo>
                  <a:pt x="342900" y="181987"/>
                  <a:pt x="334387" y="190500"/>
                  <a:pt x="323850" y="190500"/>
                </a:cubicBezTo>
                <a:lnTo>
                  <a:pt x="266700" y="190500"/>
                </a:lnTo>
                <a:lnTo>
                  <a:pt x="266700" y="209550"/>
                </a:lnTo>
                <a:cubicBezTo>
                  <a:pt x="266700" y="211098"/>
                  <a:pt x="266640" y="212705"/>
                  <a:pt x="266581" y="214253"/>
                </a:cubicBezTo>
                <a:lnTo>
                  <a:pt x="316230" y="251460"/>
                </a:lnTo>
                <a:cubicBezTo>
                  <a:pt x="324624" y="257770"/>
                  <a:pt x="326350" y="269736"/>
                  <a:pt x="320040" y="278130"/>
                </a:cubicBezTo>
                <a:cubicBezTo>
                  <a:pt x="313730" y="286524"/>
                  <a:pt x="301764" y="288250"/>
                  <a:pt x="293370" y="281940"/>
                </a:cubicBezTo>
                <a:lnTo>
                  <a:pt x="255806" y="253782"/>
                </a:lnTo>
                <a:cubicBezTo>
                  <a:pt x="241995" y="280095"/>
                  <a:pt x="216218" y="299145"/>
                  <a:pt x="185738" y="303728"/>
                </a:cubicBezTo>
                <a:lnTo>
                  <a:pt x="185738" y="166688"/>
                </a:lnTo>
                <a:cubicBezTo>
                  <a:pt x="185738" y="158770"/>
                  <a:pt x="179368" y="152400"/>
                  <a:pt x="171450" y="152400"/>
                </a:cubicBezTo>
                <a:cubicBezTo>
                  <a:pt x="163532" y="152400"/>
                  <a:pt x="157163" y="158770"/>
                  <a:pt x="157163" y="166688"/>
                </a:cubicBezTo>
                <a:lnTo>
                  <a:pt x="157163" y="303728"/>
                </a:lnTo>
                <a:cubicBezTo>
                  <a:pt x="126683" y="299145"/>
                  <a:pt x="100905" y="280095"/>
                  <a:pt x="87094" y="253782"/>
                </a:cubicBezTo>
                <a:lnTo>
                  <a:pt x="49530" y="281940"/>
                </a:lnTo>
                <a:cubicBezTo>
                  <a:pt x="41136" y="288250"/>
                  <a:pt x="29170" y="286524"/>
                  <a:pt x="22860" y="278130"/>
                </a:cubicBezTo>
                <a:cubicBezTo>
                  <a:pt x="16550" y="269736"/>
                  <a:pt x="18276" y="257770"/>
                  <a:pt x="26670" y="251460"/>
                </a:cubicBezTo>
                <a:lnTo>
                  <a:pt x="76319" y="214253"/>
                </a:lnTo>
                <a:cubicBezTo>
                  <a:pt x="76260" y="212705"/>
                  <a:pt x="76200" y="211157"/>
                  <a:pt x="76200" y="209550"/>
                </a:cubicBezTo>
                <a:lnTo>
                  <a:pt x="76200" y="190500"/>
                </a:lnTo>
                <a:lnTo>
                  <a:pt x="19050" y="190500"/>
                </a:lnTo>
                <a:cubicBezTo>
                  <a:pt x="8513" y="190500"/>
                  <a:pt x="0" y="181987"/>
                  <a:pt x="0" y="171450"/>
                </a:cubicBezTo>
                <a:cubicBezTo>
                  <a:pt x="0" y="160913"/>
                  <a:pt x="8513" y="152400"/>
                  <a:pt x="19050" y="152400"/>
                </a:cubicBezTo>
                <a:lnTo>
                  <a:pt x="77867" y="152400"/>
                </a:lnTo>
                <a:cubicBezTo>
                  <a:pt x="79355" y="146209"/>
                  <a:pt x="81736" y="140375"/>
                  <a:pt x="84892" y="135076"/>
                </a:cubicBezTo>
                <a:lnTo>
                  <a:pt x="26670" y="91440"/>
                </a:lnTo>
                <a:cubicBezTo>
                  <a:pt x="18276" y="85130"/>
                  <a:pt x="16550" y="73164"/>
                  <a:pt x="22860" y="64770"/>
                </a:cubicBezTo>
                <a:cubicBezTo>
                  <a:pt x="29170" y="56376"/>
                  <a:pt x="41136" y="54650"/>
                  <a:pt x="49530" y="60960"/>
                </a:cubicBezTo>
                <a:lnTo>
                  <a:pt x="114300" y="109537"/>
                </a:lnTo>
                <a:cubicBezTo>
                  <a:pt x="121622" y="106501"/>
                  <a:pt x="129659" y="104775"/>
                  <a:pt x="138113" y="104775"/>
                </a:cubicBezTo>
                <a:lnTo>
                  <a:pt x="204787" y="104775"/>
                </a:lnTo>
                <a:cubicBezTo>
                  <a:pt x="213241" y="104775"/>
                  <a:pt x="221278" y="106442"/>
                  <a:pt x="228600" y="109537"/>
                </a:cubicBezTo>
                <a:lnTo>
                  <a:pt x="293370" y="60960"/>
                </a:lnTo>
                <a:cubicBezTo>
                  <a:pt x="301764" y="54650"/>
                  <a:pt x="313730" y="56376"/>
                  <a:pt x="320040" y="6477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387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TESTS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4318000"/>
            <a:ext cx="673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Simulated attack scenarios (brute-force, port scan)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Alert generation verification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Investigation and playbook validation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Approval workflow tests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5000" y="3683000"/>
            <a:ext cx="7239000" cy="20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5000" y="3683000"/>
            <a:ext cx="7239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30"/>
          <p:cNvSpPr/>
          <p:nvPr/>
        </p:nvSpPr>
        <p:spPr>
          <a:xfrm>
            <a:off x="8528050" y="3911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8940800" y="387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&amp; SECURITY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9000" y="4318000"/>
            <a:ext cx="673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Event load and dashboard latency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 polling stability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Penetration testing + firewall rules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TLS/authentication + audit trails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32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9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REQ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0" y="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732000" y="469900"/>
            <a:ext cx="1270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76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Improvements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1524000"/>
            <a:ext cx="7239000" cy="1206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1524000"/>
            <a:ext cx="63500" cy="1206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1625600"/>
            <a:ext cx="673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SOC PLATFORM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20066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 monitoring deployed on Huawei Cloud with secure stack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5000" y="1524000"/>
            <a:ext cx="7239000" cy="1206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5000" y="1524000"/>
            <a:ext cx="63500" cy="1206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9000" y="1625600"/>
            <a:ext cx="673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PIPELINE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9000" y="20066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steps from raw data ingestion to fix verification with AI analysis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2921000"/>
            <a:ext cx="7239000" cy="1206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000" y="2921000"/>
            <a:ext cx="63500" cy="1206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3022600"/>
            <a:ext cx="673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AUTOMATION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34036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Ansible playbook generation, approval workflows, secure execution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55000" y="2921000"/>
            <a:ext cx="7239000" cy="12065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55000" y="2921000"/>
            <a:ext cx="63500" cy="1206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8509000" y="3022600"/>
            <a:ext cx="673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AI MODULES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9000" y="3403600"/>
            <a:ext cx="673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assistant, NL operator, geo-attack visualization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4318000"/>
            <a:ext cx="14732000" cy="101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" y="4419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9500" y="4800600"/>
            <a:ext cx="140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 / 128 GB RAM cloud deployment, VPC + Security Groups + TLS, modular horizontal scaling support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565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IMPROVEMENTS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60706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false positives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enrichment and correlation — alerts are validated before escalation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incident clarity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AI explanations — every incident has a narrative and risk assessment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response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automation — playbooks generated and executed with approval gates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SOC efficiency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assisted decision-making — AI assistant and operator augment analysts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33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9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REQ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0" y="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732000" y="469900"/>
            <a:ext cx="1270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762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vs After — Naive vs Intelligent System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1524000"/>
            <a:ext cx="7112000" cy="508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1524000"/>
            <a:ext cx="7112000" cy="635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(Naive System)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2222500"/>
            <a:ext cx="6604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Raw technical alerts without context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Isolated tool outputs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Manual correlation across disconnected systems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incident differentiation (everything = attack)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Slow manual remediation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audit trail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Analyst burnout from noise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1524000"/>
            <a:ext cx="7112000" cy="508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2000" y="1524000"/>
            <a:ext cx="7112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(Intelligent Platform)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2222500"/>
            <a:ext cx="6604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Enriched alerts with GeoIP + MITRE context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Cross-source correlation with confidence scoring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Differentiated incidents (info/suspicious/malicious)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Blocked vs successful attack distinction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playbook generation with approval gates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audit trail from detection to archive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AI-assisted analyst decision-making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921500"/>
            <a:ext cx="14732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69215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platform transforms raw monitoring data into actionable SOC intelligence, operational visibility, and controlled response workflows.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34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0" y="0"/>
            <a:ext cx="10160000" cy="91440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b="1" spc="3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5715000"/>
            <a:ext cx="1016000" cy="50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3302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achievements, system value, and roadmap for future enhancements.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89750" y="2540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1750" y="0"/>
                </a:moveTo>
                <a:cubicBezTo>
                  <a:pt x="49312" y="0"/>
                  <a:pt x="63500" y="14188"/>
                  <a:pt x="63500" y="31750"/>
                </a:cubicBezTo>
                <a:lnTo>
                  <a:pt x="63500" y="47625"/>
                </a:lnTo>
                <a:lnTo>
                  <a:pt x="131961" y="30559"/>
                </a:lnTo>
                <a:cubicBezTo>
                  <a:pt x="169763" y="21134"/>
                  <a:pt x="209649" y="25499"/>
                  <a:pt x="244574" y="42962"/>
                </a:cubicBezTo>
                <a:cubicBezTo>
                  <a:pt x="290513" y="65980"/>
                  <a:pt x="344587" y="65980"/>
                  <a:pt x="390525" y="42962"/>
                </a:cubicBezTo>
                <a:lnTo>
                  <a:pt x="400050" y="38199"/>
                </a:lnTo>
                <a:cubicBezTo>
                  <a:pt x="420489" y="27880"/>
                  <a:pt x="444500" y="42763"/>
                  <a:pt x="444500" y="65584"/>
                </a:cubicBezTo>
                <a:lnTo>
                  <a:pt x="444500" y="343098"/>
                </a:lnTo>
                <a:cubicBezTo>
                  <a:pt x="444500" y="356295"/>
                  <a:pt x="436265" y="368201"/>
                  <a:pt x="423863" y="372864"/>
                </a:cubicBezTo>
                <a:lnTo>
                  <a:pt x="389434" y="385762"/>
                </a:lnTo>
                <a:cubicBezTo>
                  <a:pt x="343595" y="402927"/>
                  <a:pt x="292596" y="400248"/>
                  <a:pt x="248841" y="378420"/>
                </a:cubicBezTo>
                <a:cubicBezTo>
                  <a:pt x="211237" y="359569"/>
                  <a:pt x="168077" y="354905"/>
                  <a:pt x="127298" y="365125"/>
                </a:cubicBezTo>
                <a:lnTo>
                  <a:pt x="63500" y="381000"/>
                </a:lnTo>
                <a:lnTo>
                  <a:pt x="63500" y="476250"/>
                </a:lnTo>
                <a:cubicBezTo>
                  <a:pt x="63500" y="493812"/>
                  <a:pt x="49312" y="508000"/>
                  <a:pt x="31750" y="508000"/>
                </a:cubicBezTo>
                <a:cubicBezTo>
                  <a:pt x="14188" y="508000"/>
                  <a:pt x="0" y="493812"/>
                  <a:pt x="0" y="476250"/>
                </a:cubicBezTo>
                <a:lnTo>
                  <a:pt x="0" y="31750"/>
                </a:lnTo>
                <a:cubicBezTo>
                  <a:pt x="0" y="14188"/>
                  <a:pt x="14188" y="0"/>
                  <a:pt x="31750" y="0"/>
                </a:cubicBezTo>
                <a:close/>
                <a:moveTo>
                  <a:pt x="63500" y="185638"/>
                </a:moveTo>
                <a:lnTo>
                  <a:pt x="127000" y="171847"/>
                </a:lnTo>
                <a:lnTo>
                  <a:pt x="127000" y="236835"/>
                </a:lnTo>
                <a:lnTo>
                  <a:pt x="63500" y="250627"/>
                </a:lnTo>
                <a:lnTo>
                  <a:pt x="63500" y="315615"/>
                </a:lnTo>
                <a:lnTo>
                  <a:pt x="111919" y="303510"/>
                </a:lnTo>
                <a:cubicBezTo>
                  <a:pt x="116979" y="302220"/>
                  <a:pt x="121940" y="301129"/>
                  <a:pt x="127000" y="300236"/>
                </a:cubicBezTo>
                <a:lnTo>
                  <a:pt x="127000" y="236835"/>
                </a:lnTo>
                <a:lnTo>
                  <a:pt x="165596" y="228501"/>
                </a:lnTo>
                <a:cubicBezTo>
                  <a:pt x="173831" y="226715"/>
                  <a:pt x="182166" y="226020"/>
                  <a:pt x="190500" y="226417"/>
                </a:cubicBezTo>
                <a:lnTo>
                  <a:pt x="190500" y="162917"/>
                </a:lnTo>
                <a:cubicBezTo>
                  <a:pt x="203994" y="163314"/>
                  <a:pt x="217488" y="165497"/>
                  <a:pt x="230584" y="169267"/>
                </a:cubicBezTo>
                <a:lnTo>
                  <a:pt x="254000" y="176113"/>
                </a:lnTo>
                <a:lnTo>
                  <a:pt x="254000" y="242292"/>
                </a:lnTo>
                <a:lnTo>
                  <a:pt x="212626" y="230088"/>
                </a:lnTo>
                <a:cubicBezTo>
                  <a:pt x="205383" y="228005"/>
                  <a:pt x="197941" y="226715"/>
                  <a:pt x="190500" y="226318"/>
                </a:cubicBezTo>
                <a:lnTo>
                  <a:pt x="190500" y="297160"/>
                </a:lnTo>
                <a:cubicBezTo>
                  <a:pt x="212130" y="299045"/>
                  <a:pt x="233462" y="303808"/>
                  <a:pt x="254000" y="311448"/>
                </a:cubicBezTo>
                <a:lnTo>
                  <a:pt x="254000" y="242193"/>
                </a:lnTo>
                <a:lnTo>
                  <a:pt x="276523" y="248841"/>
                </a:lnTo>
                <a:cubicBezTo>
                  <a:pt x="289917" y="252809"/>
                  <a:pt x="303609" y="255191"/>
                  <a:pt x="317500" y="256183"/>
                </a:cubicBezTo>
                <a:lnTo>
                  <a:pt x="317500" y="192484"/>
                </a:lnTo>
                <a:cubicBezTo>
                  <a:pt x="309761" y="191691"/>
                  <a:pt x="302022" y="190202"/>
                  <a:pt x="294481" y="188020"/>
                </a:cubicBezTo>
                <a:lnTo>
                  <a:pt x="254000" y="176113"/>
                </a:lnTo>
                <a:lnTo>
                  <a:pt x="254000" y="114598"/>
                </a:lnTo>
                <a:cubicBezTo>
                  <a:pt x="241102" y="110827"/>
                  <a:pt x="228402" y="105866"/>
                  <a:pt x="216098" y="99715"/>
                </a:cubicBezTo>
                <a:cubicBezTo>
                  <a:pt x="207963" y="95647"/>
                  <a:pt x="199330" y="92770"/>
                  <a:pt x="190500" y="90984"/>
                </a:cubicBezTo>
                <a:lnTo>
                  <a:pt x="190500" y="162818"/>
                </a:lnTo>
                <a:cubicBezTo>
                  <a:pt x="177602" y="162421"/>
                  <a:pt x="164703" y="163612"/>
                  <a:pt x="152102" y="166390"/>
                </a:cubicBezTo>
                <a:lnTo>
                  <a:pt x="127000" y="171847"/>
                </a:lnTo>
                <a:lnTo>
                  <a:pt x="127000" y="97234"/>
                </a:lnTo>
                <a:lnTo>
                  <a:pt x="63500" y="113109"/>
                </a:lnTo>
                <a:lnTo>
                  <a:pt x="63500" y="185638"/>
                </a:lnTo>
                <a:close/>
                <a:moveTo>
                  <a:pt x="317500" y="333077"/>
                </a:moveTo>
                <a:cubicBezTo>
                  <a:pt x="334169" y="334566"/>
                  <a:pt x="351135" y="332383"/>
                  <a:pt x="367109" y="326330"/>
                </a:cubicBezTo>
                <a:lnTo>
                  <a:pt x="381000" y="321171"/>
                </a:lnTo>
                <a:lnTo>
                  <a:pt x="381000" y="250031"/>
                </a:lnTo>
                <a:lnTo>
                  <a:pt x="373162" y="251817"/>
                </a:lnTo>
                <a:cubicBezTo>
                  <a:pt x="354905" y="256084"/>
                  <a:pt x="336153" y="257473"/>
                  <a:pt x="317500" y="256282"/>
                </a:cubicBezTo>
                <a:lnTo>
                  <a:pt x="317500" y="333077"/>
                </a:lnTo>
                <a:close/>
                <a:moveTo>
                  <a:pt x="381000" y="184845"/>
                </a:moveTo>
                <a:lnTo>
                  <a:pt x="381000" y="114598"/>
                </a:lnTo>
                <a:cubicBezTo>
                  <a:pt x="360263" y="120650"/>
                  <a:pt x="338931" y="123627"/>
                  <a:pt x="317500" y="123627"/>
                </a:cubicBezTo>
                <a:lnTo>
                  <a:pt x="317500" y="192484"/>
                </a:lnTo>
                <a:cubicBezTo>
                  <a:pt x="331291" y="193873"/>
                  <a:pt x="345281" y="192980"/>
                  <a:pt x="358874" y="189905"/>
                </a:cubicBezTo>
                <a:lnTo>
                  <a:pt x="381000" y="184745"/>
                </a:lnTo>
                <a:close/>
              </a:path>
            </a:pathLst>
          </a:custGeom>
          <a:solidFill>
            <a:srgbClr val="B91C1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59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7000" y="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42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DETECT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CORR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SOAR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0" y="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REQ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0" y="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732000" y="469900"/>
            <a:ext cx="1270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762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B91C1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Achievements &amp; Future Improvements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1524000"/>
            <a:ext cx="7239000" cy="3937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000" y="1524000"/>
            <a:ext cx="7239000" cy="6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2184400"/>
            <a:ext cx="6731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realistic, production-oriented SOC platform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a demo system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visibility across all critical layers: network, host, runtime, infrastructure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Intelligent correlation that distinguishes real threats from noise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AI-powered analysis and natural language explanation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Controlled automation with human-in-the-loop approval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Deployed and validated on Huawei Cloud infrastructure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1524000"/>
            <a:ext cx="7112000" cy="3937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2000" y="1524000"/>
            <a:ext cx="711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2184400"/>
            <a:ext cx="6604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AI: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Threat forecasting using historical pattern analysis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expansion: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Additional playbook templates and response actions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Multi-cloud support: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Extension to hybrid and multi-cloud environments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ML models: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Custom-trained detection models for specific attack patterns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SOAR playbook marketplace: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Community-driven playbook sharing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5969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VALUE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500" y="6286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production-grade SOC platform that demonstrates deep understanding of security operations, intelligent correlation, AI-enhanced decision-making, and controlled automation — built for real enterprise deployment.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36 / 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381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0" y="2921000"/>
            <a:ext cx="1117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spc="6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0" y="3937000"/>
            <a:ext cx="990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300" kern="0" dirty="0">
                <a:solidFill>
                  <a:srgbClr val="B91C1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PLATFORM THINKS BEFORE IT ACTS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0" y="4572000"/>
            <a:ext cx="863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data to intelligent SOC operations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0" y="5969000"/>
            <a:ext cx="863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75000" y="6477000"/>
            <a:ext cx="990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 — Cloud Department, Innovation Department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48500" y="7620000"/>
            <a:ext cx="2159000" cy="381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7620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YEAR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Platform for Automated Monitoring and Security</dc:title>
  <dc:subject>Intelligent Platform for Automated Monitoring and Security</dc:subject>
  <dc:creator>Kimi</dc:creator>
  <cp:lastModifiedBy>Kimi</cp:lastModifiedBy>
  <cp:revision>1</cp:revision>
  <dcterms:created xsi:type="dcterms:W3CDTF">2026-04-29T14:25:57Z</dcterms:created>
  <dcterms:modified xsi:type="dcterms:W3CDTF">2026-04-29T14:25:57Z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{"Label":"Intelligent Platform for Automated Monitoring and Security","ContentProducer":"001191110108MACG2KBH8F10000","ProduceID":"19dd8cac-ba62-85be-8000-0000aae1ff75","ReservedCode1":"","ContentPropagator":"001191110108MACG2KBH8F20000","PropagateID":"19dd8cac-ba62-85be-8000-0000aae1ff75","ReservedCode2":""}</vt:lpwstr>
  </property>
</Properties>
</file>