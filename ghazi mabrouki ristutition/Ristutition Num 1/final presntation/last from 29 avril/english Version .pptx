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21678900" cy="12192000"/>
  <p:notesSz cx="12192000" cy="21678900"/>
  <p:embeddedFontLst>
    <p:embeddedFont>
      <p:font typeface="Liter" charset="-122" pitchFamily="34"/>
      <p:regular r:id="rId40"/>
    </p:embeddedFont>
    <p:embeddedFont>
      <p:font typeface="Quattrocento Sans" charset="-122" pitchFamily="34"/>
      <p:regular r:id="rId4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font" Target="fonts/font1.fntdata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2709291"/>
            <a:ext cx="1016000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693291" y="3048000"/>
            <a:ext cx="16764000" cy="389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71371" y="2987040"/>
            <a:ext cx="17007840" cy="401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667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PLATFORM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667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SUPERVISION AND SECURITY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667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693291" y="7112000"/>
            <a:ext cx="15240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7051040"/>
            <a:ext cx="15483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93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and deployment of a centralized supervision platform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93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security with artificial intelligence and automated response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8636000"/>
            <a:ext cx="3386709" cy="33909"/>
          </a:xfrm>
          <a:prstGeom prst="rect">
            <a:avLst/>
          </a:prstGeom>
          <a:solidFill>
            <a:srgbClr val="FFFFFF">
              <a:alpha val="617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93291" y="8974709"/>
            <a:ext cx="10160000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71371" y="8913749"/>
            <a:ext cx="10403840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93291" y="9567291"/>
            <a:ext cx="11853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71371" y="9506331"/>
            <a:ext cx="12097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93291" y="11006709"/>
            <a:ext cx="3386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71371" y="10945749"/>
            <a:ext cx="3630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spc="400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626709" y="846709"/>
            <a:ext cx="2540000" cy="2540000"/>
          </a:xfrm>
          <a:prstGeom prst="ellipse">
            <a:avLst/>
          </a:prstGeom>
          <a:solidFill>
            <a:srgbClr val="FFFFFF">
              <a:alpha val="82"/>
            </a:srgbClr>
          </a:solidFill>
          <a:ln w="12700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26709" y="7620000"/>
            <a:ext cx="2032000" cy="2032000"/>
          </a:xfrm>
          <a:prstGeom prst="ellipse">
            <a:avLst/>
          </a:prstGeom>
          <a:solidFill>
            <a:srgbClr val="FFFFFF">
              <a:alpha val="47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846709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94080" y="785749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0" spc="533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1608709"/>
            <a:ext cx="846709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2032000"/>
            <a:ext cx="8466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4080" y="1971040"/>
            <a:ext cx="871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0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Content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3556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3495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32000" y="3556000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10080" y="3495040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Context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4402709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4656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94080" y="4595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032000" y="4656709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910080" y="4595749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000" y="5503291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5757291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94080" y="5696331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32000" y="5757291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910080" y="5696331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Proposed Solution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6604000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858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94080" y="6797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32000" y="6858000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910080" y="6797040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Monitoring Foundation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" y="7704709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" y="7958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94080" y="7897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032000" y="7958709"/>
            <a:ext cx="677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910080" y="7897749"/>
            <a:ext cx="701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Cloud Infrastructure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16000" y="8805291"/>
            <a:ext cx="8466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176000" y="3556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054080" y="3495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192000" y="3556000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2070080" y="3495040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76000" y="4402709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176000" y="4656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054080" y="4595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192000" y="4656709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2070080" y="4595749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&amp; Non-Functional Requirements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176000" y="5503291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76000" y="5757291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054080" y="5696331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2192000" y="5757291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070080" y="5696331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176000" y="6604000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76000" y="6858000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054080" y="6797040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2192000" y="6858000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2070080" y="6797040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76000" y="7704709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176000" y="7958709"/>
            <a:ext cx="93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054080" y="7897749"/>
            <a:ext cx="117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7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2192000" y="7958709"/>
            <a:ext cx="846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2070080" y="7897749"/>
            <a:ext cx="871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176000" y="8805291"/>
            <a:ext cx="948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6000" y="11176000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94080" y="11115040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Ghazi Mabrouki | Huawei Enterprise — Cloud Department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3546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379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CONTEXT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1853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2097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context, identified challenges and strategic stakes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933291" y="1693291"/>
            <a:ext cx="3048000" cy="0"/>
          </a:xfrm>
          <a:prstGeom prst="straightConnector1">
            <a:avLst/>
          </a:prstGeom>
          <a:noFill/>
          <a:ln w="12700">
            <a:solidFill>
              <a:srgbClr val="FFFFFF">
                <a:alpha val="7843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7780000" y="8466709"/>
            <a:ext cx="2201291" cy="0"/>
          </a:xfrm>
          <a:prstGeom prst="straightConnector1">
            <a:avLst/>
          </a:prstGeom>
          <a:noFill/>
          <a:ln w="12700">
            <a:solidFill>
              <a:srgbClr val="FFFFFF">
                <a:alpha val="6275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AND CHALLENGES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116709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116709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8" name="Shape 6"/>
          <p:cNvSpPr/>
          <p:nvPr/>
        </p:nvSpPr>
        <p:spPr>
          <a:xfrm>
            <a:off x="1998091" y="23368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876171" y="22758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FRAGMENTED SOLUTIONS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54709" y="2912491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2789" y="2851531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solutions are multiple and non-centralized, complicating global infrastructure management.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091291" y="2116709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91291" y="2116709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3509" y="23368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951589" y="22758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HETEROGENEOUS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2912491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308080" y="2851531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from different sources is difficult to analyze in a unified and coherent manner.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4572000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572000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24991" y="4882907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1" name="Shape 19"/>
          <p:cNvSpPr/>
          <p:nvPr/>
        </p:nvSpPr>
        <p:spPr>
          <a:xfrm>
            <a:off x="1998091" y="47920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876171" y="47311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EXPERT DEPENDENCY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54709" y="5367909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32789" y="5306949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analysis relies heavily on experts, slowing detection and response.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91291" y="4572000"/>
            <a:ext cx="9567291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91291" y="4572000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73509" y="47920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951589" y="47311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ALERTS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430000" y="5367909"/>
            <a:ext cx="8974709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308080" y="5306949"/>
            <a:ext cx="9218549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alerts are technical and difficult for non-experts to interpret quickly.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16000" y="7027291"/>
            <a:ext cx="19642709" cy="2116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6000" y="7027291"/>
            <a:ext cx="67691" cy="2116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3" name="Shape 31"/>
          <p:cNvSpPr/>
          <p:nvPr/>
        </p:nvSpPr>
        <p:spPr>
          <a:xfrm>
            <a:off x="1998091" y="7247509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876171" y="7186549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AUTOMATION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54709" y="7823200"/>
            <a:ext cx="18965291" cy="110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232789" y="7762240"/>
            <a:ext cx="19209131" cy="122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Corrective actions are not systematically automated, increasing reaction time to threats. Result: slower response, missed multi-stage attack patterns, and analyst burnout.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6000" y="9652000"/>
            <a:ext cx="19642709" cy="1016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1354709" y="9652000"/>
            <a:ext cx="18965291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1232789" y="9591040"/>
            <a:ext cx="19209131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1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Reponse aux incidents plus lente, patterns d'attaque multi-etapes manques, et epuisement des analystes par correlation manuelle sur des outils deconnectes.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Context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324991" y="2427616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5" name="Shape 43"/>
          <p:cNvSpPr/>
          <p:nvPr/>
        </p:nvSpPr>
        <p:spPr>
          <a:xfrm>
            <a:off x="1324991" y="7338325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30000" y="4882907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30000" y="2427616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016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040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201291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2140331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9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40000" y="2201291"/>
            <a:ext cx="18118709" cy="254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2878709" y="2370709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56789" y="2309749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VISIBILITY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78709" y="3014091"/>
            <a:ext cx="174412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56789" y="2953131"/>
            <a:ext cx="17685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network, host, runtime and infrastructure layers in a unified stack. No blind spots — every critical layer observed, collected and centralized.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164709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94080" y="5103749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9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40000" y="5164709"/>
            <a:ext cx="18118709" cy="254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2878709" y="5334000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56789" y="5273040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PROCESSING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878709" y="5977509"/>
            <a:ext cx="174412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56789" y="5916549"/>
            <a:ext cx="17685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raw alerts into enriched and correlated incidents with AI analysis. From data overload to actionable and contextualized intelligence.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8128000"/>
            <a:ext cx="1354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4080" y="8067040"/>
            <a:ext cx="1598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93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540000" y="8128000"/>
            <a:ext cx="18118709" cy="2540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2878709" y="8297291"/>
            <a:ext cx="6773291" cy="541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756789" y="8236331"/>
            <a:ext cx="7017131" cy="663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CONTROLLED RESPONSE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78709" y="8940800"/>
            <a:ext cx="17441291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756789" y="8879840"/>
            <a:ext cx="17685131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investigation, playbook generation, approval workflows and Ansible remediation with full audit. The platform thinks before acting.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Context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3546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3790549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SOLUTIONS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1853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2097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 of the art of monitoring and security solutions on the market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3546709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3790549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OF THE ART OF SOC SOLUTIONS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116709"/>
          <a:ext cx="19642709" cy="5757291"/>
        </p:xfrm>
        <a:graphic>
          <a:graphicData uri="http://schemas.openxmlformats.org/drawingml/2006/table">
            <a:tbl>
              <a:tblPr/>
              <a:tblGrid>
                <a:gridCol w="4321396"/>
                <a:gridCol w="7857084"/>
                <a:gridCol w="7464229"/>
              </a:tblGrid>
              <a:tr h="811600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Category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Limitations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989138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Traditional SIEM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Splunk, QRadar, ArcSight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Centralized collection but expensive and complex to deploy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89138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EDR / XDR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CrowdStrike, SentinelOne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Focused on endpoints, limited network visibility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989138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SOAR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Palo Alto XSOAR, Splunk SOAR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Advanced orchestration but costly integration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89138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Open-Source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Wazuh, Suricata, ELK Stack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Powerful but not natively integrated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989138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Cloud Platforms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Azure Sentinel, Chronicle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Vendor lock-in, limited customization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16000" y="8382000"/>
            <a:ext cx="19642709" cy="1693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5"/>
          <p:cNvSpPr/>
          <p:nvPr/>
        </p:nvSpPr>
        <p:spPr>
          <a:xfrm>
            <a:off x="1693291" y="8647811"/>
            <a:ext cx="254000" cy="28105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" name="Shape 6"/>
          <p:cNvSpPr/>
          <p:nvPr/>
        </p:nvSpPr>
        <p:spPr>
          <a:xfrm>
            <a:off x="2201291" y="8551291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079371" y="8490331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IDENTIFIED GAP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201291" y="9059291"/>
            <a:ext cx="18118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2079371" y="8998331"/>
            <a:ext cx="18362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solution combines multi-layer monitoring, automatic enrichment, incident correlation, AI analysis and automated remediation in a unified architecture deployable on cloud.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&amp; PROPOSED SOLUTION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architecture of the SOC platform and data flows between components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PLATFORM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116709"/>
            <a:ext cx="6096000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116709"/>
            <a:ext cx="6096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4080" y="2055749"/>
            <a:ext cx="6339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Foundation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2000" y="2624709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789291" y="2116709"/>
            <a:ext cx="6096000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7789291" y="2116709"/>
            <a:ext cx="6096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67371" y="2055749"/>
            <a:ext cx="6339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885291" y="2624709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562709" y="2116709"/>
            <a:ext cx="6096000" cy="1354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5" name="Shape 13"/>
          <p:cNvSpPr/>
          <p:nvPr/>
        </p:nvSpPr>
        <p:spPr>
          <a:xfrm>
            <a:off x="14562709" y="2116709"/>
            <a:ext cx="6096000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4440789" y="2055749"/>
            <a:ext cx="6339840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1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Intelligence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3894709"/>
            <a:ext cx="6773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94080" y="3833749"/>
            <a:ext cx="7017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DATA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6000" y="4487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4826000"/>
            <a:ext cx="3048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000" y="4826000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94080" y="4765040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64000" y="5334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572000" y="4826000"/>
            <a:ext cx="3048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826000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450080" y="4765040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Collection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0" y="5334000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128000" y="4656709"/>
            <a:ext cx="3386709" cy="152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8128000" y="4656709"/>
            <a:ext cx="3386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006080" y="4595749"/>
            <a:ext cx="3630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&amp; Indexing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514709" y="4995291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2022709" y="4402709"/>
            <a:ext cx="3048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022709" y="4233291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1900789" y="4172331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Kibana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514709" y="5757291"/>
            <a:ext cx="508000" cy="508000"/>
          </a:xfrm>
          <a:prstGeom prst="straightConnector1">
            <a:avLst/>
          </a:prstGeom>
          <a:noFill/>
          <a:ln w="25400">
            <a:solidFill>
              <a:srgbClr val="CF0A2C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2022709" y="6265291"/>
            <a:ext cx="3048000" cy="11852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022709" y="6265291"/>
            <a:ext cx="304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1900789" y="6204331"/>
            <a:ext cx="329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5472664" y="6180709"/>
            <a:ext cx="5080000" cy="11852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578709" y="6180709"/>
            <a:ext cx="5080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5456789" y="6119749"/>
            <a:ext cx="5323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 Dashboard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Alerts, Incidents, Metrics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5070709" y="6773291"/>
            <a:ext cx="402082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1016000" y="7958709"/>
            <a:ext cx="19642709" cy="2963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42"/>
          <p:cNvSpPr/>
          <p:nvPr/>
        </p:nvSpPr>
        <p:spPr>
          <a:xfrm>
            <a:off x="1354709" y="8128000"/>
            <a:ext cx="18965291" cy="270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232789" y="8067040"/>
            <a:ext cx="19209131" cy="283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13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Monitoring Foundation: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Layer, detection, stockage et visualisation des evenements de securite.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Cloud Infrastructure: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Deploiement sur Huawei Cloud avec VPC, Security Groups et ECS VM optimisee.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3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Intelligence:</a:t>
            </a:r>
            <a:pPr>
              <a:lnSpc>
                <a:spcPct val="160000"/>
              </a:lnSpc>
            </a:pPr>
            <a:r>
              <a:rPr lang="en-US" sz="21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Enrichissement, correlation, analyse IA, generation de playbooks et remediation Ansible.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13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21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unified SOC platform that sees everything, understands patterns and responds with control.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Solution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MONITORING FOUNDATION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the visibility backbone of the SOC platform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VISIBILITY LAYERS &amp; TOOLS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032000"/>
          <a:ext cx="19642709" cy="6773291"/>
        </p:xfrm>
        <a:graphic>
          <a:graphicData uri="http://schemas.openxmlformats.org/drawingml/2006/table">
            <a:tbl>
              <a:tblPr/>
              <a:tblGrid>
                <a:gridCol w="3535688"/>
                <a:gridCol w="3535688"/>
                <a:gridCol w="12571334"/>
              </a:tblGrid>
              <a:tr h="746961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Tool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86090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Network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Traffic, packets, protocols, IDS alerts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090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Host / Endpoint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Auth events, file integrity, agent alerts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6090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Process behavior, syscalls, containers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090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Infrastructure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CPU, RAM, disk, load, system health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6090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et transfert des logs vers Elasticsearch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090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Collection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Transfer of Falco alerts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860904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Analysis &amp; Viz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 storage, indexing, search + Kibana dashboards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16000" y="9228709"/>
            <a:ext cx="19642709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5"/>
          <p:cNvSpPr/>
          <p:nvPr/>
        </p:nvSpPr>
        <p:spPr>
          <a:xfrm>
            <a:off x="1354709" y="9313291"/>
            <a:ext cx="18965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32789" y="9252331"/>
            <a:ext cx="19209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Layered architecture that eliminates blind spots. The system observes network, hosts, runtime and resources — all centralized and visualized together.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Monitoring Foundation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ARCHITECTURE &amp; DATA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3048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1971040"/>
            <a:ext cx="3291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777109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777109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94080" y="2716149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Logs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24709" y="2777109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709" y="2777109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02789" y="2716149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 Logs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16000" y="3318891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6000" y="3318891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94080" y="3257931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 IDS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24709" y="3318891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24709" y="3318891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502789" y="3257931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HIDS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3860800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000" y="3860800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94080" y="3799840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624709" y="3860800"/>
            <a:ext cx="1439291" cy="372491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24709" y="3860800"/>
            <a:ext cx="1439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502789" y="3799840"/>
            <a:ext cx="1683131" cy="494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64000" y="3505200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080000" y="2032000"/>
            <a:ext cx="3048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958080" y="1971040"/>
            <a:ext cx="3291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80000" y="2540000"/>
            <a:ext cx="3048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80000" y="254000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958080" y="2479040"/>
            <a:ext cx="3291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and sends logs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80000" y="3810000"/>
            <a:ext cx="3048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80000" y="381000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958080" y="3749040"/>
            <a:ext cx="3291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 Falco alerts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080000" y="5080000"/>
            <a:ext cx="3048000" cy="1016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0000" y="5080000"/>
            <a:ext cx="3048000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958080" y="5019040"/>
            <a:ext cx="3291840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direct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12531" y="3048000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9313291" y="2540000"/>
            <a:ext cx="3725291" cy="3725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9313291" y="2878709"/>
            <a:ext cx="3725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91371" y="2817749"/>
            <a:ext cx="3969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13291" y="3386709"/>
            <a:ext cx="3725291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191371" y="3325749"/>
            <a:ext cx="3969131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3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9200 HTTPS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482709" y="3894709"/>
            <a:ext cx="3386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9360789" y="3833749"/>
            <a:ext cx="3630549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73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Storage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73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73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47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Receives: Filebeat, Falcosidekick, Telegraf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3208000" y="4233291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14224000" y="2540000"/>
            <a:ext cx="6434709" cy="3725291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224000" y="2878709"/>
            <a:ext cx="6434709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4102080" y="2817749"/>
            <a:ext cx="6678549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KIBANA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4224000" y="3386709"/>
            <a:ext cx="6434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4102080" y="3325749"/>
            <a:ext cx="6678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5601 HTTPS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4562709" y="3894709"/>
            <a:ext cx="5757291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4440789" y="3833749"/>
            <a:ext cx="6001131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&amp; Exploration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16000" y="6773291"/>
            <a:ext cx="508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94080" y="6712331"/>
            <a:ext cx="532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LOGIC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16000" y="73152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6000" y="7535291"/>
            <a:ext cx="19642709" cy="338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894080" y="7474331"/>
            <a:ext cx="19886549" cy="350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flow: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Sources → Collection Layer → Elasticsearch → Kibana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/ auth logs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 |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eve.json → Filebeat |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 alerts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Filebeat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alerts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Falcosidekick |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 metrics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(direct)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 &amp; Falcosidekick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Elasticsearch |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Kibana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Monitoring Foundation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00212" y="4318000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4" name="Shape 62"/>
          <p:cNvSpPr/>
          <p:nvPr/>
        </p:nvSpPr>
        <p:spPr>
          <a:xfrm>
            <a:off x="8300212" y="5588000"/>
            <a:ext cx="846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1735709" y="4318000"/>
            <a:ext cx="0" cy="351148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6" name="Shape 64"/>
          <p:cNvSpPr/>
          <p:nvPr/>
        </p:nvSpPr>
        <p:spPr>
          <a:xfrm>
            <a:off x="1735709" y="4674616"/>
            <a:ext cx="332994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3344291" y="4318000"/>
            <a:ext cx="0" cy="1449989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3344291" y="5782437"/>
            <a:ext cx="1695196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1693291" y="2439671"/>
            <a:ext cx="0" cy="337438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 flipH="1">
            <a:off x="561975" y="3505200"/>
            <a:ext cx="454025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 flipV="1">
            <a:off x="549656" y="2430526"/>
            <a:ext cx="0" cy="1074674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 flipH="1">
            <a:off x="561975" y="2455291"/>
            <a:ext cx="4177538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3" name="Shape 71"/>
          <p:cNvSpPr/>
          <p:nvPr/>
        </p:nvSpPr>
        <p:spPr>
          <a:xfrm>
            <a:off x="4714875" y="2963354"/>
            <a:ext cx="365125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4732782" y="2455291"/>
            <a:ext cx="0" cy="590296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 flipV="1">
            <a:off x="4735703" y="3020822"/>
            <a:ext cx="0" cy="484378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4064000" y="2963291"/>
            <a:ext cx="677291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— DEPLOYMENT &amp; RESULT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5926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1971040"/>
            <a:ext cx="6170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RESOURCES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624709"/>
          <a:ext cx="5926709" cy="2201291"/>
        </p:xfrm>
        <a:graphic>
          <a:graphicData uri="http://schemas.openxmlformats.org/drawingml/2006/table">
            <a:tbl>
              <a:tblPr/>
              <a:tblGrid>
                <a:gridCol w="2074348"/>
                <a:gridCol w="1303876"/>
                <a:gridCol w="1303876"/>
                <a:gridCol w="1244609"/>
              </a:tblGrid>
              <a:tr h="725281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CPU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RAM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Disk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25281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Minimum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cores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GB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 GB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072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Recommended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cores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 GB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 GB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450709" y="2032000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328789" y="1971040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 SERVICES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50709" y="2624709"/>
            <a:ext cx="3386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28789" y="2563749"/>
            <a:ext cx="3630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Native Services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450709" y="3048000"/>
            <a:ext cx="643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28789" y="2987040"/>
            <a:ext cx="667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(9200), Kibana (5601)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Filebeat, Suricata, Wazuh (1514/1515)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224000" y="2624709"/>
            <a:ext cx="3386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4102080" y="2563749"/>
            <a:ext cx="3630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Docker Services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4224000" y="3048000"/>
            <a:ext cx="643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4102080" y="2987040"/>
            <a:ext cx="667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(runtime detection)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Falcosidekick (2801)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6000" y="5249291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894080" y="5188331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ARCHITECTURE?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16000" y="57912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9"/>
          <p:cNvSpPr/>
          <p:nvPr/>
        </p:nvSpPr>
        <p:spPr>
          <a:xfrm>
            <a:off x="1947291" y="6011291"/>
            <a:ext cx="846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1825371" y="5950331"/>
            <a:ext cx="8710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SIEM core remains stable and centralized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1430000" y="6011291"/>
            <a:ext cx="846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11308080" y="5950331"/>
            <a:ext cx="8710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detection isolated in containers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947291" y="7027291"/>
            <a:ext cx="8466709" cy="1016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825371" y="6966331"/>
            <a:ext cx="8710549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and maintainable architecture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16000" y="8297291"/>
            <a:ext cx="19642709" cy="2540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Shape 26"/>
          <p:cNvSpPr/>
          <p:nvPr/>
        </p:nvSpPr>
        <p:spPr>
          <a:xfrm>
            <a:off x="1354709" y="8466709"/>
            <a:ext cx="6773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232789" y="8405749"/>
            <a:ext cx="7017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RESULT — PHASE 1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354709" y="8974709"/>
            <a:ext cx="18965291" cy="169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232789" y="8913749"/>
            <a:ext cx="19209131" cy="181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security monitoring foundation with global visibility on network, host, runtime and resources. All tools are centralized in Elasticsearch and visualized via Kibana.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500"/>
              </a:spcBef>
            </a:pPr>
            <a:r>
              <a:rPr lang="en-US" sz="20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Ready for Phases 2 and 3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— Monitoring Foundation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1324991" y="6096000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8" name="Shape 35"/>
          <p:cNvSpPr/>
          <p:nvPr/>
        </p:nvSpPr>
        <p:spPr>
          <a:xfrm>
            <a:off x="1324991" y="7027291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9" name="Shape 36"/>
          <p:cNvSpPr/>
          <p:nvPr/>
        </p:nvSpPr>
        <p:spPr>
          <a:xfrm>
            <a:off x="10775188" y="6096000"/>
            <a:ext cx="368300" cy="292460"/>
          </a:xfrm>
          <a:prstGeom prst="rect">
            <a:avLst/>
          </a:prstGeom>
          <a:solidFill>
            <a:srgbClr val="CF0A2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CLOUD INFRASTRUCTURE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of the SOC platform on Huawei Cloud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HUAWEI CLOUD ENVIRONMENT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1684000" y="2032000"/>
            <a:ext cx="8974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562080" y="1971040"/>
            <a:ext cx="9218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VM SPECIFICATIONS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684000" y="2624709"/>
            <a:ext cx="8974709" cy="2963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12022709" y="2794000"/>
            <a:ext cx="8297291" cy="279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900789" y="2733040"/>
            <a:ext cx="8541131" cy="291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Computing power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 GB RAM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Memory for ES and analysis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 GB Storage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OS, indices, logs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OS: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Ubuntu Server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IP: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193.95.30.97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84000" y="5672709"/>
            <a:ext cx="8974709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562080" y="5611749"/>
            <a:ext cx="9218549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HOSTED SOC STACK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684000" y="6265291"/>
            <a:ext cx="8974709" cy="2201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22709" y="6434709"/>
            <a:ext cx="8297291" cy="186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900789" y="6373749"/>
            <a:ext cx="8541131" cy="198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· Kibana · Wazuh · Suricata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 · Telegraf · Filebeat · Docker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cloud foundation hosts the complete SOC stack and enables secure expansion.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000" y="8805291"/>
            <a:ext cx="10160000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94080" y="8744331"/>
            <a:ext cx="10403840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ARCHITECTURE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93472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9567291"/>
            <a:ext cx="4572000" cy="1185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6000" y="9567291"/>
            <a:ext cx="4572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4080" y="9506331"/>
            <a:ext cx="4815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VPC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prive isole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57291" y="10075291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6434709" y="9567291"/>
            <a:ext cx="4572000" cy="1185291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34709" y="9567291"/>
            <a:ext cx="4572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12789" y="9506331"/>
            <a:ext cx="4815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Subnet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Internal communication zone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176000" y="10075291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1853291" y="9567291"/>
            <a:ext cx="4572000" cy="1185291"/>
          </a:xfrm>
          <a:prstGeom prst="rect">
            <a:avLst/>
          </a:prstGeom>
          <a:solidFill>
            <a:srgbClr val="F1F5F9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53291" y="9567291"/>
            <a:ext cx="4572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731371" y="9506331"/>
            <a:ext cx="4815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Group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firewall rules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6594709" y="10075291"/>
            <a:ext cx="508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7272000" y="9567291"/>
            <a:ext cx="3386709" cy="11852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2" name="Shape 30"/>
          <p:cNvSpPr/>
          <p:nvPr/>
        </p:nvSpPr>
        <p:spPr>
          <a:xfrm>
            <a:off x="17272000" y="9567291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7150080" y="9506331"/>
            <a:ext cx="3630549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7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 IP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4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193.95.30.97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Cloud Infrastructure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074643" y="3076179"/>
            <a:ext cx="282218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97891" y="2102526"/>
            <a:ext cx="282218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691773" y="2328301"/>
            <a:ext cx="282218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pic>
        <p:nvPicPr>
          <p:cNvPr id="41" name="Image 0" descr="https://kimi-img.moonshot.cn/pub/slides/okc/hwrav4dscrqkc/mnt/agents/output/soc_platform_en/images/image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5103" y="2506091"/>
            <a:ext cx="10162112" cy="573366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— SECURITY STRATEGY &amp; INTEGRATION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032000"/>
          <a:ext cx="11853291" cy="5757291"/>
        </p:xfrm>
        <a:graphic>
          <a:graphicData uri="http://schemas.openxmlformats.org/drawingml/2006/table">
            <a:tbl>
              <a:tblPr/>
              <a:tblGrid>
                <a:gridCol w="3555987"/>
                <a:gridCol w="1777994"/>
                <a:gridCol w="6519310"/>
              </a:tblGrid>
              <a:tr h="617303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Port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Exposure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SSH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IP only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Kibana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5601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Admin / VPN / public if required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9200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Never publicly exposed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Events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1514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 external agents only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Wazuh Reg.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1515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If external agents only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Falcosidekick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2801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Internal only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Backend API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8000/8001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recommended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4249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HTTP/HTTPS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80/443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Reverse proxy + TLS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3377291" y="2032000"/>
            <a:ext cx="7281291" cy="2201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Shape 5"/>
          <p:cNvSpPr/>
          <p:nvPr/>
        </p:nvSpPr>
        <p:spPr>
          <a:xfrm>
            <a:off x="13716000" y="2201291"/>
            <a:ext cx="6604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3594080" y="2140331"/>
            <a:ext cx="6847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PRINCIPLE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716000" y="2709291"/>
            <a:ext cx="6604000" cy="127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3594080" y="2648331"/>
            <a:ext cx="6847840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7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must remain internal. Kibana and SSH strictly restricted to authorized sources.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377291" y="4572000"/>
            <a:ext cx="7281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3255371" y="4511040"/>
            <a:ext cx="7525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INTEGRATION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3377291" y="5164709"/>
            <a:ext cx="7281291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13716000" y="5334000"/>
            <a:ext cx="6604000" cy="2370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3594080" y="5273040"/>
            <a:ext cx="6847840" cy="249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Connects theoretical architecture to real operations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Fully hosts the SOC stack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Enables secure expansion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ECS Ubuntu VM hosts all tools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Foundation for intelligence layer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6000" y="8297291"/>
            <a:ext cx="19642709" cy="2370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1016000" y="8297291"/>
            <a:ext cx="67691" cy="22012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9" name="Shape 16"/>
          <p:cNvSpPr/>
          <p:nvPr/>
        </p:nvSpPr>
        <p:spPr>
          <a:xfrm>
            <a:off x="1354709" y="8466709"/>
            <a:ext cx="18965291" cy="211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232789" y="8405749"/>
            <a:ext cx="19209131" cy="223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phase supports the project by: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Providing secure and scalable cloud infrastructure for the entire SOC platform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Guaranteeing network isolation and access control via Security Groups and VPC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Laying the groundwork for backend intelligence layer deployment (Phase 3)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2 — Cloud Infrastructure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6933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7177131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3: BACKEND INTELLIGENCE LAYER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5240000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5483840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data to intelligent and verified SOC operations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GLOBAL OVERVIEW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47291"/>
            <a:ext cx="1016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1886331"/>
            <a:ext cx="1040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760091"/>
            <a:ext cx="2201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2760091"/>
            <a:ext cx="2201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94080" y="2699131"/>
            <a:ext cx="2445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17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3556000" y="2760091"/>
            <a:ext cx="2201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6000" y="2760091"/>
            <a:ext cx="2201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34080" y="2699131"/>
            <a:ext cx="2445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alerts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57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096000" y="2760091"/>
            <a:ext cx="2201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6000" y="2760091"/>
            <a:ext cx="2201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74080" y="2699131"/>
            <a:ext cx="2445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Correlated incidents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97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636000" y="2760091"/>
            <a:ext cx="1862709" cy="406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636000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514080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Investigations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498709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837291" y="2760091"/>
            <a:ext cx="1862709" cy="4064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837291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715371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700000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3038709" y="2760091"/>
            <a:ext cx="1862709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38709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2916789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4901291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15240000" y="2760091"/>
            <a:ext cx="1862709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40000" y="2760091"/>
            <a:ext cx="1862709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5118080" y="2699131"/>
            <a:ext cx="2106549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Approval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7102709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17441291" y="2760091"/>
            <a:ext cx="1693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441291" y="2760091"/>
            <a:ext cx="1693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7319371" y="2699131"/>
            <a:ext cx="1937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9134709" y="2878709"/>
            <a:ext cx="338709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19473291" y="2760091"/>
            <a:ext cx="1185291" cy="4064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473291" y="2760091"/>
            <a:ext cx="1185291" cy="4064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9351371" y="2699131"/>
            <a:ext cx="1429131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Archives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16000" y="3810000"/>
            <a:ext cx="1016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94080" y="3749040"/>
            <a:ext cx="1040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KEY STEPS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16000" y="431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6000" y="4572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0709" y="4605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78789" y="4544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693291" y="4605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571371" y="4544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&amp; Enrichment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620000" y="4572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Shape 50"/>
          <p:cNvSpPr/>
          <p:nvPr/>
        </p:nvSpPr>
        <p:spPr>
          <a:xfrm>
            <a:off x="7704709" y="4605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582789" y="4544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97291" y="4605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175371" y="4544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Transformation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4224000" y="4572000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7" name="Shape 55"/>
          <p:cNvSpPr/>
          <p:nvPr/>
        </p:nvSpPr>
        <p:spPr>
          <a:xfrm>
            <a:off x="14308709" y="4605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4186789" y="4544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4901291" y="4605909"/>
            <a:ext cx="5588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4779371" y="4544949"/>
            <a:ext cx="5831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Enrichment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16000" y="5757291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2" name="Shape 60"/>
          <p:cNvSpPr/>
          <p:nvPr/>
        </p:nvSpPr>
        <p:spPr>
          <a:xfrm>
            <a:off x="1100709" y="5791200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78789" y="5730240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693291" y="5791200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571371" y="5730240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Storage (SQLite)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620000" y="5757291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7" name="Shape 65"/>
          <p:cNvSpPr/>
          <p:nvPr/>
        </p:nvSpPr>
        <p:spPr>
          <a:xfrm>
            <a:off x="7704709" y="5791200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7582789" y="5730240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97291" y="5791200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8175371" y="5730240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Correlation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4224000" y="5757291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2" name="Shape 70"/>
          <p:cNvSpPr/>
          <p:nvPr/>
        </p:nvSpPr>
        <p:spPr>
          <a:xfrm>
            <a:off x="14308709" y="5791200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4186789" y="5730240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4901291" y="5791200"/>
            <a:ext cx="5588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4779371" y="5730240"/>
            <a:ext cx="5831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Investigation Creation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16000" y="6942709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7" name="Shape 75"/>
          <p:cNvSpPr/>
          <p:nvPr/>
        </p:nvSpPr>
        <p:spPr>
          <a:xfrm>
            <a:off x="1100709" y="6976491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978789" y="6915531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693291" y="6976491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1571371" y="6915531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Response Engine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620000" y="6942709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2" name="Shape 80"/>
          <p:cNvSpPr/>
          <p:nvPr/>
        </p:nvSpPr>
        <p:spPr>
          <a:xfrm>
            <a:off x="7704709" y="6976491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7582789" y="6915531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8297291" y="6976491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8175371" y="6915531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d'Approval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4224000" y="6942709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7" name="Shape 85"/>
          <p:cNvSpPr/>
          <p:nvPr/>
        </p:nvSpPr>
        <p:spPr>
          <a:xfrm>
            <a:off x="14308709" y="6976491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14186789" y="6915531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4901291" y="6976491"/>
            <a:ext cx="5588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14779371" y="6915531"/>
            <a:ext cx="5831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&amp; Verification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1016000" y="8128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2" name="Shape 90"/>
          <p:cNvSpPr/>
          <p:nvPr/>
        </p:nvSpPr>
        <p:spPr>
          <a:xfrm>
            <a:off x="1100709" y="8161909"/>
            <a:ext cx="7112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978789" y="8100949"/>
            <a:ext cx="955040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1862709" y="8161909"/>
            <a:ext cx="5249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5" name="Text 93"/>
          <p:cNvSpPr/>
          <p:nvPr/>
        </p:nvSpPr>
        <p:spPr>
          <a:xfrm>
            <a:off x="1740789" y="8100949"/>
            <a:ext cx="5493131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7620000" y="8128000"/>
            <a:ext cx="6265291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7" name="Shape 95"/>
          <p:cNvSpPr/>
          <p:nvPr/>
        </p:nvSpPr>
        <p:spPr>
          <a:xfrm>
            <a:off x="7704709" y="8161909"/>
            <a:ext cx="592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8" name="Text 96"/>
          <p:cNvSpPr/>
          <p:nvPr/>
        </p:nvSpPr>
        <p:spPr>
          <a:xfrm>
            <a:off x="7582789" y="8100949"/>
            <a:ext cx="836549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297291" y="8161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0" name="Text 98"/>
          <p:cNvSpPr/>
          <p:nvPr/>
        </p:nvSpPr>
        <p:spPr>
          <a:xfrm>
            <a:off x="8175371" y="8100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 IPS</a:t>
            </a: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14224000" y="8128000"/>
            <a:ext cx="6434709" cy="50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4308709" y="8161909"/>
            <a:ext cx="7112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3" name="Text 101"/>
          <p:cNvSpPr/>
          <p:nvPr/>
        </p:nvSpPr>
        <p:spPr>
          <a:xfrm>
            <a:off x="14186789" y="8100949"/>
            <a:ext cx="955040" cy="5622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15070709" y="8161909"/>
            <a:ext cx="5418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5" name="Text 103"/>
          <p:cNvSpPr/>
          <p:nvPr/>
        </p:nvSpPr>
        <p:spPr>
          <a:xfrm>
            <a:off x="14948789" y="8100949"/>
            <a:ext cx="5662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Assistant &amp; AI Operator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1016000" y="9482709"/>
            <a:ext cx="19642709" cy="135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354709" y="9567291"/>
            <a:ext cx="18965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1232789" y="9506331"/>
            <a:ext cx="19209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transforme les donnees brutes Elasticsearch en operations SOC intelligentes: alertes normalisees, incidents correles, investigations, analyse IA, playbooks, approbation, execution Ansible, verification et archivage.</a:t>
            </a: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0" name="Text 108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</a:t>
            </a:r>
            <a:endParaRPr lang="en-US" sz="1600" dirty="0"/>
          </a:p>
        </p:txBody>
      </p:sp>
      <p:sp>
        <p:nvSpPr>
          <p:cNvPr id="111" name="Shape 109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2" name="Text 110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693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717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 — ALERT INGESTION &amp; ENRICHMENT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0" descr="https://kimi-img.moonshot.cn/pub/slides/okc/hwrav4dscrqkc/mnt/agents/output/soc_platform_en/images/image_2.png">    </p:cNvPr>
          <p:cNvPicPr>
            <a:picLocks noChangeAspect="1"/>
          </p:cNvPicPr>
          <p:nvPr/>
        </p:nvPicPr>
        <p:blipFill>
          <a:blip r:embed="rId1"/>
          <a:srcRect l="34801" r="34801" t="0" b="0"/>
          <a:stretch/>
        </p:blipFill>
        <p:spPr>
          <a:xfrm>
            <a:off x="1016000" y="1998091"/>
            <a:ext cx="19642709" cy="24552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6000" y="4707509"/>
            <a:ext cx="508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94080" y="4646549"/>
            <a:ext cx="532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ELASTICSEARCH SOURCES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5215509"/>
            <a:ext cx="9144000" cy="2336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1354709" y="5334000"/>
            <a:ext cx="8466709" cy="211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32789" y="5273040"/>
            <a:ext cx="8710549" cy="223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7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wazuh-alerts-*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Wazuh Alerts (HIDS)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suricata-*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Suricata Alerts (NIDS)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falco-events-*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Falco Events (runtime)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filebeat-* / telegraf-*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Logs and metrics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668000" y="47075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546080" y="46465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PIPELINE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668000" y="5215509"/>
            <a:ext cx="9990709" cy="2336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11006709" y="5334000"/>
            <a:ext cx="9313291" cy="211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884789" y="5273040"/>
            <a:ext cx="9557131" cy="2238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 ES → </a:t>
            </a:r>
            <a:pPr>
              <a:lnSpc>
                <a:spcPct val="17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Mappers sources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Deduplication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Filtrage bruit → </a:t>
            </a:r>
            <a:pPr>
              <a:lnSpc>
                <a:spcPct val="17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Enrichissement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(GeoIP + MITRE)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Detection campagne → </a:t>
            </a:r>
            <a:pPr>
              <a:lnSpc>
                <a:spcPct val="17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Whitelist check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Persistance SQLite → </a:t>
            </a:r>
            <a:pPr>
              <a:lnSpc>
                <a:spcPct val="17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Broadcast WebSocket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6000" y="7789291"/>
            <a:ext cx="5080000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94080" y="7728331"/>
            <a:ext cx="5323840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RESULTAT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6000" y="8297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1016000" y="8466709"/>
            <a:ext cx="19642709" cy="2878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8"/>
          <p:cNvSpPr/>
          <p:nvPr/>
        </p:nvSpPr>
        <p:spPr>
          <a:xfrm>
            <a:off x="1354709" y="8602091"/>
            <a:ext cx="18965291" cy="262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232789" y="8541131"/>
            <a:ext cx="19209131" cy="274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alerts propres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avec: source, source_id, titre, severite, categorie, IPs, hostname, tags, IOCs, techniques MITRE, metadonnees, cle de dedup, compte d'occurrences.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Visibles dans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/alerts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et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/ips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Ready for incident correlation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Real-time updates via WebSocket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 — INCIDENT CORRELATION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0" descr="https://kimi-img.moonshot.cn/pub/slides/okc/hwrav4dscrqkc/mnt/agents/output/soc_platform_en/images/image_3.png">    </p:cNvPr>
          <p:cNvPicPr>
            <a:picLocks noChangeAspect="1"/>
          </p:cNvPicPr>
          <p:nvPr/>
        </p:nvPicPr>
        <p:blipFill>
          <a:blip r:embed="rId1"/>
          <a:srcRect l="31325" r="31325" t="0" b="0"/>
          <a:stretch/>
        </p:blipFill>
        <p:spPr>
          <a:xfrm>
            <a:off x="1016000" y="1998091"/>
            <a:ext cx="9482709" cy="47412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006709" y="19980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884789" y="19371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SIGNALS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006709" y="2540000"/>
            <a:ext cx="9652000" cy="41995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11345291" y="2709291"/>
            <a:ext cx="8974709" cy="389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1223371" y="2648331"/>
            <a:ext cx="9218549" cy="401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Source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origine attaquante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Hostname / Container ID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meme cible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d'attaque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tactiques MITRE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Kill-chain progression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etapes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Fenetre temporelle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alertes repetees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Observable Extraction: IP, host, container, MITRE → Correlation Engine: time window + IOC + MITRE overlap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6000" y="7112000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94080" y="7051040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EXAMPLE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6000" y="7620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6000" y="7874000"/>
            <a:ext cx="6096000" cy="135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1270000" y="7958709"/>
            <a:ext cx="558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148080" y="7897749"/>
            <a:ext cx="583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3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Suricata</a:t>
            </a:r>
            <a:pPr algn="ctr">
              <a:lnSpc>
                <a:spcPct val="14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port scan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96709" y="82127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074789" y="8151749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958709" y="7874000"/>
            <a:ext cx="6096000" cy="135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8"/>
          <p:cNvSpPr/>
          <p:nvPr/>
        </p:nvSpPr>
        <p:spPr>
          <a:xfrm>
            <a:off x="8212709" y="7958709"/>
            <a:ext cx="5588000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090789" y="7897749"/>
            <a:ext cx="5831840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3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Wazuh</a:t>
            </a:r>
            <a:pPr algn="ctr">
              <a:lnSpc>
                <a:spcPct val="14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 SSH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 force (same IP)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4139291" y="8212709"/>
            <a:ext cx="677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4017371" y="8151749"/>
            <a:ext cx="921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4901291" y="7874000"/>
            <a:ext cx="5757291" cy="135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3"/>
          <p:cNvSpPr/>
          <p:nvPr/>
        </p:nvSpPr>
        <p:spPr>
          <a:xfrm>
            <a:off x="15155291" y="7958709"/>
            <a:ext cx="5249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5033371" y="7897749"/>
            <a:ext cx="5493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3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Falco</a:t>
            </a:r>
            <a:pPr algn="ctr">
              <a:lnSpc>
                <a:spcPct val="14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detecte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73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shell activity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16000" y="9482709"/>
            <a:ext cx="19642709" cy="711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9" name="Shape 26"/>
          <p:cNvSpPr/>
          <p:nvPr/>
        </p:nvSpPr>
        <p:spPr>
          <a:xfrm>
            <a:off x="1354709" y="9482709"/>
            <a:ext cx="18965291" cy="711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232789" y="9421749"/>
            <a:ext cx="19209131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13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</a:t>
            </a:r>
            <a:pPr>
              <a:lnSpc>
                <a:spcPct val="14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 </a:t>
            </a:r>
            <a:pPr>
              <a:lnSpc>
                <a:spcPct val="140000"/>
              </a:lnSpc>
            </a:pPr>
            <a:r>
              <a:rPr lang="en-US" sz="213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fort</a:t>
            </a:r>
            <a:pPr>
              <a:lnSpc>
                <a:spcPct val="140000"/>
              </a:lnSpc>
            </a:pPr>
            <a:r>
              <a:rPr lang="en-US" sz="213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avec confiance elevee: "SSH Brute Force &amp; Port Scan Campaign from 185.220.101.4"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 — INVESTIGATION &amp; AI ENGINE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0" descr="https://kimi-img.moonshot.cn/pub/slides/okc/hwrav4dscrqkc/mnt/agents/output/soc_platform_en/images/image_4.png">    </p:cNvPr>
          <p:cNvPicPr>
            <a:picLocks noChangeAspect="1"/>
          </p:cNvPicPr>
          <p:nvPr/>
        </p:nvPicPr>
        <p:blipFill>
          <a:blip r:embed="rId1"/>
          <a:srcRect l="21169" r="21169" t="0" b="0"/>
          <a:stretch/>
        </p:blipFill>
        <p:spPr>
          <a:xfrm>
            <a:off x="1016000" y="1998091"/>
            <a:ext cx="19642709" cy="186270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6000" y="4148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94080" y="4087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INVESTIGATION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4656709"/>
            <a:ext cx="9482709" cy="355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1354709" y="4775200"/>
            <a:ext cx="8805291" cy="335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32789" y="4714240"/>
            <a:ext cx="9049131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watcher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surveille les incidents ouverts et cree automatiquement des investigations avec contexte riche: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500"/>
              </a:spcBef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timeline of related alerts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IOCs: IPs, ports, services, domains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MITRE tactics and techniques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Behavioral &amp; auth patterns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Dynamic risk score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006709" y="4148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0884789" y="4087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RESPONSE ENGINE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006709" y="4656709"/>
            <a:ext cx="9652000" cy="355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11345291" y="4775200"/>
            <a:ext cx="8974709" cy="3352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1223371" y="4714240"/>
            <a:ext cx="9218549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generates: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500"/>
              </a:spcBef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500"/>
              </a:spcBef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</a:t>
            </a:r>
            <a:pPr>
              <a:lnSpc>
                <a:spcPct val="160000"/>
              </a:lnSpc>
              <a:spcBef>
                <a:spcPts val="500"/>
              </a:spcBef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d'investigation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Narrative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la chaine d'attaque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risque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 YAML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remediation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5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 syntax validation + auto-approval check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16000" y="8297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94080" y="8236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LLM PROVIDERS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16000" y="8805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7"/>
          <p:cNvSpPr/>
          <p:nvPr/>
        </p:nvSpPr>
        <p:spPr>
          <a:xfrm>
            <a:off x="1016000" y="9296400"/>
            <a:ext cx="4572000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Shape 18"/>
          <p:cNvSpPr/>
          <p:nvPr/>
        </p:nvSpPr>
        <p:spPr>
          <a:xfrm>
            <a:off x="1016000" y="9296400"/>
            <a:ext cx="4572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94080" y="9235440"/>
            <a:ext cx="4815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Ollama (Local)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26709" y="9296400"/>
            <a:ext cx="4572000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Shape 21"/>
          <p:cNvSpPr/>
          <p:nvPr/>
        </p:nvSpPr>
        <p:spPr>
          <a:xfrm>
            <a:off x="5926709" y="9296400"/>
            <a:ext cx="4572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804789" y="9235440"/>
            <a:ext cx="4815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Gemini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837291" y="9296400"/>
            <a:ext cx="4572000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Shape 24"/>
          <p:cNvSpPr/>
          <p:nvPr/>
        </p:nvSpPr>
        <p:spPr>
          <a:xfrm>
            <a:off x="10837291" y="9296400"/>
            <a:ext cx="4572000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0715371" y="9235440"/>
            <a:ext cx="4815840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5748000" y="9296400"/>
            <a:ext cx="4910709" cy="4403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Shape 27"/>
          <p:cNvSpPr/>
          <p:nvPr/>
        </p:nvSpPr>
        <p:spPr>
          <a:xfrm>
            <a:off x="15748000" y="9296400"/>
            <a:ext cx="4910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5626080" y="9235440"/>
            <a:ext cx="5154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 NIM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16000" y="10244709"/>
            <a:ext cx="19642709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894080" y="10183749"/>
            <a:ext cx="19886549" cy="968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7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 The system does not execute blindly — output goes through approval and validation before any action.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693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717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 — APPROVAL, EXECUTION &amp; VERIFICATION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6" name="Image 0" descr="https://kimi-img.moonshot.cn/pub/slides/okc/hwrav4dscrqkc/mnt/agents/output/soc_platform_en/images/image_5.png">    </p:cNvPr>
          <p:cNvPicPr>
            <a:picLocks noChangeAspect="1"/>
          </p:cNvPicPr>
          <p:nvPr/>
        </p:nvPicPr>
        <p:blipFill>
          <a:blip r:embed="rId1"/>
          <a:srcRect l="14920" r="14920" t="0" b="0"/>
          <a:stretch/>
        </p:blipFill>
        <p:spPr>
          <a:xfrm>
            <a:off x="1016000" y="1998091"/>
            <a:ext cx="19642709" cy="16932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6000" y="3979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94080" y="3918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APPROVAL TYPES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4538091"/>
            <a:ext cx="6265291" cy="121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1016000" y="4538091"/>
            <a:ext cx="67691" cy="152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1320800" y="4656709"/>
            <a:ext cx="5757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198880" y="4595749"/>
            <a:ext cx="6001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MANUAL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320800" y="5130800"/>
            <a:ext cx="5757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198880" y="5069840"/>
            <a:ext cx="6001131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analyst examines and decides on the action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0" y="4538091"/>
            <a:ext cx="6265291" cy="121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Shape 13"/>
          <p:cNvSpPr/>
          <p:nvPr/>
        </p:nvSpPr>
        <p:spPr>
          <a:xfrm>
            <a:off x="7620000" y="4538091"/>
            <a:ext cx="67691" cy="152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4"/>
          <p:cNvSpPr/>
          <p:nvPr/>
        </p:nvSpPr>
        <p:spPr>
          <a:xfrm>
            <a:off x="7924800" y="4656709"/>
            <a:ext cx="5757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7802880" y="4595749"/>
            <a:ext cx="6001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AUTO-APPROVED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924800" y="5130800"/>
            <a:ext cx="5757291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802880" y="5069840"/>
            <a:ext cx="6001131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Low-risk cases only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4224000" y="4538091"/>
            <a:ext cx="6434709" cy="1219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14224000" y="4538091"/>
            <a:ext cx="67691" cy="1524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3" name="Shape 20"/>
          <p:cNvSpPr/>
          <p:nvPr/>
        </p:nvSpPr>
        <p:spPr>
          <a:xfrm>
            <a:off x="14528800" y="4656709"/>
            <a:ext cx="5926709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4406880" y="4595749"/>
            <a:ext cx="6170549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3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BLOCKED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4528800" y="5130800"/>
            <a:ext cx="5926709" cy="4403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4406880" y="5069840"/>
            <a:ext cx="6170549" cy="56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/ high-risk cases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16000" y="6434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94080" y="6373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CONTROLS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016000" y="6942709"/>
            <a:ext cx="9482709" cy="2032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Shape 27"/>
          <p:cNvSpPr/>
          <p:nvPr/>
        </p:nvSpPr>
        <p:spPr>
          <a:xfrm>
            <a:off x="1354709" y="7027291"/>
            <a:ext cx="8805291" cy="1896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232789" y="6966331"/>
            <a:ext cx="9049131" cy="2018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YAML playbook syntax validation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Pre-execution SSH connectivity verification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 whitelist protection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execution logging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1006709" y="6434709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10884789" y="6373749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 RESULTS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006709" y="6942709"/>
          <a:ext cx="9652000" cy="1862709"/>
        </p:xfrm>
        <a:graphic>
          <a:graphicData uri="http://schemas.openxmlformats.org/drawingml/2006/table">
            <a:tbl>
              <a:tblPr/>
              <a:tblGrid>
                <a:gridCol w="3860800"/>
                <a:gridCol w="5791200"/>
              </a:tblGrid>
              <a:tr h="465677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Meaning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65677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likely_fixed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Success, no new alerts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5677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not_fixed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Alerts continue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65677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inconclusive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Remaining ambiguous signals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1016000" y="9228709"/>
            <a:ext cx="19642709" cy="16932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6" name="Shape 32"/>
          <p:cNvSpPr/>
          <p:nvPr/>
        </p:nvSpPr>
        <p:spPr>
          <a:xfrm>
            <a:off x="1354709" y="9398000"/>
            <a:ext cx="18965291" cy="1354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1232789" y="9337040"/>
            <a:ext cx="19209131" cy="1476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Fundamental principle: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backend never executes blindly. Every remediation action goes through a controlled approval workflow with complete audit — from detection to archiving.</a:t>
            </a:r>
            <a:endParaRPr lang="en-US" sz="1600" dirty="0"/>
          </a:p>
        </p:txBody>
      </p:sp>
      <p:sp>
        <p:nvSpPr>
          <p:cNvPr id="38" name="Shape 34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5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7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 — OPERATIONAL MODULES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032000"/>
            <a:ext cx="9567291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8" name="Shape 6"/>
          <p:cNvSpPr/>
          <p:nvPr/>
        </p:nvSpPr>
        <p:spPr>
          <a:xfrm>
            <a:off x="1354709" y="2370709"/>
            <a:ext cx="474091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" name="Shape 7"/>
          <p:cNvSpPr/>
          <p:nvPr/>
        </p:nvSpPr>
        <p:spPr>
          <a:xfrm>
            <a:off x="1998091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76171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54709" y="3014091"/>
            <a:ext cx="8974709" cy="2743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32789" y="2953131"/>
            <a:ext cx="9218549" cy="286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polling of metrics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telegraf-*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Anomaly detection by thresholds and statistical baselines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investigation creation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of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playbooks de remediation dynamiques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Metrics: CPU, RAM, disk, network, load, processes, TCP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091291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91291" y="2032000"/>
            <a:ext cx="9567291" cy="676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0" y="2370709"/>
            <a:ext cx="474091" cy="4740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73509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951589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IPS ATTACK VISUALIZATION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0" y="3014091"/>
            <a:ext cx="8974709" cy="2743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308080" y="2953131"/>
            <a:ext cx="9218549" cy="286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Carte mondiale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geo-enrichie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 attaques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 paths with lifecycle status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events on the map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 statistics and categories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Categorys: brute-force, web attack, recon, malware, DoS, C2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6773291"/>
            <a:ext cx="9567291" cy="406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6773291"/>
            <a:ext cx="9567291" cy="676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4991" y="7112000"/>
            <a:ext cx="533400" cy="474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1998091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876171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54709" y="7755509"/>
            <a:ext cx="8974709" cy="245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32789" y="7694549"/>
            <a:ext cx="9218549" cy="257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conversationnelle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pour les analystes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questions with enriched answers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Answers based on real SOC data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Approved actions: approve, decline, execute, archive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Flow: Question → Keyword extraction → Deep entity fetch → Context prompt → LLM Answer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91291" y="6773291"/>
            <a:ext cx="9567291" cy="406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91291" y="6773291"/>
            <a:ext cx="9567291" cy="676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0" y="7112000"/>
            <a:ext cx="474091" cy="4740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73509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951589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OPERATOR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430000" y="7755509"/>
            <a:ext cx="8974709" cy="245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308080" y="7694549"/>
            <a:ext cx="9218549" cy="257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language → Ansible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Translation of operational queries into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 execution with approval gate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results and analysis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Templates: RAM, disk, CPU, ports, services, Docker, packages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3 — Backend Intelligence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778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802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&amp; NON-FUNCTIONAL REQUIREMENTS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specification of SOC platform requirements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032000"/>
          <a:ext cx="19642709" cy="8128000"/>
        </p:xfrm>
        <a:graphic>
          <a:graphicData uri="http://schemas.openxmlformats.org/drawingml/2006/table">
            <a:tbl>
              <a:tblPr/>
              <a:tblGrid>
                <a:gridCol w="982135"/>
                <a:gridCol w="5892813"/>
                <a:gridCol w="12767761"/>
              </a:tblGrid>
              <a:tr h="611511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Requirement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Architecture &amp; Cloud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architecture definition, secure Cloud infrastructure setup (VPC, SG, EIP)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Automated Deployment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Centralized installation scripts for all SOC components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Elasticsearch &amp; Kibana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Secure storage backend (TLS, auth), index patterns, dashboards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Logs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Filebeat for system and security logs to Elasticsearch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Metrics Monitoring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Telegraf for CPU, RAM, disk, network with dashboards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NIDS/HIDS Detection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Suricata (network) + Wazuh (host) with detection rules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Runtime Detection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Falco for system calls and abnormal behaviors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Dashboards &amp; Alerts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Structured dashboards, detection rules, visualizations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IA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Automatic analysis, summaries, corrective actions with LLM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51649"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CF0A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Ansible Automation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u="none" dirty="0">
                          <a:solidFill>
                            <a:srgbClr val="0F172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Playbooks for system/infrastructure corrective actions</a:t>
                      </a:r>
                      <a:endParaRPr lang="en-US" sz="20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9567291" cy="279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032000"/>
            <a:ext cx="67691" cy="27940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8" name="Shape 6"/>
          <p:cNvSpPr/>
          <p:nvPr/>
        </p:nvSpPr>
        <p:spPr>
          <a:xfrm>
            <a:off x="1380109" y="2235200"/>
            <a:ext cx="355600" cy="4064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" name="Shape 7"/>
          <p:cNvSpPr/>
          <p:nvPr/>
        </p:nvSpPr>
        <p:spPr>
          <a:xfrm>
            <a:off x="1930400" y="22012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08480" y="21403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54709" y="2794000"/>
            <a:ext cx="8974709" cy="177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32789" y="2733040"/>
            <a:ext cx="9218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Dashboard response time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 2s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Ingestion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 1000 events/second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Availability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091291" y="2032000"/>
            <a:ext cx="9567291" cy="2963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91291" y="2032000"/>
            <a:ext cx="67691" cy="2794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0" y="2235200"/>
            <a:ext cx="406400" cy="406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5691" y="2201291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883771" y="2140331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0" y="2794000"/>
            <a:ext cx="8974709" cy="2032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308080" y="2733040"/>
            <a:ext cx="9218549" cy="215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 for all communications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Authentication required on all services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Elasticsearch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expose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publiquement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audit of actions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5164709"/>
            <a:ext cx="9567291" cy="279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5164709"/>
            <a:ext cx="67691" cy="2794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0109" y="5367909"/>
            <a:ext cx="355600" cy="406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1930400" y="53340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808480" y="52730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54709" y="5926709"/>
            <a:ext cx="8974709" cy="177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32789" y="5865749"/>
            <a:ext cx="9218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Modular architecture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Horizontal scaling support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Adaptive cursor-based polling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91291" y="5164709"/>
            <a:ext cx="9567291" cy="279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91291" y="5164709"/>
            <a:ext cx="67691" cy="2794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0" y="5367909"/>
            <a:ext cx="406400" cy="406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05691" y="5334000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883771" y="5273040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430000" y="5926709"/>
            <a:ext cx="8974709" cy="177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308080" y="5865749"/>
            <a:ext cx="9218549" cy="189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SQLite for local persistence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Circuit breaker on LLM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Graceful error handling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16000" y="8297291"/>
            <a:ext cx="9567291" cy="2455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6000" y="8297291"/>
            <a:ext cx="67691" cy="2455291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Shape 34"/>
          <p:cNvSpPr/>
          <p:nvPr/>
        </p:nvSpPr>
        <p:spPr>
          <a:xfrm>
            <a:off x="1329309" y="8500491"/>
            <a:ext cx="457200" cy="406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Shape 35"/>
          <p:cNvSpPr/>
          <p:nvPr/>
        </p:nvSpPr>
        <p:spPr>
          <a:xfrm>
            <a:off x="1930400" y="8466709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808480" y="8405749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54709" y="9059291"/>
            <a:ext cx="8974709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232789" y="8998331"/>
            <a:ext cx="9218549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Centralized installation scripts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Configuration via YAML files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Complete logging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91291" y="8297291"/>
            <a:ext cx="9567291" cy="2455291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91291" y="8297291"/>
            <a:ext cx="67691" cy="2455291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3" name="Shape 41"/>
          <p:cNvSpPr/>
          <p:nvPr/>
        </p:nvSpPr>
        <p:spPr>
          <a:xfrm>
            <a:off x="11455400" y="8500491"/>
            <a:ext cx="355600" cy="406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05691" y="8466709"/>
            <a:ext cx="8297291" cy="4740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1883771" y="8405749"/>
            <a:ext cx="8541131" cy="5960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INTEROPERABILITY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430000" y="9059291"/>
            <a:ext cx="8974709" cy="1439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1308080" y="8998331"/>
            <a:ext cx="9218549" cy="1561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REST APIs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Real-time WebSocket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Multi-vendor LLM integration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validation and verification approach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1853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2097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032000"/>
            <a:ext cx="9567291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8" name="Shape 6"/>
          <p:cNvSpPr/>
          <p:nvPr/>
        </p:nvSpPr>
        <p:spPr>
          <a:xfrm>
            <a:off x="1354709" y="2370709"/>
            <a:ext cx="474091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9" name="Shape 7"/>
          <p:cNvSpPr/>
          <p:nvPr/>
        </p:nvSpPr>
        <p:spPr>
          <a:xfrm>
            <a:off x="1998091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76171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54709" y="3014091"/>
            <a:ext cx="8974709" cy="313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32789" y="2953131"/>
            <a:ext cx="9218549" cy="325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Alert mapper validation (Wazuh, Suricata, Falco)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Incident correlation logic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Enrichment engine (GeoIP, MITRE)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Ansible playbook generation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YAML parsing and validation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091291" y="2032000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091291" y="2032000"/>
            <a:ext cx="9567291" cy="676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00409" y="2370709"/>
            <a:ext cx="533400" cy="4740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73509" y="2336800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951589" y="2275840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TESTS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0" y="3014091"/>
            <a:ext cx="8974709" cy="313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1308080" y="2953131"/>
            <a:ext cx="9218549" cy="3254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flow ES → Pipeline → SQLite → API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Inter-service communication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LLM integration (Ollama, Gemini)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WebSocket broadcast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End-to-end alert lifecycle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16000" y="6773291"/>
            <a:ext cx="9567291" cy="4064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6773291"/>
            <a:ext cx="9567291" cy="676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84300" y="7112000"/>
            <a:ext cx="414909" cy="474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1998091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876171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FUNCTIONAL TESTS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54709" y="7755509"/>
            <a:ext cx="8974709" cy="279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232789" y="7694549"/>
            <a:ext cx="9218549" cy="291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Simulated attack scenarios (brute-force, port scan, malware)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Verification of generated alerts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Validation of investigations and playbooks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Approval workflow tests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91291" y="6773291"/>
            <a:ext cx="9567291" cy="431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91291" y="6773291"/>
            <a:ext cx="9567291" cy="676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0" y="7112000"/>
            <a:ext cx="474091" cy="474091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12073509" y="707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951589" y="701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&amp; SECURITY TESTS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430000" y="7755509"/>
            <a:ext cx="8974709" cy="304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1308080" y="7694549"/>
            <a:ext cx="9218549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Event load, dashboard latency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 polling stability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Penetration testing, firewall rules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TLS/authentication, audit trails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Strategy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approach and project management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DE DEVELOPPEMENT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980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94080" y="19371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AGILE ITERATIVE APPROACH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6000" y="2506091"/>
            <a:ext cx="19642709" cy="1016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1354709" y="2590800"/>
            <a:ext cx="18965291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232789" y="2529840"/>
            <a:ext cx="19209131" cy="9686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 agile avec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major phases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corresponding to functional deliverables. Each phase produces an operational increment of the SOC platform.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3894709"/>
            <a:ext cx="19642709" cy="508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302000" y="3759200"/>
            <a:ext cx="304800" cy="304800"/>
          </a:xfrm>
          <a:prstGeom prst="ellipse">
            <a:avLst/>
          </a:prstGeom>
          <a:solidFill>
            <a:srgbClr val="CF0A2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4233291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94080" y="4172331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4656709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94080" y="4595749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3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Monitoring Foundation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5080000"/>
            <a:ext cx="5080000" cy="1557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94080" y="5019040"/>
            <a:ext cx="5323840" cy="167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Visibility setup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 tools integration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flow validation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Elasticsearch + Kibana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414000" y="3759200"/>
            <a:ext cx="304800" cy="30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8000" y="4233291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006080" y="4172331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0" y="4656709"/>
            <a:ext cx="5080000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006080" y="4595749"/>
            <a:ext cx="5323840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3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Infrastructure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5080000"/>
            <a:ext cx="5080000" cy="1557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006080" y="5019040"/>
            <a:ext cx="5323840" cy="167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 deployment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VPC/SG securing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optimization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ECS VM 64vCPU/128GB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7526000" y="3759200"/>
            <a:ext cx="304800" cy="3048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0" y="4233291"/>
            <a:ext cx="5418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5118080" y="4172331"/>
            <a:ext cx="5662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5240000" y="4656709"/>
            <a:ext cx="5418709" cy="3724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5118080" y="4595749"/>
            <a:ext cx="5662549" cy="4944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3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Intelligence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5240000" y="5080000"/>
            <a:ext cx="5418709" cy="15579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5118080" y="5019040"/>
            <a:ext cx="5662549" cy="1679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pipeline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correlation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Engine + Ansible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Operational modules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6000" y="7281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94080" y="7220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MANAGEMENT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16000" y="7789291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6000" y="7992491"/>
            <a:ext cx="9482709" cy="2878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Shape 35"/>
          <p:cNvSpPr/>
          <p:nvPr/>
        </p:nvSpPr>
        <p:spPr>
          <a:xfrm>
            <a:off x="1354709" y="8161909"/>
            <a:ext cx="8805291" cy="254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232789" y="8100949"/>
            <a:ext cx="9049131" cy="26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Sprints of </a:t>
            </a:r>
            <a:pPr>
              <a:lnSpc>
                <a:spcPct val="17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weeks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 code reviews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Documentation in parallel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Automated tests at each sprint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Continuous component integration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06709" y="7281291"/>
            <a:ext cx="6773291" cy="423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884789" y="7220331"/>
            <a:ext cx="7017131" cy="545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DELIVERABLES BY PHASE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06709" y="7992491"/>
            <a:ext cx="9652000" cy="2878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40"/>
          <p:cNvSpPr/>
          <p:nvPr/>
        </p:nvSpPr>
        <p:spPr>
          <a:xfrm>
            <a:off x="11345291" y="8161909"/>
            <a:ext cx="8974709" cy="2540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1223371" y="8100949"/>
            <a:ext cx="9218549" cy="266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Documented architecture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Deployment scripts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Operational dashboards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Backend intelligence with API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70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7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Tests and documentation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gradFill rotWithShape="1" flip="none">
          <a:gsLst>
            <a:gs pos="0">
              <a:srgbClr val="1B2A4A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93291" y="3048000"/>
            <a:ext cx="3386709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571371" y="2987040"/>
            <a:ext cx="3630549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47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3291" y="4402709"/>
            <a:ext cx="1354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5" name="Shape 3"/>
          <p:cNvSpPr/>
          <p:nvPr/>
        </p:nvSpPr>
        <p:spPr>
          <a:xfrm>
            <a:off x="1693291" y="4741291"/>
            <a:ext cx="15240000" cy="846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71371" y="4680331"/>
            <a:ext cx="15483840" cy="96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30" spc="267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3291" y="5757291"/>
            <a:ext cx="13546709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71371" y="5696331"/>
            <a:ext cx="13790549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67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review, results obtained and perspectives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762000"/>
            <a:ext cx="677291" cy="50800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1016000" y="982091"/>
            <a:ext cx="15240000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94080" y="921131"/>
            <a:ext cx="15483840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spc="267" kern="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RESULTS &amp; ACHIEVEMENTS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778000"/>
            <a:ext cx="19642709" cy="16891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032000"/>
            <a:ext cx="9567291" cy="262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Shape 5"/>
          <p:cNvSpPr/>
          <p:nvPr/>
        </p:nvSpPr>
        <p:spPr>
          <a:xfrm>
            <a:off x="1384300" y="2286000"/>
            <a:ext cx="414909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8" name="Shape 6"/>
          <p:cNvSpPr/>
          <p:nvPr/>
        </p:nvSpPr>
        <p:spPr>
          <a:xfrm>
            <a:off x="1998091" y="2252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876171" y="2191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SOC PLATFORM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54709" y="2878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232789" y="2817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 monitoring (network, host, runtime, infrastructure) deployed on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Huawei Cloud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secure stack.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091291" y="2032000"/>
            <a:ext cx="9567291" cy="262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0" y="2286000"/>
            <a:ext cx="474091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73509" y="2252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951589" y="2191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PIPELINE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2878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308080" y="2817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b="1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steps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raw data ingestion to correction verification, with automatic correlation and AI analysis.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" y="5080000"/>
            <a:ext cx="9567291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5080000"/>
            <a:ext cx="67691" cy="2624709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0" name="Shape 18"/>
          <p:cNvSpPr/>
          <p:nvPr/>
        </p:nvSpPr>
        <p:spPr>
          <a:xfrm>
            <a:off x="1295400" y="5334000"/>
            <a:ext cx="592709" cy="4740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21" name="Shape 19"/>
          <p:cNvSpPr/>
          <p:nvPr/>
        </p:nvSpPr>
        <p:spPr>
          <a:xfrm>
            <a:off x="1998091" y="5300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876171" y="5239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CONTROLLED AUTOMATION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54709" y="5926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232789" y="5865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Generation of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Ansible playbooks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approval workflows, secure execution with complete action audit.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91291" y="5080000"/>
            <a:ext cx="9567291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11091291" y="5080000"/>
            <a:ext cx="67691" cy="2624709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11430000" y="5334000"/>
            <a:ext cx="474091" cy="474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73509" y="5300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951589" y="5239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AI MODULES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30000" y="5926709"/>
            <a:ext cx="8974709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308080" y="5865749"/>
            <a:ext cx="92185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assistant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natural language operator, geo-attack visualization with world mapping.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16000" y="8128000"/>
            <a:ext cx="19642709" cy="262470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6000" y="8128000"/>
            <a:ext cx="67691" cy="2624709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324991" y="8382000"/>
            <a:ext cx="533400" cy="474091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1998091" y="8348091"/>
            <a:ext cx="8297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876171" y="8287131"/>
            <a:ext cx="8541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ARCHITECTURE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354709" y="8974709"/>
            <a:ext cx="18965291" cy="1524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232789" y="8913749"/>
            <a:ext cx="1920913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deployment with </a:t>
            </a:r>
            <a:pPr>
              <a:lnSpc>
                <a:spcPct val="160000"/>
              </a:lnSpc>
            </a:pPr>
            <a:r>
              <a:rPr lang="en-US" sz="1870" b="1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vCPU / 128 GB RAM</a:t>
            </a:r>
            <a:pPr>
              <a:lnSpc>
                <a:spcPct val="160000"/>
              </a:lnSpc>
            </a:pPr>
            <a:r>
              <a:rPr lang="en-US" sz="1870" dirty="0">
                <a:solidFill>
                  <a:srgbClr val="0F17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securise avec VPC, Security Groups et TLS. Modular architecture supportant l'expansion horizontale.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70" b="1" dirty="0">
                <a:solidFill>
                  <a:srgbClr val="CF0A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transforms raw monitoring data into actionable SOC intelligence, operational visibility and controlled response workflows.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16000" y="11599291"/>
            <a:ext cx="5080000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94080" y="11538331"/>
            <a:ext cx="532384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9981291" y="11599291"/>
            <a:ext cx="677291" cy="338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9859371" y="11538331"/>
            <a:ext cx="921131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73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gradFill rotWithShape="1" flip="none">
          <a:gsLst>
            <a:gs pos="0">
              <a:srgbClr val="1B2A4A"/>
            </a:gs>
            <a:gs pos="60000">
              <a:srgbClr val="162037"/>
            </a:gs>
            <a:gs pos="100000">
              <a:srgbClr val="0F172A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048000"/>
            <a:ext cx="3386709" cy="67691"/>
          </a:xfrm>
          <a:prstGeom prst="rect">
            <a:avLst/>
          </a:prstGeom>
          <a:solidFill>
            <a:srgbClr val="CF0A2C"/>
          </a:solidFill>
          <a:ln/>
        </p:spPr>
      </p:sp>
      <p:sp>
        <p:nvSpPr>
          <p:cNvPr id="3" name="Shape 1"/>
          <p:cNvSpPr/>
          <p:nvPr/>
        </p:nvSpPr>
        <p:spPr>
          <a:xfrm>
            <a:off x="3386709" y="3556000"/>
            <a:ext cx="14901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64789" y="3495040"/>
            <a:ext cx="15145131" cy="130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930" spc="8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86709" y="4910709"/>
            <a:ext cx="14901291" cy="677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264789" y="4849749"/>
            <a:ext cx="15145131" cy="799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7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platform thinks before acting.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6709" y="5757291"/>
            <a:ext cx="14901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64789" y="5696331"/>
            <a:ext cx="15145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dirty="0">
                <a:solidFill>
                  <a:srgbClr val="FFFFFF">
                    <a:alpha val="4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data to intelligent SOC operations.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97291" y="6773291"/>
            <a:ext cx="5080000" cy="33909"/>
          </a:xfrm>
          <a:prstGeom prst="rect">
            <a:avLst/>
          </a:prstGeom>
          <a:solidFill>
            <a:srgbClr val="FFFFFF">
              <a:alpha val="357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386709" y="7112000"/>
            <a:ext cx="14901291" cy="592709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64789" y="7051040"/>
            <a:ext cx="15145131" cy="714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3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GHAZI MABROUKI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86709" y="7789291"/>
            <a:ext cx="14901291" cy="1185291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64789" y="7728331"/>
            <a:ext cx="15145131" cy="130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ArcTic 3 | Huawei Enterprise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13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Department — Innovation Department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6709" y="9313291"/>
            <a:ext cx="14901291" cy="508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64789" y="9252331"/>
            <a:ext cx="15145131" cy="629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30" spc="533" kern="0" dirty="0">
                <a:solidFill>
                  <a:srgbClr val="CF0A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40000" y="1693291"/>
            <a:ext cx="1693291" cy="1693291"/>
          </a:xfrm>
          <a:prstGeom prst="ellipse">
            <a:avLst/>
          </a:prstGeom>
          <a:solidFill>
            <a:srgbClr val="FFFFFF">
              <a:alpha val="47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626709" y="10160000"/>
            <a:ext cx="2032000" cy="2032000"/>
          </a:xfrm>
          <a:prstGeom prst="ellipse">
            <a:avLst/>
          </a:prstGeom>
          <a:solidFill>
            <a:srgbClr val="FFFFFF">
              <a:alpha val="39"/>
            </a:srgbClr>
          </a:solidFill>
          <a:ln w="12700">
            <a:solidFill>
              <a:srgbClr val="FFFFFF">
                <a:alpha val="2745"/>
              </a:srgbClr>
            </a:solidFill>
            <a:prstDash val="solid"/>
          </a:ln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Untitled</dc:subject>
  <dc:creator>Kimi</dc:creator>
  <cp:lastModifiedBy>Kimi</cp:lastModifiedBy>
  <cp:revision>1</cp:revision>
  <dcterms:created xsi:type="dcterms:W3CDTF">2026-04-30T10:37:55Z</dcterms:created>
  <dcterms:modified xsi:type="dcterms:W3CDTF">2026-04-30T10:37:55Z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{"Label":"Untitled","ContentProducer":"001191110108MACG2KBH8F10000","ProduceID":"19dd9ab0-8b02-8ba7-8000-0000f0e6de56","ReservedCode1":"","ContentPropagator":"001191110108MACG2KBH8F20000","PropagateID":"19dd9ab0-8b02-8ba7-8000-0000f0e6de56","ReservedCode2":""}</vt:lpwstr>
  </property>
</Properties>
</file>