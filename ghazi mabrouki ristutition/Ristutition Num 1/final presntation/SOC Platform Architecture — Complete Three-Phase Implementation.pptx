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Quattrocento Sans" charset="-122" pitchFamily="34"/>
      <p:regular r:id="rId35"/>
    </p:embeddedFont>
    <p:embeddedFont>
      <p:font typeface="Liter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94000"/>
            <a:ext cx="2540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3175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spc="4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 PLATFORM ARCHITECTURE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858000" y="4318000"/>
            <a:ext cx="2540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5" name="Text 3"/>
          <p:cNvSpPr/>
          <p:nvPr/>
        </p:nvSpPr>
        <p:spPr>
          <a:xfrm>
            <a:off x="2413000" y="4699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Monitoring to Intelligent Security Operations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83000" y="5334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5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Three-Phase Implementation — Monitoring · Cloud · Intelligence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8509000"/>
            <a:ext cx="762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8128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778000"/>
            <a:ext cx="2794000" cy="6096000"/>
          </a:xfrm>
          <a:prstGeom prst="rect">
            <a:avLst/>
          </a:prstGeom>
          <a:solidFill>
            <a:srgbClr val="161F2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1590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3175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429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&amp; GOALS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45720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operations gaps, project objectives, and strategic outcomes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0" y="1778000"/>
            <a:ext cx="2794000" cy="6096000"/>
          </a:xfrm>
          <a:prstGeom prst="rect">
            <a:avLst/>
          </a:prstGeom>
          <a:solidFill>
            <a:srgbClr val="161F2E"/>
          </a:solidFill>
          <a:ln/>
        </p:spPr>
      </p:sp>
      <p:sp>
        <p:nvSpPr>
          <p:cNvPr id="10" name="Text 8"/>
          <p:cNvSpPr/>
          <p:nvPr/>
        </p:nvSpPr>
        <p:spPr>
          <a:xfrm>
            <a:off x="4064000" y="21590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64000" y="3175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12" name="Text 10"/>
          <p:cNvSpPr/>
          <p:nvPr/>
        </p:nvSpPr>
        <p:spPr>
          <a:xfrm>
            <a:off x="4064000" y="3429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FOUNDATION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4000" y="45720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Visibility layers, security tools, architecture, and deployment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0" y="1778000"/>
            <a:ext cx="2794000" cy="6096000"/>
          </a:xfrm>
          <a:prstGeom prst="rect">
            <a:avLst/>
          </a:prstGeom>
          <a:solidFill>
            <a:srgbClr val="161F2E"/>
          </a:solidFill>
          <a:ln/>
        </p:spPr>
      </p:sp>
      <p:sp>
        <p:nvSpPr>
          <p:cNvPr id="15" name="Text 13"/>
          <p:cNvSpPr/>
          <p:nvPr/>
        </p:nvSpPr>
        <p:spPr>
          <a:xfrm>
            <a:off x="7112000" y="21590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12000" y="3175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17" name="Text 15"/>
          <p:cNvSpPr/>
          <p:nvPr/>
        </p:nvSpPr>
        <p:spPr>
          <a:xfrm>
            <a:off x="7112000" y="34290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INFRASTRUCTURE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12000" y="4762500"/>
            <a:ext cx="228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Huawei Cloud deployment, ECS architecture, and security groups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906000" y="1778000"/>
            <a:ext cx="2794000" cy="6096000"/>
          </a:xfrm>
          <a:prstGeom prst="rect">
            <a:avLst/>
          </a:prstGeom>
          <a:solidFill>
            <a:srgbClr val="161F2E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0" y="21590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160000" y="3175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0" y="3429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INTELLIGENCE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0" y="45720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 pipeline, AI engine, approval workflows, and remediation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954000" y="1778000"/>
            <a:ext cx="2540000" cy="6096000"/>
          </a:xfrm>
          <a:prstGeom prst="rect">
            <a:avLst/>
          </a:prstGeom>
          <a:solidFill>
            <a:srgbClr val="161F2E"/>
          </a:solidFill>
          <a:ln/>
        </p:spPr>
      </p:sp>
      <p:sp>
        <p:nvSpPr>
          <p:cNvPr id="25" name="Text 23"/>
          <p:cNvSpPr/>
          <p:nvPr/>
        </p:nvSpPr>
        <p:spPr>
          <a:xfrm>
            <a:off x="13208000" y="2159000"/>
            <a:ext cx="203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208000" y="3175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27" name="Text 25"/>
          <p:cNvSpPr/>
          <p:nvPr/>
        </p:nvSpPr>
        <p:spPr>
          <a:xfrm>
            <a:off x="13208000" y="34290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&amp; OUTCOMES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208000" y="4572000"/>
            <a:ext cx="20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platform capabilities and delivered value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30" name="Text 28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&amp; GOALS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62000" y="5080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this platform exists and what it aims to achieve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&amp; GOALS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 — SECURITY OPERATIONS GAPS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4699000" cy="3175000"/>
          </a:xfrm>
          <a:prstGeom prst="rect">
            <a:avLst/>
          </a:prstGeom>
          <a:solidFill>
            <a:srgbClr val="161F2E"/>
          </a:solidFill>
          <a:ln/>
        </p:spPr>
      </p:sp>
      <p:sp>
        <p:nvSpPr>
          <p:cNvPr id="6" name="Shape 4"/>
          <p:cNvSpPr/>
          <p:nvPr/>
        </p:nvSpPr>
        <p:spPr>
          <a:xfrm>
            <a:off x="987425" y="2159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6612" y="-22235"/>
                </a:moveTo>
                <a:cubicBezTo>
                  <a:pt x="28218" y="-30629"/>
                  <a:pt x="14645" y="-30629"/>
                  <a:pt x="6340" y="-22235"/>
                </a:cubicBezTo>
                <a:cubicBezTo>
                  <a:pt x="-1965" y="-13841"/>
                  <a:pt x="-2054" y="-268"/>
                  <a:pt x="6251" y="8126"/>
                </a:cubicBezTo>
                <a:lnTo>
                  <a:pt x="477738" y="479614"/>
                </a:lnTo>
                <a:cubicBezTo>
                  <a:pt x="486132" y="488007"/>
                  <a:pt x="499705" y="488007"/>
                  <a:pt x="508010" y="479614"/>
                </a:cubicBezTo>
                <a:cubicBezTo>
                  <a:pt x="516315" y="471220"/>
                  <a:pt x="516404" y="457646"/>
                  <a:pt x="508010" y="449342"/>
                </a:cubicBezTo>
                <a:lnTo>
                  <a:pt x="421928" y="363260"/>
                </a:lnTo>
                <a:cubicBezTo>
                  <a:pt x="424339" y="361117"/>
                  <a:pt x="426750" y="358973"/>
                  <a:pt x="429071" y="356830"/>
                </a:cubicBezTo>
                <a:cubicBezTo>
                  <a:pt x="470862" y="317986"/>
                  <a:pt x="498812" y="271641"/>
                  <a:pt x="512118" y="239762"/>
                </a:cubicBezTo>
                <a:cubicBezTo>
                  <a:pt x="515064" y="232708"/>
                  <a:pt x="515064" y="224850"/>
                  <a:pt x="512118" y="217795"/>
                </a:cubicBezTo>
                <a:cubicBezTo>
                  <a:pt x="498812" y="185916"/>
                  <a:pt x="470862" y="139482"/>
                  <a:pt x="429071" y="100727"/>
                </a:cubicBezTo>
                <a:cubicBezTo>
                  <a:pt x="387013" y="61704"/>
                  <a:pt x="329238" y="28754"/>
                  <a:pt x="257086" y="28754"/>
                </a:cubicBezTo>
                <a:cubicBezTo>
                  <a:pt x="206365" y="28754"/>
                  <a:pt x="162788" y="45006"/>
                  <a:pt x="126712" y="68223"/>
                </a:cubicBezTo>
                <a:lnTo>
                  <a:pt x="36612" y="-22235"/>
                </a:lnTo>
                <a:close/>
                <a:moveTo>
                  <a:pt x="182612" y="123855"/>
                </a:moveTo>
                <a:cubicBezTo>
                  <a:pt x="203597" y="108853"/>
                  <a:pt x="229404" y="100012"/>
                  <a:pt x="257175" y="100012"/>
                </a:cubicBezTo>
                <a:cubicBezTo>
                  <a:pt x="328166" y="100012"/>
                  <a:pt x="385763" y="157609"/>
                  <a:pt x="385763" y="228600"/>
                </a:cubicBezTo>
                <a:cubicBezTo>
                  <a:pt x="385763" y="256371"/>
                  <a:pt x="376922" y="282089"/>
                  <a:pt x="361920" y="303163"/>
                </a:cubicBezTo>
                <a:lnTo>
                  <a:pt x="330934" y="272177"/>
                </a:lnTo>
                <a:cubicBezTo>
                  <a:pt x="342275" y="253067"/>
                  <a:pt x="346115" y="229582"/>
                  <a:pt x="339953" y="206365"/>
                </a:cubicBezTo>
                <a:cubicBezTo>
                  <a:pt x="327720" y="160645"/>
                  <a:pt x="280660" y="133499"/>
                  <a:pt x="234940" y="145733"/>
                </a:cubicBezTo>
                <a:cubicBezTo>
                  <a:pt x="227261" y="147786"/>
                  <a:pt x="220028" y="150822"/>
                  <a:pt x="213509" y="154662"/>
                </a:cubicBezTo>
                <a:lnTo>
                  <a:pt x="182523" y="123676"/>
                </a:lnTo>
                <a:close/>
                <a:moveTo>
                  <a:pt x="290483" y="352812"/>
                </a:moveTo>
                <a:cubicBezTo>
                  <a:pt x="279856" y="355669"/>
                  <a:pt x="268694" y="357188"/>
                  <a:pt x="257175" y="357188"/>
                </a:cubicBezTo>
                <a:cubicBezTo>
                  <a:pt x="186184" y="357188"/>
                  <a:pt x="128588" y="299591"/>
                  <a:pt x="128588" y="228600"/>
                </a:cubicBezTo>
                <a:cubicBezTo>
                  <a:pt x="128588" y="217081"/>
                  <a:pt x="130106" y="205919"/>
                  <a:pt x="132963" y="195292"/>
                </a:cubicBezTo>
                <a:lnTo>
                  <a:pt x="61972" y="124301"/>
                </a:lnTo>
                <a:cubicBezTo>
                  <a:pt x="32861" y="157163"/>
                  <a:pt x="12859" y="191988"/>
                  <a:pt x="2232" y="217616"/>
                </a:cubicBezTo>
                <a:cubicBezTo>
                  <a:pt x="-714" y="224671"/>
                  <a:pt x="-714" y="232529"/>
                  <a:pt x="2232" y="239584"/>
                </a:cubicBezTo>
                <a:cubicBezTo>
                  <a:pt x="15538" y="271463"/>
                  <a:pt x="43488" y="317897"/>
                  <a:pt x="85279" y="356652"/>
                </a:cubicBezTo>
                <a:cubicBezTo>
                  <a:pt x="127337" y="395674"/>
                  <a:pt x="185112" y="428625"/>
                  <a:pt x="257264" y="428625"/>
                </a:cubicBezTo>
                <a:cubicBezTo>
                  <a:pt x="290572" y="428625"/>
                  <a:pt x="320844" y="421571"/>
                  <a:pt x="347901" y="410230"/>
                </a:cubicBezTo>
                <a:lnTo>
                  <a:pt x="290572" y="352901"/>
                </a:lnTo>
                <a:close/>
              </a:path>
            </a:pathLst>
          </a:custGeom>
          <a:solidFill>
            <a:srgbClr val="D4A24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794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FRAGMENTED VISIBILITY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3020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Organizations watch only one layer — network OR host OR runtime — creating dangerous blind spots attackers exploit.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78500" y="1905000"/>
            <a:ext cx="4699000" cy="3175000"/>
          </a:xfrm>
          <a:prstGeom prst="rect">
            <a:avLst/>
          </a:prstGeom>
          <a:solidFill>
            <a:srgbClr val="161F2E"/>
          </a:solidFill>
          <a:ln/>
        </p:spPr>
      </p:sp>
      <p:sp>
        <p:nvSpPr>
          <p:cNvPr id="10" name="Shape 8"/>
          <p:cNvSpPr/>
          <p:nvPr/>
        </p:nvSpPr>
        <p:spPr>
          <a:xfrm>
            <a:off x="6061075" y="2159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D4A24A"/>
          </a:solidFill>
          <a:ln/>
        </p:spPr>
      </p:sp>
      <p:sp>
        <p:nvSpPr>
          <p:cNvPr id="11" name="Text 9"/>
          <p:cNvSpPr/>
          <p:nvPr/>
        </p:nvSpPr>
        <p:spPr>
          <a:xfrm>
            <a:off x="6032500" y="2794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DATA OVERLOAD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33020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SIEMs collect massive unstructured technical data. Analysts drown in alerts without context, correlation, or prioritization.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95000" y="1905000"/>
            <a:ext cx="4699000" cy="2921000"/>
          </a:xfrm>
          <a:prstGeom prst="rect">
            <a:avLst/>
          </a:prstGeom>
          <a:solidFill>
            <a:srgbClr val="161F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49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7175" y="28575"/>
                </a:moveTo>
                <a:cubicBezTo>
                  <a:pt x="257175" y="12769"/>
                  <a:pt x="244406" y="0"/>
                  <a:pt x="228600" y="0"/>
                </a:cubicBezTo>
                <a:cubicBezTo>
                  <a:pt x="212794" y="0"/>
                  <a:pt x="200025" y="12769"/>
                  <a:pt x="200025" y="28575"/>
                </a:cubicBezTo>
                <a:lnTo>
                  <a:pt x="200025" y="214313"/>
                </a:lnTo>
                <a:cubicBezTo>
                  <a:pt x="200025" y="222171"/>
                  <a:pt x="193596" y="228600"/>
                  <a:pt x="185738" y="228600"/>
                </a:cubicBezTo>
                <a:cubicBezTo>
                  <a:pt x="177879" y="228600"/>
                  <a:pt x="171450" y="222171"/>
                  <a:pt x="171450" y="214313"/>
                </a:cubicBezTo>
                <a:lnTo>
                  <a:pt x="171450" y="57150"/>
                </a:lnTo>
                <a:cubicBezTo>
                  <a:pt x="171450" y="41344"/>
                  <a:pt x="158681" y="28575"/>
                  <a:pt x="142875" y="28575"/>
                </a:cubicBezTo>
                <a:cubicBezTo>
                  <a:pt x="127069" y="28575"/>
                  <a:pt x="114300" y="41344"/>
                  <a:pt x="114300" y="57150"/>
                </a:cubicBezTo>
                <a:lnTo>
                  <a:pt x="114300" y="300038"/>
                </a:lnTo>
                <a:cubicBezTo>
                  <a:pt x="114300" y="301377"/>
                  <a:pt x="114300" y="302806"/>
                  <a:pt x="114389" y="304145"/>
                </a:cubicBezTo>
                <a:lnTo>
                  <a:pt x="60365" y="252710"/>
                </a:lnTo>
                <a:cubicBezTo>
                  <a:pt x="46077" y="239137"/>
                  <a:pt x="23485" y="239673"/>
                  <a:pt x="9823" y="253960"/>
                </a:cubicBezTo>
                <a:cubicBezTo>
                  <a:pt x="-3840" y="268248"/>
                  <a:pt x="-3215" y="290840"/>
                  <a:pt x="11073" y="304502"/>
                </a:cubicBezTo>
                <a:lnTo>
                  <a:pt x="111443" y="400050"/>
                </a:lnTo>
                <a:cubicBezTo>
                  <a:pt x="149929" y="436751"/>
                  <a:pt x="201097" y="457200"/>
                  <a:pt x="254318" y="457200"/>
                </a:cubicBezTo>
                <a:lnTo>
                  <a:pt x="271463" y="457200"/>
                </a:lnTo>
                <a:cubicBezTo>
                  <a:pt x="358259" y="457200"/>
                  <a:pt x="428625" y="386834"/>
                  <a:pt x="428625" y="300038"/>
                </a:cubicBezTo>
                <a:lnTo>
                  <a:pt x="428625" y="114300"/>
                </a:lnTo>
                <a:cubicBezTo>
                  <a:pt x="428625" y="98494"/>
                  <a:pt x="415856" y="85725"/>
                  <a:pt x="400050" y="85725"/>
                </a:cubicBezTo>
                <a:cubicBezTo>
                  <a:pt x="384244" y="85725"/>
                  <a:pt x="371475" y="98494"/>
                  <a:pt x="371475" y="114300"/>
                </a:cubicBezTo>
                <a:lnTo>
                  <a:pt x="371475" y="214313"/>
                </a:lnTo>
                <a:cubicBezTo>
                  <a:pt x="371475" y="222171"/>
                  <a:pt x="365046" y="228600"/>
                  <a:pt x="357188" y="228600"/>
                </a:cubicBezTo>
                <a:cubicBezTo>
                  <a:pt x="349329" y="228600"/>
                  <a:pt x="342900" y="222171"/>
                  <a:pt x="342900" y="214313"/>
                </a:cubicBezTo>
                <a:lnTo>
                  <a:pt x="342900" y="57150"/>
                </a:lnTo>
                <a:cubicBezTo>
                  <a:pt x="342900" y="41344"/>
                  <a:pt x="330131" y="28575"/>
                  <a:pt x="314325" y="28575"/>
                </a:cubicBezTo>
                <a:cubicBezTo>
                  <a:pt x="298519" y="28575"/>
                  <a:pt x="285750" y="41344"/>
                  <a:pt x="285750" y="57150"/>
                </a:cubicBezTo>
                <a:lnTo>
                  <a:pt x="285750" y="214313"/>
                </a:lnTo>
                <a:cubicBezTo>
                  <a:pt x="285750" y="222171"/>
                  <a:pt x="279321" y="228600"/>
                  <a:pt x="271463" y="228600"/>
                </a:cubicBezTo>
                <a:cubicBezTo>
                  <a:pt x="263604" y="228600"/>
                  <a:pt x="257175" y="222171"/>
                  <a:pt x="257175" y="214313"/>
                </a:cubicBezTo>
                <a:lnTo>
                  <a:pt x="257175" y="28575"/>
                </a:lnTo>
                <a:close/>
              </a:path>
            </a:pathLst>
          </a:custGeom>
          <a:solidFill>
            <a:srgbClr val="D4A24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9000" y="2794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PASSIVE RESPONSE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3302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Most SOC platforms only detect and display alerts. Correlation, investigation, and remediation remain entirely manual.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5207000"/>
            <a:ext cx="14732000" cy="1270000"/>
          </a:xfrm>
          <a:prstGeom prst="rect">
            <a:avLst/>
          </a:prstGeom>
          <a:solidFill>
            <a:srgbClr val="0F152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9500" y="5524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01439" y="0"/>
                  <a:pt x="211485" y="6028"/>
                  <a:pt x="216694" y="15627"/>
                </a:cubicBezTo>
                <a:lnTo>
                  <a:pt x="377428" y="313283"/>
                </a:lnTo>
                <a:cubicBezTo>
                  <a:pt x="382414" y="322511"/>
                  <a:pt x="382191" y="333673"/>
                  <a:pt x="376833" y="342677"/>
                </a:cubicBezTo>
                <a:cubicBezTo>
                  <a:pt x="371475" y="351681"/>
                  <a:pt x="361727" y="357188"/>
                  <a:pt x="351234" y="357188"/>
                </a:cubicBezTo>
                <a:lnTo>
                  <a:pt x="29766" y="357188"/>
                </a:lnTo>
                <a:cubicBezTo>
                  <a:pt x="19273" y="357188"/>
                  <a:pt x="9599" y="351681"/>
                  <a:pt x="4167" y="342677"/>
                </a:cubicBezTo>
                <a:cubicBezTo>
                  <a:pt x="-1265" y="333673"/>
                  <a:pt x="-1414" y="322511"/>
                  <a:pt x="3572" y="313283"/>
                </a:cubicBezTo>
                <a:lnTo>
                  <a:pt x="164306" y="15627"/>
                </a:lnTo>
                <a:cubicBezTo>
                  <a:pt x="169515" y="6028"/>
                  <a:pt x="179561" y="0"/>
                  <a:pt x="190500" y="0"/>
                </a:cubicBezTo>
                <a:close/>
                <a:moveTo>
                  <a:pt x="190500" y="125016"/>
                </a:moveTo>
                <a:cubicBezTo>
                  <a:pt x="180603" y="125016"/>
                  <a:pt x="172641" y="132978"/>
                  <a:pt x="172641" y="142875"/>
                </a:cubicBezTo>
                <a:lnTo>
                  <a:pt x="172641" y="226219"/>
                </a:lnTo>
                <a:cubicBezTo>
                  <a:pt x="172641" y="236116"/>
                  <a:pt x="180603" y="244078"/>
                  <a:pt x="190500" y="244078"/>
                </a:cubicBezTo>
                <a:cubicBezTo>
                  <a:pt x="200397" y="244078"/>
                  <a:pt x="208359" y="236116"/>
                  <a:pt x="208359" y="226219"/>
                </a:cubicBezTo>
                <a:lnTo>
                  <a:pt x="208359" y="142875"/>
                </a:lnTo>
                <a:cubicBezTo>
                  <a:pt x="208359" y="132978"/>
                  <a:pt x="200397" y="125016"/>
                  <a:pt x="190500" y="125016"/>
                </a:cubicBezTo>
                <a:close/>
                <a:moveTo>
                  <a:pt x="210369" y="285750"/>
                </a:moveTo>
                <a:cubicBezTo>
                  <a:pt x="210821" y="278375"/>
                  <a:pt x="207143" y="271358"/>
                  <a:pt x="200820" y="267534"/>
                </a:cubicBezTo>
                <a:cubicBezTo>
                  <a:pt x="194498" y="263710"/>
                  <a:pt x="186576" y="263710"/>
                  <a:pt x="180254" y="267534"/>
                </a:cubicBezTo>
                <a:cubicBezTo>
                  <a:pt x="173932" y="271358"/>
                  <a:pt x="170254" y="278375"/>
                  <a:pt x="170706" y="285750"/>
                </a:cubicBezTo>
                <a:cubicBezTo>
                  <a:pt x="170254" y="293125"/>
                  <a:pt x="173932" y="300142"/>
                  <a:pt x="180254" y="303966"/>
                </a:cubicBezTo>
                <a:cubicBezTo>
                  <a:pt x="186576" y="307790"/>
                  <a:pt x="194498" y="307790"/>
                  <a:pt x="200820" y="303966"/>
                </a:cubicBezTo>
                <a:cubicBezTo>
                  <a:pt x="207143" y="300142"/>
                  <a:pt x="210821" y="293125"/>
                  <a:pt x="210369" y="285750"/>
                </a:cubicBezTo>
                <a:close/>
              </a:path>
            </a:pathLst>
          </a:custGeom>
          <a:solidFill>
            <a:srgbClr val="D4A24A"/>
          </a:solidFill>
          <a:ln/>
        </p:spPr>
      </p:sp>
      <p:sp>
        <p:nvSpPr>
          <p:cNvPr id="19" name="Text 17"/>
          <p:cNvSpPr/>
          <p:nvPr/>
        </p:nvSpPr>
        <p:spPr>
          <a:xfrm>
            <a:off x="1651000" y="53340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4A2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Result: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Slower incident response, missed multi-stage attack patterns, and analyst burnout from manual correlation across disconnected tools.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21" name="Text 19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&amp; GOALS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GOALS &amp; OBJECTIVES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20320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905000" y="2286000"/>
            <a:ext cx="25400" cy="3810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7" name="Text 5"/>
          <p:cNvSpPr/>
          <p:nvPr/>
        </p:nvSpPr>
        <p:spPr>
          <a:xfrm>
            <a:off x="2159000" y="203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VISIBILITY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59000" y="2540000"/>
            <a:ext cx="1333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Monitor network, host, runtime, and infrastructure layers in one unified stack. No blind spots. Every critical layer observed, collected, and centralized.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3556000"/>
            <a:ext cx="14732000" cy="12700"/>
          </a:xfrm>
          <a:prstGeom prst="rect">
            <a:avLst/>
          </a:prstGeom>
          <a:solidFill>
            <a:srgbClr val="2A3441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8100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1905000" y="4064000"/>
            <a:ext cx="25400" cy="3810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12" name="Text 10"/>
          <p:cNvSpPr/>
          <p:nvPr/>
        </p:nvSpPr>
        <p:spPr>
          <a:xfrm>
            <a:off x="2159000" y="381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PROCESSING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59000" y="4318000"/>
            <a:ext cx="1333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Transform raw alerts into enriched, correlated incidents with AI-powered analysis. From data overload to actionable intelligence.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334000"/>
            <a:ext cx="14732000" cy="12700"/>
          </a:xfrm>
          <a:prstGeom prst="rect">
            <a:avLst/>
          </a:prstGeom>
          <a:solidFill>
            <a:srgbClr val="2A3441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55880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5200" dirty="0"/>
          </a:p>
        </p:txBody>
      </p:sp>
      <p:sp>
        <p:nvSpPr>
          <p:cNvPr id="16" name="Shape 14"/>
          <p:cNvSpPr/>
          <p:nvPr/>
        </p:nvSpPr>
        <p:spPr>
          <a:xfrm>
            <a:off x="1905000" y="5842000"/>
            <a:ext cx="25400" cy="3810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17" name="Text 15"/>
          <p:cNvSpPr/>
          <p:nvPr/>
        </p:nvSpPr>
        <p:spPr>
          <a:xfrm>
            <a:off x="2159000" y="558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CONTROLLED RESPONSE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59000" y="6096000"/>
            <a:ext cx="1333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Automate investigation, playbook generation, approval workflows, and Ansible-based remediation with full audit trails. The platform thinks before it acts.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20" name="Text 18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MONITORING FOUNDATION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62000" y="5080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the visibility backbone of the SOC platform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— MONITORING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VISIBILITY LAYERS &amp; SECURITY TOOLS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14732000" cy="635000"/>
          </a:xfrm>
          <a:prstGeom prst="rect">
            <a:avLst/>
          </a:prstGeom>
          <a:solidFill>
            <a:srgbClr val="0F1520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841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2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Idea: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any SOC logic can exist, the system must see everything — network, host, runtime, and resources.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730500"/>
          <a:ext cx="14732000" cy="4318000"/>
        </p:xfrm>
        <a:graphic>
          <a:graphicData uri="http://schemas.openxmlformats.org/drawingml/2006/table">
            <a:tbl>
              <a:tblPr/>
              <a:tblGrid>
                <a:gridCol w="3241040"/>
                <a:gridCol w="4124960"/>
                <a:gridCol w="7366000"/>
              </a:tblGrid>
              <a:tr h="525335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2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Layer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2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2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</a:tr>
              <a:tr h="47408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Network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Suricata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Traffic, packets, protocols, IDS alerts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</a:tr>
              <a:tr h="47408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Host / Endpoint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Auth events, file integrity, agent alerts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</a:tr>
              <a:tr h="47408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Runtime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Process behavior, syscalls, containers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</a:tr>
              <a:tr h="47408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Infrastructure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Telegraf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CPU, RAM, disk, load, system health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</a:tr>
              <a:tr h="47408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Filebeat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 shipping and forwarding to Elasticsearch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</a:tr>
              <a:tr h="47408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Falcosidekick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 alert forwarding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</a:tr>
              <a:tr h="47408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Analysis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Elasticsearch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Storage, indexing, search, centralization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</a:tr>
              <a:tr h="47408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Visualization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Kibana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Dashboards, monitoring, analysis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9" name="Text 6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— MONITORING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&amp; DATA 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841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 → COLLECTION → ELASTICSEARCH → KIBANA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349500"/>
            <a:ext cx="14732000" cy="254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667000"/>
            <a:ext cx="3429000" cy="3556000"/>
          </a:xfrm>
          <a:prstGeom prst="rect">
            <a:avLst/>
          </a:prstGeom>
          <a:solidFill>
            <a:srgbClr val="161F2E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2794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500" y="3302000"/>
            <a:ext cx="304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Logs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 Logs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 IDS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 HIDS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 Runtime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 Metrics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18000" y="4318000"/>
            <a:ext cx="508000" cy="0"/>
          </a:xfrm>
          <a:prstGeom prst="straightConnector1">
            <a:avLst/>
          </a:prstGeom>
          <a:noFill/>
          <a:ln w="25400">
            <a:solidFill>
              <a:srgbClr val="D4A24A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953000" y="2667000"/>
            <a:ext cx="3429000" cy="3556000"/>
          </a:xfrm>
          <a:prstGeom prst="rect">
            <a:avLst/>
          </a:prstGeom>
          <a:solidFill>
            <a:srgbClr val="161F2E"/>
          </a:solidFill>
          <a:ln/>
        </p:spPr>
      </p:sp>
      <p:sp>
        <p:nvSpPr>
          <p:cNvPr id="12" name="Text 10"/>
          <p:cNvSpPr/>
          <p:nvPr/>
        </p:nvSpPr>
        <p:spPr>
          <a:xfrm>
            <a:off x="5143500" y="2794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COLLECTION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43500" y="3302000"/>
            <a:ext cx="304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Reads and ships logs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Falcosidekick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Receives Falco alerts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 → 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metrics feed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09000" y="4318000"/>
            <a:ext cx="508000" cy="0"/>
          </a:xfrm>
          <a:prstGeom prst="straightConnector1">
            <a:avLst/>
          </a:prstGeom>
          <a:noFill/>
          <a:ln w="25400">
            <a:solidFill>
              <a:srgbClr val="D4A24A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9144000" y="2667000"/>
            <a:ext cx="3429000" cy="3556000"/>
          </a:xfrm>
          <a:prstGeom prst="rect">
            <a:avLst/>
          </a:prstGeom>
          <a:solidFill>
            <a:srgbClr val="0F1520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34500" y="2794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SIEM CORE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34500" y="3302000"/>
            <a:ext cx="304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 storage, search, indexing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9200 HTTPS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Receives all data streams: Filebeat, Falcosidekick, Telegraf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700000" y="4318000"/>
            <a:ext cx="508000" cy="0"/>
          </a:xfrm>
          <a:prstGeom prst="straightConnector1">
            <a:avLst/>
          </a:prstGeom>
          <a:noFill/>
          <a:ln w="25400">
            <a:solidFill>
              <a:srgbClr val="D4A24A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3335000" y="2667000"/>
            <a:ext cx="2159000" cy="3556000"/>
          </a:xfrm>
          <a:prstGeom prst="rect">
            <a:avLst/>
          </a:prstGeom>
          <a:solidFill>
            <a:srgbClr val="161F2E"/>
          </a:solidFill>
          <a:ln/>
        </p:spPr>
      </p:sp>
      <p:sp>
        <p:nvSpPr>
          <p:cNvPr id="20" name="Text 18"/>
          <p:cNvSpPr/>
          <p:nvPr/>
        </p:nvSpPr>
        <p:spPr>
          <a:xfrm>
            <a:off x="13525500" y="2794000"/>
            <a:ext cx="196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525500" y="3302000"/>
            <a:ext cx="177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Kibana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5601 HTTPS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23" name="Text 21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— MONITORING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DEPLOYMENT, SETUP &amp; REQUIREMENTS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90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REQUIREMENTS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413000"/>
          <a:ext cx="6858000" cy="1778000"/>
        </p:xfrm>
        <a:graphic>
          <a:graphicData uri="http://schemas.openxmlformats.org/drawingml/2006/table">
            <a:tbl>
              <a:tblPr/>
              <a:tblGrid>
                <a:gridCol w="1714500"/>
                <a:gridCol w="1714500"/>
                <a:gridCol w="1714500"/>
                <a:gridCol w="1714500"/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2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Level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2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CPU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2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2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Minimum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 cores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GB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50 GB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Recommended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cores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 GB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 GB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0" y="190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DEPLOYMENT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128000" y="2413000"/>
            <a:ext cx="3429000" cy="2159000"/>
          </a:xfrm>
          <a:prstGeom prst="rect">
            <a:avLst/>
          </a:prstGeom>
          <a:solidFill>
            <a:srgbClr val="161F2E"/>
          </a:solidFill>
          <a:ln/>
        </p:spPr>
      </p:sp>
      <p:sp>
        <p:nvSpPr>
          <p:cNvPr id="9" name="Text 6"/>
          <p:cNvSpPr/>
          <p:nvPr/>
        </p:nvSpPr>
        <p:spPr>
          <a:xfrm>
            <a:off x="8318500" y="2540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NATIVE SERVICES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18500" y="2921000"/>
            <a:ext cx="304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9200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Kibana 5601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Filebeat, Suricata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 1514/1515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811000" y="2413000"/>
            <a:ext cx="3683000" cy="1778000"/>
          </a:xfrm>
          <a:prstGeom prst="rect">
            <a:avLst/>
          </a:prstGeom>
          <a:solidFill>
            <a:srgbClr val="161F2E"/>
          </a:solidFill>
          <a:ln/>
        </p:spPr>
      </p:sp>
      <p:sp>
        <p:nvSpPr>
          <p:cNvPr id="12" name="Text 9"/>
          <p:cNvSpPr/>
          <p:nvPr/>
        </p:nvSpPr>
        <p:spPr>
          <a:xfrm>
            <a:off x="12001500" y="2540000"/>
            <a:ext cx="330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SERVICES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001500" y="29210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 (Runtime)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Falcosidekick 2801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2000" y="457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THE SPLIT?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2000" y="5080000"/>
            <a:ext cx="685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SIEM core stays stable and centralized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Runtime detection is isolated in containers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Architecture stays simple and maintainable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128000" y="457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CONFIGURATION PATHS</a:t>
            </a:r>
            <a:endParaRPr lang="en-US" sz="16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0" y="5080000"/>
          <a:ext cx="7366000" cy="1524000"/>
        </p:xfrm>
        <a:graphic>
          <a:graphicData uri="http://schemas.openxmlformats.org/drawingml/2006/table">
            <a:tbl>
              <a:tblPr/>
              <a:tblGrid>
                <a:gridCol w="2578100"/>
                <a:gridCol w="47879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2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2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Configuration Path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Elasticsearch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/etc/elasticsearch/*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Kibana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/etc/kibana/kibana.yml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Filebeat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/etc/filebeat/filebeat.yml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19" name="Text 15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— MONITORING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FINAL OUTCOME</a:t>
            </a:r>
            <a:endParaRPr lang="en-US" sz="2800" dirty="0"/>
          </a:p>
        </p:txBody>
      </p:sp>
      <p:pic>
        <p:nvPicPr>
          <p:cNvPr id="5" name="Image 0" descr="https://kimi-img.moonshot.cn/pub/slides/okc/lrmyy7kzt7mni/mnt/agents/output/soc_platform/images/VISIBILITY%20LAYERS,%20TOOL%20ROLES%20&amp;%20FINAL%20OUTCOME.png">    </p:cNvPr>
          <p:cNvPicPr>
            <a:picLocks noChangeAspect="1"/>
          </p:cNvPicPr>
          <p:nvPr/>
        </p:nvPicPr>
        <p:blipFill>
          <a:blip r:embed="rId1"/>
          <a:srcRect l="0" r="0" t="-13062" b="-13062"/>
          <a:stretch/>
        </p:blipFill>
        <p:spPr>
          <a:xfrm>
            <a:off x="762000" y="1841500"/>
            <a:ext cx="8890000" cy="5080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033000" y="1841500"/>
            <a:ext cx="5461000" cy="5334000"/>
          </a:xfrm>
          <a:prstGeom prst="rect">
            <a:avLst/>
          </a:prstGeom>
          <a:solidFill>
            <a:srgbClr val="161F2E"/>
          </a:solidFill>
          <a:ln/>
        </p:spPr>
      </p:sp>
      <p:sp>
        <p:nvSpPr>
          <p:cNvPr id="7" name="Text 4"/>
          <p:cNvSpPr/>
          <p:nvPr/>
        </p:nvSpPr>
        <p:spPr>
          <a:xfrm>
            <a:off x="10287000" y="2095500"/>
            <a:ext cx="495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OUTCOME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287000" y="2540000"/>
            <a:ext cx="4953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layered architecture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removes monitoring blind spots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Instead of watching only one part of the infrastructure, the system observes: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Network traffic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Host activity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Runtime behavior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Resource health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centralized and visualized together. That is what gives the project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system visibility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Ready for Phase 2 &amp; 3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10" name="Text 7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CLOUD INFRASTRUCTURE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62000" y="5080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Deploying the SOC platform on Huawei Cloud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 — CLOUD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HUAWEI CLOUD ENVIRONMENT</a:t>
            </a:r>
            <a:endParaRPr lang="en-US" sz="2800" dirty="0"/>
          </a:p>
        </p:txBody>
      </p:sp>
      <p:pic>
        <p:nvPicPr>
          <p:cNvPr id="5" name="Image 0" descr="https://kimi-img.moonshot.cn/pub/slides/okc/lrmyy7kzt7mni/mnt/agents/output/soc_platform/images/Huawei%20Cloud%20Environment.png">    </p:cNvPr>
          <p:cNvPicPr>
            <a:picLocks noChangeAspect="1"/>
          </p:cNvPicPr>
          <p:nvPr/>
        </p:nvPicPr>
        <p:blipFill>
          <a:blip r:embed="rId1"/>
          <a:srcRect l="0" r="0" t="-9006" b="-9006"/>
          <a:stretch/>
        </p:blipFill>
        <p:spPr>
          <a:xfrm>
            <a:off x="762000" y="1841500"/>
            <a:ext cx="7874000" cy="5334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17000" y="1841500"/>
            <a:ext cx="6477000" cy="2857500"/>
          </a:xfrm>
          <a:prstGeom prst="rect">
            <a:avLst/>
          </a:prstGeom>
          <a:solidFill>
            <a:srgbClr val="161F2E"/>
          </a:solidFill>
          <a:ln/>
        </p:spPr>
      </p:sp>
      <p:sp>
        <p:nvSpPr>
          <p:cNvPr id="7" name="Text 4"/>
          <p:cNvSpPr/>
          <p:nvPr/>
        </p:nvSpPr>
        <p:spPr>
          <a:xfrm>
            <a:off x="9271000" y="20320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ECS VM SPECIFICATIONS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71000" y="2540000"/>
            <a:ext cx="5969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 vCPU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 GB RAM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 GB Storage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OS: Ubuntu Server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IP: 193.95.30.97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VPC / Private Network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Subnet · Security Group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017000" y="4762500"/>
            <a:ext cx="6477000" cy="2857500"/>
          </a:xfrm>
          <a:prstGeom prst="rect">
            <a:avLst/>
          </a:prstGeom>
          <a:solidFill>
            <a:srgbClr val="161F2E"/>
          </a:solidFill>
          <a:ln/>
        </p:spPr>
      </p:sp>
      <p:sp>
        <p:nvSpPr>
          <p:cNvPr id="10" name="Text 7"/>
          <p:cNvSpPr/>
          <p:nvPr/>
        </p:nvSpPr>
        <p:spPr>
          <a:xfrm>
            <a:off x="9271000" y="48260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 MONITORING STACK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271000" y="5334000"/>
            <a:ext cx="5969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· Kibana · Wazuh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 · Falco · Telegraf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 · Docker Runtime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covers OS, ES indices, Wazuh data, Suricata logs, Filebeat state, Telegraf metrics, Docker files, and configurations.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13" name="Text 10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 — CLOUD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GROUP STRATEGY &amp; INTEGRATION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05000"/>
          <a:ext cx="8890000" cy="3746500"/>
        </p:xfrm>
        <a:graphic>
          <a:graphicData uri="http://schemas.openxmlformats.org/drawingml/2006/table">
            <a:tbl>
              <a:tblPr/>
              <a:tblGrid>
                <a:gridCol w="1955800"/>
                <a:gridCol w="1333500"/>
                <a:gridCol w="5600700"/>
              </a:tblGrid>
              <a:tr h="405027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2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Service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2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Port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2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Exposure Recommendation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</a:tr>
              <a:tr h="41768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SSH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Allow only from admin IP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</a:tr>
              <a:tr h="41768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Kibana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5601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Restrict to admin / VPN / public only if required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</a:tr>
              <a:tr h="41768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Elasticsearch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9200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 not expose publicly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</a:tr>
              <a:tr h="41768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 Events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1514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Allow only if external agents are used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</a:tr>
              <a:tr h="41768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 Registration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1515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Allow only if external agents are used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</a:tr>
              <a:tr h="41768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Falcosidekick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2801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Internal only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</a:tr>
              <a:tr h="41768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Backend API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8000/8001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Restrict or expose through reverse proxy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E"/>
                    </a:solidFill>
                  </a:tcPr>
                </a:tc>
              </a:tr>
              <a:tr h="41768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HTTP/HTTPS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80/443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only with reverse proxy and TLS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0033000" y="1905000"/>
            <a:ext cx="5461000" cy="1651000"/>
          </a:xfrm>
          <a:prstGeom prst="rect">
            <a:avLst/>
          </a:prstGeom>
          <a:solidFill>
            <a:srgbClr val="0F1520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287000" y="215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D4A24A"/>
          </a:solidFill>
          <a:ln/>
        </p:spPr>
      </p:sp>
      <p:sp>
        <p:nvSpPr>
          <p:cNvPr id="8" name="Text 5"/>
          <p:cNvSpPr/>
          <p:nvPr/>
        </p:nvSpPr>
        <p:spPr>
          <a:xfrm>
            <a:off x="10795000" y="2133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PRINCIPLE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287000" y="2667000"/>
            <a:ext cx="495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must remain internal. Kibana and SSH access strictly restricted to authorized sources only.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33000" y="3810000"/>
            <a:ext cx="546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THIS SUPPORTS THE PROJECT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033000" y="4318000"/>
            <a:ext cx="546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Connects theoretical architecture to real operations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Hosts the complete SOC stack securely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Enables secure expansion in later phases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Ubuntu ECS VM runs all monitoring tools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Foundation for backend intelligence layer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13" name="Text 10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 BACKEND INTELLIGENCE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62000" y="5080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raw monitoring data to intelligent, verified SOC operations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GLOBAL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After Phase 1 and Phase 2, the platform has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security tools → Elasticsearch → Kibana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But Elasticsearch still contains mostly raw technical data. Phase 3 transforms that raw data into SOC intelligence.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794000"/>
            <a:ext cx="14732000" cy="1016000"/>
          </a:xfrm>
          <a:prstGeom prst="rect">
            <a:avLst/>
          </a:prstGeom>
          <a:solidFill>
            <a:srgbClr val="0F1520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921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D4A2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Data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Normalized Alerts → Correlated Incidents → Investigations → 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Analysis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Playbooks → Approval → Execution → Verification → Archives → Dashboards</a:t>
            </a:r>
            <a:endParaRPr lang="en-US" sz="1600" dirty="0"/>
          </a:p>
        </p:txBody>
      </p:sp>
      <p:pic>
        <p:nvPicPr>
          <p:cNvPr id="8" name="Image 0" descr="https://kimi-img.moonshot.cn/pub/slides/okc/lrmyy7kzt7mni/mnt/agents/output/soc_platform/images/Diagram%201%20%E2%80%94%20Global%20Phase%203%20Backend%20Intelligence%20Layer.png">    </p:cNvPr>
          <p:cNvPicPr>
            <a:picLocks noChangeAspect="1"/>
          </p:cNvPicPr>
          <p:nvPr/>
        </p:nvPicPr>
        <p:blipFill>
          <a:blip r:embed="rId1"/>
          <a:srcRect l="-33362" r="-33362" t="0" b="0"/>
          <a:stretch/>
        </p:blipFill>
        <p:spPr>
          <a:xfrm>
            <a:off x="762000" y="4064000"/>
            <a:ext cx="14732000" cy="3810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10" name="Text 7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 — ALERT INGESTION &amp; ENRICHMENT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2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Continuously read new security data from Elasticsearch and transform into clean, enriched alerts.</a:t>
            </a:r>
            <a:endParaRPr lang="en-US" sz="1600" dirty="0"/>
          </a:p>
        </p:txBody>
      </p:sp>
      <p:pic>
        <p:nvPicPr>
          <p:cNvPr id="6" name="Image 0" descr="https://kimi-img.moonshot.cn/pub/slides/okc/lrmyy7kzt7mni/mnt/agents/output/soc_platform/images/Diagram%202%20%E2%80%94%20Alert%20Ingestion%20&amp;%20Enrichment%20Pipeline.png">    </p:cNvPr>
          <p:cNvPicPr>
            <a:picLocks noChangeAspect="1"/>
          </p:cNvPicPr>
          <p:nvPr/>
        </p:nvPicPr>
        <p:blipFill>
          <a:blip r:embed="rId1"/>
          <a:srcRect l="0" r="0" t="-176878" b="-176878"/>
          <a:stretch/>
        </p:blipFill>
        <p:spPr>
          <a:xfrm>
            <a:off x="762000" y="2349500"/>
            <a:ext cx="14732000" cy="2540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2000" y="5143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 SOURCES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524500"/>
            <a:ext cx="317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wazuh-alerts-*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suricata-*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falco-events-*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filebeat-*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telegraf-*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18000" y="5143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STAGES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18000" y="5524500"/>
            <a:ext cx="5461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Poll ES → Source Mappers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Deduplication → Filtering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Enrichment (GeoIP + MITRE)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Campaign Tracking → Whitelist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SQLite Persistence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160000" y="5143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160000" y="552450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normalized alerts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Visible in /alerts and /ips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Ready for incident correlation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WebSocket broadcast updates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14" name="Text 11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 — POLLING &amp; ALERT TRANSFORMATION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841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CURSOR-BASED ELASTICSEARCH POLLING</a:t>
            </a:r>
            <a:endParaRPr lang="en-US" sz="1600" dirty="0"/>
          </a:p>
        </p:txBody>
      </p:sp>
      <p:pic>
        <p:nvPicPr>
          <p:cNvPr id="6" name="Image 0" descr="https://kimi-img.moonshot.cn/pub/slides/okc/lrmyy7kzt7mni/mnt/agents/output/soc_platform/images/Diagram%203%20%E2%80%94%20Cursor-Based%20Elasticsearch%20Polling.png">    </p:cNvPr>
          <p:cNvPicPr>
            <a:picLocks noChangeAspect="1"/>
          </p:cNvPicPr>
          <p:nvPr/>
        </p:nvPicPr>
        <p:blipFill>
          <a:blip r:embed="rId1"/>
          <a:srcRect l="0" r="0" t="-44894" b="-44894"/>
          <a:stretch/>
        </p:blipFill>
        <p:spPr>
          <a:xfrm>
            <a:off x="762000" y="2286000"/>
            <a:ext cx="7112000" cy="279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55000" y="1841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DOCUMENT TO CLEAN ALERT</a:t>
            </a:r>
            <a:endParaRPr lang="en-US" sz="1600" dirty="0"/>
          </a:p>
        </p:txBody>
      </p:sp>
      <p:pic>
        <p:nvPicPr>
          <p:cNvPr id="8" name="Image 1" descr="https://kimi-img.moonshot.cn/pub/slides/okc/lrmyy7kzt7mni/mnt/agents/output/soc_platform/images/Diagram%204%20%E2%80%94%20Raw%20Document%20to%20Clean%20SOC%20Alert.png">    </p:cNvPr>
          <p:cNvPicPr>
            <a:picLocks noChangeAspect="1"/>
          </p:cNvPicPr>
          <p:nvPr/>
        </p:nvPicPr>
        <p:blipFill>
          <a:blip r:embed="rId2"/>
          <a:srcRect l="0" r="0" t="-249006" b="-249006"/>
          <a:stretch/>
        </p:blipFill>
        <p:spPr>
          <a:xfrm>
            <a:off x="8255000" y="2286000"/>
            <a:ext cx="7239000" cy="2794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2000" y="53340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Discovery → Cursor (last timestamp) → Query (@timestamp &gt; cursor) → Sort ascending → Seen-ID Check → process_single_alert() sends fresh documents to the pipeline.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55000" y="5334000"/>
            <a:ext cx="723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ES Document → Source Mappers (Wazuh, Suricata, Falco, Filebeat, Generic) → Common Alert Model → Alert Processing → Clean SOC Alert ready for incident correlation.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12" name="Text 8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 — ENRICHMENT &amp; DATA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841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ENRICHMENT &amp; CONTEXT BUILDING</a:t>
            </a:r>
            <a:endParaRPr lang="en-US" sz="1600" dirty="0"/>
          </a:p>
        </p:txBody>
      </p:sp>
      <p:pic>
        <p:nvPicPr>
          <p:cNvPr id="6" name="Image 0" descr="https://kimi-img.moonshot.cn/pub/slides/okc/lrmyy7kzt7mni/mnt/agents/output/soc_platform/images/Diagram%205%20%E2%80%94%20Enrichment%20and%20Context%20Building.png">    </p:cNvPr>
          <p:cNvPicPr>
            <a:picLocks noChangeAspect="1"/>
          </p:cNvPicPr>
          <p:nvPr/>
        </p:nvPicPr>
        <p:blipFill>
          <a:blip r:embed="rId1"/>
          <a:srcRect l="0" r="0" t="-43475" b="-43475"/>
          <a:stretch/>
        </p:blipFill>
        <p:spPr>
          <a:xfrm>
            <a:off x="762000" y="2286000"/>
            <a:ext cx="7112000" cy="279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55000" y="1841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STORAGE &amp; SOC DATA MODEL</a:t>
            </a:r>
            <a:endParaRPr lang="en-US" sz="1600" dirty="0"/>
          </a:p>
        </p:txBody>
      </p:sp>
      <p:pic>
        <p:nvPicPr>
          <p:cNvPr id="8" name="Image 1" descr="https://kimi-img.moonshot.cn/pub/slides/okc/lrmyy7kzt7mni/mnt/agents/output/soc_platform/images/Diagram%206%20%E2%80%94%20Local%20Storage%20and%20SOC%20Data%20Model.png">    </p:cNvPr>
          <p:cNvPicPr>
            <a:picLocks noChangeAspect="1"/>
          </p:cNvPicPr>
          <p:nvPr/>
        </p:nvPicPr>
        <p:blipFill>
          <a:blip r:embed="rId2"/>
          <a:srcRect l="-40125" r="-40125" t="0" b="0"/>
          <a:stretch/>
        </p:blipFill>
        <p:spPr>
          <a:xfrm>
            <a:off x="8255000" y="2286000"/>
            <a:ext cx="7239000" cy="2794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2000" y="53340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Normalized Alert → GeoIP/ASN → MITRE ATT&amp;CK mapping → IOC Extraction → Campaign Detection → Whitelist Check →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Enriched Alert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analyst-ready context.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55000" y="5334000"/>
            <a:ext cx="723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SQLite with SQLAlchemy async ORM. Core tables: Alert, Incident, AlertIncidentLink, Investigation, PlaybookApproval, PlaybookRun, FixVerification, Archive.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12" name="Text 8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4 — INCIDENT CORRELATION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2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Correlate related alerts into incidents using shared observables, attack patterns, and time windows.</a:t>
            </a:r>
            <a:endParaRPr lang="en-US" sz="1600" dirty="0"/>
          </a:p>
        </p:txBody>
      </p:sp>
      <p:pic>
        <p:nvPicPr>
          <p:cNvPr id="6" name="Image 0" descr="https://kimi-img.moonshot.cn/pub/slides/okc/lrmyy7kzt7mni/mnt/agents/output/soc_platform/images/Diagram%207%20%E2%80%94%20Incident%20Correlation.png">    </p:cNvPr>
          <p:cNvPicPr>
            <a:picLocks noChangeAspect="1"/>
          </p:cNvPicPr>
          <p:nvPr/>
        </p:nvPicPr>
        <p:blipFill>
          <a:blip r:embed="rId1"/>
          <a:srcRect l="0" r="0" t="-777" b="-777"/>
          <a:stretch/>
        </p:blipFill>
        <p:spPr>
          <a:xfrm>
            <a:off x="762000" y="2349500"/>
            <a:ext cx="14732000" cy="279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2000" y="5397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 SIGNALS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842000"/>
            <a:ext cx="685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Source IP — same attacker origin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Hostname / Container ID — same target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Attack pattern &amp; MITRE tactics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Kill-chain progression &amp; time window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001000" y="5397500"/>
            <a:ext cx="7493000" cy="1778000"/>
          </a:xfrm>
          <a:prstGeom prst="rect">
            <a:avLst/>
          </a:prstGeom>
          <a:solidFill>
            <a:srgbClr val="161F2E"/>
          </a:solidFill>
          <a:ln/>
        </p:spPr>
      </p:sp>
      <p:sp>
        <p:nvSpPr>
          <p:cNvPr id="10" name="Text 7"/>
          <p:cNvSpPr/>
          <p:nvPr/>
        </p:nvSpPr>
        <p:spPr>
          <a:xfrm>
            <a:off x="8255000" y="5524500"/>
            <a:ext cx="698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55000" y="5969000"/>
            <a:ext cx="6985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 port scan + Wazuh SSH brute force from same IP + Falco shell activity =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stronger incident with higher confidence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13" name="Text 10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5 — WATCHER &amp; INVESTIGATION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2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 an investigation context for each open incident, then trigger the AI engine.</a:t>
            </a:r>
            <a:endParaRPr lang="en-US" sz="1600" dirty="0"/>
          </a:p>
        </p:txBody>
      </p:sp>
      <p:pic>
        <p:nvPicPr>
          <p:cNvPr id="6" name="Image 0" descr="https://kimi-img.moonshot.cn/pub/slides/okc/lrmyy7kzt7mni/mnt/agents/output/soc_platform/images/Diagram%208%20%E2%80%94%20Watcher%20and%20Investigation%20Creation.png">    </p:cNvPr>
          <p:cNvPicPr>
            <a:picLocks noChangeAspect="1"/>
          </p:cNvPicPr>
          <p:nvPr/>
        </p:nvPicPr>
        <p:blipFill>
          <a:blip r:embed="rId1"/>
          <a:srcRect l="-29289" r="-29289" t="0" b="0"/>
          <a:stretch/>
        </p:blipFill>
        <p:spPr>
          <a:xfrm>
            <a:off x="762000" y="2349500"/>
            <a:ext cx="14732000" cy="355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2000" y="6159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INVESTIGATION CONTEXT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6604000"/>
            <a:ext cx="469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Linked alerts &amp; full timeline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Source &amp; destination IPs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Hostnames, usernames, processes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15000" y="6604000"/>
            <a:ext cx="469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Domains and network flows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MITRE tactics &amp; techniques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Behavioral patterns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668000" y="6604000"/>
            <a:ext cx="482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Risk score &amp; attack type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Auth pattern analysis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Triggers AI Engine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12" name="Text 9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6 — AI RESPONSE ENGINE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2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Analyze investigations and propose remediation plans using multi-provider LLM routing.</a:t>
            </a:r>
            <a:endParaRPr lang="en-US" sz="1600" dirty="0"/>
          </a:p>
        </p:txBody>
      </p:sp>
      <p:pic>
        <p:nvPicPr>
          <p:cNvPr id="6" name="Image 0" descr="https://kimi-img.moonshot.cn/pub/slides/okc/lrmyy7kzt7mni/mnt/agents/output/soc_platform/images/Diagram%209%20%E2%80%94%20AI%20Response%20Engine.png">    </p:cNvPr>
          <p:cNvPicPr>
            <a:picLocks noChangeAspect="1"/>
          </p:cNvPicPr>
          <p:nvPr/>
        </p:nvPicPr>
        <p:blipFill>
          <a:blip r:embed="rId1"/>
          <a:srcRect l="0" r="0" t="-91891" b="-91891"/>
          <a:stretch/>
        </p:blipFill>
        <p:spPr>
          <a:xfrm>
            <a:off x="762000" y="2349500"/>
            <a:ext cx="147320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2000" y="4889500"/>
            <a:ext cx="355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Investigation context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Timeline, IOCs, MITRE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score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0" y="4889500"/>
            <a:ext cx="355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Circuit Breaker check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Prompt Builder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Provider routing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82000" y="4889500"/>
            <a:ext cx="355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Ollama (local)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Gemini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OpenRouter / NVIDIA NIM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192000" y="4889500"/>
            <a:ext cx="3302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&amp; Narrative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assessment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Playbook YAML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Auto-approval check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7112000"/>
            <a:ext cx="14732000" cy="635000"/>
          </a:xfrm>
          <a:prstGeom prst="rect">
            <a:avLst/>
          </a:prstGeom>
          <a:solidFill>
            <a:srgbClr val="0F1520"/>
          </a:solidFill>
          <a:ln/>
        </p:spPr>
      </p:sp>
      <p:sp>
        <p:nvSpPr>
          <p:cNvPr id="12" name="Text 9"/>
          <p:cNvSpPr/>
          <p:nvPr/>
        </p:nvSpPr>
        <p:spPr>
          <a:xfrm>
            <a:off x="1016000" y="71755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2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system does not blindly execute. Output goes through approval and validation before any action is taken.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14" name="Text 11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7 — APPROVAL, EXECUTION &amp; VERIFICATION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2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backend never blindly executes. Controlled remediation with full audit trails.</a:t>
            </a:r>
            <a:endParaRPr lang="en-US" sz="1600" dirty="0"/>
          </a:p>
        </p:txBody>
      </p:sp>
      <p:pic>
        <p:nvPicPr>
          <p:cNvPr id="6" name="Image 0" descr="https://kimi-img.moonshot.cn/pub/slides/okc/lrmyy7kzt7mni/mnt/agents/output/soc_platform/images/Diagram%2010%20%E2%80%94%20Approval,%20Execution,%20Verification%20and%20Archive.png">    </p:cNvPr>
          <p:cNvPicPr>
            <a:picLocks noChangeAspect="1"/>
          </p:cNvPicPr>
          <p:nvPr/>
        </p:nvPicPr>
        <p:blipFill>
          <a:blip r:embed="rId1"/>
          <a:srcRect l="0" r="0" t="-78280" b="-78280"/>
          <a:stretch/>
        </p:blipFill>
        <p:spPr>
          <a:xfrm>
            <a:off x="762000" y="2349500"/>
            <a:ext cx="147320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2000" y="4889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APPROVAL TYPES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334000"/>
            <a:ext cx="444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Manual — analyst reviews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Auto-approved — low-risk only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Blocked — critical / high-risk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88000" y="4889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CONTROLS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588000" y="5334000"/>
            <a:ext cx="444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Playbook validation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SSH pre-check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Whitelist protection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Execution logging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414000" y="4889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 OUTCOMES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414000" y="53340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likely_fixed — success, no new alerts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not_fixed — alerts continue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inconclusive — unclear signals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playbook_failed_but_quiet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14" name="Text 11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8 — PERFORMANCE MONITORING &amp; REMEDIATION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2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 infrastructure anomalies and auto-remediate with the same controlled workflow.</a:t>
            </a:r>
            <a:endParaRPr lang="en-US" sz="1600" dirty="0"/>
          </a:p>
        </p:txBody>
      </p:sp>
      <p:pic>
        <p:nvPicPr>
          <p:cNvPr id="6" name="Image 0" descr="https://kimi-img.moonshot.cn/pub/slides/okc/lrmyy7kzt7mni/mnt/agents/output/soc_platform/images/Diagram%2011%20%E2%80%94%20Performance%20Monitoring%20and%20Remediation.png">    </p:cNvPr>
          <p:cNvPicPr>
            <a:picLocks noChangeAspect="1"/>
          </p:cNvPicPr>
          <p:nvPr/>
        </p:nvPicPr>
        <p:blipFill>
          <a:blip r:embed="rId1"/>
          <a:srcRect l="0" r="0" t="-154084" b="-154084"/>
          <a:stretch/>
        </p:blipFill>
        <p:spPr>
          <a:xfrm>
            <a:off x="762000" y="2349500"/>
            <a:ext cx="14732000" cy="2540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2000" y="5143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MONITORED METRICS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588000"/>
            <a:ext cx="355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CPU usage_iowait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CPU usage_user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CPU usage_system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Memory used_percent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0" y="5588000"/>
            <a:ext cx="355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Disk used_percent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Network bytes_recv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Network bytes_sent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System load1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82000" y="558800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Process CPU usage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Process memory RSS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Netstat TCP established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192000" y="5588000"/>
            <a:ext cx="330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 metrics → Poller → Redis baselines → Anomaly Detector → Root Cause → Dynamic Playbook → Approval → Ansible → Verification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13" name="Text 10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9 — IPS ATTACK VISUALIZATION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2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Geo-enriched attack mapping with world map visualization.</a:t>
            </a:r>
            <a:endParaRPr lang="en-US" sz="1600" dirty="0"/>
          </a:p>
        </p:txBody>
      </p:sp>
      <p:pic>
        <p:nvPicPr>
          <p:cNvPr id="6" name="Image 0" descr="https://kimi-img.moonshot.cn/pub/slides/okc/lrmyy7kzt7mni/mnt/agents/output/soc_platform/images/Diagram%2012%20%E2%80%94%20IPS%20Attack%20Visualization.png">    </p:cNvPr>
          <p:cNvPicPr>
            <a:picLocks noChangeAspect="1"/>
          </p:cNvPicPr>
          <p:nvPr/>
        </p:nvPicPr>
        <p:blipFill>
          <a:blip r:embed="rId1"/>
          <a:srcRect l="0" r="0" t="-96040" b="-96040"/>
          <a:stretch/>
        </p:blipFill>
        <p:spPr>
          <a:xfrm>
            <a:off x="762000" y="2349500"/>
            <a:ext cx="14732000" cy="2540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2000" y="5143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FLOW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5880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SQLite + upstream alerts → Deduplicate (source IP + time window) → GeoIP Resolve (country, city, lat/lon, ASN) → Categorize → Lifecycle → /ips World Map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55000" y="5143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 CATEGORIES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55000" y="5588000"/>
            <a:ext cx="355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Brute-force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Web attack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Reconnaissance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Malware / DoS / C2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192000" y="5143500"/>
            <a:ext cx="330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LIFECYCLE STATES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192000" y="5588000"/>
            <a:ext cx="330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Active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Investigating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Mitigated / Blocked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14" name="Text 11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10 — AI ASSISTANT &amp; AI OPERATOR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841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ASSISTANT — CONVERSATIONAL ANALYST</a:t>
            </a:r>
            <a:endParaRPr lang="en-US" sz="1600" dirty="0"/>
          </a:p>
        </p:txBody>
      </p:sp>
      <p:pic>
        <p:nvPicPr>
          <p:cNvPr id="6" name="Image 0" descr="https://kimi-img.moonshot.cn/pub/slides/okc/lrmyy7kzt7mni/mnt/agents/output/soc_platform/images/Diagram%2013%20%E2%80%94%20AI%20Assistant.png">    </p:cNvPr>
          <p:cNvPicPr>
            <a:picLocks noChangeAspect="1"/>
          </p:cNvPicPr>
          <p:nvPr/>
        </p:nvPicPr>
        <p:blipFill>
          <a:blip r:embed="rId1"/>
          <a:srcRect l="0" r="0" t="-181390" b="-181390"/>
          <a:stretch/>
        </p:blipFill>
        <p:spPr>
          <a:xfrm>
            <a:off x="762000" y="2286000"/>
            <a:ext cx="7112000" cy="2540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55000" y="1841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OPERATOR — NL TO ANSIBLE</a:t>
            </a:r>
            <a:endParaRPr lang="en-US" sz="1600" dirty="0"/>
          </a:p>
        </p:txBody>
      </p:sp>
      <p:pic>
        <p:nvPicPr>
          <p:cNvPr id="8" name="Image 1" descr="https://kimi-img.moonshot.cn/pub/slides/okc/lrmyy7kzt7mni/mnt/agents/output/soc_platform/images/Diagram%2014%20%E2%80%94%20AI%20Operator.png">    </p:cNvPr>
          <p:cNvPicPr>
            <a:picLocks noChangeAspect="1"/>
          </p:cNvPicPr>
          <p:nvPr/>
        </p:nvPicPr>
        <p:blipFill>
          <a:blip r:embed="rId2"/>
          <a:srcRect l="0" r="0" t="-171570" b="-171571"/>
          <a:stretch/>
        </p:blipFill>
        <p:spPr>
          <a:xfrm>
            <a:off x="8255000" y="2286000"/>
            <a:ext cx="7239000" cy="2540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2000" y="50800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 → Keyword Extraction → Deep Entity Fetch → Context Prompt → LLM Answer → Suggested Actions → Conversation Storage.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Actions: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Approve, decline, execute, archive investigations.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55000" y="50800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 Request → Reasoning → Template Match or LLM Playbook → OperatorRun → Approval Gate → Ansible Execution → Structured Result.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Templates: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RAM, disk, CPU, ports, services, Docker, packages.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12" name="Text 8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&amp; OUTCOMES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62000" y="5080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the complete platform delivers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635000" cy="508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PLATFORM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4699000" cy="2921000"/>
          </a:xfrm>
          <a:prstGeom prst="rect">
            <a:avLst/>
          </a:prstGeom>
          <a:solidFill>
            <a:srgbClr val="161F2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95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32000" y="2159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7305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visibility across network, host, runtime, and infrastructure layers. Suricata, Wazuh, Falco, Telegraf, Filebeat, Elasticsearch, Kibana.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905000"/>
            <a:ext cx="4699000" cy="2921000"/>
          </a:xfrm>
          <a:prstGeom prst="rect">
            <a:avLst/>
          </a:prstGeom>
          <a:solidFill>
            <a:srgbClr val="161F2E"/>
          </a:solidFill>
          <a:ln/>
        </p:spPr>
      </p:sp>
      <p:sp>
        <p:nvSpPr>
          <p:cNvPr id="10" name="Text 8"/>
          <p:cNvSpPr/>
          <p:nvPr/>
        </p:nvSpPr>
        <p:spPr>
          <a:xfrm>
            <a:off x="6032500" y="2095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8500" y="2159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7305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Huawei Cloud deployment with VPC, Security Groups, ECS VM (64 vCPU / 128 GB RAM). Secure access controls and scalable foundation.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905000"/>
            <a:ext cx="4699000" cy="2921000"/>
          </a:xfrm>
          <a:prstGeom prst="rect">
            <a:avLst/>
          </a:prstGeom>
          <a:solidFill>
            <a:srgbClr val="161F2E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2095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065000" y="2159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7305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steps from raw ES data to SOC ops: ingestion, transformation, enrichment, correlation, investigation, AI analysis, approval, execution, verification.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207000"/>
            <a:ext cx="14732000" cy="1270000"/>
          </a:xfrm>
          <a:prstGeom prst="rect">
            <a:avLst/>
          </a:prstGeom>
          <a:solidFill>
            <a:srgbClr val="0F1520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533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MODULES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57785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Monitoring · IPS Attack Visualization · AI Assistant · AI Operator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6731000"/>
            <a:ext cx="14732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platform transforms </a:t>
            </a:r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monitoring data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</a:t>
            </a:r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SOC intelligence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visibility, and </a:t>
            </a:r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D4A2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controlled response workflows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22" name="Text 20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23000" y="3048000"/>
            <a:ext cx="3810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3429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spc="300" kern="0" dirty="0">
                <a:solidFill>
                  <a:srgbClr val="D4A2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PLATFORM NOW THINKS BEFORE IT ACTS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223000" y="4572000"/>
            <a:ext cx="3810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5" name="Text 3"/>
          <p:cNvSpPr/>
          <p:nvPr/>
        </p:nvSpPr>
        <p:spPr>
          <a:xfrm>
            <a:off x="2413000" y="49530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passive monitoring to intelligent SOC operations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complete security operations center that sees everything, understands patterns, and responds with control.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8509000"/>
            <a:ext cx="508000" cy="38100"/>
          </a:xfrm>
          <a:prstGeom prst="rect">
            <a:avLst/>
          </a:prstGeom>
          <a:solidFill>
            <a:srgbClr val="D4A24A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0" y="8255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6B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 Platform Architecture — Complete Three-Phase Implementation</dc:title>
  <dc:subject>SOC Platform Architecture — Complete Three-Phase Implementation</dc:subject>
  <dc:creator>Kimi</dc:creator>
  <cp:lastModifiedBy>Kimi</cp:lastModifiedBy>
  <cp:revision>1</cp:revision>
  <dcterms:created xsi:type="dcterms:W3CDTF">2026-04-28T16:19:22Z</dcterms:created>
  <dcterms:modified xsi:type="dcterms:W3CDTF">2026-04-28T16:19:22Z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{"Label":"SOC Platform Architecture — Complete Three-Phase Implementation","ContentProducer":"001191110108MACG2KBH8F10000","ProduceID":"19dd4bdd-bda2-861a-8000-0000839d7d44","ReservedCode1":"","ContentPropagator":"001191110108MACG2KBH8F20000","PropagateID":"19dd4bdd-bda2-861a-8000-0000839d7d44","ReservedCode2":""}</vt:lpwstr>
  </property>
</Properties>
</file>