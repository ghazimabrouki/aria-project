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6256000" cy="9144000"/>
  <p:notesSz cx="9144000" cy="16256000"/>
  <p:embeddedFontLst>
    <p:embeddedFont>
      <p:font typeface="Liter" charset="-122" pitchFamily="34"/>
      <p:regular r:id="rId40"/>
    </p:embeddedFont>
    <p:embeddedFont>
      <p:font typeface="Quattrocento Sans" charset="-122" pitchFamily="34"/>
      <p:regular r:id="rId4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font" Target="fonts/font1.fntdata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1B2A4A"/>
            </a:gs>
            <a:gs pos="60000">
              <a:srgbClr val="162037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0000" y="2032000"/>
            <a:ext cx="762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2286000"/>
            <a:ext cx="12573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5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PLATEFORME INTELLIGENTE</a:t>
            </a:r>
            <a:endParaRPr lang="en-US" sz="5000" dirty="0"/>
          </a:p>
          <a:p>
            <a:pPr>
              <a:lnSpc>
                <a:spcPct val="120000"/>
              </a:lnSpc>
            </a:pPr>
            <a:r>
              <a:rPr lang="en-US" sz="5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SUPERVISION ET SECURITE</a:t>
            </a:r>
            <a:endParaRPr lang="en-US" sz="5000" dirty="0"/>
          </a:p>
          <a:p>
            <a:pPr>
              <a:lnSpc>
                <a:spcPct val="120000"/>
              </a:lnSpc>
            </a:pPr>
            <a:r>
              <a:rPr lang="en-US" sz="5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AUTOMATISEE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1270000" y="5334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Conception et deploiement d'une plateforme centralisee de supervision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 de securite avec intelligence artificielle et reponse automatisee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70000" y="64770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673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GHAZI MABROUKI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7175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3 | Huawei Enterprise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Department — Innovation Department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8255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300" kern="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970000" y="635000"/>
            <a:ext cx="1905000" cy="1905000"/>
          </a:xfrm>
          <a:prstGeom prst="ellipse">
            <a:avLst/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970000" y="5715000"/>
            <a:ext cx="1524000" cy="1524000"/>
          </a:xfrm>
          <a:prstGeom prst="ellipse">
            <a:avLst/>
          </a:prstGeom>
          <a:solidFill>
            <a:srgbClr val="FFFFFF">
              <a:alpha val="2353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SOMMAIRE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Contenu de la Presentation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66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2667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Contexte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3020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492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3492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Solutions Existantes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1275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431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431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Solution Proposee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9530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143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5143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— Fondation de Supervision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7785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596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4000" y="596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— Infrastructure Cloud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604000"/>
            <a:ext cx="6350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266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2667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Intelligence Backend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33020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3492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3492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Exigences Fonctionnelles &amp; Non-Fonctionnelles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41275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0" y="431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431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Strategie de Test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49530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8382000" y="5143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0" y="5143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Methodologie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2000" y="57785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8382000" y="596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0" y="5969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2000" y="6604000"/>
            <a:ext cx="711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8382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Ghazi Mabrouki | Huawei Enterprise — Cloud Department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CONTEXTE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Contexte du projet, problematiques identifiees et enjeux strategiques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0" y="1270000"/>
            <a:ext cx="2286000" cy="0"/>
          </a:xfrm>
          <a:prstGeom prst="straightConnector1">
            <a:avLst/>
          </a:prstGeom>
          <a:noFill/>
          <a:ln w="12700">
            <a:solidFill>
              <a:srgbClr val="FFFFFF">
                <a:alpha val="8235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3335000" y="6350000"/>
            <a:ext cx="1651000" cy="0"/>
          </a:xfrm>
          <a:prstGeom prst="straightConnector1">
            <a:avLst/>
          </a:prstGeom>
          <a:noFill/>
          <a:ln w="12700">
            <a:solidFill>
              <a:srgbClr val="FFFFFF">
                <a:alpha val="6275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ET PROBLEMATIQUES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752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SOLUTIONS FRAGMENTEES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844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solutions de supervision sont multiples et non centralisees, compliquant la gestion globale des infrastructures.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875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875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4725" y="1778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752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DONNEES HETEROGENES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1844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donnees de differentes sources sont difficiles a analyser de maniere unifiee et coherente.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4290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4290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7" name="Shape 15"/>
          <p:cNvSpPr/>
          <p:nvPr/>
        </p:nvSpPr>
        <p:spPr>
          <a:xfrm>
            <a:off x="993775" y="361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55575" y="5556"/>
                </a:moveTo>
                <a:cubicBezTo>
                  <a:pt x="201574" y="5556"/>
                  <a:pt x="238919" y="42901"/>
                  <a:pt x="238919" y="88900"/>
                </a:cubicBezTo>
                <a:cubicBezTo>
                  <a:pt x="238919" y="134899"/>
                  <a:pt x="201574" y="172244"/>
                  <a:pt x="155575" y="172244"/>
                </a:cubicBezTo>
                <a:cubicBezTo>
                  <a:pt x="109576" y="172244"/>
                  <a:pt x="72231" y="134899"/>
                  <a:pt x="72231" y="88900"/>
                </a:cubicBezTo>
                <a:cubicBezTo>
                  <a:pt x="72231" y="42901"/>
                  <a:pt x="109576" y="5556"/>
                  <a:pt x="155575" y="5556"/>
                </a:cubicBezTo>
                <a:close/>
                <a:moveTo>
                  <a:pt x="134947" y="211138"/>
                </a:moveTo>
                <a:lnTo>
                  <a:pt x="176203" y="211138"/>
                </a:lnTo>
                <a:cubicBezTo>
                  <a:pt x="178911" y="211138"/>
                  <a:pt x="181689" y="211207"/>
                  <a:pt x="184398" y="211415"/>
                </a:cubicBezTo>
                <a:cubicBezTo>
                  <a:pt x="173147" y="231001"/>
                  <a:pt x="166688" y="253643"/>
                  <a:pt x="166688" y="277813"/>
                </a:cubicBezTo>
                <a:cubicBezTo>
                  <a:pt x="166688" y="306844"/>
                  <a:pt x="175994" y="333722"/>
                  <a:pt x="191691" y="355600"/>
                </a:cubicBezTo>
                <a:lnTo>
                  <a:pt x="31740" y="355600"/>
                </a:lnTo>
                <a:cubicBezTo>
                  <a:pt x="20350" y="355600"/>
                  <a:pt x="11112" y="346363"/>
                  <a:pt x="11112" y="334972"/>
                </a:cubicBezTo>
                <a:cubicBezTo>
                  <a:pt x="11112" y="266561"/>
                  <a:pt x="66536" y="211138"/>
                  <a:pt x="134947" y="211138"/>
                </a:cubicBezTo>
                <a:close/>
                <a:moveTo>
                  <a:pt x="200025" y="277813"/>
                </a:moveTo>
                <a:cubicBezTo>
                  <a:pt x="200025" y="222614"/>
                  <a:pt x="244839" y="177800"/>
                  <a:pt x="300038" y="177800"/>
                </a:cubicBezTo>
                <a:cubicBezTo>
                  <a:pt x="355236" y="177800"/>
                  <a:pt x="400050" y="222614"/>
                  <a:pt x="400050" y="277812"/>
                </a:cubicBezTo>
                <a:cubicBezTo>
                  <a:pt x="400050" y="333011"/>
                  <a:pt x="355236" y="377825"/>
                  <a:pt x="300038" y="377825"/>
                </a:cubicBezTo>
                <a:cubicBezTo>
                  <a:pt x="244839" y="377825"/>
                  <a:pt x="200025" y="333011"/>
                  <a:pt x="200025" y="277813"/>
                </a:cubicBezTo>
                <a:close/>
                <a:moveTo>
                  <a:pt x="300038" y="222250"/>
                </a:moveTo>
                <a:cubicBezTo>
                  <a:pt x="293926" y="222250"/>
                  <a:pt x="288925" y="227251"/>
                  <a:pt x="288925" y="233363"/>
                </a:cubicBezTo>
                <a:lnTo>
                  <a:pt x="288925" y="277813"/>
                </a:lnTo>
                <a:cubicBezTo>
                  <a:pt x="288925" y="283924"/>
                  <a:pt x="293926" y="288925"/>
                  <a:pt x="300038" y="288925"/>
                </a:cubicBezTo>
                <a:lnTo>
                  <a:pt x="333375" y="288925"/>
                </a:lnTo>
                <a:cubicBezTo>
                  <a:pt x="339487" y="288925"/>
                  <a:pt x="344488" y="283924"/>
                  <a:pt x="344488" y="277813"/>
                </a:cubicBezTo>
                <a:cubicBezTo>
                  <a:pt x="344488" y="271701"/>
                  <a:pt x="339487" y="266700"/>
                  <a:pt x="333375" y="266700"/>
                </a:cubicBezTo>
                <a:lnTo>
                  <a:pt x="311150" y="266700"/>
                </a:lnTo>
                <a:lnTo>
                  <a:pt x="311150" y="233363"/>
                </a:lnTo>
                <a:cubicBezTo>
                  <a:pt x="311150" y="227251"/>
                  <a:pt x="306149" y="222250"/>
                  <a:pt x="300038" y="22225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35941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DEPENDANCE AUX EXPERTS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0259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L'analyse des incidents repose fortement sur des experts, ralentissant la detection et la reponse.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3429000"/>
            <a:ext cx="71755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34290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2" name="Shape 20"/>
          <p:cNvSpPr/>
          <p:nvPr/>
        </p:nvSpPr>
        <p:spPr>
          <a:xfrm>
            <a:off x="8594725" y="361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0"/>
                </a:moveTo>
                <a:cubicBezTo>
                  <a:pt x="143282" y="0"/>
                  <a:pt x="133350" y="9932"/>
                  <a:pt x="133350" y="22225"/>
                </a:cubicBezTo>
                <a:lnTo>
                  <a:pt x="133350" y="24448"/>
                </a:lnTo>
                <a:cubicBezTo>
                  <a:pt x="82649" y="34727"/>
                  <a:pt x="44450" y="79593"/>
                  <a:pt x="44450" y="133350"/>
                </a:cubicBezTo>
                <a:lnTo>
                  <a:pt x="44450" y="148421"/>
                </a:lnTo>
                <a:cubicBezTo>
                  <a:pt x="44450" y="181828"/>
                  <a:pt x="33060" y="214263"/>
                  <a:pt x="12224" y="240377"/>
                </a:cubicBezTo>
                <a:lnTo>
                  <a:pt x="5417" y="248851"/>
                </a:lnTo>
                <a:cubicBezTo>
                  <a:pt x="1875" y="253226"/>
                  <a:pt x="0" y="258643"/>
                  <a:pt x="0" y="264269"/>
                </a:cubicBezTo>
                <a:cubicBezTo>
                  <a:pt x="0" y="277882"/>
                  <a:pt x="11043" y="288925"/>
                  <a:pt x="24656" y="288925"/>
                </a:cubicBezTo>
                <a:lnTo>
                  <a:pt x="286425" y="288925"/>
                </a:lnTo>
                <a:cubicBezTo>
                  <a:pt x="300038" y="288925"/>
                  <a:pt x="311081" y="277882"/>
                  <a:pt x="311081" y="264269"/>
                </a:cubicBezTo>
                <a:cubicBezTo>
                  <a:pt x="311081" y="258643"/>
                  <a:pt x="309205" y="253226"/>
                  <a:pt x="305663" y="248851"/>
                </a:cubicBezTo>
                <a:lnTo>
                  <a:pt x="298857" y="240377"/>
                </a:lnTo>
                <a:cubicBezTo>
                  <a:pt x="278090" y="214263"/>
                  <a:pt x="266700" y="181828"/>
                  <a:pt x="266700" y="148421"/>
                </a:cubicBezTo>
                <a:lnTo>
                  <a:pt x="266700" y="133350"/>
                </a:lnTo>
                <a:cubicBezTo>
                  <a:pt x="266700" y="79593"/>
                  <a:pt x="228501" y="34727"/>
                  <a:pt x="177800" y="24447"/>
                </a:cubicBezTo>
                <a:lnTo>
                  <a:pt x="177800" y="22225"/>
                </a:lnTo>
                <a:cubicBezTo>
                  <a:pt x="177800" y="9932"/>
                  <a:pt x="167868" y="0"/>
                  <a:pt x="155575" y="0"/>
                </a:cubicBezTo>
                <a:close/>
                <a:moveTo>
                  <a:pt x="112514" y="322263"/>
                </a:moveTo>
                <a:cubicBezTo>
                  <a:pt x="117445" y="341432"/>
                  <a:pt x="134878" y="355600"/>
                  <a:pt x="155575" y="355600"/>
                </a:cubicBezTo>
                <a:cubicBezTo>
                  <a:pt x="176272" y="355600"/>
                  <a:pt x="193705" y="341432"/>
                  <a:pt x="198636" y="322263"/>
                </a:cubicBezTo>
                <a:lnTo>
                  <a:pt x="112514" y="322263"/>
                </a:ln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23" name="Text 21"/>
          <p:cNvSpPr/>
          <p:nvPr/>
        </p:nvSpPr>
        <p:spPr>
          <a:xfrm>
            <a:off x="9055100" y="35941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ALERTES TECHNIQUES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40259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alertes generees sont techniques et difficiles a interpreter rapidement pour les non-experts.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270500"/>
            <a:ext cx="14732000" cy="1587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270500"/>
            <a:ext cx="50800" cy="1587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7" name="Shape 25"/>
          <p:cNvSpPr/>
          <p:nvPr/>
        </p:nvSpPr>
        <p:spPr>
          <a:xfrm>
            <a:off x="971550" y="5461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" y="5435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MANQUE D'AUTOMATISATION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5867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actions correctives ne sont pas systematiquement automatisees, augmentant le temps de reaction face aux menaces. Resultat: reponse plus lente, patterns d'attaque multi-etapes manques, et epuisement des analystes.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7239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Reponse aux incidents plus lente, patterns d'attaque multi-etapes manques, et epuisement des analystes par correlation manuelle sur des outils deconnectes.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Contexte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905000" y="1651000"/>
            <a:ext cx="13589000" cy="190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2159000" y="1778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VISIBILITE COMPLETE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2260600"/>
            <a:ext cx="1308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Monitorer les couches reseau, hote, runtime et infrastructure dans une pile unifiee. Aucun angle mort — chaque couche critique observee, collectee et centralisee.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735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1905000" y="3873500"/>
            <a:ext cx="13589000" cy="190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2159000" y="4000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TRAITEMENT INTELLIGENT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4483100"/>
            <a:ext cx="1308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 les alertes brutes en incidents enrichis et correles avec analyse IA. De la surcharge de donnees a l'intelligence actionnable et contextualisee.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096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1905000" y="6096000"/>
            <a:ext cx="13589000" cy="1905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2159000" y="6223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REPONSE CONTROLEE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59000" y="6705600"/>
            <a:ext cx="1308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Automatiser l'investigation, la generation de playbooks, les workflows d'approbation et la remediation Ansible avec audit complet. La plateforme reflechit avant d'agir.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&amp; Contexte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SOLUTIONS EXISTANTES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Etat de l'art des solutions de supervision et de securite sur le marche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ETAT DE L'ART DES SOLUTIONS SOC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4318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613207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Categorie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Exemples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SIEM Traditionnel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Splunk, QRadar, ArcSight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Collecte centralisee mais couteux et complexes a deployer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EDR / XDR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CrowdStrike, SentinelOne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Focalises sur endpoints, vision reseau limitee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SOAR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Palo Alto XSOAR, Splunk SOAR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Orchestration avancee mais integration couteuse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Open-Source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Wazuh, Suricata, ELK Stack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Puissants mais non integres nativement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4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Plateformes Cloud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Azure Sentinel, Chronicle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Lock-in vendeur, personnalisation limitee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286500"/>
            <a:ext cx="14732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4"/>
          <p:cNvSpPr/>
          <p:nvPr/>
        </p:nvSpPr>
        <p:spPr>
          <a:xfrm>
            <a:off x="1079500" y="660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5"/>
          <p:cNvSpPr/>
          <p:nvPr/>
        </p:nvSpPr>
        <p:spPr>
          <a:xfrm>
            <a:off x="1651000" y="641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IDENTIFIE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51000" y="67945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Aucune solution ne combine supervision multi-couches, enrichissement automatique, correlation d'incidents, analyse IA et remediation automatisee dans une architecture unifiee et deployable sur cloud.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Solutions Existantes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SOLUTION PROPOSEE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globale de la plateforme SOC et flux de donnees entre les composants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GLOBALE DE LA PLATEFORME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57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Fondation de Supervision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0" y="19685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5842000" y="1587500"/>
            <a:ext cx="457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842000" y="1587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Cloud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14000" y="19685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0922000" y="1587500"/>
            <a:ext cx="4572000" cy="1016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2000" y="1587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292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 DE DONNEES GLOBAL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365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619500"/>
            <a:ext cx="2286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3619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48000" y="4000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429000" y="3619500"/>
            <a:ext cx="2286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619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Couche de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4000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6096000" y="3492500"/>
            <a:ext cx="2540000" cy="1143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0" y="3492500"/>
            <a:ext cx="25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Stockage &amp; Indexation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36000" y="374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9017000" y="3302000"/>
            <a:ext cx="2286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17000" y="3175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Kibana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4318000"/>
            <a:ext cx="381000" cy="381000"/>
          </a:xfrm>
          <a:prstGeom prst="straightConnector1">
            <a:avLst/>
          </a:prstGeom>
          <a:noFill/>
          <a:ln w="25400">
            <a:solidFill>
              <a:srgbClr val="CF0A2C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9017000" y="4699000"/>
            <a:ext cx="2286000" cy="889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8" name="Text 26"/>
          <p:cNvSpPr/>
          <p:nvPr/>
        </p:nvSpPr>
        <p:spPr>
          <a:xfrm>
            <a:off x="9017000" y="4699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604536" y="4635500"/>
            <a:ext cx="3810000" cy="889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84000" y="46355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Dashboard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Alertes, Incidents, Metriques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303000" y="5080000"/>
            <a:ext cx="301536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762000" y="5969000"/>
            <a:ext cx="14732000" cy="2222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6096000"/>
            <a:ext cx="1422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— Fondation de Supervision: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Collecte, detection, stockage et visualisation des evenements de securite.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— Infrastructure Cloud: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Deploiement sur Huawei Cloud avec VPC, Security Groups et ECS VM optimisee.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Intelligence Backend: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Enrichissement, correlation, analyse IA, generation de playbooks et remediation Ansible.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Une plateforme SOC unifiee qui voit tout, comprend les patterns et repond avec controle.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&amp; Solution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FONDATION DE SUPERVISION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Construction de la colonne vertebrale de visibilite de la plateforme SOC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COUCHES DE VISIBILITE &amp; OUTILS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50800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9428480"/>
              </a:tblGrid>
              <a:tr h="557406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Couche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Outil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Reseau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Trafic, paquets, protocoles, alertes IDS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Hote / Endpoint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Evenements auth, integrite fichiers, alertes agents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Runtime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Comportement processus, syscalls, conteneurs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Infrastructure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CPU, RAM, disque, charge, sante systeme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Collecte et transfert des logs vers 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Transfert des alertes Falco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Analyse &amp; Viz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Stockage central, indexation, recherche + Kibana dashboards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921500"/>
            <a:ext cx="1473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6985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en couches qui elimine les angles morts. Le systeme observe le reseau, les hotes, le runtime et les ressources — tous centralises et visualises ensemble.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1 — Monitoring Foundation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ARCHITECTURE &amp; FLUX DE DONNEES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828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0828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Logs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68500" y="20828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8500" y="20828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 Logs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4892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24892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IDS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68500" y="24892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8500" y="24892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HIDS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8956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28956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68500" y="2895600"/>
            <a:ext cx="1079500" cy="279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8500" y="289560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48000" y="26289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3810000" y="15240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0" y="1905000"/>
            <a:ext cx="2286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0000" y="1905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 et envoie les logs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0" y="2857500"/>
            <a:ext cx="2286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0000" y="28575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Recoit alertes Falco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0" y="3810000"/>
            <a:ext cx="2286000" cy="76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10000" y="3810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direct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34352" y="22860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6985000" y="1905000"/>
            <a:ext cx="2794000" cy="2794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6985000" y="2159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85000" y="2540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9200 HTTPS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12000" y="2921000"/>
            <a:ext cx="254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Stockage Central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Recherche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en-US" sz="11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Recoit: Filebeat, Falcosidekick, Telegraf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906000" y="31750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0668000" y="1905000"/>
            <a:ext cx="4826000" cy="2794000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68000" y="2159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KIBANA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668000" y="25400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5601 HTTPS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22000" y="29210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&amp; Exploration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508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LOGIQUE GLOBALE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54864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5651500"/>
            <a:ext cx="1473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Flux principal: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Sources → Couche de Collecte → Elasticsearch → Kibana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/ auth logs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Filebeat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eve.json → Filebeat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alerts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Filebeat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alerts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Falcosidekick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 metrics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Elasticsearch (direct)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 &amp; Falcosidekick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Elasticsearch |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Kibana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1 — Monitoring Foundation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25128" y="32385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6225128" y="4191000"/>
            <a:ext cx="635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1301750" y="3238500"/>
            <a:ext cx="0" cy="227039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1301750" y="3505980"/>
            <a:ext cx="249743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2508250" y="3238500"/>
            <a:ext cx="0" cy="1078436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2508250" y="4336802"/>
            <a:ext cx="127141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7" name="Shape 45"/>
          <p:cNvSpPr/>
          <p:nvPr/>
        </p:nvSpPr>
        <p:spPr>
          <a:xfrm flipV="1">
            <a:off x="1270000" y="1901169"/>
            <a:ext cx="0" cy="181631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48" name="Shape 46"/>
          <p:cNvSpPr/>
          <p:nvPr/>
        </p:nvSpPr>
        <p:spPr>
          <a:xfrm flipH="1">
            <a:off x="421441" y="2628900"/>
            <a:ext cx="34055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49" name="Shape 47"/>
          <p:cNvSpPr/>
          <p:nvPr/>
        </p:nvSpPr>
        <p:spPr>
          <a:xfrm flipV="1">
            <a:off x="412218" y="1822911"/>
            <a:ext cx="0" cy="805989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0" name="Shape 48"/>
          <p:cNvSpPr/>
          <p:nvPr/>
        </p:nvSpPr>
        <p:spPr>
          <a:xfrm flipH="1">
            <a:off x="421441" y="1841500"/>
            <a:ext cx="313314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3536134" y="2286000"/>
            <a:ext cx="273866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3549615" y="1841500"/>
            <a:ext cx="0" cy="442726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3" name="Shape 51"/>
          <p:cNvSpPr/>
          <p:nvPr/>
        </p:nvSpPr>
        <p:spPr>
          <a:xfrm flipV="1">
            <a:off x="3551743" y="2265637"/>
            <a:ext cx="0" cy="363263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3048000" y="22225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DEPLOIEMENT &amp; RESULTAT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RESSOURCES MATERIELLES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4445000" cy="1651000"/>
        </p:xfrm>
        <a:graphic>
          <a:graphicData uri="http://schemas.openxmlformats.org/drawingml/2006/table">
            <a:tbl>
              <a:tblPr/>
              <a:tblGrid>
                <a:gridCol w="1555750"/>
                <a:gridCol w="977900"/>
                <a:gridCol w="977900"/>
                <a:gridCol w="93345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Niveau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CPU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Minimum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cores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Recommande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cores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 GB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588000" y="152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SERVICES DEPLoYES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8000" y="196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Services Natifs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0" y="22860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(9200), Kibana (5601)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Filebeat, Suricata, Wazuh (1514/1515)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68000" y="196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Services Docker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668000" y="22860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(runtime detection)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 (2801)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393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POURQUOI CETTE ARCHITECTURE?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43434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1016000" y="457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5" name="Text 12"/>
          <p:cNvSpPr/>
          <p:nvPr/>
        </p:nvSpPr>
        <p:spPr>
          <a:xfrm>
            <a:off x="1460500" y="4508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coeur SIEM reste stable et centralise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28000" y="457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7" name="Text 14"/>
          <p:cNvSpPr/>
          <p:nvPr/>
        </p:nvSpPr>
        <p:spPr>
          <a:xfrm>
            <a:off x="8572500" y="4508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runtime isolee dans conteneurs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16000" y="533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9" name="Text 16"/>
          <p:cNvSpPr/>
          <p:nvPr/>
        </p:nvSpPr>
        <p:spPr>
          <a:xfrm>
            <a:off x="1460500" y="5270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simple et maintenable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6223000"/>
            <a:ext cx="14732000" cy="1905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8"/>
          <p:cNvSpPr/>
          <p:nvPr/>
        </p:nvSpPr>
        <p:spPr>
          <a:xfrm>
            <a:off x="1016000" y="635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 FINAL — PHASE 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16000" y="6731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Fondation de supervision securitaire complete avec visibilite globale sur reseau, hote, runtime et ressources. Tous les outils sont centralises dans Elasticsearch et visualises via Kibana.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Prete pour les Phases 2 et 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1 — Monitoring Foundation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INFRASTRUCTURE CLOUD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Deploiement de la plateforme SOC sur Huawei Cloud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— ENVIRONNEMENT HUAWEI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Huawei%20Cloud%20Environment.png">    </p:cNvPr>
          <p:cNvPicPr>
            <a:picLocks noChangeAspect="1"/>
          </p:cNvPicPr>
          <p:nvPr/>
        </p:nvPicPr>
        <p:blipFill>
          <a:blip r:embed="rId1"/>
          <a:srcRect l="0" r="0" t="-5166" b="-5166"/>
          <a:stretch/>
        </p:blipFill>
        <p:spPr>
          <a:xfrm>
            <a:off x="762000" y="1524000"/>
            <a:ext cx="7620000" cy="482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63000" y="1524000"/>
            <a:ext cx="673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SPECIFICATIONS ECS VM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763000" y="1968500"/>
            <a:ext cx="6731000" cy="2222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9017000" y="2095500"/>
            <a:ext cx="622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vCPU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Puissance de calcul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GB RAM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Memoire pour ES et analyses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GB Storage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OS, indices, logs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Ubuntu Server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Publique: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193.95.30.97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63000" y="4254500"/>
            <a:ext cx="673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SOC HEBERGEE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763000" y="4699000"/>
            <a:ext cx="6731000" cy="165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9017000" y="4826000"/>
            <a:ext cx="622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· Kibana · Wazuh · Suricata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· Telegraf · Filebeat · Docker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Cette fondation cloud heberge la stack SOC complete et permet une expansion securisee.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6604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RESEAU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70104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7175500"/>
            <a:ext cx="3429000" cy="88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71755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VPC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Reseau prive isole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318000" y="755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4826000" y="7175500"/>
            <a:ext cx="3429000" cy="889000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6000" y="71755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Subnet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Zone communication interne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82000" y="755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8890000" y="7175500"/>
            <a:ext cx="3429000" cy="889000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90000" y="71755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Group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Regles firewall controlees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446000" y="7556500"/>
            <a:ext cx="381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12954000" y="7175500"/>
            <a:ext cx="2540000" cy="889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4" name="Text 21"/>
          <p:cNvSpPr/>
          <p:nvPr/>
        </p:nvSpPr>
        <p:spPr>
          <a:xfrm>
            <a:off x="12954000" y="7175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 IP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193.95.30.97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2 — Cloud Infrastructure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— STRATEGIE DE SECURITE &amp;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8890000" cy="4318000"/>
        </p:xfrm>
        <a:graphic>
          <a:graphicData uri="http://schemas.openxmlformats.org/drawingml/2006/table">
            <a:tbl>
              <a:tblPr/>
              <a:tblGrid>
                <a:gridCol w="2667000"/>
                <a:gridCol w="1333500"/>
                <a:gridCol w="4889500"/>
              </a:tblGrid>
              <a:tr h="46852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Service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Exposition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Admin IP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Kibana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5601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Admin / VPN / public si requis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9200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Jamais expose publiquement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Events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 agents externes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Reg.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 agents externes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2801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Interne uniquement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 API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8000/8001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Reverse proxy recommande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1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HTTP/HTTPS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80/443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Reverse proxy + TLS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033000" y="1524000"/>
            <a:ext cx="5461000" cy="165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10287000" y="1651000"/>
            <a:ext cx="4953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PRINCIPE CRITIQUE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87000" y="2032000"/>
            <a:ext cx="495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doit rester interne. Kibana et SSH strictement restreints aux sources autorisees.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33000" y="34290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PROJET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033000" y="3873500"/>
            <a:ext cx="54610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10287000" y="4000500"/>
            <a:ext cx="495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Connecte architecture theorique aux operations reelles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Heberge la stack SOC completement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Permet expansion securisee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ECS Ubuntu VM heberge tous les outils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Fondation pour couche intelligence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6223000"/>
            <a:ext cx="14732000" cy="177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762000" y="6223000"/>
            <a:ext cx="50800" cy="1651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4" name="Text 11"/>
          <p:cNvSpPr/>
          <p:nvPr/>
        </p:nvSpPr>
        <p:spPr>
          <a:xfrm>
            <a:off x="1016000" y="6350000"/>
            <a:ext cx="1422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Cette phase supporte le projet en: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Fournissant une infrastructure cloud securisee et scalable pour l'ensemble de la plateforme SOC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Garantissant l'isolation reseau et le controle d'acces via Security Groups et VPC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Posant les jalons pour le deploiement de la couche d'intelligence backend (Phase 3)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2 — Cloud Infrastructure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COUCHE D'INTELLIGENCE BACKEND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 donnees brutes aux operations SOC intelligentes et verifiees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VUE GLOBALE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 D'INTELLIGENCE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70100"/>
            <a:ext cx="1651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0701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Donnees brutes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13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667000" y="2070100"/>
            <a:ext cx="1651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7000" y="20701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 normalisees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8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572000" y="2070100"/>
            <a:ext cx="1651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701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Incidents correles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23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6477000" y="2070100"/>
            <a:ext cx="1397000" cy="304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74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128000" y="2070100"/>
            <a:ext cx="1397000" cy="304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IA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25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779000" y="2070100"/>
            <a:ext cx="1397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79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176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430000" y="2070100"/>
            <a:ext cx="1397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0" y="20701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Approbation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827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3081000" y="2070100"/>
            <a:ext cx="1270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081000" y="2070100"/>
            <a:ext cx="12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351000" y="2159000"/>
            <a:ext cx="25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4605000" y="2070100"/>
            <a:ext cx="889000" cy="30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05000" y="207010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2857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ETAPES CLES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3238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762000" y="3429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825500" y="3454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70000" y="3454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 &amp; Enrichissement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15000" y="3429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5778500" y="3454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23000" y="3454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 d'Alertes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668000" y="3429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10731500" y="3454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76000" y="3454400"/>
            <a:ext cx="419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Enrichissement Contextuel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2000" y="4318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825500" y="4343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70000" y="4343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Stockage Local (SQLite)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15000" y="4318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5778500" y="4343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23000" y="4343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d'Incidents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668000" y="4318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10731500" y="4343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76000" y="4343400"/>
            <a:ext cx="419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Creation d'Investigation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62000" y="5207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825500" y="5232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70000" y="5232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Moteur de Reponse IA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715000" y="5207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5778500" y="5232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23000" y="5232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d'Approbation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668000" y="5207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7"/>
          <p:cNvSpPr/>
          <p:nvPr/>
        </p:nvSpPr>
        <p:spPr>
          <a:xfrm>
            <a:off x="10731500" y="5232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76000" y="5232400"/>
            <a:ext cx="419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&amp; Verification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62000" y="6096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2" name="Text 60"/>
          <p:cNvSpPr/>
          <p:nvPr/>
        </p:nvSpPr>
        <p:spPr>
          <a:xfrm>
            <a:off x="825500" y="6121400"/>
            <a:ext cx="533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397000" y="6121400"/>
            <a:ext cx="393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Performance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715000" y="6096000"/>
            <a:ext cx="4699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5" name="Text 63"/>
          <p:cNvSpPr/>
          <p:nvPr/>
        </p:nvSpPr>
        <p:spPr>
          <a:xfrm>
            <a:off x="5778500" y="6121400"/>
            <a:ext cx="44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223000" y="6121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 IPS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668000" y="6096000"/>
            <a:ext cx="4826000" cy="381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6"/>
          <p:cNvSpPr/>
          <p:nvPr/>
        </p:nvSpPr>
        <p:spPr>
          <a:xfrm>
            <a:off x="10731500" y="6121400"/>
            <a:ext cx="533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303000" y="6121400"/>
            <a:ext cx="406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IA &amp; Operateur IA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1" name="Text 69"/>
          <p:cNvSpPr/>
          <p:nvPr/>
        </p:nvSpPr>
        <p:spPr>
          <a:xfrm>
            <a:off x="1016000" y="7175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transforme les donnees brutes Elasticsearch en operations SOC intelligentes: alertes normalisees, incidents correles, investigations, analyse IA, playbooks, approbation, execution Ansible, verification et archivage.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1 — INGESTION &amp; ENRICHISSEMENT DES ALERTES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2%20%E2%80%94%20Alert%20Ingestion%20&amp;%20Enrichment%20Pipeline.png">    </p:cNvPr>
          <p:cNvPicPr>
            <a:picLocks noChangeAspect="1"/>
          </p:cNvPicPr>
          <p:nvPr/>
        </p:nvPicPr>
        <p:blipFill>
          <a:blip r:embed="rId1"/>
          <a:srcRect l="0" r="0" t="-114486" b="-114486"/>
          <a:stretch/>
        </p:blipFill>
        <p:spPr>
          <a:xfrm>
            <a:off x="762000" y="1498600"/>
            <a:ext cx="14732000" cy="184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35306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 ELASTICSEARCH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3911600"/>
            <a:ext cx="6858000" cy="1752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4000500"/>
            <a:ext cx="635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wazuh-alerts-*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Alertes Wazuh (HIDS)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Alertes Suricata (NIDS)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falco-events-*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Evenements Falco (runtime)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filebeat-* / telegraf-*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Logs et metriques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01000" y="3530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DE TRAITEMENT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01000" y="3911600"/>
            <a:ext cx="7493000" cy="1752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8255000" y="4000500"/>
            <a:ext cx="6985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 ES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Mappers sources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Deduplication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Filtrage bruit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Enrichissement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(GeoIP + MITRE)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Detection campagne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Whitelist check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Persistance SQLite →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Broadcast WebSocket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584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6223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6350000"/>
            <a:ext cx="14732000" cy="215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1016000" y="6451600"/>
            <a:ext cx="1422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Alertes normalisees propres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avec: source, source_id, titre, severite, categorie, IPs, hostname, tags, IOCs, techniques MITRE, metadonnees, cle de dedup, compte d'occurrences.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Visibles dans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/alerts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/ips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Pretes pour la correlation d'incidents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Mises a jour en temps reel via WebSocket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2 — CORRELATION D'INCIDENTS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7%20%E2%80%94%20Incident%20Correlation.png">    </p:cNvPr>
          <p:cNvPicPr>
            <a:picLocks noChangeAspect="1"/>
          </p:cNvPicPr>
          <p:nvPr/>
        </p:nvPicPr>
        <p:blipFill>
          <a:blip r:embed="rId1"/>
          <a:srcRect l="0" r="0" t="-83867" b="-83867"/>
          <a:stretch/>
        </p:blipFill>
        <p:spPr>
          <a:xfrm>
            <a:off x="762000" y="1498600"/>
            <a:ext cx="7112000" cy="355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55000" y="1498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SIGNAUX DE CORRELATION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5000" y="1905000"/>
            <a:ext cx="7239000" cy="3149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8509000" y="2032000"/>
            <a:ext cx="673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Source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meme origine attaquante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Hostname / Container ID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meme cible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d'attaque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tactiques MITRE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Kill-chain progression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etapes d'attaque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Fenetre temporelle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alertes repetees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Observable Extraction: IP, host, container, MITRE → Correlation Engine: time window + IOC + MITRE overlap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5334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 DE CORRELATION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8"/>
          <p:cNvSpPr/>
          <p:nvPr/>
        </p:nvSpPr>
        <p:spPr>
          <a:xfrm>
            <a:off x="762000" y="5905500"/>
            <a:ext cx="4572000" cy="101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952500" y="5969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port scan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7500" y="6159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69000" y="5905500"/>
            <a:ext cx="4572000" cy="101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159500" y="5969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 SSH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brute force (meme IP)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04500" y="6159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176000" y="5905500"/>
            <a:ext cx="4318000" cy="101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5"/>
          <p:cNvSpPr/>
          <p:nvPr/>
        </p:nvSpPr>
        <p:spPr>
          <a:xfrm>
            <a:off x="11366500" y="5969000"/>
            <a:ext cx="393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activite shell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7112000"/>
            <a:ext cx="14732000" cy="53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7"/>
          <p:cNvSpPr/>
          <p:nvPr/>
        </p:nvSpPr>
        <p:spPr>
          <a:xfrm>
            <a:off x="1016000" y="71120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fort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confiance elevee: "SSH Brute Force &amp; Port Scan Campaign from 185.220.101.4"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3 — INVESTIGATION &amp; MOTEUR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9%20%E2%80%94%20AI%20Response%20Engine.png">    </p:cNvPr>
          <p:cNvPicPr>
            <a:picLocks noChangeAspect="1"/>
          </p:cNvPicPr>
          <p:nvPr/>
        </p:nvPicPr>
        <p:blipFill>
          <a:blip r:embed="rId1"/>
          <a:srcRect l="0" r="0" t="-36711" b="-36711"/>
          <a:stretch/>
        </p:blipFill>
        <p:spPr>
          <a:xfrm>
            <a:off x="762000" y="1498600"/>
            <a:ext cx="14732000" cy="139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INVESTIGATION AUTOMATIQUE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3492500"/>
            <a:ext cx="7112000" cy="2667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3581400"/>
            <a:ext cx="6604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watcher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surveille les incidents ouverts et cree automatiquement des investigations avec contexte riche: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Timeline complete des alertes liees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IOCs: IPs, ports, services, domaines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Tactiques et techniques MITRE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Patterns comportementaux &amp; auth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Score de risque dynamique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55000" y="311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 DE REPONSE IA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55000" y="3492500"/>
            <a:ext cx="7239000" cy="2667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8509000" y="3581400"/>
            <a:ext cx="6731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Genere automatiquement: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Resume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d'investigation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Narrative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la chaine d'attaque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risque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 YAML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remediation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syntaxe YAML + check auto-approbation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6223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FOURNISSEURS LLM SUPPORTES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6604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6972300"/>
            <a:ext cx="3429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6972300"/>
            <a:ext cx="342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Ollama (Local)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45000" y="6972300"/>
            <a:ext cx="3429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4"/>
          <p:cNvSpPr/>
          <p:nvPr/>
        </p:nvSpPr>
        <p:spPr>
          <a:xfrm>
            <a:off x="4445000" y="6972300"/>
            <a:ext cx="342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Gemini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28000" y="6972300"/>
            <a:ext cx="3429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6"/>
          <p:cNvSpPr/>
          <p:nvPr/>
        </p:nvSpPr>
        <p:spPr>
          <a:xfrm>
            <a:off x="8128000" y="6972300"/>
            <a:ext cx="342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1811000" y="6972300"/>
            <a:ext cx="3683000" cy="33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8"/>
          <p:cNvSpPr/>
          <p:nvPr/>
        </p:nvSpPr>
        <p:spPr>
          <a:xfrm>
            <a:off x="11811000" y="6972300"/>
            <a:ext cx="368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 NIM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2000" y="768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 Le systeme n'execute pas aveuglement — la sortie passe par approbation et validation avant toute action.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ETAPE 4 — APPROBATION, EXECUTION &amp;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" name="Image 0" descr="https://kimi-img.moonshot.cn/pub/slides/okc/47iex5ppmx76e/mnt/agents/output/soc_platform/images/Diagram%2010%20%E2%80%94%20Approval,%20Execution,%20Verification%20and%20Archive.png">    </p:cNvPr>
          <p:cNvPicPr>
            <a:picLocks noChangeAspect="1"/>
          </p:cNvPicPr>
          <p:nvPr/>
        </p:nvPicPr>
        <p:blipFill>
          <a:blip r:embed="rId1"/>
          <a:srcRect l="0" r="0" t="-21267" b="-21267"/>
          <a:stretch/>
        </p:blipFill>
        <p:spPr>
          <a:xfrm>
            <a:off x="762000" y="1498600"/>
            <a:ext cx="14732000" cy="127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2000" y="2984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D'APPROBATION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3403600"/>
            <a:ext cx="46990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3403600"/>
            <a:ext cx="5080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990600" y="349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MANUELLE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90600" y="3848100"/>
            <a:ext cx="431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L'analyste examine et decide de l'action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5000" y="3403600"/>
            <a:ext cx="46990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0" y="3403600"/>
            <a:ext cx="50800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349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AUTO-APPROUVEE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43600" y="3848100"/>
            <a:ext cx="431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a faible risque uniquement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668000" y="3403600"/>
            <a:ext cx="48260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10668000" y="3403600"/>
            <a:ext cx="50800" cy="1143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7" name="Text 14"/>
          <p:cNvSpPr/>
          <p:nvPr/>
        </p:nvSpPr>
        <p:spPr>
          <a:xfrm>
            <a:off x="10896600" y="34925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BLOQUEE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896600" y="3848100"/>
            <a:ext cx="444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 critiques / haut risque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000" y="4826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CONTROLES D'EXECUTION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5207000"/>
            <a:ext cx="7112000" cy="152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8"/>
          <p:cNvSpPr/>
          <p:nvPr/>
        </p:nvSpPr>
        <p:spPr>
          <a:xfrm>
            <a:off x="1016000" y="5270500"/>
            <a:ext cx="6604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syntaxe playbook YAML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Verification SSH connectivite prealable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Protection whitelist cibles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Journalisation complete execution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55000" y="4826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RESULTATS DE VERIFICATION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0" y="5207000"/>
          <a:ext cx="7239000" cy="1397000"/>
        </p:xfrm>
        <a:graphic>
          <a:graphicData uri="http://schemas.openxmlformats.org/drawingml/2006/table">
            <a:tbl>
              <a:tblPr/>
              <a:tblGrid>
                <a:gridCol w="2895600"/>
                <a:gridCol w="4343400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Signification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0B98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likely_fixed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Succes, pas de nouvelles alertes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not_fixed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Alertes continuent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F59E0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inconclusive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Signaux ambigus restants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762000" y="6921500"/>
            <a:ext cx="14732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1"/>
          <p:cNvSpPr/>
          <p:nvPr/>
        </p:nvSpPr>
        <p:spPr>
          <a:xfrm>
            <a:off x="1016000" y="7048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Principe fondamental: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 backend n'execute jamais aveuglement. Chaque action de remediation passe par un workflow d'approbation controlee avec audit complet — de la detection a l'archivage.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MODULES OPERATIONNELS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71755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MONITORING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260600"/>
            <a:ext cx="6731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Polling continu des metriques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telegraf-*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d'anomalies par seuils et baselines statistiques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Creation d'investigations de performance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Generation de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playbooks de remediation dynamiques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Metriques: CPU, RAM, disque, reseau, charge, processus, TCP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24000"/>
            <a:ext cx="7175500" cy="50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8685" y="138698"/>
                </a:moveTo>
                <a:lnTo>
                  <a:pt x="60146" y="160159"/>
                </a:lnTo>
                <a:cubicBezTo>
                  <a:pt x="64314" y="164326"/>
                  <a:pt x="69939" y="166688"/>
                  <a:pt x="75843" y="166688"/>
                </a:cubicBezTo>
                <a:lnTo>
                  <a:pt x="90775" y="166688"/>
                </a:lnTo>
                <a:cubicBezTo>
                  <a:pt x="96679" y="166688"/>
                  <a:pt x="102304" y="169049"/>
                  <a:pt x="106472" y="173216"/>
                </a:cubicBezTo>
                <a:lnTo>
                  <a:pt x="126821" y="193566"/>
                </a:lnTo>
                <a:cubicBezTo>
                  <a:pt x="130989" y="197733"/>
                  <a:pt x="133350" y="203359"/>
                  <a:pt x="133350" y="209262"/>
                </a:cubicBezTo>
                <a:lnTo>
                  <a:pt x="133350" y="235307"/>
                </a:lnTo>
                <a:cubicBezTo>
                  <a:pt x="133350" y="241211"/>
                  <a:pt x="135711" y="246836"/>
                  <a:pt x="139879" y="251004"/>
                </a:cubicBezTo>
                <a:lnTo>
                  <a:pt x="149116" y="260241"/>
                </a:lnTo>
                <a:cubicBezTo>
                  <a:pt x="153283" y="264408"/>
                  <a:pt x="155644" y="270034"/>
                  <a:pt x="155644" y="275937"/>
                </a:cubicBezTo>
                <a:lnTo>
                  <a:pt x="155644" y="288925"/>
                </a:lnTo>
                <a:cubicBezTo>
                  <a:pt x="155644" y="301218"/>
                  <a:pt x="165576" y="311150"/>
                  <a:pt x="177869" y="311150"/>
                </a:cubicBezTo>
                <a:cubicBezTo>
                  <a:pt x="190163" y="311150"/>
                  <a:pt x="200094" y="301218"/>
                  <a:pt x="200094" y="288925"/>
                </a:cubicBezTo>
                <a:lnTo>
                  <a:pt x="200094" y="287050"/>
                </a:lnTo>
                <a:cubicBezTo>
                  <a:pt x="200094" y="281146"/>
                  <a:pt x="202456" y="275521"/>
                  <a:pt x="206623" y="271353"/>
                </a:cubicBezTo>
                <a:lnTo>
                  <a:pt x="238085" y="239891"/>
                </a:lnTo>
                <a:cubicBezTo>
                  <a:pt x="242253" y="235724"/>
                  <a:pt x="244614" y="230098"/>
                  <a:pt x="244614" y="224195"/>
                </a:cubicBezTo>
                <a:lnTo>
                  <a:pt x="244614" y="200094"/>
                </a:lnTo>
                <a:cubicBezTo>
                  <a:pt x="244614" y="187801"/>
                  <a:pt x="234682" y="177869"/>
                  <a:pt x="222389" y="177869"/>
                </a:cubicBezTo>
                <a:lnTo>
                  <a:pt x="164951" y="177869"/>
                </a:lnTo>
                <a:cubicBezTo>
                  <a:pt x="159048" y="177869"/>
                  <a:pt x="153422" y="175508"/>
                  <a:pt x="149255" y="171341"/>
                </a:cubicBezTo>
                <a:lnTo>
                  <a:pt x="138142" y="160228"/>
                </a:lnTo>
                <a:cubicBezTo>
                  <a:pt x="135225" y="157311"/>
                  <a:pt x="133558" y="153283"/>
                  <a:pt x="133558" y="149116"/>
                </a:cubicBezTo>
                <a:cubicBezTo>
                  <a:pt x="133558" y="140434"/>
                  <a:pt x="140573" y="133419"/>
                  <a:pt x="149255" y="133419"/>
                </a:cubicBezTo>
                <a:lnTo>
                  <a:pt x="173355" y="133419"/>
                </a:lnTo>
                <a:cubicBezTo>
                  <a:pt x="182037" y="133419"/>
                  <a:pt x="189051" y="126405"/>
                  <a:pt x="189051" y="117723"/>
                </a:cubicBezTo>
                <a:cubicBezTo>
                  <a:pt x="189051" y="113556"/>
                  <a:pt x="187385" y="109528"/>
                  <a:pt x="184468" y="106611"/>
                </a:cubicBezTo>
                <a:lnTo>
                  <a:pt x="170785" y="92928"/>
                </a:lnTo>
                <a:cubicBezTo>
                  <a:pt x="168077" y="90289"/>
                  <a:pt x="166688" y="86886"/>
                  <a:pt x="166688" y="83344"/>
                </a:cubicBezTo>
                <a:cubicBezTo>
                  <a:pt x="166688" y="79802"/>
                  <a:pt x="168077" y="76398"/>
                  <a:pt x="170646" y="73829"/>
                </a:cubicBezTo>
                <a:lnTo>
                  <a:pt x="182662" y="61813"/>
                </a:lnTo>
                <a:cubicBezTo>
                  <a:pt x="186690" y="57785"/>
                  <a:pt x="188982" y="52298"/>
                  <a:pt x="188982" y="46603"/>
                </a:cubicBezTo>
                <a:cubicBezTo>
                  <a:pt x="188982" y="41602"/>
                  <a:pt x="187315" y="37088"/>
                  <a:pt x="184537" y="33476"/>
                </a:cubicBezTo>
                <a:cubicBezTo>
                  <a:pt x="182314" y="33407"/>
                  <a:pt x="180092" y="33337"/>
                  <a:pt x="177869" y="33337"/>
                </a:cubicBezTo>
                <a:cubicBezTo>
                  <a:pt x="111611" y="33337"/>
                  <a:pt x="55840" y="77926"/>
                  <a:pt x="38755" y="138698"/>
                </a:cubicBezTo>
                <a:close/>
                <a:moveTo>
                  <a:pt x="322263" y="177800"/>
                </a:moveTo>
                <a:cubicBezTo>
                  <a:pt x="322263" y="153769"/>
                  <a:pt x="316428" y="131128"/>
                  <a:pt x="306010" y="111264"/>
                </a:cubicBezTo>
                <a:cubicBezTo>
                  <a:pt x="301565" y="111889"/>
                  <a:pt x="297190" y="113973"/>
                  <a:pt x="293578" y="117584"/>
                </a:cubicBezTo>
                <a:lnTo>
                  <a:pt x="284272" y="126891"/>
                </a:lnTo>
                <a:cubicBezTo>
                  <a:pt x="280104" y="131058"/>
                  <a:pt x="277743" y="136684"/>
                  <a:pt x="277743" y="142587"/>
                </a:cubicBezTo>
                <a:lnTo>
                  <a:pt x="277743" y="166688"/>
                </a:lnTo>
                <a:cubicBezTo>
                  <a:pt x="277743" y="178981"/>
                  <a:pt x="287675" y="188913"/>
                  <a:pt x="299968" y="188913"/>
                </a:cubicBezTo>
                <a:lnTo>
                  <a:pt x="316706" y="188913"/>
                </a:lnTo>
                <a:cubicBezTo>
                  <a:pt x="318443" y="188913"/>
                  <a:pt x="320179" y="188704"/>
                  <a:pt x="321776" y="188357"/>
                </a:cubicBezTo>
                <a:cubicBezTo>
                  <a:pt x="322054" y="184884"/>
                  <a:pt x="322124" y="181342"/>
                  <a:pt x="322124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IPS ATTACK VISUALIZATION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260600"/>
            <a:ext cx="6731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Carte mondiale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geo-enrichie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attaques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Chemins d'attaque avec statut lifecycle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Evenements en temps reel sur la carte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Statistiques et categories d'attaques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Categories: brute-force, web attack, recon, malware, DoS, C2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80000"/>
            <a:ext cx="71755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080000"/>
            <a:ext cx="71755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993775" y="533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00013"/>
                </a:moveTo>
                <a:cubicBezTo>
                  <a:pt x="266700" y="167521"/>
                  <a:pt x="206970" y="222250"/>
                  <a:pt x="133350" y="222250"/>
                </a:cubicBezTo>
                <a:cubicBezTo>
                  <a:pt x="114806" y="222250"/>
                  <a:pt x="97165" y="218777"/>
                  <a:pt x="81121" y="212527"/>
                </a:cubicBezTo>
                <a:lnTo>
                  <a:pt x="24448" y="242530"/>
                </a:lnTo>
                <a:cubicBezTo>
                  <a:pt x="17988" y="245934"/>
                  <a:pt x="10071" y="244753"/>
                  <a:pt x="4862" y="239613"/>
                </a:cubicBezTo>
                <a:cubicBezTo>
                  <a:pt x="-347" y="234474"/>
                  <a:pt x="-1528" y="226487"/>
                  <a:pt x="1945" y="220028"/>
                </a:cubicBezTo>
                <a:lnTo>
                  <a:pt x="26670" y="173355"/>
                </a:lnTo>
                <a:cubicBezTo>
                  <a:pt x="9932" y="152936"/>
                  <a:pt x="0" y="127516"/>
                  <a:pt x="0" y="100013"/>
                </a:cubicBezTo>
                <a:cubicBezTo>
                  <a:pt x="0" y="32504"/>
                  <a:pt x="59730" y="-22225"/>
                  <a:pt x="133350" y="-22225"/>
                </a:cubicBezTo>
                <a:cubicBezTo>
                  <a:pt x="206970" y="-22225"/>
                  <a:pt x="266700" y="32504"/>
                  <a:pt x="266700" y="100013"/>
                </a:cubicBezTo>
                <a:close/>
                <a:moveTo>
                  <a:pt x="266700" y="355600"/>
                </a:moveTo>
                <a:cubicBezTo>
                  <a:pt x="201345" y="355600"/>
                  <a:pt x="146963" y="312470"/>
                  <a:pt x="135572" y="255587"/>
                </a:cubicBezTo>
                <a:cubicBezTo>
                  <a:pt x="218916" y="254546"/>
                  <a:pt x="291356" y="195233"/>
                  <a:pt x="299343" y="114806"/>
                </a:cubicBezTo>
                <a:cubicBezTo>
                  <a:pt x="357197" y="128141"/>
                  <a:pt x="400050" y="176133"/>
                  <a:pt x="400050" y="233363"/>
                </a:cubicBezTo>
                <a:cubicBezTo>
                  <a:pt x="400050" y="260866"/>
                  <a:pt x="390118" y="286286"/>
                  <a:pt x="373380" y="306705"/>
                </a:cubicBezTo>
                <a:lnTo>
                  <a:pt x="398105" y="353378"/>
                </a:lnTo>
                <a:cubicBezTo>
                  <a:pt x="401509" y="359837"/>
                  <a:pt x="400328" y="367754"/>
                  <a:pt x="395188" y="372963"/>
                </a:cubicBezTo>
                <a:cubicBezTo>
                  <a:pt x="390049" y="378172"/>
                  <a:pt x="382062" y="379353"/>
                  <a:pt x="375602" y="375880"/>
                </a:cubicBezTo>
                <a:lnTo>
                  <a:pt x="318929" y="345877"/>
                </a:lnTo>
                <a:cubicBezTo>
                  <a:pt x="302885" y="352127"/>
                  <a:pt x="285244" y="355600"/>
                  <a:pt x="266700" y="3556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816600"/>
            <a:ext cx="673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conversationnelle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les analystes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contextuelles avec reponses enrichies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Reponses basees sur les donnees SOC reelles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 approuvees: approuver, decliner, executer, archiver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Flux: Question → Extraction keywords → Deep entity fetch → Context prompt → LLM Answer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5080000"/>
            <a:ext cx="71755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5080000"/>
            <a:ext cx="71755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725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0551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OPERATOR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5816600"/>
            <a:ext cx="673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Langage naturel → Ansible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Traduction de requetes operationnelles en playbooks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controlee avec gate d'approbation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Resultats structures et analyse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Templates: RAM, disque, CPU, ports, services, Docker, packages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Phase 3 — Backend Intelligence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33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EXIGENCES FONCTIONNELLES &amp; NON-FONCTIONNELLES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Specification complete des exigences de la plateforme SOC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EXIGENCES FONCTIONNELLES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6096000"/>
        </p:xfrm>
        <a:graphic>
          <a:graphicData uri="http://schemas.openxmlformats.org/drawingml/2006/table">
            <a:tbl>
              <a:tblPr/>
              <a:tblGrid>
                <a:gridCol w="736600"/>
                <a:gridCol w="4419600"/>
                <a:gridCol w="9575800"/>
              </a:tblGrid>
              <a:tr h="461042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Exigence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Architecture &amp; Cloud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Definition architecture globale, mise en place infrastructure Cloud securisee (VPC, SG, EIP)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Deploiement Automatise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Scripts d'installation centralises pour tous les composants SOC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 &amp; Kibana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 stockage securise (TLS, auth), index patterns, dashboards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Collecte Logs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 pour logs systeme et securite vers Elasticsearch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Supervision Metriques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 pour CPU, RAM, disque, reseau avec dashboards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Detection NIDS/HIDS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 (reseau) + Wazuh (hote) avec regles de detection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Detection Runtime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 pour appels systeme et comportements anormaux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Dashboards &amp; Alertes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Tableaux de bord structures, regles detection, visualisations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Couche IA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Analyse automatique, resumes, actions correctives avec LLM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49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Automatisation Ansible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Playbooks pour actions correctives systeme/infrastructure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Exigences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EXIGENCES NON-FONCTIONNELLES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2095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50800" cy="2095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35050" y="1676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1651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0955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Temps de reponse dashboards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2s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Ingestion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1000 evenements/seconde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Disponibilite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2222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24000"/>
            <a:ext cx="50800" cy="2095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004300" y="1651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095500"/>
            <a:ext cx="673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TLS pour toutes les communications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Authentification requise sur tous les services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Elasticsearch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expose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publiquement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Audit complet des actions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873500"/>
            <a:ext cx="7175500" cy="2095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873500"/>
            <a:ext cx="50800" cy="2095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5050" y="40259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lnTo>
                  <a:pt x="0" y="95250"/>
                </a:lnTo>
                <a:cubicBezTo>
                  <a:pt x="0" y="105787"/>
                  <a:pt x="8513" y="114300"/>
                  <a:pt x="19050" y="114300"/>
                </a:cubicBezTo>
                <a:cubicBezTo>
                  <a:pt x="29587" y="114300"/>
                  <a:pt x="38100" y="105787"/>
                  <a:pt x="38100" y="95250"/>
                </a:cubicBezTo>
                <a:lnTo>
                  <a:pt x="38100" y="57150"/>
                </a:lnTo>
                <a:lnTo>
                  <a:pt x="76200" y="57150"/>
                </a:lnTo>
                <a:cubicBezTo>
                  <a:pt x="86737" y="57150"/>
                  <a:pt x="95250" y="48637"/>
                  <a:pt x="95250" y="38100"/>
                </a:cubicBezTo>
                <a:cubicBezTo>
                  <a:pt x="95250" y="27563"/>
                  <a:pt x="86737" y="19050"/>
                  <a:pt x="76200" y="19050"/>
                </a:cubicBezTo>
                <a:lnTo>
                  <a:pt x="19050" y="19050"/>
                </a:lnTo>
                <a:close/>
                <a:moveTo>
                  <a:pt x="38100" y="209550"/>
                </a:moveTo>
                <a:cubicBezTo>
                  <a:pt x="38100" y="199013"/>
                  <a:pt x="29587" y="190500"/>
                  <a:pt x="19050" y="190500"/>
                </a:cubicBezTo>
                <a:cubicBezTo>
                  <a:pt x="8513" y="190500"/>
                  <a:pt x="0" y="199013"/>
                  <a:pt x="0" y="209550"/>
                </a:cubicBezTo>
                <a:lnTo>
                  <a:pt x="0" y="266700"/>
                </a:lnTo>
                <a:cubicBezTo>
                  <a:pt x="0" y="277237"/>
                  <a:pt x="8513" y="285750"/>
                  <a:pt x="19050" y="285750"/>
                </a:cubicBezTo>
                <a:lnTo>
                  <a:pt x="76200" y="285750"/>
                </a:lnTo>
                <a:cubicBezTo>
                  <a:pt x="86737" y="285750"/>
                  <a:pt x="95250" y="277237"/>
                  <a:pt x="95250" y="266700"/>
                </a:cubicBezTo>
                <a:cubicBezTo>
                  <a:pt x="95250" y="256163"/>
                  <a:pt x="86737" y="247650"/>
                  <a:pt x="76200" y="247650"/>
                </a:cubicBezTo>
                <a:lnTo>
                  <a:pt x="38100" y="247650"/>
                </a:lnTo>
                <a:lnTo>
                  <a:pt x="38100" y="209550"/>
                </a:lnTo>
                <a:close/>
                <a:moveTo>
                  <a:pt x="190500" y="19050"/>
                </a:moveTo>
                <a:cubicBezTo>
                  <a:pt x="179963" y="19050"/>
                  <a:pt x="171450" y="27563"/>
                  <a:pt x="171450" y="38100"/>
                </a:cubicBezTo>
                <a:cubicBezTo>
                  <a:pt x="171450" y="48637"/>
                  <a:pt x="179963" y="57150"/>
                  <a:pt x="190500" y="57150"/>
                </a:cubicBezTo>
                <a:lnTo>
                  <a:pt x="228600" y="57150"/>
                </a:lnTo>
                <a:lnTo>
                  <a:pt x="228600" y="95250"/>
                </a:lnTo>
                <a:cubicBezTo>
                  <a:pt x="228600" y="105787"/>
                  <a:pt x="237113" y="114300"/>
                  <a:pt x="247650" y="114300"/>
                </a:cubicBezTo>
                <a:cubicBezTo>
                  <a:pt x="258187" y="114300"/>
                  <a:pt x="266700" y="105787"/>
                  <a:pt x="266700" y="95250"/>
                </a:cubicBezTo>
                <a:lnTo>
                  <a:pt x="266700" y="38100"/>
                </a:lnTo>
                <a:cubicBezTo>
                  <a:pt x="266700" y="27563"/>
                  <a:pt x="258187" y="19050"/>
                  <a:pt x="247650" y="19050"/>
                </a:cubicBezTo>
                <a:lnTo>
                  <a:pt x="190500" y="19050"/>
                </a:lnTo>
                <a:close/>
                <a:moveTo>
                  <a:pt x="266700" y="209550"/>
                </a:moveTo>
                <a:cubicBezTo>
                  <a:pt x="266700" y="199013"/>
                  <a:pt x="258187" y="190500"/>
                  <a:pt x="247650" y="190500"/>
                </a:cubicBezTo>
                <a:cubicBezTo>
                  <a:pt x="237113" y="190500"/>
                  <a:pt x="228600" y="199013"/>
                  <a:pt x="228600" y="209550"/>
                </a:cubicBezTo>
                <a:lnTo>
                  <a:pt x="228600" y="247650"/>
                </a:lnTo>
                <a:lnTo>
                  <a:pt x="190500" y="247650"/>
                </a:lnTo>
                <a:cubicBezTo>
                  <a:pt x="179963" y="247650"/>
                  <a:pt x="171450" y="256163"/>
                  <a:pt x="171450" y="266700"/>
                </a:cubicBezTo>
                <a:cubicBezTo>
                  <a:pt x="171450" y="277237"/>
                  <a:pt x="179963" y="285750"/>
                  <a:pt x="190500" y="285750"/>
                </a:cubicBezTo>
                <a:lnTo>
                  <a:pt x="247650" y="285750"/>
                </a:lnTo>
                <a:cubicBezTo>
                  <a:pt x="258187" y="285750"/>
                  <a:pt x="266700" y="277237"/>
                  <a:pt x="266700" y="266700"/>
                </a:cubicBezTo>
                <a:lnTo>
                  <a:pt x="266700" y="2095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" y="4000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4450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modulaire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 horizontal scaling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Polling adaptatif curseur-based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3873500"/>
            <a:ext cx="7175500" cy="2095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3873500"/>
            <a:ext cx="50800" cy="2095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72500" y="4025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64234"/>
                </a:moveTo>
                <a:lnTo>
                  <a:pt x="143470" y="51852"/>
                </a:lnTo>
                <a:cubicBezTo>
                  <a:pt x="128588" y="31254"/>
                  <a:pt x="104715" y="19050"/>
                  <a:pt x="79236" y="19050"/>
                </a:cubicBezTo>
                <a:cubicBezTo>
                  <a:pt x="35481" y="19050"/>
                  <a:pt x="0" y="54531"/>
                  <a:pt x="0" y="98286"/>
                </a:cubicBezTo>
                <a:lnTo>
                  <a:pt x="0" y="99834"/>
                </a:lnTo>
                <a:cubicBezTo>
                  <a:pt x="0" y="113883"/>
                  <a:pt x="3691" y="128409"/>
                  <a:pt x="9882" y="142875"/>
                </a:cubicBezTo>
                <a:lnTo>
                  <a:pt x="72985" y="142875"/>
                </a:lnTo>
                <a:cubicBezTo>
                  <a:pt x="74890" y="142875"/>
                  <a:pt x="76617" y="141744"/>
                  <a:pt x="77391" y="139958"/>
                </a:cubicBezTo>
                <a:lnTo>
                  <a:pt x="96322" y="94536"/>
                </a:lnTo>
                <a:cubicBezTo>
                  <a:pt x="98524" y="89297"/>
                  <a:pt x="103644" y="85844"/>
                  <a:pt x="109299" y="85725"/>
                </a:cubicBezTo>
                <a:cubicBezTo>
                  <a:pt x="114955" y="85606"/>
                  <a:pt x="120194" y="88940"/>
                  <a:pt x="122515" y="94119"/>
                </a:cubicBezTo>
                <a:lnTo>
                  <a:pt x="153055" y="161925"/>
                </a:lnTo>
                <a:lnTo>
                  <a:pt x="177701" y="112633"/>
                </a:lnTo>
                <a:cubicBezTo>
                  <a:pt x="180142" y="107811"/>
                  <a:pt x="185083" y="104715"/>
                  <a:pt x="190500" y="104715"/>
                </a:cubicBezTo>
                <a:cubicBezTo>
                  <a:pt x="195917" y="104715"/>
                  <a:pt x="200858" y="107752"/>
                  <a:pt x="203299" y="112633"/>
                </a:cubicBezTo>
                <a:lnTo>
                  <a:pt x="217110" y="140196"/>
                </a:lnTo>
                <a:cubicBezTo>
                  <a:pt x="217944" y="141803"/>
                  <a:pt x="219551" y="142815"/>
                  <a:pt x="221397" y="142815"/>
                </a:cubicBezTo>
                <a:lnTo>
                  <a:pt x="294977" y="142815"/>
                </a:lnTo>
                <a:cubicBezTo>
                  <a:pt x="301228" y="128349"/>
                  <a:pt x="304860" y="113824"/>
                  <a:pt x="304860" y="99774"/>
                </a:cubicBezTo>
                <a:lnTo>
                  <a:pt x="304860" y="98227"/>
                </a:lnTo>
                <a:cubicBezTo>
                  <a:pt x="304800" y="54531"/>
                  <a:pt x="269319" y="19050"/>
                  <a:pt x="225564" y="19050"/>
                </a:cubicBezTo>
                <a:cubicBezTo>
                  <a:pt x="200144" y="19050"/>
                  <a:pt x="176212" y="31254"/>
                  <a:pt x="161330" y="51852"/>
                </a:cubicBezTo>
                <a:lnTo>
                  <a:pt x="152400" y="64175"/>
                </a:lnTo>
                <a:close/>
                <a:moveTo>
                  <a:pt x="279559" y="171450"/>
                </a:moveTo>
                <a:lnTo>
                  <a:pt x="221337" y="171450"/>
                </a:lnTo>
                <a:cubicBezTo>
                  <a:pt x="208717" y="171450"/>
                  <a:pt x="197167" y="164306"/>
                  <a:pt x="191512" y="152995"/>
                </a:cubicBezTo>
                <a:lnTo>
                  <a:pt x="190500" y="150971"/>
                </a:lnTo>
                <a:lnTo>
                  <a:pt x="165199" y="201632"/>
                </a:lnTo>
                <a:cubicBezTo>
                  <a:pt x="162758" y="206573"/>
                  <a:pt x="157639" y="209669"/>
                  <a:pt x="152102" y="209550"/>
                </a:cubicBezTo>
                <a:cubicBezTo>
                  <a:pt x="146566" y="209431"/>
                  <a:pt x="141625" y="206157"/>
                  <a:pt x="139363" y="201156"/>
                </a:cubicBezTo>
                <a:lnTo>
                  <a:pt x="110014" y="135969"/>
                </a:lnTo>
                <a:lnTo>
                  <a:pt x="103763" y="150971"/>
                </a:lnTo>
                <a:cubicBezTo>
                  <a:pt x="98584" y="163413"/>
                  <a:pt x="86439" y="171510"/>
                  <a:pt x="72985" y="171510"/>
                </a:cubicBezTo>
                <a:lnTo>
                  <a:pt x="25241" y="171510"/>
                </a:lnTo>
                <a:cubicBezTo>
                  <a:pt x="53340" y="215444"/>
                  <a:pt x="98465" y="255865"/>
                  <a:pt x="126683" y="277416"/>
                </a:cubicBezTo>
                <a:cubicBezTo>
                  <a:pt x="134064" y="283012"/>
                  <a:pt x="143113" y="285810"/>
                  <a:pt x="152340" y="285810"/>
                </a:cubicBezTo>
                <a:cubicBezTo>
                  <a:pt x="161568" y="285810"/>
                  <a:pt x="170676" y="283071"/>
                  <a:pt x="177998" y="277416"/>
                </a:cubicBezTo>
                <a:cubicBezTo>
                  <a:pt x="206335" y="255806"/>
                  <a:pt x="251460" y="215384"/>
                  <a:pt x="279559" y="1714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004300" y="4000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FIABILITE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44450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SQLite pour persistance locale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Circuit breaker sur LLM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Gestion d'erreurs graceful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223000"/>
            <a:ext cx="7175500" cy="1841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6223000"/>
            <a:ext cx="50800" cy="1841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996950" y="6375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3252" y="58698"/>
                </a:moveTo>
                <a:cubicBezTo>
                  <a:pt x="307777" y="54173"/>
                  <a:pt x="315337" y="55305"/>
                  <a:pt x="317599" y="61258"/>
                </a:cubicBezTo>
                <a:cubicBezTo>
                  <a:pt x="321647" y="71795"/>
                  <a:pt x="323850" y="83284"/>
                  <a:pt x="323850" y="95250"/>
                </a:cubicBezTo>
                <a:cubicBezTo>
                  <a:pt x="323850" y="147876"/>
                  <a:pt x="281226" y="190500"/>
                  <a:pt x="228600" y="190500"/>
                </a:cubicBezTo>
                <a:cubicBezTo>
                  <a:pt x="218182" y="190500"/>
                  <a:pt x="208121" y="188833"/>
                  <a:pt x="198715" y="185738"/>
                </a:cubicBezTo>
                <a:lnTo>
                  <a:pt x="87451" y="297001"/>
                </a:lnTo>
                <a:cubicBezTo>
                  <a:pt x="70723" y="313730"/>
                  <a:pt x="43577" y="313730"/>
                  <a:pt x="26849" y="297001"/>
                </a:cubicBezTo>
                <a:cubicBezTo>
                  <a:pt x="10120" y="280273"/>
                  <a:pt x="10120" y="253127"/>
                  <a:pt x="26849" y="236399"/>
                </a:cubicBezTo>
                <a:lnTo>
                  <a:pt x="138113" y="125135"/>
                </a:lnTo>
                <a:cubicBezTo>
                  <a:pt x="135017" y="115729"/>
                  <a:pt x="133350" y="105728"/>
                  <a:pt x="133350" y="95250"/>
                </a:cubicBezTo>
                <a:cubicBezTo>
                  <a:pt x="133350" y="42624"/>
                  <a:pt x="175974" y="0"/>
                  <a:pt x="228600" y="0"/>
                </a:cubicBezTo>
                <a:cubicBezTo>
                  <a:pt x="240566" y="0"/>
                  <a:pt x="252055" y="2203"/>
                  <a:pt x="262592" y="6251"/>
                </a:cubicBezTo>
                <a:cubicBezTo>
                  <a:pt x="268545" y="8513"/>
                  <a:pt x="269617" y="16073"/>
                  <a:pt x="265152" y="20598"/>
                </a:cubicBezTo>
                <a:lnTo>
                  <a:pt x="212348" y="73402"/>
                </a:lnTo>
                <a:cubicBezTo>
                  <a:pt x="210562" y="75188"/>
                  <a:pt x="209550" y="77629"/>
                  <a:pt x="209550" y="80129"/>
                </a:cubicBezTo>
                <a:lnTo>
                  <a:pt x="209550" y="104775"/>
                </a:lnTo>
                <a:cubicBezTo>
                  <a:pt x="209550" y="110014"/>
                  <a:pt x="213836" y="114300"/>
                  <a:pt x="219075" y="114300"/>
                </a:cubicBezTo>
                <a:lnTo>
                  <a:pt x="243721" y="114300"/>
                </a:lnTo>
                <a:cubicBezTo>
                  <a:pt x="246221" y="114300"/>
                  <a:pt x="248662" y="113288"/>
                  <a:pt x="250448" y="111502"/>
                </a:cubicBezTo>
                <a:lnTo>
                  <a:pt x="303252" y="5869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447800" y="6350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MAINTENABILITE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67945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Scripts d'installation centralises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Configuration via fichiers YAML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Logging complet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18500" y="6223000"/>
            <a:ext cx="7175500" cy="1841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8318500" y="6223000"/>
            <a:ext cx="50800" cy="1841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Shape 30"/>
          <p:cNvSpPr/>
          <p:nvPr/>
        </p:nvSpPr>
        <p:spPr>
          <a:xfrm>
            <a:off x="8591550" y="6375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-19050"/>
                </a:moveTo>
                <a:cubicBezTo>
                  <a:pt x="86737" y="-19050"/>
                  <a:pt x="95250" y="-10537"/>
                  <a:pt x="95250" y="0"/>
                </a:cubicBezTo>
                <a:lnTo>
                  <a:pt x="95250" y="57150"/>
                </a:lnTo>
                <a:lnTo>
                  <a:pt x="171450" y="57150"/>
                </a:lnTo>
                <a:lnTo>
                  <a:pt x="171450" y="0"/>
                </a:lnTo>
                <a:cubicBezTo>
                  <a:pt x="171450" y="-10537"/>
                  <a:pt x="179963" y="-19050"/>
                  <a:pt x="190500" y="-19050"/>
                </a:cubicBezTo>
                <a:cubicBezTo>
                  <a:pt x="201037" y="-19050"/>
                  <a:pt x="209550" y="-10537"/>
                  <a:pt x="209550" y="0"/>
                </a:cubicBezTo>
                <a:lnTo>
                  <a:pt x="209550" y="57150"/>
                </a:ln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cubicBezTo>
                  <a:pt x="266700" y="86737"/>
                  <a:pt x="258187" y="95250"/>
                  <a:pt x="247650" y="95250"/>
                </a:cubicBezTo>
                <a:lnTo>
                  <a:pt x="247650" y="133350"/>
                </a:lnTo>
                <a:cubicBezTo>
                  <a:pt x="247650" y="189964"/>
                  <a:pt x="206454" y="236994"/>
                  <a:pt x="152400" y="246043"/>
                </a:cubicBezTo>
                <a:lnTo>
                  <a:pt x="152400" y="285750"/>
                </a:lnTo>
                <a:cubicBezTo>
                  <a:pt x="152400" y="296287"/>
                  <a:pt x="143887" y="304800"/>
                  <a:pt x="133350" y="304800"/>
                </a:cubicBezTo>
                <a:cubicBezTo>
                  <a:pt x="122813" y="304800"/>
                  <a:pt x="114300" y="296287"/>
                  <a:pt x="114300" y="285750"/>
                </a:cubicBezTo>
                <a:lnTo>
                  <a:pt x="114300" y="246043"/>
                </a:lnTo>
                <a:cubicBezTo>
                  <a:pt x="60246" y="236994"/>
                  <a:pt x="19050" y="189964"/>
                  <a:pt x="19050" y="133350"/>
                </a:cubicBez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57150" y="57150"/>
                </a:lnTo>
                <a:lnTo>
                  <a:pt x="57150" y="0"/>
                </a:lnTo>
                <a:cubicBezTo>
                  <a:pt x="57150" y="-10537"/>
                  <a:pt x="65663" y="-19050"/>
                  <a:pt x="76200" y="-1905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9004300" y="6350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INTEROPERABILITE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72500" y="67945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APIs REST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WebSocket temps reel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multi-fournisseurs LLM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Exigences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STRATEGIE DE TEST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Approche de validation et verification de la plateforme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STRATEGIE DE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71755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946" y="6529"/>
                </a:moveTo>
                <a:cubicBezTo>
                  <a:pt x="229265" y="-2153"/>
                  <a:pt x="215166" y="-2153"/>
                  <a:pt x="206484" y="6529"/>
                </a:cubicBezTo>
                <a:cubicBezTo>
                  <a:pt x="197803" y="15210"/>
                  <a:pt x="197803" y="29309"/>
                  <a:pt x="206484" y="37991"/>
                </a:cubicBezTo>
                <a:lnTo>
                  <a:pt x="213013" y="44450"/>
                </a:lnTo>
                <a:lnTo>
                  <a:pt x="19516" y="237946"/>
                </a:lnTo>
                <a:cubicBezTo>
                  <a:pt x="7015" y="250448"/>
                  <a:pt x="0" y="267395"/>
                  <a:pt x="0" y="28510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70495" y="355600"/>
                </a:lnTo>
                <a:cubicBezTo>
                  <a:pt x="88205" y="355600"/>
                  <a:pt x="105152" y="348585"/>
                  <a:pt x="117654" y="336084"/>
                </a:cubicBezTo>
                <a:lnTo>
                  <a:pt x="311150" y="142587"/>
                </a:lnTo>
                <a:lnTo>
                  <a:pt x="317679" y="149116"/>
                </a:lnTo>
                <a:cubicBezTo>
                  <a:pt x="326360" y="157797"/>
                  <a:pt x="340459" y="157797"/>
                  <a:pt x="349141" y="149116"/>
                </a:cubicBezTo>
                <a:cubicBezTo>
                  <a:pt x="357823" y="140434"/>
                  <a:pt x="357823" y="126335"/>
                  <a:pt x="349141" y="117654"/>
                </a:cubicBezTo>
                <a:lnTo>
                  <a:pt x="238016" y="6529"/>
                </a:lnTo>
                <a:close/>
                <a:moveTo>
                  <a:pt x="142587" y="177800"/>
                </a:moveTo>
                <a:lnTo>
                  <a:pt x="244475" y="75912"/>
                </a:lnTo>
                <a:lnTo>
                  <a:pt x="279688" y="111125"/>
                </a:lnTo>
                <a:lnTo>
                  <a:pt x="213013" y="177800"/>
                </a:lnTo>
                <a:lnTo>
                  <a:pt x="142518" y="177800"/>
                </a:ln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UNITAIRES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260600"/>
            <a:ext cx="673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des mappers d'alertes (Wazuh, Suricata, Falco)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Logique de correlation d'incidents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Moteur d'enrichissement (GeoIP, MITRE)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Generation de playbooks Ansible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Parsing et validation YAML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1524000"/>
            <a:ext cx="7175500" cy="50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50275" y="177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752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D'INTEGRATION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260600"/>
            <a:ext cx="673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Flux complet ES → Pipeline → SQLite → API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Communication inter-services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LLM (Ollama, Gemini)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WebSocket broadcast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End-to-end alert lifecycle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80000"/>
            <a:ext cx="7175500" cy="304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5080000"/>
            <a:ext cx="71755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8225" y="533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FONCTIONNELS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816600"/>
            <a:ext cx="673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Scenarios d'attaque simules (brute-force, port scan, malware)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Verification des alertes generees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des investigations et playbooks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workflows d'approbation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5080000"/>
            <a:ext cx="7175500" cy="323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8500" y="5080000"/>
            <a:ext cx="71755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725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055100" y="53086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DE PERFORMANCE &amp; SECURITE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0" y="5816600"/>
            <a:ext cx="673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Charge d'evenements, latence dashboards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Stabilite polling continu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Penetration testing, regles firewall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TLS/authentification, audit trails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Strategie de Test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METHODOLOGIE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Approche de developpement et gestion de projet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METHODOLOGIE DE DEVELOPPEMENT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APPROCHE AGILE ITERATIVE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79600"/>
            <a:ext cx="14732000" cy="762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431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Methodologie agile avec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phases majeures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correspondant aux livrables fonctionnels. Chaque phase produit un increment operationnel de la plateforme SOC.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14732000" cy="381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2476500" y="2819400"/>
            <a:ext cx="228600" cy="228600"/>
          </a:xfrm>
          <a:prstGeom prst="ellipse">
            <a:avLst/>
          </a:prstGeom>
          <a:solidFill>
            <a:srgbClr val="CF0A2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17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492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Fondation Supervision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810000"/>
            <a:ext cx="3810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Mise en place visibilite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outils securite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flux donnees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+ Kibana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10500" y="2819400"/>
            <a:ext cx="228600" cy="2286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0" y="317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3492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Cloud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0" y="3810000"/>
            <a:ext cx="3810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Deploiement Huawei Cloud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Securisation VPC/SG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Optimisation ressources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ECS VM 64vCPU/128GB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144500" y="28194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0" y="3175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0" y="34925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Backend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0" y="3810000"/>
            <a:ext cx="406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alertes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incidents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Moteur IA + Ansible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Modules operationnels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461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 PROJET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8420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5994400"/>
            <a:ext cx="7112000" cy="215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6121400"/>
            <a:ext cx="66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Sprints de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semaines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Revues de code continues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Documentation en parallele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automatises a chaque sprint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continue des composants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55000" y="5461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LIVRABLES PAR PHASE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55000" y="5994400"/>
            <a:ext cx="7239000" cy="215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8509000" y="6121400"/>
            <a:ext cx="673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documentee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Scripts de deploiement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Dashboards operationnels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Backend intelligence avec API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et documentation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Methodologie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1270000" y="3302000"/>
            <a:ext cx="1016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Bilan du projet, resultats obtenus et perspectives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508000" cy="381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spc="200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RESULTATS &amp; REALISATIONS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755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038225" y="1714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689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PLATEFORME SOC COMPLETE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Supervision multi-couches (reseau, hote, runtime, infrastructure) deployee sur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Huawei Cloud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stack securisee.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524000"/>
            <a:ext cx="71755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85725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1" name="Text 9"/>
          <p:cNvSpPr/>
          <p:nvPr/>
        </p:nvSpPr>
        <p:spPr>
          <a:xfrm>
            <a:off x="9055100" y="1689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D'INTELLIGENCE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2500" y="2159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etapes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l'ingestion des donnees brutes a la verification des corrections, avec correlation automatique et analyse IA.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810000"/>
            <a:ext cx="71755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810000"/>
            <a:ext cx="50800" cy="19685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5" name="Shape 13"/>
          <p:cNvSpPr/>
          <p:nvPr/>
        </p:nvSpPr>
        <p:spPr>
          <a:xfrm>
            <a:off x="971550" y="4000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CF0A2C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" y="3975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AUTOMATISATION CONTROLEE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4445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Generation de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playbooks Ansible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workflows d'approbation, execution securisee avec audit complet des actions.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18500" y="3810000"/>
            <a:ext cx="71755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318500" y="3810000"/>
            <a:ext cx="50800" cy="1968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8572500" y="400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055100" y="3975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 IA AVANCES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2500" y="4445000"/>
            <a:ext cx="673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conversationnel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operateur langage naturel, visualisation geo-attaque avec cartographie mondiale.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096000"/>
            <a:ext cx="14732000" cy="1968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6096000"/>
            <a:ext cx="508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93775" y="6286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233363"/>
                </a:moveTo>
                <a:cubicBezTo>
                  <a:pt x="0" y="288578"/>
                  <a:pt x="44797" y="333375"/>
                  <a:pt x="100013" y="333375"/>
                </a:cubicBezTo>
                <a:lnTo>
                  <a:pt x="311150" y="333375"/>
                </a:lnTo>
                <a:cubicBezTo>
                  <a:pt x="360253" y="333375"/>
                  <a:pt x="400050" y="293578"/>
                  <a:pt x="400050" y="244475"/>
                </a:cubicBezTo>
                <a:cubicBezTo>
                  <a:pt x="400050" y="208637"/>
                  <a:pt x="378867" y="177731"/>
                  <a:pt x="348307" y="163701"/>
                </a:cubicBezTo>
                <a:cubicBezTo>
                  <a:pt x="352961" y="154603"/>
                  <a:pt x="355600" y="144254"/>
                  <a:pt x="355600" y="133350"/>
                </a:cubicBezTo>
                <a:cubicBezTo>
                  <a:pt x="355600" y="96540"/>
                  <a:pt x="325735" y="66675"/>
                  <a:pt x="288925" y="66675"/>
                </a:cubicBezTo>
                <a:cubicBezTo>
                  <a:pt x="276632" y="66675"/>
                  <a:pt x="265172" y="70009"/>
                  <a:pt x="255310" y="75773"/>
                </a:cubicBezTo>
                <a:cubicBezTo>
                  <a:pt x="238571" y="43964"/>
                  <a:pt x="205165" y="22225"/>
                  <a:pt x="166688" y="22225"/>
                </a:cubicBezTo>
                <a:cubicBezTo>
                  <a:pt x="111472" y="22225"/>
                  <a:pt x="66675" y="67022"/>
                  <a:pt x="66675" y="122238"/>
                </a:cubicBezTo>
                <a:cubicBezTo>
                  <a:pt x="66675" y="127794"/>
                  <a:pt x="67161" y="133281"/>
                  <a:pt x="67995" y="138559"/>
                </a:cubicBezTo>
                <a:cubicBezTo>
                  <a:pt x="28476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" y="62611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SCALABLE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67310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Deploiement cloud avec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vCPU / 128 GB RAM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securise avec VPC, Security Groups et TLS. Architecture modulaire supportant l'expansion horizontale.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plateforme transforme les donnees de supervision brutes en intelligence SOC actionnable, visibilite operationnelle et workflows de reponse controles.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gradFill rotWithShape="1" flip="none">
          <a:gsLst>
            <a:gs pos="0">
              <a:srgbClr val="1B2A4A"/>
            </a:gs>
            <a:gs pos="60000">
              <a:srgbClr val="162037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0" y="2667000"/>
            <a:ext cx="1117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0" y="3683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plateforme reflechit avant d'agir.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0" y="43180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4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 donnees brutes aux operations SOC intelligentes.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23000" y="5080000"/>
            <a:ext cx="381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540000" y="5334000"/>
            <a:ext cx="1117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GHAZI MABROUKI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0000" y="5842000"/>
            <a:ext cx="1117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3 | Huawei Enterprise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Department — Innovation Department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40000" y="6985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400" kern="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05000" y="1270000"/>
            <a:ext cx="1270000" cy="1270000"/>
          </a:xfrm>
          <a:prstGeom prst="ellipse">
            <a:avLst/>
          </a:prstGeom>
          <a:solidFill>
            <a:srgbClr val="FFFFFF">
              <a:alpha val="2353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70000" y="7620000"/>
            <a:ext cx="1524000" cy="1524000"/>
          </a:xfrm>
          <a:prstGeom prst="ellipse">
            <a:avLst/>
          </a:prstGeom>
          <a:solidFill>
            <a:srgbClr val="FFFFFF">
              <a:alpha val="1961"/>
            </a:srgbClr>
          </a:solidFill>
          <a:ln w="12700">
            <a:solidFill>
              <a:srgbClr val="FFFFFF">
                <a:alpha val="3137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Intelligente de Supervision et Securite Automatisee</dc:title>
  <dc:subject>Plateforme Intelligente de Supervision et Securite Automatisee</dc:subject>
  <dc:creator>Kimi</dc:creator>
  <cp:lastModifiedBy>Kimi</cp:lastModifiedBy>
  <cp:revision>1</cp:revision>
  <dcterms:created xsi:type="dcterms:W3CDTF">2026-04-29T10:04:43Z</dcterms:created>
  <dcterms:modified xsi:type="dcterms:W3CDTF">2026-04-29T10:04:43Z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{"Label":"Plateforme Intelligente de Supervision et Securite Automatisee","ContentProducer":"001191110108MACG2KBH8F10000","ProduceID":"19dd8a20-3642-805b-8000-000094b435a7","ReservedCode1":"","ContentPropagator":"001191110108MACG2KBH8F20000","PropagateID":"19dd8a20-3642-805b-8000-000094b435a7","ReservedCode2":""}</vt:lpwstr>
  </property>
</Properties>
</file>