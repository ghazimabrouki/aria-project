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40.xml" ContentType="application/vnd.openxmlformats-officedocument.presentationml.slide+xml"/>
  <Override PartName="/ppt/slides/slide24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10.xml" ContentType="application/vnd.openxmlformats-officedocument.presentationml.slide+xml"/>
  <Override PartName="/ppt/notesSlides/notesSlide55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6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theme/theme2.xml" ContentType="application/vnd.openxmlformats-officedocument.theme+xml"/>
  <Override PartName="/ppt/notesSlides/notesSlide27.xml" ContentType="application/vnd.openxmlformats-officedocument.presentationml.notes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notesSlides/notesSlide49.xml" ContentType="application/vnd.openxmlformats-officedocument.presentationml.notesSlid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notesSlides/notesSlide53.xml" ContentType="application/vnd.openxmlformats-officedocument.presentationml.notesSlide+xml"/>
  <Override PartName="/ppt/slides/slide3.xml" ContentType="application/vnd.openxmlformats-officedocument.presentationml.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53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8.xml" ContentType="application/vnd.openxmlformats-officedocument.presentationml.slide+xml"/>
  <Override PartName="/ppt/slides/slide51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57.xml" ContentType="application/vnd.openxmlformats-officedocument.presentationml.slide+xml"/>
  <Override PartName="/ppt/slides/slide54.xml" ContentType="application/vnd.openxmlformats-officedocument.presentationml.slide+xml"/>
  <Override PartName="/ppt/notesSlides/notesSlide19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52.xml" ContentType="application/vnd.openxmlformats-officedocument.presentationml.slide+xml"/>
  <Override PartName="/ppt/slides/slide55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ustom.xml" ContentType="application/vnd.openxmlformats-officedocument.custom-properties+xml"/>
  <Override PartName="/ppt/notesSlides/notesSlide2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6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</p:sldIdLst>
  <p:sldSz cx="21678900" cy="12192000"/>
  <p:notesSz cx="12192000" cy="216789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59" d="100"/>
          <a:sy n="59" d="100"/>
        </p:scale>
        <p:origin x="120" y="288"/>
      </p:cViewPr>
      <p:guideLst>
        <p:guide pos="6828"/>
        <p:guide pos="384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 /><Relationship Id="rId63" Type="http://schemas.openxmlformats.org/officeDocument/2006/relationships/tableStyles" Target="tableStyles.xml" /><Relationship Id="rId6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448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500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49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685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7110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5307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268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5043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0244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90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02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89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367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0135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3637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87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949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062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667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8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898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242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9428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2535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774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727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6901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450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953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227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737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64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2833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740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3460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1993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013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867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1277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247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29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2617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914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639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8582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470590-62AF-9F67-503E-DD83FB8716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82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193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1727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42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754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6673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019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987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6066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782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6795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6254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648C64-D29B-1536-2221-81AA416EBC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565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455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2413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F56742-B0CC-D53B-14C8-C74705BDE8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928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7292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0589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244189-02A7-2DD8-7962-A21476B308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239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8002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8347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F755-8CC4-C86B-ECF1-76BCDA43E8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202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7287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8304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621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787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154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165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9702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5157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163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00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5669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24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497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7485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439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2797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231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31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3897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6560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4815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1495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119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005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1538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199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78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1640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1351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132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620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434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501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2665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2391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4CF6ED-9241-FAA0-2BED-8410657F79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E30E3-907B-D427-BD0E-6601E27584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48BA3D-C9E1-E73F-0EE5-49EB64DEE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28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4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7008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C13416-B708-B3B3-FAD1-65539E7939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9E365-2197-00F0-0307-1ECA4E2DE4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F68F36-7FF0-D964-D503-4D5F6DB412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72FF11-0DEE-F48F-D647-3B5CD941C6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F95913-5285-430F-0A17-4CAAAB40F7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41907F-6A8D-6C1E-5E7E-ECA41E9595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08F3F9-6ACA-9F9E-10DF-FF6E482192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312112-74F4-AEBF-B46F-B39BB7FDA5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597757-451B-2D0C-5CC8-8607ADC9C4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0A4195-B4C9-F427-A6B0-EC439F70A9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8E8B79-13AE-28E8-0AF9-61526105C6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25A859-2927-ECFE-4289-497C83A81E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3E74EC-06C1-5C27-EA79-0089B11BC7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71A155-CDBE-42E4-5F3D-182FAA9AF7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PTIST_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slide16.xml"/><Relationship Id="rId4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slide21.xml"/><Relationship Id="rId4" Type="http://schemas.openxmlformats.org/officeDocument/2006/relationships/image" Target="../media/image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slide" Target="slide23.xml"/><Relationship Id="rId4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slide" Target="slide25.xml"/><Relationship Id="rId4" Type="http://schemas.openxmlformats.org/officeDocument/2006/relationships/image" Target="../media/image7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slide27.xml"/><Relationship Id="rId4" Type="http://schemas.openxmlformats.org/officeDocument/2006/relationships/image" Target="../media/image9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8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9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0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1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2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3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4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5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6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gradFill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50756" name="Shape 0"/>
          <p:cNvSpPr/>
          <p:nvPr/>
        </p:nvSpPr>
        <p:spPr bwMode="auto">
          <a:xfrm>
            <a:off x="1693291" y="2709291"/>
            <a:ext cx="1016000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36019927" name="Shape 1"/>
          <p:cNvSpPr/>
          <p:nvPr/>
        </p:nvSpPr>
        <p:spPr bwMode="auto">
          <a:xfrm>
            <a:off x="1693291" y="3048000"/>
            <a:ext cx="16764000" cy="389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8410354" name="Text 2"/>
          <p:cNvSpPr/>
          <p:nvPr/>
        </p:nvSpPr>
        <p:spPr bwMode="auto">
          <a:xfrm>
            <a:off x="1571371" y="2987040"/>
            <a:ext cx="17007840" cy="401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defRPr/>
            </a:pPr>
            <a:r>
              <a:rPr lang="en-US" sz="66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INTELLIGENT PLATFORM</a:t>
            </a:r>
            <a:endParaRPr lang="en-US" sz="1600"/>
          </a:p>
          <a:p>
            <a:pPr>
              <a:lnSpc>
                <a:spcPct val="120000"/>
              </a:lnSpc>
              <a:defRPr/>
            </a:pPr>
            <a:r>
              <a:rPr lang="en-US" sz="66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FOR SUPERVISION AND SECURITY</a:t>
            </a:r>
            <a:endParaRPr lang="en-US" sz="1600"/>
          </a:p>
          <a:p>
            <a:pPr>
              <a:lnSpc>
                <a:spcPct val="120000"/>
              </a:lnSpc>
              <a:defRPr/>
            </a:pPr>
            <a:r>
              <a:rPr lang="en-US" sz="66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AUTOMATED</a:t>
            </a:r>
            <a:endParaRPr lang="en-US" sz="1600"/>
          </a:p>
        </p:txBody>
      </p:sp>
      <p:sp>
        <p:nvSpPr>
          <p:cNvPr id="837046989" name="Shape 3"/>
          <p:cNvSpPr/>
          <p:nvPr/>
        </p:nvSpPr>
        <p:spPr bwMode="auto">
          <a:xfrm>
            <a:off x="1693291" y="7112000"/>
            <a:ext cx="15240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55065243" name="Text 4"/>
          <p:cNvSpPr/>
          <p:nvPr/>
        </p:nvSpPr>
        <p:spPr bwMode="auto">
          <a:xfrm>
            <a:off x="1571371" y="7051040"/>
            <a:ext cx="15483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950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/>
                <a:cs typeface="Quattrocento Sans"/>
              </a:rPr>
              <a:t>Design and deployment of a centralized supervision platform</a:t>
            </a:r>
            <a:endParaRPr lang="en-US" sz="1600"/>
          </a:p>
          <a:p>
            <a:pPr>
              <a:lnSpc>
                <a:spcPct val="150000"/>
              </a:lnSpc>
              <a:defRPr/>
            </a:pPr>
            <a:r>
              <a:rPr lang="en-US" sz="2950">
                <a:solidFill>
                  <a:srgbClr val="FFFFFF">
                    <a:alpha val="80000"/>
                  </a:srgbClr>
                </a:solidFill>
                <a:latin typeface="Quattrocento Sans"/>
                <a:ea typeface="Quattrocento Sans"/>
                <a:cs typeface="Quattrocento Sans"/>
              </a:rPr>
              <a:t>and security with artificial intelligence and automated response</a:t>
            </a:r>
            <a:endParaRPr lang="en-US" sz="1600"/>
          </a:p>
        </p:txBody>
      </p:sp>
      <p:sp>
        <p:nvSpPr>
          <p:cNvPr id="1473708473" name="Shape 5"/>
          <p:cNvSpPr/>
          <p:nvPr/>
        </p:nvSpPr>
        <p:spPr bwMode="auto">
          <a:xfrm>
            <a:off x="1693291" y="8636000"/>
            <a:ext cx="3386709" cy="33909"/>
          </a:xfrm>
          <a:prstGeom prst="rect">
            <a:avLst/>
          </a:prstGeom>
          <a:solidFill>
            <a:srgbClr val="FFFFFF">
              <a:alpha val="6176"/>
            </a:srgbClr>
          </a:solidFill>
          <a:ln/>
        </p:spPr>
      </p:sp>
      <p:sp>
        <p:nvSpPr>
          <p:cNvPr id="784752340" name="Shape 6"/>
          <p:cNvSpPr/>
          <p:nvPr/>
        </p:nvSpPr>
        <p:spPr bwMode="auto">
          <a:xfrm>
            <a:off x="1693291" y="8974709"/>
            <a:ext cx="10160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53512167" name="Text 7"/>
          <p:cNvSpPr/>
          <p:nvPr/>
        </p:nvSpPr>
        <p:spPr bwMode="auto">
          <a:xfrm>
            <a:off x="1571371" y="8913749"/>
            <a:ext cx="10403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650">
                <a:solidFill>
                  <a:srgbClr val="FFFFFF"/>
                </a:solidFill>
                <a:latin typeface="Liter"/>
                <a:ea typeface="Liter"/>
                <a:cs typeface="Liter"/>
              </a:rPr>
              <a:t>GHAZI MABROUKI</a:t>
            </a:r>
            <a:endParaRPr lang="en-US" sz="1600"/>
          </a:p>
        </p:txBody>
      </p:sp>
      <p:sp>
        <p:nvSpPr>
          <p:cNvPr id="371566498" name="Shape 8"/>
          <p:cNvSpPr/>
          <p:nvPr/>
        </p:nvSpPr>
        <p:spPr bwMode="auto">
          <a:xfrm>
            <a:off x="1693291" y="9567291"/>
            <a:ext cx="11853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9879317" name="Text 9"/>
          <p:cNvSpPr/>
          <p:nvPr/>
        </p:nvSpPr>
        <p:spPr bwMode="auto">
          <a:xfrm>
            <a:off x="1571371" y="9506331"/>
            <a:ext cx="12097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150">
                <a:solidFill>
                  <a:srgbClr val="FFFFFF">
                    <a:alpha val="66667"/>
                  </a:srgbClr>
                </a:solidFill>
                <a:latin typeface="Quattrocento Sans"/>
                <a:ea typeface="Quattrocento Sans"/>
                <a:cs typeface="Quattrocento Sans"/>
              </a:rPr>
              <a:t>ArcTic 3 | Huawei Enterprise</a:t>
            </a:r>
            <a:endParaRPr lang="en-US" sz="1600"/>
          </a:p>
          <a:p>
            <a:pPr>
              <a:lnSpc>
                <a:spcPct val="150000"/>
              </a:lnSpc>
              <a:defRPr/>
            </a:pPr>
            <a:r>
              <a:rPr lang="en-US" sz="2150">
                <a:solidFill>
                  <a:srgbClr val="FFFFFF">
                    <a:alpha val="66667"/>
                  </a:srgbClr>
                </a:solidFill>
                <a:latin typeface="Quattrocento Sans"/>
                <a:ea typeface="Quattrocento Sans"/>
                <a:cs typeface="Quattrocento Sans"/>
              </a:rPr>
              <a:t>Cloud Department — Innovation Department</a:t>
            </a:r>
            <a:endParaRPr lang="en-US" sz="1600"/>
          </a:p>
        </p:txBody>
      </p:sp>
      <p:sp>
        <p:nvSpPr>
          <p:cNvPr id="1347573184" name="Shape 10"/>
          <p:cNvSpPr/>
          <p:nvPr/>
        </p:nvSpPr>
        <p:spPr bwMode="auto">
          <a:xfrm>
            <a:off x="1693291" y="11006709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8146045" name="Text 11"/>
          <p:cNvSpPr/>
          <p:nvPr/>
        </p:nvSpPr>
        <p:spPr bwMode="auto">
          <a:xfrm>
            <a:off x="1571371" y="10945749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 spc="400">
                <a:solidFill>
                  <a:srgbClr val="CF0A2C"/>
                </a:solidFill>
                <a:latin typeface="Liter"/>
                <a:ea typeface="Liter"/>
                <a:cs typeface="Liter"/>
              </a:rPr>
              <a:t>2026</a:t>
            </a:r>
            <a:endParaRPr lang="en-US" sz="1600"/>
          </a:p>
        </p:txBody>
      </p:sp>
      <p:sp>
        <p:nvSpPr>
          <p:cNvPr id="1067370799" name="Shape 12"/>
          <p:cNvSpPr/>
          <p:nvPr/>
        </p:nvSpPr>
        <p:spPr bwMode="auto">
          <a:xfrm>
            <a:off x="18626709" y="846709"/>
            <a:ext cx="2540000" cy="2540000"/>
          </a:xfrm>
          <a:prstGeom prst="ellipse">
            <a:avLst/>
          </a:prstGeom>
          <a:solidFill>
            <a:srgbClr val="FFFFFF">
              <a:alpha val="82"/>
            </a:srgbClr>
          </a:solidFill>
          <a:ln w="1270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907150872" name="Shape 13"/>
          <p:cNvSpPr/>
          <p:nvPr/>
        </p:nvSpPr>
        <p:spPr bwMode="auto">
          <a:xfrm>
            <a:off x="18626709" y="7620000"/>
            <a:ext cx="2032000" cy="2032000"/>
          </a:xfrm>
          <a:prstGeom prst="ellipse">
            <a:avLst/>
          </a:prstGeom>
          <a:solidFill>
            <a:srgbClr val="FFFFFF">
              <a:alpha val="47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625859268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213714" name="Shape 0"/>
          <p:cNvSpPr/>
          <p:nvPr/>
        </p:nvSpPr>
        <p:spPr bwMode="auto">
          <a:xfrm>
            <a:off x="1016000" y="846709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17066217" name="Text 1"/>
          <p:cNvSpPr/>
          <p:nvPr/>
        </p:nvSpPr>
        <p:spPr bwMode="auto">
          <a:xfrm>
            <a:off x="894080" y="785749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850" spc="533">
                <a:solidFill>
                  <a:srgbClr val="64748B"/>
                </a:solidFill>
                <a:latin typeface="Liter"/>
                <a:ea typeface="Liter"/>
                <a:cs typeface="Liter"/>
              </a:rPr>
              <a:t>TABLE OF CONTENTS</a:t>
            </a:r>
            <a:endParaRPr lang="en-US" sz="1600"/>
          </a:p>
        </p:txBody>
      </p:sp>
      <p:sp>
        <p:nvSpPr>
          <p:cNvPr id="1925743199" name="Shape 2"/>
          <p:cNvSpPr/>
          <p:nvPr/>
        </p:nvSpPr>
        <p:spPr bwMode="auto">
          <a:xfrm>
            <a:off x="1016000" y="1608709"/>
            <a:ext cx="846709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98893823" name="Shape 3"/>
          <p:cNvSpPr/>
          <p:nvPr/>
        </p:nvSpPr>
        <p:spPr bwMode="auto">
          <a:xfrm>
            <a:off x="1016000" y="2032000"/>
            <a:ext cx="8466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306997" name="Text 4"/>
          <p:cNvSpPr/>
          <p:nvPr/>
        </p:nvSpPr>
        <p:spPr bwMode="auto">
          <a:xfrm>
            <a:off x="894080" y="1971039"/>
            <a:ext cx="871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5050">
                <a:solidFill>
                  <a:srgbClr val="1B2A4A"/>
                </a:solidFill>
                <a:latin typeface="Liter"/>
                <a:ea typeface="Liter"/>
                <a:cs typeface="Liter"/>
              </a:rPr>
              <a:t>Presentation Content</a:t>
            </a:r>
            <a:endParaRPr lang="en-US" sz="1600"/>
          </a:p>
        </p:txBody>
      </p:sp>
      <p:sp>
        <p:nvSpPr>
          <p:cNvPr id="1814472753" name="Shape 5"/>
          <p:cNvSpPr/>
          <p:nvPr/>
        </p:nvSpPr>
        <p:spPr bwMode="auto">
          <a:xfrm>
            <a:off x="1016000" y="3556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91660313" name="Text 6"/>
          <p:cNvSpPr/>
          <p:nvPr/>
        </p:nvSpPr>
        <p:spPr bwMode="auto">
          <a:xfrm>
            <a:off x="894080" y="3495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01</a:t>
            </a:r>
            <a:endParaRPr lang="en-US" sz="1600"/>
          </a:p>
        </p:txBody>
      </p:sp>
      <p:sp>
        <p:nvSpPr>
          <p:cNvPr id="1991897146" name="Shape 7"/>
          <p:cNvSpPr/>
          <p:nvPr/>
        </p:nvSpPr>
        <p:spPr bwMode="auto">
          <a:xfrm>
            <a:off x="2032000" y="3556000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5292758" name="Text 8"/>
          <p:cNvSpPr/>
          <p:nvPr/>
        </p:nvSpPr>
        <p:spPr bwMode="auto">
          <a:xfrm>
            <a:off x="1910080" y="3495040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Introduction &amp; Context</a:t>
            </a:r>
            <a:endParaRPr lang="en-US" sz="1600"/>
          </a:p>
        </p:txBody>
      </p:sp>
      <p:sp>
        <p:nvSpPr>
          <p:cNvPr id="1849691572" name="Shape 9"/>
          <p:cNvSpPr/>
          <p:nvPr/>
        </p:nvSpPr>
        <p:spPr bwMode="auto">
          <a:xfrm>
            <a:off x="1016000" y="4402709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06188035" name="Shape 10"/>
          <p:cNvSpPr/>
          <p:nvPr/>
        </p:nvSpPr>
        <p:spPr bwMode="auto">
          <a:xfrm>
            <a:off x="1016000" y="4656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16281338" name="Text 11"/>
          <p:cNvSpPr/>
          <p:nvPr/>
        </p:nvSpPr>
        <p:spPr bwMode="auto">
          <a:xfrm>
            <a:off x="894080" y="4595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02</a:t>
            </a:r>
            <a:endParaRPr lang="en-US" sz="1600"/>
          </a:p>
        </p:txBody>
      </p:sp>
      <p:sp>
        <p:nvSpPr>
          <p:cNvPr id="2119035415" name="Shape 12"/>
          <p:cNvSpPr/>
          <p:nvPr/>
        </p:nvSpPr>
        <p:spPr bwMode="auto">
          <a:xfrm>
            <a:off x="2032000" y="4656709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76397255" name="Text 13"/>
          <p:cNvSpPr/>
          <p:nvPr/>
        </p:nvSpPr>
        <p:spPr bwMode="auto">
          <a:xfrm>
            <a:off x="1910080" y="4595749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Existing Solutions</a:t>
            </a:r>
            <a:endParaRPr lang="en-US" sz="1600"/>
          </a:p>
        </p:txBody>
      </p:sp>
      <p:sp>
        <p:nvSpPr>
          <p:cNvPr id="378030564" name="Shape 14"/>
          <p:cNvSpPr/>
          <p:nvPr/>
        </p:nvSpPr>
        <p:spPr bwMode="auto">
          <a:xfrm>
            <a:off x="1016000" y="5503291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45582881" name="Shape 15"/>
          <p:cNvSpPr/>
          <p:nvPr/>
        </p:nvSpPr>
        <p:spPr bwMode="auto">
          <a:xfrm>
            <a:off x="1016000" y="5757291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51687185" name="Text 16"/>
          <p:cNvSpPr/>
          <p:nvPr/>
        </p:nvSpPr>
        <p:spPr bwMode="auto">
          <a:xfrm>
            <a:off x="894080" y="5696331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03</a:t>
            </a:r>
            <a:endParaRPr lang="en-US" sz="1600"/>
          </a:p>
        </p:txBody>
      </p:sp>
      <p:sp>
        <p:nvSpPr>
          <p:cNvPr id="349866585" name="Shape 17"/>
          <p:cNvSpPr/>
          <p:nvPr/>
        </p:nvSpPr>
        <p:spPr bwMode="auto">
          <a:xfrm>
            <a:off x="2032000" y="5757291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5619946" name="Text 18"/>
          <p:cNvSpPr/>
          <p:nvPr/>
        </p:nvSpPr>
        <p:spPr bwMode="auto">
          <a:xfrm>
            <a:off x="1910080" y="5696331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Architecture &amp; Proposed Solution</a:t>
            </a:r>
            <a:endParaRPr lang="en-US" sz="1600"/>
          </a:p>
        </p:txBody>
      </p:sp>
      <p:sp>
        <p:nvSpPr>
          <p:cNvPr id="1835393710" name="Shape 19"/>
          <p:cNvSpPr/>
          <p:nvPr/>
        </p:nvSpPr>
        <p:spPr bwMode="auto">
          <a:xfrm>
            <a:off x="1016000" y="6604000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0592924" name="Shape 20"/>
          <p:cNvSpPr/>
          <p:nvPr/>
        </p:nvSpPr>
        <p:spPr bwMode="auto">
          <a:xfrm>
            <a:off x="1016000" y="6858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35664940" name="Text 21"/>
          <p:cNvSpPr/>
          <p:nvPr/>
        </p:nvSpPr>
        <p:spPr bwMode="auto">
          <a:xfrm>
            <a:off x="894080" y="6797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04</a:t>
            </a:r>
            <a:endParaRPr lang="en-US" sz="1600"/>
          </a:p>
        </p:txBody>
      </p:sp>
      <p:sp>
        <p:nvSpPr>
          <p:cNvPr id="1135269538" name="Shape 22"/>
          <p:cNvSpPr/>
          <p:nvPr/>
        </p:nvSpPr>
        <p:spPr bwMode="auto">
          <a:xfrm>
            <a:off x="2032000" y="6858000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1084303" name="Text 23"/>
          <p:cNvSpPr/>
          <p:nvPr/>
        </p:nvSpPr>
        <p:spPr bwMode="auto">
          <a:xfrm>
            <a:off x="1910080" y="6797040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Phase 1 — Monitoring Foundation</a:t>
            </a:r>
            <a:endParaRPr lang="en-US" sz="1600"/>
          </a:p>
        </p:txBody>
      </p:sp>
      <p:sp>
        <p:nvSpPr>
          <p:cNvPr id="123706880" name="Shape 24"/>
          <p:cNvSpPr/>
          <p:nvPr/>
        </p:nvSpPr>
        <p:spPr bwMode="auto">
          <a:xfrm>
            <a:off x="1016000" y="7704709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4212312" name="Shape 25"/>
          <p:cNvSpPr/>
          <p:nvPr/>
        </p:nvSpPr>
        <p:spPr bwMode="auto">
          <a:xfrm>
            <a:off x="1016000" y="7958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1580276" name="Text 26"/>
          <p:cNvSpPr/>
          <p:nvPr/>
        </p:nvSpPr>
        <p:spPr bwMode="auto">
          <a:xfrm>
            <a:off x="894080" y="7897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05</a:t>
            </a:r>
            <a:endParaRPr lang="en-US" sz="1600"/>
          </a:p>
        </p:txBody>
      </p:sp>
      <p:sp>
        <p:nvSpPr>
          <p:cNvPr id="805704758" name="Shape 27"/>
          <p:cNvSpPr/>
          <p:nvPr/>
        </p:nvSpPr>
        <p:spPr bwMode="auto">
          <a:xfrm>
            <a:off x="2032000" y="7958709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86842954" name="Text 28"/>
          <p:cNvSpPr/>
          <p:nvPr/>
        </p:nvSpPr>
        <p:spPr bwMode="auto">
          <a:xfrm>
            <a:off x="1910080" y="7897749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Phase 2 — Cloud Infrastructure</a:t>
            </a:r>
            <a:endParaRPr lang="en-US" sz="1600"/>
          </a:p>
        </p:txBody>
      </p:sp>
      <p:sp>
        <p:nvSpPr>
          <p:cNvPr id="1177914379" name="Shape 29"/>
          <p:cNvSpPr/>
          <p:nvPr/>
        </p:nvSpPr>
        <p:spPr bwMode="auto">
          <a:xfrm>
            <a:off x="1016000" y="8805291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6674519" name="Shape 30"/>
          <p:cNvSpPr/>
          <p:nvPr/>
        </p:nvSpPr>
        <p:spPr bwMode="auto">
          <a:xfrm>
            <a:off x="11176000" y="3556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19542761" name="Text 31"/>
          <p:cNvSpPr/>
          <p:nvPr/>
        </p:nvSpPr>
        <p:spPr bwMode="auto">
          <a:xfrm>
            <a:off x="11054080" y="3495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06</a:t>
            </a:r>
            <a:endParaRPr lang="en-US" sz="1600"/>
          </a:p>
        </p:txBody>
      </p:sp>
      <p:sp>
        <p:nvSpPr>
          <p:cNvPr id="75124540" name="Shape 32"/>
          <p:cNvSpPr/>
          <p:nvPr/>
        </p:nvSpPr>
        <p:spPr bwMode="auto">
          <a:xfrm>
            <a:off x="12192000" y="3556000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04001859" name="Text 33"/>
          <p:cNvSpPr/>
          <p:nvPr/>
        </p:nvSpPr>
        <p:spPr bwMode="auto">
          <a:xfrm>
            <a:off x="12070079" y="3495040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Phase 3 — Backend Intelligence</a:t>
            </a:r>
            <a:endParaRPr lang="en-US" sz="1600"/>
          </a:p>
        </p:txBody>
      </p:sp>
      <p:sp>
        <p:nvSpPr>
          <p:cNvPr id="1986620718" name="Shape 34"/>
          <p:cNvSpPr/>
          <p:nvPr/>
        </p:nvSpPr>
        <p:spPr bwMode="auto">
          <a:xfrm>
            <a:off x="11176000" y="4402709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9497094" name="Shape 35"/>
          <p:cNvSpPr/>
          <p:nvPr/>
        </p:nvSpPr>
        <p:spPr bwMode="auto">
          <a:xfrm>
            <a:off x="11176000" y="4656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28499346" name="Text 36"/>
          <p:cNvSpPr/>
          <p:nvPr/>
        </p:nvSpPr>
        <p:spPr bwMode="auto">
          <a:xfrm>
            <a:off x="11054080" y="4595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07</a:t>
            </a:r>
            <a:endParaRPr lang="en-US" sz="1600"/>
          </a:p>
        </p:txBody>
      </p:sp>
      <p:sp>
        <p:nvSpPr>
          <p:cNvPr id="1109668701" name="Shape 37"/>
          <p:cNvSpPr/>
          <p:nvPr/>
        </p:nvSpPr>
        <p:spPr bwMode="auto">
          <a:xfrm>
            <a:off x="12192000" y="4656709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0394333" name="Text 38"/>
          <p:cNvSpPr/>
          <p:nvPr/>
        </p:nvSpPr>
        <p:spPr bwMode="auto">
          <a:xfrm>
            <a:off x="12070079" y="4595749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Functional &amp; Non-Functional Requirements</a:t>
            </a:r>
            <a:endParaRPr lang="en-US" sz="1600"/>
          </a:p>
        </p:txBody>
      </p:sp>
      <p:sp>
        <p:nvSpPr>
          <p:cNvPr id="1873731536" name="Shape 39"/>
          <p:cNvSpPr/>
          <p:nvPr/>
        </p:nvSpPr>
        <p:spPr bwMode="auto">
          <a:xfrm>
            <a:off x="11176000" y="5503291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79110560" name="Shape 40"/>
          <p:cNvSpPr/>
          <p:nvPr/>
        </p:nvSpPr>
        <p:spPr bwMode="auto">
          <a:xfrm>
            <a:off x="11176000" y="5757291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9728957" name="Text 41"/>
          <p:cNvSpPr/>
          <p:nvPr/>
        </p:nvSpPr>
        <p:spPr bwMode="auto">
          <a:xfrm>
            <a:off x="11054080" y="5696331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08</a:t>
            </a:r>
            <a:endParaRPr lang="en-US" sz="1600"/>
          </a:p>
        </p:txBody>
      </p:sp>
      <p:sp>
        <p:nvSpPr>
          <p:cNvPr id="1418169045" name="Shape 42"/>
          <p:cNvSpPr/>
          <p:nvPr/>
        </p:nvSpPr>
        <p:spPr bwMode="auto">
          <a:xfrm>
            <a:off x="12192000" y="5757291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0330025" name="Text 43"/>
          <p:cNvSpPr/>
          <p:nvPr/>
        </p:nvSpPr>
        <p:spPr bwMode="auto">
          <a:xfrm>
            <a:off x="12070079" y="5696331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Testing Strategy</a:t>
            </a:r>
            <a:endParaRPr lang="en-US" sz="1600"/>
          </a:p>
        </p:txBody>
      </p:sp>
      <p:sp>
        <p:nvSpPr>
          <p:cNvPr id="1726327668" name="Shape 44"/>
          <p:cNvSpPr/>
          <p:nvPr/>
        </p:nvSpPr>
        <p:spPr bwMode="auto">
          <a:xfrm>
            <a:off x="11176000" y="6604000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53842557" name="Shape 45"/>
          <p:cNvSpPr/>
          <p:nvPr/>
        </p:nvSpPr>
        <p:spPr bwMode="auto">
          <a:xfrm>
            <a:off x="11176000" y="6858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93677802" name="Text 46"/>
          <p:cNvSpPr/>
          <p:nvPr/>
        </p:nvSpPr>
        <p:spPr bwMode="auto">
          <a:xfrm>
            <a:off x="11054080" y="6797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09</a:t>
            </a:r>
            <a:endParaRPr lang="en-US" sz="1600"/>
          </a:p>
        </p:txBody>
      </p:sp>
      <p:sp>
        <p:nvSpPr>
          <p:cNvPr id="659744369" name="Shape 47"/>
          <p:cNvSpPr/>
          <p:nvPr/>
        </p:nvSpPr>
        <p:spPr bwMode="auto">
          <a:xfrm>
            <a:off x="12192000" y="6858000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08111833" name="Text 48"/>
          <p:cNvSpPr/>
          <p:nvPr/>
        </p:nvSpPr>
        <p:spPr bwMode="auto">
          <a:xfrm>
            <a:off x="12070079" y="6797040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Methodology</a:t>
            </a:r>
            <a:endParaRPr lang="en-US" sz="1600"/>
          </a:p>
        </p:txBody>
      </p:sp>
      <p:sp>
        <p:nvSpPr>
          <p:cNvPr id="1101731351" name="Shape 49"/>
          <p:cNvSpPr/>
          <p:nvPr/>
        </p:nvSpPr>
        <p:spPr bwMode="auto">
          <a:xfrm>
            <a:off x="11176000" y="7704709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4936189" name="Shape 50"/>
          <p:cNvSpPr/>
          <p:nvPr/>
        </p:nvSpPr>
        <p:spPr bwMode="auto">
          <a:xfrm>
            <a:off x="11176000" y="7958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74550417" name="Text 51"/>
          <p:cNvSpPr/>
          <p:nvPr/>
        </p:nvSpPr>
        <p:spPr bwMode="auto">
          <a:xfrm>
            <a:off x="11054080" y="7897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3750">
                <a:solidFill>
                  <a:srgbClr val="CF0A2C"/>
                </a:solidFill>
                <a:latin typeface="Liter"/>
                <a:ea typeface="Liter"/>
                <a:cs typeface="Liter"/>
              </a:rPr>
              <a:t>10</a:t>
            </a:r>
            <a:endParaRPr lang="en-US" sz="1600"/>
          </a:p>
        </p:txBody>
      </p:sp>
      <p:sp>
        <p:nvSpPr>
          <p:cNvPr id="1825322984" name="Shape 52"/>
          <p:cNvSpPr/>
          <p:nvPr/>
        </p:nvSpPr>
        <p:spPr bwMode="auto">
          <a:xfrm>
            <a:off x="12192000" y="7958709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68820997" name="Text 53"/>
          <p:cNvSpPr/>
          <p:nvPr/>
        </p:nvSpPr>
        <p:spPr bwMode="auto">
          <a:xfrm>
            <a:off x="12070079" y="7897749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Conclusion</a:t>
            </a:r>
            <a:endParaRPr lang="en-US" sz="1600"/>
          </a:p>
        </p:txBody>
      </p:sp>
      <p:sp>
        <p:nvSpPr>
          <p:cNvPr id="18506853" name="Shape 54"/>
          <p:cNvSpPr/>
          <p:nvPr/>
        </p:nvSpPr>
        <p:spPr bwMode="auto">
          <a:xfrm>
            <a:off x="11176000" y="8805291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88642811" name="Shape 55"/>
          <p:cNvSpPr/>
          <p:nvPr/>
        </p:nvSpPr>
        <p:spPr bwMode="auto">
          <a:xfrm>
            <a:off x="1016000" y="11176000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8666125" name="Text 56"/>
          <p:cNvSpPr/>
          <p:nvPr/>
        </p:nvSpPr>
        <p:spPr bwMode="auto">
          <a:xfrm>
            <a:off x="894080" y="11115040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Ghazi Mabrouki | Huawei Enterprise — Cloud Department</a:t>
            </a:r>
            <a:endParaRPr lang="en-US" sz="1600"/>
          </a:p>
        </p:txBody>
      </p:sp>
      <p:sp>
        <p:nvSpPr>
          <p:cNvPr id="925533232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166053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3052147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01</a:t>
            </a:r>
            <a:endParaRPr lang="en-US" sz="1600"/>
          </a:p>
        </p:txBody>
      </p:sp>
      <p:sp>
        <p:nvSpPr>
          <p:cNvPr id="413712643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049324546" name="Shape 3"/>
          <p:cNvSpPr/>
          <p:nvPr/>
        </p:nvSpPr>
        <p:spPr bwMode="auto">
          <a:xfrm>
            <a:off x="1693291" y="4741291"/>
            <a:ext cx="13546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92027346" name="Text 4"/>
          <p:cNvSpPr/>
          <p:nvPr/>
        </p:nvSpPr>
        <p:spPr bwMode="auto">
          <a:xfrm>
            <a:off x="1571371" y="4680331"/>
            <a:ext cx="1379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INTRODUCTION &amp; CONTEXT</a:t>
            </a:r>
            <a:endParaRPr lang="en-US" sz="1600"/>
          </a:p>
        </p:txBody>
      </p:sp>
      <p:sp>
        <p:nvSpPr>
          <p:cNvPr id="1136004527" name="Shape 5"/>
          <p:cNvSpPr/>
          <p:nvPr/>
        </p:nvSpPr>
        <p:spPr bwMode="auto">
          <a:xfrm>
            <a:off x="1693291" y="5757291"/>
            <a:ext cx="11853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95066274" name="Text 6"/>
          <p:cNvSpPr/>
          <p:nvPr/>
        </p:nvSpPr>
        <p:spPr bwMode="auto">
          <a:xfrm>
            <a:off x="1571371" y="5696331"/>
            <a:ext cx="12097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Project context, identified challenges and strategic stakes</a:t>
            </a:r>
            <a:endParaRPr lang="en-US" sz="1600"/>
          </a:p>
        </p:txBody>
      </p:sp>
      <p:sp>
        <p:nvSpPr>
          <p:cNvPr id="341565311" name="Shape 7"/>
          <p:cNvSpPr/>
          <p:nvPr/>
        </p:nvSpPr>
        <p:spPr bwMode="auto">
          <a:xfrm>
            <a:off x="16933291" y="1693291"/>
            <a:ext cx="3048000" cy="0"/>
          </a:xfrm>
          <a:prstGeom prst="straightConnector1">
            <a:avLst/>
          </a:prstGeom>
          <a:noFill/>
          <a:ln w="12700">
            <a:solidFill>
              <a:srgbClr val="FFFFFF">
                <a:alpha val="7843"/>
              </a:srgbClr>
            </a:solidFill>
            <a:prstDash val="solid"/>
            <a:headEnd type="none"/>
            <a:tailEnd type="none"/>
          </a:ln>
        </p:spPr>
      </p:sp>
      <p:sp>
        <p:nvSpPr>
          <p:cNvPr id="938739078" name="Shape 8"/>
          <p:cNvSpPr/>
          <p:nvPr/>
        </p:nvSpPr>
        <p:spPr bwMode="auto">
          <a:xfrm>
            <a:off x="17780000" y="8466709"/>
            <a:ext cx="2201291" cy="0"/>
          </a:xfrm>
          <a:prstGeom prst="straightConnector1">
            <a:avLst/>
          </a:prstGeom>
          <a:noFill/>
          <a:ln w="12700">
            <a:solidFill>
              <a:srgbClr val="FFFFFF">
                <a:alpha val="6275"/>
              </a:srgbClr>
            </a:solidFill>
            <a:prstDash val="solid"/>
            <a:headEnd type="none"/>
            <a:tailEnd type="none"/>
          </a:ln>
        </p:spPr>
      </p:sp>
      <p:sp>
        <p:nvSpPr>
          <p:cNvPr id="1697148561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743738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663628137" name="Shape 1"/>
          <p:cNvSpPr/>
          <p:nvPr/>
        </p:nvSpPr>
        <p:spPr bwMode="auto">
          <a:xfrm>
            <a:off x="1016000" y="98209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14497427" name="Text 2"/>
          <p:cNvSpPr/>
          <p:nvPr/>
        </p:nvSpPr>
        <p:spPr bwMode="auto">
          <a:xfrm>
            <a:off x="894080" y="921131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CONTEXT AND CHALLENGES</a:t>
            </a:r>
            <a:endParaRPr lang="en-US" sz="1600"/>
          </a:p>
        </p:txBody>
      </p:sp>
      <p:sp>
        <p:nvSpPr>
          <p:cNvPr id="575912113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0322454" name="Shape 4"/>
          <p:cNvSpPr/>
          <p:nvPr/>
        </p:nvSpPr>
        <p:spPr bwMode="auto">
          <a:xfrm>
            <a:off x="1016000" y="2116709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4510405" name="Shape 5"/>
          <p:cNvSpPr/>
          <p:nvPr/>
        </p:nvSpPr>
        <p:spPr bwMode="auto">
          <a:xfrm>
            <a:off x="1016000" y="2116709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134182396" name="Shape 6"/>
          <p:cNvSpPr/>
          <p:nvPr/>
        </p:nvSpPr>
        <p:spPr bwMode="auto">
          <a:xfrm>
            <a:off x="1998091" y="23368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34651518" name="Text 7"/>
          <p:cNvSpPr/>
          <p:nvPr/>
        </p:nvSpPr>
        <p:spPr bwMode="auto">
          <a:xfrm>
            <a:off x="1876171" y="22758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FRAGMENTED SOLUTIONS</a:t>
            </a:r>
            <a:endParaRPr lang="en-US" sz="1600"/>
          </a:p>
        </p:txBody>
      </p:sp>
      <p:sp>
        <p:nvSpPr>
          <p:cNvPr id="402356360" name="Shape 8"/>
          <p:cNvSpPr/>
          <p:nvPr/>
        </p:nvSpPr>
        <p:spPr bwMode="auto">
          <a:xfrm>
            <a:off x="1354709" y="2912491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18076918" name="Text 9"/>
          <p:cNvSpPr/>
          <p:nvPr/>
        </p:nvSpPr>
        <p:spPr bwMode="auto">
          <a:xfrm>
            <a:off x="1232789" y="2851531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Monitoring solutions are multiple and non-centralized, complicating global infrastructure management.</a:t>
            </a:r>
            <a:endParaRPr lang="en-US" sz="1600"/>
          </a:p>
        </p:txBody>
      </p:sp>
      <p:sp>
        <p:nvSpPr>
          <p:cNvPr id="1391205507" name="Shape 10"/>
          <p:cNvSpPr/>
          <p:nvPr/>
        </p:nvSpPr>
        <p:spPr bwMode="auto">
          <a:xfrm>
            <a:off x="11091291" y="2116709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9579587" name="Shape 11"/>
          <p:cNvSpPr/>
          <p:nvPr/>
        </p:nvSpPr>
        <p:spPr bwMode="auto">
          <a:xfrm>
            <a:off x="11091291" y="2116709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876586355" name="Shape 12"/>
          <p:cNvSpPr/>
          <p:nvPr/>
        </p:nvSpPr>
        <p:spPr bwMode="auto">
          <a:xfrm>
            <a:off x="12073509" y="23368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6295445" name="Text 13"/>
          <p:cNvSpPr/>
          <p:nvPr/>
        </p:nvSpPr>
        <p:spPr bwMode="auto">
          <a:xfrm>
            <a:off x="11951589" y="22758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HETEROGENEOUS DATA</a:t>
            </a:r>
            <a:endParaRPr lang="en-US" sz="1600"/>
          </a:p>
        </p:txBody>
      </p:sp>
      <p:sp>
        <p:nvSpPr>
          <p:cNvPr id="1734901989" name="Shape 14"/>
          <p:cNvSpPr/>
          <p:nvPr/>
        </p:nvSpPr>
        <p:spPr bwMode="auto">
          <a:xfrm>
            <a:off x="11430000" y="2912491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30724742" name="Text 15"/>
          <p:cNvSpPr/>
          <p:nvPr/>
        </p:nvSpPr>
        <p:spPr bwMode="auto">
          <a:xfrm>
            <a:off x="11308080" y="2851531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Data from different sources is difficult to analyze in a unified and coherent manner.</a:t>
            </a:r>
            <a:endParaRPr lang="en-US" sz="1600"/>
          </a:p>
        </p:txBody>
      </p:sp>
      <p:sp>
        <p:nvSpPr>
          <p:cNvPr id="987867462" name="Shape 16"/>
          <p:cNvSpPr/>
          <p:nvPr/>
        </p:nvSpPr>
        <p:spPr bwMode="auto">
          <a:xfrm>
            <a:off x="1016000" y="4572000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56930872" name="Shape 17"/>
          <p:cNvSpPr/>
          <p:nvPr/>
        </p:nvSpPr>
        <p:spPr bwMode="auto">
          <a:xfrm>
            <a:off x="1016000" y="4572000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832242376" name="Shape 18"/>
          <p:cNvSpPr/>
          <p:nvPr/>
        </p:nvSpPr>
        <p:spPr bwMode="auto">
          <a:xfrm>
            <a:off x="1324991" y="4882907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47069709" name="Shape 19"/>
          <p:cNvSpPr/>
          <p:nvPr/>
        </p:nvSpPr>
        <p:spPr bwMode="auto">
          <a:xfrm>
            <a:off x="1998091" y="47920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68292942" name="Text 20"/>
          <p:cNvSpPr/>
          <p:nvPr/>
        </p:nvSpPr>
        <p:spPr bwMode="auto">
          <a:xfrm>
            <a:off x="1876171" y="47311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EXPERT DEPENDENCY</a:t>
            </a:r>
            <a:endParaRPr lang="en-US" sz="1600"/>
          </a:p>
        </p:txBody>
      </p:sp>
      <p:sp>
        <p:nvSpPr>
          <p:cNvPr id="320675943" name="Shape 21"/>
          <p:cNvSpPr/>
          <p:nvPr/>
        </p:nvSpPr>
        <p:spPr bwMode="auto">
          <a:xfrm>
            <a:off x="1354709" y="5367909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31491472" name="Text 22"/>
          <p:cNvSpPr/>
          <p:nvPr/>
        </p:nvSpPr>
        <p:spPr bwMode="auto">
          <a:xfrm>
            <a:off x="1232789" y="5306948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Incident analysis relies heavily on experts, slowing detection and response.</a:t>
            </a:r>
            <a:endParaRPr lang="en-US" sz="1600"/>
          </a:p>
        </p:txBody>
      </p:sp>
      <p:sp>
        <p:nvSpPr>
          <p:cNvPr id="2142383868" name="Shape 23"/>
          <p:cNvSpPr/>
          <p:nvPr/>
        </p:nvSpPr>
        <p:spPr bwMode="auto">
          <a:xfrm>
            <a:off x="11091291" y="4572000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58057902" name="Shape 24"/>
          <p:cNvSpPr/>
          <p:nvPr/>
        </p:nvSpPr>
        <p:spPr bwMode="auto">
          <a:xfrm>
            <a:off x="11091291" y="4572000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601743663" name="Shape 25"/>
          <p:cNvSpPr/>
          <p:nvPr/>
        </p:nvSpPr>
        <p:spPr bwMode="auto">
          <a:xfrm>
            <a:off x="12073509" y="47920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3705767" name="Text 26"/>
          <p:cNvSpPr/>
          <p:nvPr/>
        </p:nvSpPr>
        <p:spPr bwMode="auto">
          <a:xfrm>
            <a:off x="11951589" y="47311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TECHNICAL ALERTS</a:t>
            </a:r>
            <a:endParaRPr lang="en-US" sz="1600"/>
          </a:p>
        </p:txBody>
      </p:sp>
      <p:sp>
        <p:nvSpPr>
          <p:cNvPr id="1320971528" name="Shape 27"/>
          <p:cNvSpPr/>
          <p:nvPr/>
        </p:nvSpPr>
        <p:spPr bwMode="auto">
          <a:xfrm>
            <a:off x="11430000" y="5367909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578555" name="Text 28"/>
          <p:cNvSpPr/>
          <p:nvPr/>
        </p:nvSpPr>
        <p:spPr bwMode="auto">
          <a:xfrm>
            <a:off x="11308080" y="5306948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Generated alerts are technical and difficult for non-experts to interpret quickly.</a:t>
            </a:r>
            <a:endParaRPr lang="en-US" sz="1600"/>
          </a:p>
        </p:txBody>
      </p:sp>
      <p:sp>
        <p:nvSpPr>
          <p:cNvPr id="495638984" name="Shape 29"/>
          <p:cNvSpPr/>
          <p:nvPr/>
        </p:nvSpPr>
        <p:spPr bwMode="auto">
          <a:xfrm>
            <a:off x="1016000" y="7027291"/>
            <a:ext cx="19642709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22137932" name="Shape 30"/>
          <p:cNvSpPr/>
          <p:nvPr/>
        </p:nvSpPr>
        <p:spPr bwMode="auto">
          <a:xfrm>
            <a:off x="1016000" y="7027291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027574535" name="Shape 31"/>
          <p:cNvSpPr/>
          <p:nvPr/>
        </p:nvSpPr>
        <p:spPr bwMode="auto">
          <a:xfrm>
            <a:off x="1998091" y="7247509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95636435" name="Text 32"/>
          <p:cNvSpPr/>
          <p:nvPr/>
        </p:nvSpPr>
        <p:spPr bwMode="auto">
          <a:xfrm>
            <a:off x="1876171" y="7186549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LACK OF AUTOMATION</a:t>
            </a:r>
            <a:endParaRPr lang="en-US" sz="1600"/>
          </a:p>
        </p:txBody>
      </p:sp>
      <p:sp>
        <p:nvSpPr>
          <p:cNvPr id="1426693821" name="Shape 33"/>
          <p:cNvSpPr/>
          <p:nvPr/>
        </p:nvSpPr>
        <p:spPr bwMode="auto">
          <a:xfrm>
            <a:off x="1354709" y="7823200"/>
            <a:ext cx="18965291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9994549" name="Text 34"/>
          <p:cNvSpPr/>
          <p:nvPr/>
        </p:nvSpPr>
        <p:spPr bwMode="auto">
          <a:xfrm>
            <a:off x="1232789" y="7762240"/>
            <a:ext cx="19209131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Corrective actions are not systematically automated, increasing reaction time to threats. Result: slower response, missed multi-stage attack patterns, and analyst burnout.</a:t>
            </a:r>
            <a:endParaRPr lang="en-US" sz="1600"/>
          </a:p>
        </p:txBody>
      </p:sp>
      <p:sp>
        <p:nvSpPr>
          <p:cNvPr id="323426023" name="Shape 35"/>
          <p:cNvSpPr/>
          <p:nvPr/>
        </p:nvSpPr>
        <p:spPr bwMode="auto">
          <a:xfrm>
            <a:off x="1016000" y="9652000"/>
            <a:ext cx="19642709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9856663" name="Shape 36"/>
          <p:cNvSpPr/>
          <p:nvPr/>
        </p:nvSpPr>
        <p:spPr bwMode="auto">
          <a:xfrm>
            <a:off x="1354709" y="9652000"/>
            <a:ext cx="18965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40009686" name="Text 37"/>
          <p:cNvSpPr/>
          <p:nvPr/>
        </p:nvSpPr>
        <p:spPr bwMode="auto">
          <a:xfrm>
            <a:off x="1232789" y="9591040"/>
            <a:ext cx="19209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1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Result:</a:t>
            </a:r>
            <a:r>
              <a:rPr lang="en-US" sz="21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215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Slower incident response, missed multi-stage attack patterns, and analyst fatigue due to manual correlation across disconnected tools.</a:t>
            </a:r>
            <a:endParaRPr lang="en-US" sz="1600"/>
          </a:p>
        </p:txBody>
      </p:sp>
      <p:sp>
        <p:nvSpPr>
          <p:cNvPr id="808691180" name="Shape 38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1386901" name="Text 39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Introduction &amp; Context</a:t>
            </a:r>
            <a:endParaRPr lang="en-US" sz="1600"/>
          </a:p>
        </p:txBody>
      </p:sp>
      <p:sp>
        <p:nvSpPr>
          <p:cNvPr id="1330281695" name="Shape 40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38534400" name="Text 41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04</a:t>
            </a:r>
            <a:endParaRPr lang="en-US" sz="1600"/>
          </a:p>
        </p:txBody>
      </p:sp>
      <p:sp>
        <p:nvSpPr>
          <p:cNvPr id="350520177" name="Shape 42"/>
          <p:cNvSpPr/>
          <p:nvPr/>
        </p:nvSpPr>
        <p:spPr bwMode="auto">
          <a:xfrm>
            <a:off x="1324991" y="2427616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49844821" name="Shape 43"/>
          <p:cNvSpPr/>
          <p:nvPr/>
        </p:nvSpPr>
        <p:spPr bwMode="auto">
          <a:xfrm>
            <a:off x="1324991" y="7338325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580459458" name="Shape 44"/>
          <p:cNvSpPr/>
          <p:nvPr/>
        </p:nvSpPr>
        <p:spPr bwMode="auto">
          <a:xfrm>
            <a:off x="11430000" y="4882907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816588299" name="Shape 45"/>
          <p:cNvSpPr/>
          <p:nvPr/>
        </p:nvSpPr>
        <p:spPr bwMode="auto">
          <a:xfrm>
            <a:off x="11430000" y="2427616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84217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725546027" name="Shape 1"/>
          <p:cNvSpPr/>
          <p:nvPr/>
        </p:nvSpPr>
        <p:spPr bwMode="auto">
          <a:xfrm>
            <a:off x="1016000" y="982090"/>
            <a:ext cx="1016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30894738" name="Text 2"/>
          <p:cNvSpPr/>
          <p:nvPr/>
        </p:nvSpPr>
        <p:spPr bwMode="auto">
          <a:xfrm>
            <a:off x="894080" y="921131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PROJECT OBJECTIVES</a:t>
            </a:r>
            <a:endParaRPr lang="en-US" sz="1600"/>
          </a:p>
        </p:txBody>
      </p:sp>
      <p:sp>
        <p:nvSpPr>
          <p:cNvPr id="1437934667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58928767" name="Shape 4"/>
          <p:cNvSpPr/>
          <p:nvPr/>
        </p:nvSpPr>
        <p:spPr bwMode="auto">
          <a:xfrm>
            <a:off x="1016000" y="2201291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59133557" name="Text 5"/>
          <p:cNvSpPr/>
          <p:nvPr/>
        </p:nvSpPr>
        <p:spPr bwMode="auto">
          <a:xfrm>
            <a:off x="894080" y="2140331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6950">
                <a:solidFill>
                  <a:srgbClr val="CF0A2C"/>
                </a:solidFill>
                <a:latin typeface="Liter"/>
                <a:ea typeface="Liter"/>
                <a:cs typeface="Liter"/>
              </a:rPr>
              <a:t>1</a:t>
            </a:r>
            <a:endParaRPr lang="en-US" sz="1600"/>
          </a:p>
        </p:txBody>
      </p:sp>
      <p:sp>
        <p:nvSpPr>
          <p:cNvPr id="1678668180" name="Shape 6"/>
          <p:cNvSpPr/>
          <p:nvPr/>
        </p:nvSpPr>
        <p:spPr bwMode="auto">
          <a:xfrm>
            <a:off x="2540000" y="2201291"/>
            <a:ext cx="18118709" cy="254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08317221" name="Shape 7"/>
          <p:cNvSpPr/>
          <p:nvPr/>
        </p:nvSpPr>
        <p:spPr bwMode="auto">
          <a:xfrm>
            <a:off x="2878709" y="2370709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6331835" name="Text 8"/>
          <p:cNvSpPr/>
          <p:nvPr/>
        </p:nvSpPr>
        <p:spPr bwMode="auto">
          <a:xfrm>
            <a:off x="2756789" y="2309749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950">
                <a:solidFill>
                  <a:srgbClr val="1B2A4A"/>
                </a:solidFill>
                <a:latin typeface="Liter"/>
                <a:ea typeface="Liter"/>
                <a:cs typeface="Liter"/>
              </a:rPr>
              <a:t>COMPLETE VISIBILITY</a:t>
            </a:r>
            <a:endParaRPr lang="en-US" sz="1600"/>
          </a:p>
        </p:txBody>
      </p:sp>
      <p:sp>
        <p:nvSpPr>
          <p:cNvPr id="1290185395" name="Shape 9"/>
          <p:cNvSpPr/>
          <p:nvPr/>
        </p:nvSpPr>
        <p:spPr bwMode="auto">
          <a:xfrm>
            <a:off x="2878709" y="3014091"/>
            <a:ext cx="174412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54163375" name="Text 10"/>
          <p:cNvSpPr/>
          <p:nvPr/>
        </p:nvSpPr>
        <p:spPr bwMode="auto">
          <a:xfrm>
            <a:off x="2756789" y="2953131"/>
            <a:ext cx="17685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Monitor network, host, runtime and infrastructure layers in a unified stack. No blind spots — every critical layer observed, collected and centralized.</a:t>
            </a:r>
            <a:endParaRPr lang="en-US" sz="1600"/>
          </a:p>
        </p:txBody>
      </p:sp>
      <p:sp>
        <p:nvSpPr>
          <p:cNvPr id="1639340286" name="Shape 11"/>
          <p:cNvSpPr/>
          <p:nvPr/>
        </p:nvSpPr>
        <p:spPr bwMode="auto">
          <a:xfrm>
            <a:off x="1016000" y="5164709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89006385" name="Text 12"/>
          <p:cNvSpPr/>
          <p:nvPr/>
        </p:nvSpPr>
        <p:spPr bwMode="auto">
          <a:xfrm>
            <a:off x="894080" y="5103749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6950">
                <a:solidFill>
                  <a:srgbClr val="CF0A2C"/>
                </a:solidFill>
                <a:latin typeface="Liter"/>
                <a:ea typeface="Liter"/>
                <a:cs typeface="Liter"/>
              </a:rPr>
              <a:t>2</a:t>
            </a:r>
            <a:endParaRPr lang="en-US" sz="1600"/>
          </a:p>
        </p:txBody>
      </p:sp>
      <p:sp>
        <p:nvSpPr>
          <p:cNvPr id="1931833164" name="Shape 13"/>
          <p:cNvSpPr/>
          <p:nvPr/>
        </p:nvSpPr>
        <p:spPr bwMode="auto">
          <a:xfrm>
            <a:off x="2540000" y="5164709"/>
            <a:ext cx="18118709" cy="254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6959657" name="Shape 14"/>
          <p:cNvSpPr/>
          <p:nvPr/>
        </p:nvSpPr>
        <p:spPr bwMode="auto">
          <a:xfrm>
            <a:off x="2878709" y="5334000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15924535" name="Text 15"/>
          <p:cNvSpPr/>
          <p:nvPr/>
        </p:nvSpPr>
        <p:spPr bwMode="auto">
          <a:xfrm>
            <a:off x="2756789" y="5273040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950">
                <a:solidFill>
                  <a:srgbClr val="1B2A4A"/>
                </a:solidFill>
                <a:latin typeface="Liter"/>
                <a:ea typeface="Liter"/>
                <a:cs typeface="Liter"/>
              </a:rPr>
              <a:t>INTELLIGENT PROCESSING</a:t>
            </a:r>
            <a:endParaRPr lang="en-US" sz="1600"/>
          </a:p>
        </p:txBody>
      </p:sp>
      <p:sp>
        <p:nvSpPr>
          <p:cNvPr id="319562630" name="Shape 16"/>
          <p:cNvSpPr/>
          <p:nvPr/>
        </p:nvSpPr>
        <p:spPr bwMode="auto">
          <a:xfrm>
            <a:off x="2878709" y="5977509"/>
            <a:ext cx="174412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38653895" name="Text 17"/>
          <p:cNvSpPr/>
          <p:nvPr/>
        </p:nvSpPr>
        <p:spPr bwMode="auto">
          <a:xfrm>
            <a:off x="2756789" y="5916549"/>
            <a:ext cx="17685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Transform raw alerts into enriched and correlated incidents with AI analysis. From data overload to actionable and contextualized intelligence.</a:t>
            </a:r>
            <a:endParaRPr lang="en-US" sz="1600"/>
          </a:p>
        </p:txBody>
      </p:sp>
      <p:sp>
        <p:nvSpPr>
          <p:cNvPr id="151590279" name="Shape 18"/>
          <p:cNvSpPr/>
          <p:nvPr/>
        </p:nvSpPr>
        <p:spPr bwMode="auto">
          <a:xfrm>
            <a:off x="1016000" y="8128000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52481869" name="Text 19"/>
          <p:cNvSpPr/>
          <p:nvPr/>
        </p:nvSpPr>
        <p:spPr bwMode="auto">
          <a:xfrm>
            <a:off x="894080" y="8067040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6950">
                <a:solidFill>
                  <a:srgbClr val="CF0A2C"/>
                </a:solidFill>
                <a:latin typeface="Liter"/>
                <a:ea typeface="Liter"/>
                <a:cs typeface="Liter"/>
              </a:rPr>
              <a:t>3</a:t>
            </a:r>
            <a:endParaRPr lang="en-US" sz="1600"/>
          </a:p>
        </p:txBody>
      </p:sp>
      <p:sp>
        <p:nvSpPr>
          <p:cNvPr id="1582152755" name="Shape 20"/>
          <p:cNvSpPr/>
          <p:nvPr/>
        </p:nvSpPr>
        <p:spPr bwMode="auto">
          <a:xfrm>
            <a:off x="2540000" y="8128000"/>
            <a:ext cx="18118709" cy="254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52608277" name="Shape 21"/>
          <p:cNvSpPr/>
          <p:nvPr/>
        </p:nvSpPr>
        <p:spPr bwMode="auto">
          <a:xfrm>
            <a:off x="2878709" y="8297291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75626205" name="Text 22"/>
          <p:cNvSpPr/>
          <p:nvPr/>
        </p:nvSpPr>
        <p:spPr bwMode="auto">
          <a:xfrm>
            <a:off x="2756789" y="8236331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950">
                <a:solidFill>
                  <a:srgbClr val="1B2A4A"/>
                </a:solidFill>
                <a:latin typeface="Liter"/>
                <a:ea typeface="Liter"/>
                <a:cs typeface="Liter"/>
              </a:rPr>
              <a:t>CONTROLLED RESPONSE</a:t>
            </a:r>
            <a:endParaRPr lang="en-US" sz="1600"/>
          </a:p>
        </p:txBody>
      </p:sp>
      <p:sp>
        <p:nvSpPr>
          <p:cNvPr id="1007994697" name="Shape 23"/>
          <p:cNvSpPr/>
          <p:nvPr/>
        </p:nvSpPr>
        <p:spPr bwMode="auto">
          <a:xfrm>
            <a:off x="2878709" y="8940800"/>
            <a:ext cx="174412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64411946" name="Text 24"/>
          <p:cNvSpPr/>
          <p:nvPr/>
        </p:nvSpPr>
        <p:spPr bwMode="auto">
          <a:xfrm>
            <a:off x="2756789" y="8879840"/>
            <a:ext cx="17685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2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Automate investigation, playbook generation, approval workflows and Ansible remediation with full audit. The platform thinks before acting.</a:t>
            </a:r>
            <a:endParaRPr lang="en-US" sz="1600"/>
          </a:p>
        </p:txBody>
      </p:sp>
      <p:sp>
        <p:nvSpPr>
          <p:cNvPr id="1947897494" name="Shape 25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36920544" name="Text 26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Introduction &amp; Context</a:t>
            </a:r>
            <a:endParaRPr lang="en-US" sz="1600"/>
          </a:p>
        </p:txBody>
      </p:sp>
      <p:sp>
        <p:nvSpPr>
          <p:cNvPr id="1437152751" name="Shape 27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5818193" name="Text 28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05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677266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30790877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02</a:t>
            </a:r>
            <a:endParaRPr lang="en-US" sz="1600"/>
          </a:p>
        </p:txBody>
      </p:sp>
      <p:sp>
        <p:nvSpPr>
          <p:cNvPr id="1300968200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844962953" name="Shape 3"/>
          <p:cNvSpPr/>
          <p:nvPr/>
        </p:nvSpPr>
        <p:spPr bwMode="auto">
          <a:xfrm>
            <a:off x="1693291" y="4741291"/>
            <a:ext cx="13546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34254654" name="Text 4"/>
          <p:cNvSpPr/>
          <p:nvPr/>
        </p:nvSpPr>
        <p:spPr bwMode="auto">
          <a:xfrm>
            <a:off x="1571371" y="4680331"/>
            <a:ext cx="1379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EXISTING SOLUTIONS</a:t>
            </a:r>
            <a:endParaRPr lang="en-US" sz="1600"/>
          </a:p>
        </p:txBody>
      </p:sp>
      <p:sp>
        <p:nvSpPr>
          <p:cNvPr id="1110676833" name="Shape 5"/>
          <p:cNvSpPr/>
          <p:nvPr/>
        </p:nvSpPr>
        <p:spPr bwMode="auto">
          <a:xfrm>
            <a:off x="1693291" y="5757291"/>
            <a:ext cx="11853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2526996" name="Text 6"/>
          <p:cNvSpPr/>
          <p:nvPr/>
        </p:nvSpPr>
        <p:spPr bwMode="auto">
          <a:xfrm>
            <a:off x="1571371" y="5696331"/>
            <a:ext cx="12097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State of the art of monitoring and security solutions on the market</a:t>
            </a:r>
            <a:endParaRPr lang="en-US" sz="1600"/>
          </a:p>
        </p:txBody>
      </p:sp>
      <p:sp>
        <p:nvSpPr>
          <p:cNvPr id="1725588075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6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899928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07233074" name="Shape 1"/>
          <p:cNvSpPr/>
          <p:nvPr/>
        </p:nvSpPr>
        <p:spPr bwMode="auto">
          <a:xfrm>
            <a:off x="1016000" y="982090"/>
            <a:ext cx="1354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0703368" name="Text 2"/>
          <p:cNvSpPr/>
          <p:nvPr/>
        </p:nvSpPr>
        <p:spPr bwMode="auto">
          <a:xfrm>
            <a:off x="894080" y="921131"/>
            <a:ext cx="1379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STATE OF THE ART OF SOC SOLUTIONS</a:t>
            </a:r>
            <a:endParaRPr lang="en-US" sz="1600"/>
          </a:p>
        </p:txBody>
      </p:sp>
      <p:sp>
        <p:nvSpPr>
          <p:cNvPr id="1772213567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94820327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016000" y="2116709"/>
          <a:ext cx="19642709" cy="575729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321396"/>
                <a:gridCol w="7857084"/>
                <a:gridCol w="7464229"/>
              </a:tblGrid>
              <a:tr h="8116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Category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Examples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Limitations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98913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Traditional SIEM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Splunk, QRadar, ArcSight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Centralized collection but expensive and complex to deploy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8913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EDR / XDR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CrowdStrike, SentinelOne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Focused on endpoints, limited network visibility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98913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SOAR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Palo Alto XSOAR, Splunk SOAR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Advanced orchestration but costly integration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8913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Open-Source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Wazuh, Suricata, ELK Stack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Powerful but not natively integrated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98913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Cloud Platforms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Azure Sentinel, Chronicle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Vendor lock-in, limited customization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903886" name="Shape 4"/>
          <p:cNvSpPr/>
          <p:nvPr/>
        </p:nvSpPr>
        <p:spPr bwMode="auto">
          <a:xfrm>
            <a:off x="1016000" y="8382000"/>
            <a:ext cx="19642709" cy="1693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42132934" name="Shape 5"/>
          <p:cNvSpPr/>
          <p:nvPr/>
        </p:nvSpPr>
        <p:spPr bwMode="auto">
          <a:xfrm>
            <a:off x="1693291" y="8647811"/>
            <a:ext cx="254000" cy="28105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039285257" name="Shape 6"/>
          <p:cNvSpPr/>
          <p:nvPr/>
        </p:nvSpPr>
        <p:spPr bwMode="auto">
          <a:xfrm>
            <a:off x="2201291" y="8551291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42876664" name="Text 7"/>
          <p:cNvSpPr/>
          <p:nvPr/>
        </p:nvSpPr>
        <p:spPr bwMode="auto">
          <a:xfrm>
            <a:off x="2079371" y="8490331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Liter"/>
                <a:ea typeface="Liter"/>
                <a:cs typeface="Liter"/>
              </a:rPr>
              <a:t>IDENTIFIED GAP</a:t>
            </a:r>
            <a:endParaRPr lang="en-US" sz="1600"/>
          </a:p>
        </p:txBody>
      </p:sp>
      <p:sp>
        <p:nvSpPr>
          <p:cNvPr id="521856151" name="Shape 8"/>
          <p:cNvSpPr/>
          <p:nvPr/>
        </p:nvSpPr>
        <p:spPr bwMode="auto">
          <a:xfrm>
            <a:off x="2201291" y="9059291"/>
            <a:ext cx="18118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76070951" name="Text 9"/>
          <p:cNvSpPr/>
          <p:nvPr/>
        </p:nvSpPr>
        <p:spPr bwMode="auto">
          <a:xfrm>
            <a:off x="2079371" y="8998331"/>
            <a:ext cx="18362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defRPr/>
            </a:pPr>
            <a:r>
              <a:rPr lang="en-US" sz="20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No solution combines multi-layer monitoring, automatic enrichment, incident correlation, AI analysis and automated remediation in a unified architecture deployable on cloud.</a:t>
            </a:r>
            <a:endParaRPr lang="en-US" sz="1600"/>
          </a:p>
        </p:txBody>
      </p:sp>
      <p:sp>
        <p:nvSpPr>
          <p:cNvPr id="1279085353" name="Shape 10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0869440" name="Text 11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Existing Solutions</a:t>
            </a:r>
            <a:endParaRPr lang="en-US" sz="1600"/>
          </a:p>
        </p:txBody>
      </p:sp>
      <p:sp>
        <p:nvSpPr>
          <p:cNvPr id="1632873581" name="Shape 12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8796432" name="Text 13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07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54980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8156764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03</a:t>
            </a:r>
            <a:endParaRPr lang="en-US" sz="1600"/>
          </a:p>
        </p:txBody>
      </p:sp>
      <p:sp>
        <p:nvSpPr>
          <p:cNvPr id="1321166803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134968319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22093316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ARCHITECTURE &amp; PROPOSED SOLUTION</a:t>
            </a:r>
            <a:endParaRPr lang="en-US" sz="1600"/>
          </a:p>
        </p:txBody>
      </p:sp>
      <p:sp>
        <p:nvSpPr>
          <p:cNvPr id="1540933643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30779656" name="Text 6"/>
          <p:cNvSpPr/>
          <p:nvPr/>
        </p:nvSpPr>
        <p:spPr bwMode="auto"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Global architecture of the SOC platform and data flows between components</a:t>
            </a:r>
            <a:endParaRPr lang="en-US" sz="1600"/>
          </a:p>
        </p:txBody>
      </p:sp>
      <p:sp>
        <p:nvSpPr>
          <p:cNvPr id="561205899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8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527779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35969450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284292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GLOBAL PLATFORM ARCHITECTURE</a:t>
            </a:r>
            <a:endParaRPr lang="en-US" sz="1600"/>
          </a:p>
        </p:txBody>
      </p:sp>
      <p:sp>
        <p:nvSpPr>
          <p:cNvPr id="75053964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24190279" name="Shape 4"/>
          <p:cNvSpPr/>
          <p:nvPr/>
        </p:nvSpPr>
        <p:spPr bwMode="auto">
          <a:xfrm>
            <a:off x="1016000" y="2116709"/>
            <a:ext cx="6096000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62996258" name="Shape 5"/>
          <p:cNvSpPr/>
          <p:nvPr/>
        </p:nvSpPr>
        <p:spPr bwMode="auto">
          <a:xfrm>
            <a:off x="1016000" y="2116709"/>
            <a:ext cx="6096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71005068" name="Text 6"/>
          <p:cNvSpPr/>
          <p:nvPr/>
        </p:nvSpPr>
        <p:spPr bwMode="auto">
          <a:xfrm>
            <a:off x="894080" y="2055749"/>
            <a:ext cx="6339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21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PHASE 1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>
                <a:solidFill>
                  <a:srgbClr val="FFFFFF"/>
                </a:solidFill>
                <a:latin typeface="Liter"/>
                <a:ea typeface="Liter"/>
                <a:cs typeface="Liter"/>
              </a:rPr>
              <a:t>Monitoring Foundation</a:t>
            </a:r>
            <a:endParaRPr lang="en-US" sz="1600"/>
          </a:p>
        </p:txBody>
      </p:sp>
      <p:sp>
        <p:nvSpPr>
          <p:cNvPr id="462262915" name="Shape 7"/>
          <p:cNvSpPr/>
          <p:nvPr/>
        </p:nvSpPr>
        <p:spPr bwMode="auto">
          <a:xfrm>
            <a:off x="7112000" y="2624709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704610089" name="Shape 8"/>
          <p:cNvSpPr/>
          <p:nvPr/>
        </p:nvSpPr>
        <p:spPr bwMode="auto">
          <a:xfrm>
            <a:off x="7789291" y="2116709"/>
            <a:ext cx="6096000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04667602" name="Shape 9"/>
          <p:cNvSpPr/>
          <p:nvPr/>
        </p:nvSpPr>
        <p:spPr bwMode="auto">
          <a:xfrm>
            <a:off x="7789291" y="2116709"/>
            <a:ext cx="6096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91094514" name="Text 10"/>
          <p:cNvSpPr/>
          <p:nvPr/>
        </p:nvSpPr>
        <p:spPr bwMode="auto">
          <a:xfrm>
            <a:off x="7667371" y="2055749"/>
            <a:ext cx="6339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21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PHASE 2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>
                <a:solidFill>
                  <a:srgbClr val="FFFFFF"/>
                </a:solidFill>
                <a:latin typeface="Liter"/>
                <a:ea typeface="Liter"/>
                <a:cs typeface="Liter"/>
              </a:rPr>
              <a:t>Cloud Infrastructure</a:t>
            </a:r>
            <a:endParaRPr lang="en-US" sz="1600"/>
          </a:p>
        </p:txBody>
      </p:sp>
      <p:sp>
        <p:nvSpPr>
          <p:cNvPr id="822613196" name="Shape 11"/>
          <p:cNvSpPr/>
          <p:nvPr/>
        </p:nvSpPr>
        <p:spPr bwMode="auto">
          <a:xfrm>
            <a:off x="13885291" y="2624709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324638927" name="Shape 12"/>
          <p:cNvSpPr/>
          <p:nvPr/>
        </p:nvSpPr>
        <p:spPr bwMode="auto">
          <a:xfrm>
            <a:off x="14562709" y="2116709"/>
            <a:ext cx="6096000" cy="1354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97272915" name="Shape 13"/>
          <p:cNvSpPr/>
          <p:nvPr/>
        </p:nvSpPr>
        <p:spPr bwMode="auto">
          <a:xfrm>
            <a:off x="14562709" y="2116709"/>
            <a:ext cx="6096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62954471" name="Text 14"/>
          <p:cNvSpPr/>
          <p:nvPr/>
        </p:nvSpPr>
        <p:spPr bwMode="auto">
          <a:xfrm>
            <a:off x="14440789" y="2055749"/>
            <a:ext cx="6339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21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PHASE 3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>
                <a:solidFill>
                  <a:srgbClr val="FFFFFF"/>
                </a:solidFill>
                <a:latin typeface="Liter"/>
                <a:ea typeface="Liter"/>
                <a:cs typeface="Liter"/>
              </a:rPr>
              <a:t>Backend Intelligence</a:t>
            </a:r>
            <a:endParaRPr lang="en-US" sz="1600"/>
          </a:p>
        </p:txBody>
      </p:sp>
      <p:sp>
        <p:nvSpPr>
          <p:cNvPr id="1505385041" name="Shape 15"/>
          <p:cNvSpPr/>
          <p:nvPr/>
        </p:nvSpPr>
        <p:spPr bwMode="auto">
          <a:xfrm>
            <a:off x="1016000" y="3894709"/>
            <a:ext cx="6773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5756017" name="Text 16"/>
          <p:cNvSpPr/>
          <p:nvPr/>
        </p:nvSpPr>
        <p:spPr bwMode="auto">
          <a:xfrm>
            <a:off x="894080" y="3833749"/>
            <a:ext cx="701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GLOBAL DATA FLOW</a:t>
            </a:r>
            <a:endParaRPr lang="en-US" sz="1600"/>
          </a:p>
        </p:txBody>
      </p:sp>
      <p:sp>
        <p:nvSpPr>
          <p:cNvPr id="160706266" name="Shape 17"/>
          <p:cNvSpPr/>
          <p:nvPr/>
        </p:nvSpPr>
        <p:spPr bwMode="auto">
          <a:xfrm>
            <a:off x="1016000" y="4487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92831293" name="Shape 18"/>
          <p:cNvSpPr/>
          <p:nvPr/>
        </p:nvSpPr>
        <p:spPr bwMode="auto">
          <a:xfrm>
            <a:off x="1016000" y="4826000"/>
            <a:ext cx="3048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0234001" name="Shape 19"/>
          <p:cNvSpPr/>
          <p:nvPr/>
        </p:nvSpPr>
        <p:spPr bwMode="auto">
          <a:xfrm>
            <a:off x="1016000" y="4826000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2392529" name="Text 20"/>
          <p:cNvSpPr/>
          <p:nvPr/>
        </p:nvSpPr>
        <p:spPr bwMode="auto">
          <a:xfrm>
            <a:off x="894080" y="4765040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Sources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Security</a:t>
            </a:r>
            <a:endParaRPr lang="en-US" sz="1600"/>
          </a:p>
        </p:txBody>
      </p:sp>
      <p:sp>
        <p:nvSpPr>
          <p:cNvPr id="311150129" name="Shape 21"/>
          <p:cNvSpPr/>
          <p:nvPr/>
        </p:nvSpPr>
        <p:spPr bwMode="auto">
          <a:xfrm>
            <a:off x="4064000" y="5334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884032230" name="Shape 22"/>
          <p:cNvSpPr/>
          <p:nvPr/>
        </p:nvSpPr>
        <p:spPr bwMode="auto">
          <a:xfrm>
            <a:off x="4572000" y="4826000"/>
            <a:ext cx="3048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1429877" name="Shape 23"/>
          <p:cNvSpPr/>
          <p:nvPr/>
        </p:nvSpPr>
        <p:spPr bwMode="auto">
          <a:xfrm>
            <a:off x="4572000" y="4826000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3458604" name="Text 24"/>
          <p:cNvSpPr/>
          <p:nvPr/>
        </p:nvSpPr>
        <p:spPr bwMode="auto">
          <a:xfrm>
            <a:off x="4450080" y="4765040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Collection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Layer</a:t>
            </a:r>
            <a:endParaRPr lang="en-US" sz="1600"/>
          </a:p>
        </p:txBody>
      </p:sp>
      <p:sp>
        <p:nvSpPr>
          <p:cNvPr id="1168982657" name="Shape 25"/>
          <p:cNvSpPr/>
          <p:nvPr/>
        </p:nvSpPr>
        <p:spPr bwMode="auto">
          <a:xfrm>
            <a:off x="7620000" y="5334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40752395" name="Shape 26"/>
          <p:cNvSpPr/>
          <p:nvPr/>
        </p:nvSpPr>
        <p:spPr bwMode="auto">
          <a:xfrm>
            <a:off x="8128000" y="4656709"/>
            <a:ext cx="3386709" cy="152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37086653" name="Shape 27"/>
          <p:cNvSpPr/>
          <p:nvPr/>
        </p:nvSpPr>
        <p:spPr bwMode="auto">
          <a:xfrm>
            <a:off x="8128000" y="4656709"/>
            <a:ext cx="3386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71855559" name="Text 28"/>
          <p:cNvSpPr/>
          <p:nvPr/>
        </p:nvSpPr>
        <p:spPr bwMode="auto">
          <a:xfrm>
            <a:off x="8006080" y="4595749"/>
            <a:ext cx="3630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8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Elasticsearch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600">
                <a:solidFill>
                  <a:srgbClr val="FFFFFF"/>
                </a:solidFill>
                <a:latin typeface="Liter"/>
                <a:ea typeface="Liter"/>
                <a:cs typeface="Liter"/>
              </a:rPr>
              <a:t>Storage &amp; Indexing</a:t>
            </a:r>
            <a:endParaRPr lang="en-US" sz="1600"/>
          </a:p>
        </p:txBody>
      </p:sp>
      <p:sp>
        <p:nvSpPr>
          <p:cNvPr id="943565194" name="Shape 29"/>
          <p:cNvSpPr/>
          <p:nvPr/>
        </p:nvSpPr>
        <p:spPr bwMode="auto">
          <a:xfrm>
            <a:off x="11514709" y="4995291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096075518" name="Shape 30"/>
          <p:cNvSpPr/>
          <p:nvPr/>
        </p:nvSpPr>
        <p:spPr bwMode="auto">
          <a:xfrm>
            <a:off x="12022709" y="4402709"/>
            <a:ext cx="3048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8270926" name="Shape 31"/>
          <p:cNvSpPr/>
          <p:nvPr/>
        </p:nvSpPr>
        <p:spPr bwMode="auto">
          <a:xfrm>
            <a:off x="12022709" y="4233291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0083886" name="Text 32"/>
          <p:cNvSpPr/>
          <p:nvPr/>
        </p:nvSpPr>
        <p:spPr bwMode="auto">
          <a:xfrm>
            <a:off x="11900789" y="4172331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Kibana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Visualization</a:t>
            </a:r>
            <a:endParaRPr lang="en-US" sz="1600"/>
          </a:p>
        </p:txBody>
      </p:sp>
      <p:sp>
        <p:nvSpPr>
          <p:cNvPr id="477044465" name="Shape 33"/>
          <p:cNvSpPr/>
          <p:nvPr/>
        </p:nvSpPr>
        <p:spPr bwMode="auto">
          <a:xfrm>
            <a:off x="11514709" y="5757291"/>
            <a:ext cx="508000" cy="508000"/>
          </a:xfrm>
          <a:prstGeom prst="straightConnector1">
            <a:avLst/>
          </a:prstGeom>
          <a:noFill/>
          <a:ln w="25400">
            <a:solidFill>
              <a:srgbClr val="CF0A2C"/>
            </a:solidFill>
            <a:prstDash val="solid"/>
            <a:headEnd type="none"/>
            <a:tailEnd type="none"/>
          </a:ln>
        </p:spPr>
      </p:sp>
      <p:sp>
        <p:nvSpPr>
          <p:cNvPr id="932117863" name="Shape 34"/>
          <p:cNvSpPr/>
          <p:nvPr/>
        </p:nvSpPr>
        <p:spPr bwMode="auto">
          <a:xfrm>
            <a:off x="12022709" y="6265291"/>
            <a:ext cx="3048000" cy="11852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680749547" name="Shape 35"/>
          <p:cNvSpPr/>
          <p:nvPr/>
        </p:nvSpPr>
        <p:spPr bwMode="auto">
          <a:xfrm>
            <a:off x="12022709" y="6265291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3683149" name="Text 36"/>
          <p:cNvSpPr/>
          <p:nvPr/>
        </p:nvSpPr>
        <p:spPr bwMode="auto">
          <a:xfrm>
            <a:off x="11900789" y="6204331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Backend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Intelligence</a:t>
            </a:r>
            <a:endParaRPr lang="en-US" sz="1600"/>
          </a:p>
        </p:txBody>
      </p:sp>
      <p:sp>
        <p:nvSpPr>
          <p:cNvPr id="1924807987" name="Shape 37"/>
          <p:cNvSpPr/>
          <p:nvPr/>
        </p:nvSpPr>
        <p:spPr bwMode="auto">
          <a:xfrm>
            <a:off x="15472664" y="6180708"/>
            <a:ext cx="5080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8538050" name="Shape 38"/>
          <p:cNvSpPr/>
          <p:nvPr/>
        </p:nvSpPr>
        <p:spPr bwMode="auto">
          <a:xfrm>
            <a:off x="15578709" y="6180708"/>
            <a:ext cx="5080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33253219" name="Text 39"/>
          <p:cNvSpPr/>
          <p:nvPr/>
        </p:nvSpPr>
        <p:spPr bwMode="auto">
          <a:xfrm>
            <a:off x="15456789" y="6119749"/>
            <a:ext cx="5323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Frontend Dashboard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Alerts, Incidents, Metrics</a:t>
            </a:r>
            <a:endParaRPr lang="en-US" sz="1600"/>
          </a:p>
        </p:txBody>
      </p:sp>
      <p:sp>
        <p:nvSpPr>
          <p:cNvPr id="1900812356" name="Shape 40"/>
          <p:cNvSpPr/>
          <p:nvPr/>
        </p:nvSpPr>
        <p:spPr bwMode="auto">
          <a:xfrm>
            <a:off x="15070709" y="6773291"/>
            <a:ext cx="402082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901583604" name="Shape 41"/>
          <p:cNvSpPr/>
          <p:nvPr/>
        </p:nvSpPr>
        <p:spPr bwMode="auto">
          <a:xfrm>
            <a:off x="1016000" y="7958709"/>
            <a:ext cx="19642709" cy="2963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25750267" name="Shape 42"/>
          <p:cNvSpPr/>
          <p:nvPr/>
        </p:nvSpPr>
        <p:spPr bwMode="auto">
          <a:xfrm>
            <a:off x="1354709" y="8128000"/>
            <a:ext cx="18965291" cy="270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92513425" name="Text 43"/>
          <p:cNvSpPr/>
          <p:nvPr/>
        </p:nvSpPr>
        <p:spPr bwMode="auto">
          <a:xfrm>
            <a:off x="1232789" y="8067040"/>
            <a:ext cx="19209131" cy="283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215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Phase 1 — Monitoring Foundation:</a:t>
            </a:r>
            <a:r>
              <a:rPr lang="en-US" sz="21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21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Layer, detection, storage, and visualization of security events.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215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Phase 2 — Cloud Infrastructure:</a:t>
            </a:r>
            <a:r>
              <a:rPr lang="en-US" sz="21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21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Deployment on Huawei Cloud with VPC, Security Groups, and optimized ECS VM.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215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Phase 3 — Backend Intelligence:</a:t>
            </a:r>
            <a:r>
              <a:rPr lang="en-US" sz="21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Enrichment, correlation, AI analysis, playbook generation, and Ansible remediation.</a:t>
            </a:r>
            <a:endParaRPr lang="en-US" sz="1600"/>
          </a:p>
          <a:p>
            <a:pPr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21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Result:</a:t>
            </a:r>
            <a:r>
              <a:rPr lang="en-US" sz="21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 unified SOC platform that sees everything, understands patterns and responds with control.</a:t>
            </a:r>
            <a:endParaRPr lang="en-US" sz="1600"/>
          </a:p>
        </p:txBody>
      </p:sp>
      <p:sp>
        <p:nvSpPr>
          <p:cNvPr id="1634167150" name="Shape 44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81357633" name="Text 45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Architecture &amp; Solution</a:t>
            </a:r>
            <a:endParaRPr lang="en-US" sz="1600"/>
          </a:p>
        </p:txBody>
      </p:sp>
      <p:sp>
        <p:nvSpPr>
          <p:cNvPr id="818509090" name="Shape 46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27434729" name="Text 47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09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578071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8312468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04</a:t>
            </a:r>
            <a:endParaRPr lang="en-US" sz="1600"/>
          </a:p>
        </p:txBody>
      </p:sp>
      <p:sp>
        <p:nvSpPr>
          <p:cNvPr id="70962925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810606853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48571890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PHASE 1: MONITORING FOUNDATION</a:t>
            </a:r>
            <a:endParaRPr lang="en-US" sz="1600"/>
          </a:p>
        </p:txBody>
      </p:sp>
      <p:sp>
        <p:nvSpPr>
          <p:cNvPr id="1275601614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6771881" name="Text 6"/>
          <p:cNvSpPr/>
          <p:nvPr/>
        </p:nvSpPr>
        <p:spPr bwMode="auto"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Building the visibility backbone of the SOC platform</a:t>
            </a:r>
            <a:endParaRPr lang="en-US" sz="1600"/>
          </a:p>
        </p:txBody>
      </p:sp>
      <p:sp>
        <p:nvSpPr>
          <p:cNvPr id="273523256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10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185494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24079616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6899392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1 — VISIBILITY LAYERS &amp; TOOLS</a:t>
            </a:r>
            <a:endParaRPr lang="en-US" sz="1600"/>
          </a:p>
        </p:txBody>
      </p:sp>
      <p:sp>
        <p:nvSpPr>
          <p:cNvPr id="421369841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67822540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016000" y="2032000"/>
          <a:ext cx="19642710" cy="677328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535688"/>
                <a:gridCol w="3535688"/>
                <a:gridCol w="12571334"/>
              </a:tblGrid>
              <a:tr h="7469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Layer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Tool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Role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8609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Network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Suricata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Traffic, packets, protocols, IDS alerts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09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Host / Endpoint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Wazuh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Auth events, file integrity, agent alerts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609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Runtime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Falco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Process behavior, syscalls, containers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09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Infrastructure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Telegraf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CPU, RAM, disk, load, system health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609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Collection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Filebeat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Layer et transfert des logs vers Elasticsearch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09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Collection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Falcosidekick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Transfer of Falco alerts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609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Analysis &amp; Viz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Elasticsearch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Central storage, indexing, search + Kibana dashboards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5342232" name="Shape 4"/>
          <p:cNvSpPr/>
          <p:nvPr/>
        </p:nvSpPr>
        <p:spPr bwMode="auto">
          <a:xfrm>
            <a:off x="1016000" y="9228709"/>
            <a:ext cx="19642709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5967908" name="Shape 5"/>
          <p:cNvSpPr/>
          <p:nvPr/>
        </p:nvSpPr>
        <p:spPr bwMode="auto">
          <a:xfrm>
            <a:off x="1354709" y="9313291"/>
            <a:ext cx="18965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86674943" name="Text 6"/>
          <p:cNvSpPr/>
          <p:nvPr/>
        </p:nvSpPr>
        <p:spPr bwMode="auto">
          <a:xfrm>
            <a:off x="1232789" y="9252331"/>
            <a:ext cx="19209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Result:</a:t>
            </a:r>
            <a:r>
              <a:rPr lang="en-US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Layered architecture that eliminates blind spots. The system observes network, hosts, runtime and resources — all centralized and visualized together.</a:t>
            </a:r>
            <a:endParaRPr lang="en-US" sz="1600"/>
          </a:p>
        </p:txBody>
      </p:sp>
      <p:sp>
        <p:nvSpPr>
          <p:cNvPr id="306939866" name="Shape 7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77671970" name="Text 8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1 — Monitoring Foundation</a:t>
            </a:r>
            <a:endParaRPr lang="en-US" sz="1600"/>
          </a:p>
        </p:txBody>
      </p:sp>
      <p:sp>
        <p:nvSpPr>
          <p:cNvPr id="1548369533" name="Shape 9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70332608" name="Text 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11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578255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94005732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66255864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1 — ARCHITECTURE &amp; DATA FLOW</a:t>
            </a:r>
            <a:endParaRPr lang="en-US" sz="1600"/>
          </a:p>
        </p:txBody>
      </p:sp>
      <p:sp>
        <p:nvSpPr>
          <p:cNvPr id="801034088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95352789" name="Shape 4"/>
          <p:cNvSpPr/>
          <p:nvPr/>
        </p:nvSpPr>
        <p:spPr bwMode="auto">
          <a:xfrm>
            <a:off x="1016000" y="2032000"/>
            <a:ext cx="3048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01070411" name="Text 5"/>
          <p:cNvSpPr/>
          <p:nvPr/>
        </p:nvSpPr>
        <p:spPr bwMode="auto">
          <a:xfrm>
            <a:off x="894080" y="1971039"/>
            <a:ext cx="3291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1B2A4A"/>
                </a:solidFill>
                <a:latin typeface="Liter"/>
                <a:ea typeface="Liter"/>
                <a:cs typeface="Liter"/>
              </a:rPr>
              <a:t>SOURCES</a:t>
            </a:r>
            <a:endParaRPr lang="en-US" sz="1600"/>
          </a:p>
        </p:txBody>
      </p:sp>
      <p:sp>
        <p:nvSpPr>
          <p:cNvPr id="1858402369" name="Shape 6"/>
          <p:cNvSpPr/>
          <p:nvPr/>
        </p:nvSpPr>
        <p:spPr bwMode="auto">
          <a:xfrm>
            <a:off x="1016000" y="2777108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8035807" name="Shape 7"/>
          <p:cNvSpPr/>
          <p:nvPr/>
        </p:nvSpPr>
        <p:spPr bwMode="auto">
          <a:xfrm>
            <a:off x="1016000" y="2777108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44454216" name="Text 8"/>
          <p:cNvSpPr/>
          <p:nvPr/>
        </p:nvSpPr>
        <p:spPr bwMode="auto">
          <a:xfrm>
            <a:off x="894080" y="2716149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System Logs</a:t>
            </a:r>
            <a:endParaRPr lang="en-US" sz="1600"/>
          </a:p>
        </p:txBody>
      </p:sp>
      <p:sp>
        <p:nvSpPr>
          <p:cNvPr id="2065769138" name="Shape 9"/>
          <p:cNvSpPr/>
          <p:nvPr/>
        </p:nvSpPr>
        <p:spPr bwMode="auto">
          <a:xfrm>
            <a:off x="2624709" y="2777108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42793278" name="Shape 10"/>
          <p:cNvSpPr/>
          <p:nvPr/>
        </p:nvSpPr>
        <p:spPr bwMode="auto">
          <a:xfrm>
            <a:off x="2624709" y="2777108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51816256" name="Text 11"/>
          <p:cNvSpPr/>
          <p:nvPr/>
        </p:nvSpPr>
        <p:spPr bwMode="auto">
          <a:xfrm>
            <a:off x="2502789" y="2716149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Auth Logs</a:t>
            </a:r>
            <a:endParaRPr lang="en-US" sz="1600"/>
          </a:p>
        </p:txBody>
      </p:sp>
      <p:sp>
        <p:nvSpPr>
          <p:cNvPr id="1737227900" name="Shape 12"/>
          <p:cNvSpPr/>
          <p:nvPr/>
        </p:nvSpPr>
        <p:spPr bwMode="auto">
          <a:xfrm>
            <a:off x="1016000" y="3318891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2890676" name="Shape 13"/>
          <p:cNvSpPr/>
          <p:nvPr/>
        </p:nvSpPr>
        <p:spPr bwMode="auto">
          <a:xfrm>
            <a:off x="1016000" y="3318891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52583696" name="Text 14"/>
          <p:cNvSpPr/>
          <p:nvPr/>
        </p:nvSpPr>
        <p:spPr bwMode="auto">
          <a:xfrm>
            <a:off x="894080" y="3257930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Suricata IDS</a:t>
            </a:r>
            <a:endParaRPr lang="en-US" sz="1600"/>
          </a:p>
        </p:txBody>
      </p:sp>
      <p:sp>
        <p:nvSpPr>
          <p:cNvPr id="1417656867" name="Shape 15"/>
          <p:cNvSpPr/>
          <p:nvPr/>
        </p:nvSpPr>
        <p:spPr bwMode="auto">
          <a:xfrm>
            <a:off x="2624709" y="3318891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6932338" name="Shape 16"/>
          <p:cNvSpPr/>
          <p:nvPr/>
        </p:nvSpPr>
        <p:spPr bwMode="auto">
          <a:xfrm>
            <a:off x="2624709" y="3318891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8991379" name="Text 17"/>
          <p:cNvSpPr/>
          <p:nvPr/>
        </p:nvSpPr>
        <p:spPr bwMode="auto">
          <a:xfrm>
            <a:off x="2502789" y="3257930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Wazuh HIDS</a:t>
            </a:r>
            <a:endParaRPr lang="en-US" sz="1600"/>
          </a:p>
        </p:txBody>
      </p:sp>
      <p:sp>
        <p:nvSpPr>
          <p:cNvPr id="1546223369" name="Shape 18"/>
          <p:cNvSpPr/>
          <p:nvPr/>
        </p:nvSpPr>
        <p:spPr bwMode="auto">
          <a:xfrm>
            <a:off x="1016000" y="3860800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6554928" name="Shape 19"/>
          <p:cNvSpPr/>
          <p:nvPr/>
        </p:nvSpPr>
        <p:spPr bwMode="auto">
          <a:xfrm>
            <a:off x="1016000" y="3860800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61848190" name="Text 20"/>
          <p:cNvSpPr/>
          <p:nvPr/>
        </p:nvSpPr>
        <p:spPr bwMode="auto">
          <a:xfrm>
            <a:off x="894080" y="3799840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Falco</a:t>
            </a:r>
            <a:endParaRPr lang="en-US" sz="1600"/>
          </a:p>
        </p:txBody>
      </p:sp>
      <p:sp>
        <p:nvSpPr>
          <p:cNvPr id="2124344653" name="Shape 21"/>
          <p:cNvSpPr/>
          <p:nvPr/>
        </p:nvSpPr>
        <p:spPr bwMode="auto">
          <a:xfrm>
            <a:off x="2624709" y="3860800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00702420" name="Shape 22"/>
          <p:cNvSpPr/>
          <p:nvPr/>
        </p:nvSpPr>
        <p:spPr bwMode="auto">
          <a:xfrm>
            <a:off x="2624709" y="3860800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3398219" name="Text 23"/>
          <p:cNvSpPr/>
          <p:nvPr/>
        </p:nvSpPr>
        <p:spPr bwMode="auto">
          <a:xfrm>
            <a:off x="2502789" y="3799840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Telegraf</a:t>
            </a:r>
            <a:endParaRPr lang="en-US" sz="1600"/>
          </a:p>
        </p:txBody>
      </p:sp>
      <p:sp>
        <p:nvSpPr>
          <p:cNvPr id="317866814" name="Shape 24"/>
          <p:cNvSpPr/>
          <p:nvPr/>
        </p:nvSpPr>
        <p:spPr bwMode="auto">
          <a:xfrm>
            <a:off x="4064000" y="3505199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005548397" name="Shape 25"/>
          <p:cNvSpPr/>
          <p:nvPr/>
        </p:nvSpPr>
        <p:spPr bwMode="auto">
          <a:xfrm>
            <a:off x="5080000" y="2032000"/>
            <a:ext cx="3048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9200997" name="Text 26"/>
          <p:cNvSpPr/>
          <p:nvPr/>
        </p:nvSpPr>
        <p:spPr bwMode="auto">
          <a:xfrm>
            <a:off x="4958080" y="1971039"/>
            <a:ext cx="3291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1B2A4A"/>
                </a:solidFill>
                <a:latin typeface="Liter"/>
                <a:ea typeface="Liter"/>
                <a:cs typeface="Liter"/>
              </a:rPr>
              <a:t>COLLECTION</a:t>
            </a:r>
            <a:endParaRPr lang="en-US" sz="1600"/>
          </a:p>
        </p:txBody>
      </p:sp>
      <p:sp>
        <p:nvSpPr>
          <p:cNvPr id="615246241" name="Shape 27"/>
          <p:cNvSpPr/>
          <p:nvPr/>
        </p:nvSpPr>
        <p:spPr bwMode="auto">
          <a:xfrm>
            <a:off x="5080000" y="2540000"/>
            <a:ext cx="3048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7578475" name="Shape 28"/>
          <p:cNvSpPr/>
          <p:nvPr/>
        </p:nvSpPr>
        <p:spPr bwMode="auto">
          <a:xfrm>
            <a:off x="5080000" y="254000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8187019" name="Text 29"/>
          <p:cNvSpPr/>
          <p:nvPr/>
        </p:nvSpPr>
        <p:spPr bwMode="auto">
          <a:xfrm>
            <a:off x="4958080" y="2479040"/>
            <a:ext cx="3291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Filebeat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Reads and sends logs</a:t>
            </a:r>
            <a:endParaRPr lang="en-US" sz="1600"/>
          </a:p>
        </p:txBody>
      </p:sp>
      <p:sp>
        <p:nvSpPr>
          <p:cNvPr id="1241841472" name="Shape 30"/>
          <p:cNvSpPr/>
          <p:nvPr/>
        </p:nvSpPr>
        <p:spPr bwMode="auto">
          <a:xfrm>
            <a:off x="5080000" y="3810000"/>
            <a:ext cx="3048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6626702" name="Shape 31"/>
          <p:cNvSpPr/>
          <p:nvPr/>
        </p:nvSpPr>
        <p:spPr bwMode="auto">
          <a:xfrm>
            <a:off x="5080000" y="381000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25563994" name="Text 32"/>
          <p:cNvSpPr/>
          <p:nvPr/>
        </p:nvSpPr>
        <p:spPr bwMode="auto">
          <a:xfrm>
            <a:off x="4958080" y="3749040"/>
            <a:ext cx="3291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Falcosidekick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Receives Falco alerts</a:t>
            </a:r>
            <a:endParaRPr lang="en-US" sz="1600"/>
          </a:p>
        </p:txBody>
      </p:sp>
      <p:sp>
        <p:nvSpPr>
          <p:cNvPr id="369130678" name="Shape 33"/>
          <p:cNvSpPr/>
          <p:nvPr/>
        </p:nvSpPr>
        <p:spPr bwMode="auto">
          <a:xfrm>
            <a:off x="5080000" y="5080000"/>
            <a:ext cx="3048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5624458" name="Shape 34"/>
          <p:cNvSpPr/>
          <p:nvPr/>
        </p:nvSpPr>
        <p:spPr bwMode="auto">
          <a:xfrm>
            <a:off x="5080000" y="508000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85194077" name="Text 35"/>
          <p:cNvSpPr/>
          <p:nvPr/>
        </p:nvSpPr>
        <p:spPr bwMode="auto">
          <a:xfrm>
            <a:off x="4958080" y="5019040"/>
            <a:ext cx="3291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Telegraf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ES direct</a:t>
            </a:r>
            <a:endParaRPr lang="en-US" sz="1600"/>
          </a:p>
        </p:txBody>
      </p:sp>
      <p:sp>
        <p:nvSpPr>
          <p:cNvPr id="700542031" name="Shape 36"/>
          <p:cNvSpPr/>
          <p:nvPr/>
        </p:nvSpPr>
        <p:spPr bwMode="auto">
          <a:xfrm>
            <a:off x="8312531" y="3048000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787976186" name="Shape 37"/>
          <p:cNvSpPr/>
          <p:nvPr/>
        </p:nvSpPr>
        <p:spPr bwMode="auto">
          <a:xfrm>
            <a:off x="9313291" y="2540000"/>
            <a:ext cx="3725291" cy="3725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1356905" name="Shape 38"/>
          <p:cNvSpPr/>
          <p:nvPr/>
        </p:nvSpPr>
        <p:spPr bwMode="auto">
          <a:xfrm>
            <a:off x="9313291" y="2878709"/>
            <a:ext cx="3725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6880402" name="Text 39"/>
          <p:cNvSpPr/>
          <p:nvPr/>
        </p:nvSpPr>
        <p:spPr bwMode="auto">
          <a:xfrm>
            <a:off x="9191371" y="2817749"/>
            <a:ext cx="3969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Liter"/>
                <a:ea typeface="Liter"/>
                <a:cs typeface="Liter"/>
              </a:rPr>
              <a:t>ELASTICSEARCH</a:t>
            </a:r>
            <a:endParaRPr lang="en-US" sz="1600"/>
          </a:p>
        </p:txBody>
      </p:sp>
      <p:sp>
        <p:nvSpPr>
          <p:cNvPr id="844400851" name="Shape 40"/>
          <p:cNvSpPr/>
          <p:nvPr/>
        </p:nvSpPr>
        <p:spPr bwMode="auto">
          <a:xfrm>
            <a:off x="9313291" y="3386709"/>
            <a:ext cx="3725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5051932" name="Text 41"/>
          <p:cNvSpPr/>
          <p:nvPr/>
        </p:nvSpPr>
        <p:spPr bwMode="auto">
          <a:xfrm>
            <a:off x="9191371" y="3325749"/>
            <a:ext cx="3969131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Port 9200 HTTPS</a:t>
            </a:r>
            <a:endParaRPr lang="en-US" sz="1600"/>
          </a:p>
        </p:txBody>
      </p:sp>
      <p:sp>
        <p:nvSpPr>
          <p:cNvPr id="1293170896" name="Shape 42"/>
          <p:cNvSpPr/>
          <p:nvPr/>
        </p:nvSpPr>
        <p:spPr bwMode="auto">
          <a:xfrm>
            <a:off x="9482709" y="3894709"/>
            <a:ext cx="3386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6289057" name="Text 43"/>
          <p:cNvSpPr/>
          <p:nvPr/>
        </p:nvSpPr>
        <p:spPr bwMode="auto">
          <a:xfrm>
            <a:off x="9360789" y="3833749"/>
            <a:ext cx="3630549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en-US" sz="175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Central Storage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75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Indexing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75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Search</a:t>
            </a:r>
            <a:endParaRPr lang="en-US" sz="1600"/>
          </a:p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145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Receives: Filebeat, Falcosidekick, Telegraf</a:t>
            </a:r>
            <a:endParaRPr lang="en-US" sz="1600"/>
          </a:p>
        </p:txBody>
      </p:sp>
      <p:sp>
        <p:nvSpPr>
          <p:cNvPr id="1678346166" name="Shape 44"/>
          <p:cNvSpPr/>
          <p:nvPr/>
        </p:nvSpPr>
        <p:spPr bwMode="auto">
          <a:xfrm>
            <a:off x="13208000" y="4233291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962417844" name="Shape 45"/>
          <p:cNvSpPr/>
          <p:nvPr/>
        </p:nvSpPr>
        <p:spPr bwMode="auto">
          <a:xfrm>
            <a:off x="14169273" y="2540000"/>
            <a:ext cx="6434709" cy="3725291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716907414" name="Shape 46"/>
          <p:cNvSpPr/>
          <p:nvPr/>
        </p:nvSpPr>
        <p:spPr bwMode="auto">
          <a:xfrm>
            <a:off x="14224000" y="2878709"/>
            <a:ext cx="6434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0909994" name="Text 47"/>
          <p:cNvSpPr/>
          <p:nvPr/>
        </p:nvSpPr>
        <p:spPr bwMode="auto">
          <a:xfrm>
            <a:off x="14102080" y="2817749"/>
            <a:ext cx="6678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KIBANA</a:t>
            </a:r>
            <a:endParaRPr lang="en-US" sz="1600"/>
          </a:p>
        </p:txBody>
      </p:sp>
      <p:sp>
        <p:nvSpPr>
          <p:cNvPr id="353934315" name="Shape 48"/>
          <p:cNvSpPr/>
          <p:nvPr/>
        </p:nvSpPr>
        <p:spPr bwMode="auto">
          <a:xfrm>
            <a:off x="14224000" y="3386709"/>
            <a:ext cx="6434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62355450" name="Text 49"/>
          <p:cNvSpPr/>
          <p:nvPr/>
        </p:nvSpPr>
        <p:spPr bwMode="auto">
          <a:xfrm>
            <a:off x="14102080" y="3325749"/>
            <a:ext cx="6678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Port 5601 HTTPS</a:t>
            </a:r>
            <a:endParaRPr lang="en-US" sz="1600"/>
          </a:p>
        </p:txBody>
      </p:sp>
      <p:sp>
        <p:nvSpPr>
          <p:cNvPr id="1333239232" name="Shape 50"/>
          <p:cNvSpPr/>
          <p:nvPr/>
        </p:nvSpPr>
        <p:spPr bwMode="auto">
          <a:xfrm>
            <a:off x="14562709" y="3894709"/>
            <a:ext cx="5757291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46085889" name="Text 51"/>
          <p:cNvSpPr/>
          <p:nvPr/>
        </p:nvSpPr>
        <p:spPr bwMode="auto">
          <a:xfrm>
            <a:off x="14440789" y="3833749"/>
            <a:ext cx="6001131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Dashboards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Monitoring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Analysis &amp; Exploration</a:t>
            </a:r>
            <a:endParaRPr lang="en-US" sz="1600"/>
          </a:p>
        </p:txBody>
      </p:sp>
      <p:sp>
        <p:nvSpPr>
          <p:cNvPr id="273023518" name="Shape 52"/>
          <p:cNvSpPr/>
          <p:nvPr/>
        </p:nvSpPr>
        <p:spPr bwMode="auto">
          <a:xfrm>
            <a:off x="1016000" y="6773291"/>
            <a:ext cx="508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65907264" name="Text 53"/>
          <p:cNvSpPr/>
          <p:nvPr/>
        </p:nvSpPr>
        <p:spPr bwMode="auto">
          <a:xfrm>
            <a:off x="894080" y="6712331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GLOBAL LOGIC</a:t>
            </a:r>
            <a:endParaRPr lang="en-US" sz="1600"/>
          </a:p>
        </p:txBody>
      </p:sp>
      <p:sp>
        <p:nvSpPr>
          <p:cNvPr id="2038360673" name="Shape 54"/>
          <p:cNvSpPr/>
          <p:nvPr/>
        </p:nvSpPr>
        <p:spPr bwMode="auto">
          <a:xfrm>
            <a:off x="1016000" y="73152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96416606" name="Shape 55"/>
          <p:cNvSpPr/>
          <p:nvPr/>
        </p:nvSpPr>
        <p:spPr bwMode="auto">
          <a:xfrm>
            <a:off x="1016000" y="7535291"/>
            <a:ext cx="19642709" cy="338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42335524" name="Text 56"/>
          <p:cNvSpPr/>
          <p:nvPr/>
        </p:nvSpPr>
        <p:spPr bwMode="auto">
          <a:xfrm>
            <a:off x="894080" y="7474331"/>
            <a:ext cx="19886549" cy="350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Main flow: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Sources → Collection Layer → Elasticsearch → Kibana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System / auth logs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Filebeat | </a:t>
            </a: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Suricata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eve.json → Filebeat | </a:t>
            </a: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Wazuh alerts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Filebeat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Falco alerts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Falcosidekick | </a:t>
            </a: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Telegraf metrics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Elasticsearch (direct)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Filebeat &amp; Falcosidekick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Elasticsearch | </a:t>
            </a: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Elasticsearch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Kibana</a:t>
            </a:r>
            <a:endParaRPr lang="en-US" sz="1600"/>
          </a:p>
        </p:txBody>
      </p:sp>
      <p:sp>
        <p:nvSpPr>
          <p:cNvPr id="2081852815" name="Shape 57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88402960" name="Text 58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1 — Monitoring Foundation</a:t>
            </a:r>
            <a:endParaRPr lang="en-US" sz="1600"/>
          </a:p>
        </p:txBody>
      </p:sp>
      <p:sp>
        <p:nvSpPr>
          <p:cNvPr id="688267801" name="Shape 59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19533864" name="Text 6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12</a:t>
            </a:r>
            <a:endParaRPr lang="en-US" sz="1600"/>
          </a:p>
        </p:txBody>
      </p:sp>
      <p:sp>
        <p:nvSpPr>
          <p:cNvPr id="1583784181" name="Shape 61"/>
          <p:cNvSpPr/>
          <p:nvPr/>
        </p:nvSpPr>
        <p:spPr bwMode="auto">
          <a:xfrm>
            <a:off x="8300212" y="4318000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246882064" name="Shape 62"/>
          <p:cNvSpPr/>
          <p:nvPr/>
        </p:nvSpPr>
        <p:spPr bwMode="auto">
          <a:xfrm>
            <a:off x="8300212" y="5588000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276977036" name="Shape 63"/>
          <p:cNvSpPr/>
          <p:nvPr/>
        </p:nvSpPr>
        <p:spPr bwMode="auto">
          <a:xfrm>
            <a:off x="1735709" y="4318000"/>
            <a:ext cx="0" cy="351148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79667253" name="Shape 64"/>
          <p:cNvSpPr/>
          <p:nvPr/>
        </p:nvSpPr>
        <p:spPr bwMode="auto">
          <a:xfrm>
            <a:off x="1735709" y="4674616"/>
            <a:ext cx="332994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927932169" name="Shape 65"/>
          <p:cNvSpPr/>
          <p:nvPr/>
        </p:nvSpPr>
        <p:spPr bwMode="auto">
          <a:xfrm>
            <a:off x="3344291" y="4318000"/>
            <a:ext cx="0" cy="144998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871810942" name="Shape 66"/>
          <p:cNvSpPr/>
          <p:nvPr/>
        </p:nvSpPr>
        <p:spPr bwMode="auto">
          <a:xfrm>
            <a:off x="3344291" y="5782437"/>
            <a:ext cx="169519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64962890" name="Shape 67"/>
          <p:cNvSpPr/>
          <p:nvPr/>
        </p:nvSpPr>
        <p:spPr bwMode="auto">
          <a:xfrm>
            <a:off x="1693291" y="2439671"/>
            <a:ext cx="0" cy="337438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93847468" name="Shape 68"/>
          <p:cNvSpPr/>
          <p:nvPr/>
        </p:nvSpPr>
        <p:spPr bwMode="auto">
          <a:xfrm flipH="1">
            <a:off x="561975" y="3505199"/>
            <a:ext cx="454025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89025536" name="Shape 69"/>
          <p:cNvSpPr/>
          <p:nvPr/>
        </p:nvSpPr>
        <p:spPr bwMode="auto">
          <a:xfrm flipV="1">
            <a:off x="549656" y="2430526"/>
            <a:ext cx="0" cy="1074674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508133524" name="Shape 70"/>
          <p:cNvSpPr/>
          <p:nvPr/>
        </p:nvSpPr>
        <p:spPr bwMode="auto">
          <a:xfrm flipH="1">
            <a:off x="561975" y="2455291"/>
            <a:ext cx="4177538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652557206" name="Shape 71"/>
          <p:cNvSpPr/>
          <p:nvPr/>
        </p:nvSpPr>
        <p:spPr bwMode="auto">
          <a:xfrm>
            <a:off x="4714875" y="2963354"/>
            <a:ext cx="365125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231440162" name="Shape 72"/>
          <p:cNvSpPr/>
          <p:nvPr/>
        </p:nvSpPr>
        <p:spPr bwMode="auto">
          <a:xfrm>
            <a:off x="4732782" y="2455291"/>
            <a:ext cx="0" cy="59029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715383250" name="Shape 73"/>
          <p:cNvSpPr/>
          <p:nvPr/>
        </p:nvSpPr>
        <p:spPr bwMode="auto">
          <a:xfrm flipV="1">
            <a:off x="4735703" y="3020822"/>
            <a:ext cx="0" cy="484378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51446637" name="Shape 74"/>
          <p:cNvSpPr/>
          <p:nvPr/>
        </p:nvSpPr>
        <p:spPr bwMode="auto">
          <a:xfrm>
            <a:off x="4064000" y="2963291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328751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372237075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3383553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1 — DEPLOYMENT &amp; RESULT</a:t>
            </a:r>
            <a:endParaRPr lang="en-US" sz="1600"/>
          </a:p>
        </p:txBody>
      </p:sp>
      <p:sp>
        <p:nvSpPr>
          <p:cNvPr id="1596080050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0496281" name="Shape 4"/>
          <p:cNvSpPr/>
          <p:nvPr/>
        </p:nvSpPr>
        <p:spPr bwMode="auto">
          <a:xfrm>
            <a:off x="1016000" y="2032000"/>
            <a:ext cx="5926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7300677" name="Text 5"/>
          <p:cNvSpPr/>
          <p:nvPr/>
        </p:nvSpPr>
        <p:spPr bwMode="auto">
          <a:xfrm>
            <a:off x="894080" y="1971039"/>
            <a:ext cx="6170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HARDWARE RESOURCES</a:t>
            </a:r>
            <a:endParaRPr lang="en-US" sz="1600"/>
          </a:p>
        </p:txBody>
      </p:sp>
      <p:graphicFrame>
        <p:nvGraphicFramePr>
          <p:cNvPr id="56018006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016000" y="2624709"/>
          <a:ext cx="5926709" cy="2201291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074348"/>
                <a:gridCol w="1303876"/>
                <a:gridCol w="1303876"/>
                <a:gridCol w="1244609"/>
              </a:tblGrid>
              <a:tr h="72528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Level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CPU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RAM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Disk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72528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Minimum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4 cores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8 GB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50 GB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72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Recommended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8 cores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16 GB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100 GB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62281614" name="Shape 6"/>
          <p:cNvSpPr/>
          <p:nvPr/>
        </p:nvSpPr>
        <p:spPr bwMode="auto">
          <a:xfrm>
            <a:off x="7450709" y="2032000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74610493" name="Text 7"/>
          <p:cNvSpPr/>
          <p:nvPr/>
        </p:nvSpPr>
        <p:spPr bwMode="auto">
          <a:xfrm>
            <a:off x="7328789" y="1971039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DEPLOYED SERVICES</a:t>
            </a:r>
            <a:endParaRPr lang="en-US" sz="1600"/>
          </a:p>
        </p:txBody>
      </p:sp>
      <p:sp>
        <p:nvSpPr>
          <p:cNvPr id="1212019724" name="Shape 8"/>
          <p:cNvSpPr/>
          <p:nvPr/>
        </p:nvSpPr>
        <p:spPr bwMode="auto">
          <a:xfrm>
            <a:off x="7450709" y="2624709"/>
            <a:ext cx="3386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57112593" name="Text 9"/>
          <p:cNvSpPr/>
          <p:nvPr/>
        </p:nvSpPr>
        <p:spPr bwMode="auto">
          <a:xfrm>
            <a:off x="7328789" y="2563749"/>
            <a:ext cx="3630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Native Services</a:t>
            </a:r>
            <a:endParaRPr lang="en-US" sz="1600"/>
          </a:p>
        </p:txBody>
      </p:sp>
      <p:sp>
        <p:nvSpPr>
          <p:cNvPr id="1180559903" name="Shape 10"/>
          <p:cNvSpPr/>
          <p:nvPr/>
        </p:nvSpPr>
        <p:spPr bwMode="auto">
          <a:xfrm>
            <a:off x="7450709" y="3048000"/>
            <a:ext cx="643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41919912" name="Text 11"/>
          <p:cNvSpPr/>
          <p:nvPr/>
        </p:nvSpPr>
        <p:spPr bwMode="auto">
          <a:xfrm>
            <a:off x="7328789" y="2987040"/>
            <a:ext cx="667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Elasticsearch (9200), Kibana (5601)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Filebeat, Suricata, Wazuh (1514/1515)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Telegraf</a:t>
            </a:r>
            <a:endParaRPr lang="en-US" sz="1600"/>
          </a:p>
        </p:txBody>
      </p:sp>
      <p:sp>
        <p:nvSpPr>
          <p:cNvPr id="1345785764" name="Shape 12"/>
          <p:cNvSpPr/>
          <p:nvPr/>
        </p:nvSpPr>
        <p:spPr bwMode="auto">
          <a:xfrm>
            <a:off x="14224000" y="2624709"/>
            <a:ext cx="3386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76039634" name="Text 13"/>
          <p:cNvSpPr/>
          <p:nvPr/>
        </p:nvSpPr>
        <p:spPr bwMode="auto">
          <a:xfrm>
            <a:off x="14102080" y="2563749"/>
            <a:ext cx="3630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Docker Services</a:t>
            </a:r>
            <a:endParaRPr lang="en-US" sz="1600"/>
          </a:p>
        </p:txBody>
      </p:sp>
      <p:sp>
        <p:nvSpPr>
          <p:cNvPr id="399663058" name="Shape 14"/>
          <p:cNvSpPr/>
          <p:nvPr/>
        </p:nvSpPr>
        <p:spPr bwMode="auto">
          <a:xfrm>
            <a:off x="14224000" y="3048000"/>
            <a:ext cx="643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81658763" name="Text 15"/>
          <p:cNvSpPr/>
          <p:nvPr/>
        </p:nvSpPr>
        <p:spPr bwMode="auto">
          <a:xfrm>
            <a:off x="14102080" y="2987040"/>
            <a:ext cx="667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Falco (runtime detection)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Falcosidekick (2801)</a:t>
            </a:r>
            <a:endParaRPr lang="en-US" sz="1600"/>
          </a:p>
        </p:txBody>
      </p:sp>
      <p:sp>
        <p:nvSpPr>
          <p:cNvPr id="476179450" name="Shape 16"/>
          <p:cNvSpPr/>
          <p:nvPr/>
        </p:nvSpPr>
        <p:spPr bwMode="auto">
          <a:xfrm>
            <a:off x="1016000" y="5249291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86987070" name="Text 17"/>
          <p:cNvSpPr/>
          <p:nvPr/>
        </p:nvSpPr>
        <p:spPr bwMode="auto">
          <a:xfrm>
            <a:off x="894080" y="5188331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WHY THIS ARCHITECTURE?</a:t>
            </a:r>
            <a:endParaRPr lang="en-US" sz="1600"/>
          </a:p>
        </p:txBody>
      </p:sp>
      <p:sp>
        <p:nvSpPr>
          <p:cNvPr id="257666978" name="Shape 18"/>
          <p:cNvSpPr/>
          <p:nvPr/>
        </p:nvSpPr>
        <p:spPr bwMode="auto">
          <a:xfrm>
            <a:off x="1016000" y="57912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0357412" name="Shape 19"/>
          <p:cNvSpPr/>
          <p:nvPr/>
        </p:nvSpPr>
        <p:spPr bwMode="auto">
          <a:xfrm>
            <a:off x="1947291" y="6011291"/>
            <a:ext cx="846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9145556" name="Text 20"/>
          <p:cNvSpPr/>
          <p:nvPr/>
        </p:nvSpPr>
        <p:spPr bwMode="auto">
          <a:xfrm>
            <a:off x="1825371" y="5950331"/>
            <a:ext cx="8710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The SIEM core remains stable and centralized</a:t>
            </a:r>
            <a:endParaRPr lang="en-US" sz="1600"/>
          </a:p>
        </p:txBody>
      </p:sp>
      <p:sp>
        <p:nvSpPr>
          <p:cNvPr id="1109818132" name="Shape 21"/>
          <p:cNvSpPr/>
          <p:nvPr/>
        </p:nvSpPr>
        <p:spPr bwMode="auto">
          <a:xfrm>
            <a:off x="11430000" y="6011291"/>
            <a:ext cx="846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39732642" name="Text 22"/>
          <p:cNvSpPr/>
          <p:nvPr/>
        </p:nvSpPr>
        <p:spPr bwMode="auto">
          <a:xfrm>
            <a:off x="11308080" y="5950331"/>
            <a:ext cx="8710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Runtime detection isolated in containers</a:t>
            </a:r>
            <a:endParaRPr lang="en-US" sz="1600"/>
          </a:p>
        </p:txBody>
      </p:sp>
      <p:sp>
        <p:nvSpPr>
          <p:cNvPr id="2099331166" name="Shape 23"/>
          <p:cNvSpPr/>
          <p:nvPr/>
        </p:nvSpPr>
        <p:spPr bwMode="auto">
          <a:xfrm>
            <a:off x="1947291" y="7027291"/>
            <a:ext cx="846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0791797" name="Text 24"/>
          <p:cNvSpPr/>
          <p:nvPr/>
        </p:nvSpPr>
        <p:spPr bwMode="auto">
          <a:xfrm>
            <a:off x="1825371" y="6966331"/>
            <a:ext cx="8710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Simple and maintainable architecture</a:t>
            </a:r>
            <a:endParaRPr lang="en-US" sz="1600"/>
          </a:p>
        </p:txBody>
      </p:sp>
      <p:sp>
        <p:nvSpPr>
          <p:cNvPr id="1386352877" name="Shape 25"/>
          <p:cNvSpPr/>
          <p:nvPr/>
        </p:nvSpPr>
        <p:spPr bwMode="auto">
          <a:xfrm>
            <a:off x="1016000" y="8297291"/>
            <a:ext cx="19642709" cy="254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30574099" name="Shape 26"/>
          <p:cNvSpPr/>
          <p:nvPr/>
        </p:nvSpPr>
        <p:spPr bwMode="auto">
          <a:xfrm>
            <a:off x="1354709" y="8466709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13880731" name="Text 27"/>
          <p:cNvSpPr/>
          <p:nvPr/>
        </p:nvSpPr>
        <p:spPr bwMode="auto">
          <a:xfrm>
            <a:off x="1232789" y="8405749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FINAL RESULT — PHASE 1</a:t>
            </a:r>
            <a:endParaRPr lang="en-US" sz="1600"/>
          </a:p>
        </p:txBody>
      </p:sp>
      <p:sp>
        <p:nvSpPr>
          <p:cNvPr id="1580056361" name="Shape 28"/>
          <p:cNvSpPr/>
          <p:nvPr/>
        </p:nvSpPr>
        <p:spPr bwMode="auto">
          <a:xfrm>
            <a:off x="1354709" y="8974709"/>
            <a:ext cx="18965291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3920251" name="Text 29"/>
          <p:cNvSpPr/>
          <p:nvPr/>
        </p:nvSpPr>
        <p:spPr bwMode="auto">
          <a:xfrm>
            <a:off x="1232789" y="8913749"/>
            <a:ext cx="19209131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Complete security monitoring foundation with global visibility on network, host, runtime and resources. All tools are centralized in Elasticsearch and visualized via Kibana.</a:t>
            </a:r>
            <a:endParaRPr lang="en-US" sz="1600"/>
          </a:p>
          <a:p>
            <a:pPr>
              <a:lnSpc>
                <a:spcPct val="150000"/>
              </a:lnSpc>
              <a:spcBef>
                <a:spcPts val="500"/>
              </a:spcBef>
              <a:defRPr/>
            </a:pPr>
            <a:r>
              <a:rPr lang="en-US" sz="200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→ Ready for Phases 2 and 3</a:t>
            </a:r>
            <a:endParaRPr lang="en-US" sz="1600"/>
          </a:p>
        </p:txBody>
      </p:sp>
      <p:sp>
        <p:nvSpPr>
          <p:cNvPr id="1853984972" name="Shape 30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02289268" name="Text 31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1 — Monitoring Foundation</a:t>
            </a:r>
            <a:endParaRPr lang="en-US" sz="1600"/>
          </a:p>
        </p:txBody>
      </p:sp>
      <p:sp>
        <p:nvSpPr>
          <p:cNvPr id="369663462" name="Shape 32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11252283" name="Text 33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13</a:t>
            </a:r>
            <a:endParaRPr lang="en-US" sz="1600"/>
          </a:p>
        </p:txBody>
      </p:sp>
      <p:sp>
        <p:nvSpPr>
          <p:cNvPr id="906711907" name="Shape 34"/>
          <p:cNvSpPr/>
          <p:nvPr/>
        </p:nvSpPr>
        <p:spPr bwMode="auto">
          <a:xfrm>
            <a:off x="1324991" y="6096000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8374577" name="Shape 35"/>
          <p:cNvSpPr/>
          <p:nvPr/>
        </p:nvSpPr>
        <p:spPr bwMode="auto">
          <a:xfrm>
            <a:off x="1324991" y="7027291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927602996" name="Shape 36"/>
          <p:cNvSpPr/>
          <p:nvPr/>
        </p:nvSpPr>
        <p:spPr bwMode="auto">
          <a:xfrm>
            <a:off x="10775188" y="6096000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772139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29870885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05</a:t>
            </a:r>
            <a:endParaRPr lang="en-US" sz="1600"/>
          </a:p>
        </p:txBody>
      </p:sp>
      <p:sp>
        <p:nvSpPr>
          <p:cNvPr id="1508777612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15338370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1866739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PHASE 2: CLOUD INFRASTRUCTURE</a:t>
            </a:r>
            <a:endParaRPr lang="en-US" sz="1600"/>
          </a:p>
        </p:txBody>
      </p:sp>
      <p:sp>
        <p:nvSpPr>
          <p:cNvPr id="1158686568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19472612" name="Text 6"/>
          <p:cNvSpPr/>
          <p:nvPr/>
        </p:nvSpPr>
        <p:spPr bwMode="auto"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Deployment of the SOC platform on Huawei Cloud</a:t>
            </a:r>
            <a:endParaRPr lang="en-US" sz="1600"/>
          </a:p>
        </p:txBody>
      </p:sp>
      <p:sp>
        <p:nvSpPr>
          <p:cNvPr id="888109970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14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483804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53017350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3992265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2 — HUAWEI CLOUD ENVIRONMENT</a:t>
            </a:r>
            <a:endParaRPr lang="en-US" sz="1600"/>
          </a:p>
        </p:txBody>
      </p:sp>
      <p:sp>
        <p:nvSpPr>
          <p:cNvPr id="1040944884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7167848" name="Shape 4"/>
          <p:cNvSpPr/>
          <p:nvPr/>
        </p:nvSpPr>
        <p:spPr bwMode="auto">
          <a:xfrm>
            <a:off x="11684000" y="2032000"/>
            <a:ext cx="8974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00786631" name="Text 5"/>
          <p:cNvSpPr/>
          <p:nvPr/>
        </p:nvSpPr>
        <p:spPr bwMode="auto">
          <a:xfrm>
            <a:off x="11562080" y="1971039"/>
            <a:ext cx="9218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ECS VM SPECIFICATIONS</a:t>
            </a:r>
            <a:endParaRPr lang="en-US" sz="1600"/>
          </a:p>
        </p:txBody>
      </p:sp>
      <p:sp>
        <p:nvSpPr>
          <p:cNvPr id="1653493513" name="Shape 6"/>
          <p:cNvSpPr/>
          <p:nvPr/>
        </p:nvSpPr>
        <p:spPr bwMode="auto">
          <a:xfrm>
            <a:off x="11684000" y="2624709"/>
            <a:ext cx="8974709" cy="2963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1186601" name="Shape 7"/>
          <p:cNvSpPr/>
          <p:nvPr/>
        </p:nvSpPr>
        <p:spPr bwMode="auto">
          <a:xfrm>
            <a:off x="12022709" y="2794000"/>
            <a:ext cx="8297291" cy="279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08150919" name="Text 8"/>
          <p:cNvSpPr/>
          <p:nvPr/>
        </p:nvSpPr>
        <p:spPr bwMode="auto">
          <a:xfrm>
            <a:off x="11900789" y="2733040"/>
            <a:ext cx="8541131" cy="291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64 vCPU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Computing power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128 GB RAM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Memory for ES and analysis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100 GB Storage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OS, indices, logs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OS: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Ubuntu Server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20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Public IP: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193.95.30.97</a:t>
            </a:r>
            <a:endParaRPr lang="en-US" sz="1600"/>
          </a:p>
        </p:txBody>
      </p:sp>
      <p:sp>
        <p:nvSpPr>
          <p:cNvPr id="1902418171" name="Shape 9"/>
          <p:cNvSpPr/>
          <p:nvPr/>
        </p:nvSpPr>
        <p:spPr bwMode="auto">
          <a:xfrm>
            <a:off x="11684000" y="5672709"/>
            <a:ext cx="8974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13037156" name="Text 10"/>
          <p:cNvSpPr/>
          <p:nvPr/>
        </p:nvSpPr>
        <p:spPr bwMode="auto">
          <a:xfrm>
            <a:off x="11562080" y="5611749"/>
            <a:ext cx="9218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HOSTED SOC STACK</a:t>
            </a:r>
            <a:endParaRPr lang="en-US" sz="1600"/>
          </a:p>
        </p:txBody>
      </p:sp>
      <p:sp>
        <p:nvSpPr>
          <p:cNvPr id="209525225" name="Shape 11"/>
          <p:cNvSpPr/>
          <p:nvPr/>
        </p:nvSpPr>
        <p:spPr bwMode="auto">
          <a:xfrm>
            <a:off x="11684000" y="6265291"/>
            <a:ext cx="8974709" cy="2201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222585" name="Shape 12"/>
          <p:cNvSpPr/>
          <p:nvPr/>
        </p:nvSpPr>
        <p:spPr bwMode="auto">
          <a:xfrm>
            <a:off x="12022709" y="6434709"/>
            <a:ext cx="8297291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3487941" name="Text 13"/>
          <p:cNvSpPr/>
          <p:nvPr/>
        </p:nvSpPr>
        <p:spPr bwMode="auto">
          <a:xfrm>
            <a:off x="11900789" y="6373749"/>
            <a:ext cx="8541131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Elasticsearch · Kibana · Wazuh · Suricata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Falco · Telegraf · Filebeat · Docker</a:t>
            </a:r>
            <a:endParaRPr lang="en-US" sz="1600"/>
          </a:p>
          <a:p>
            <a:pPr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This cloud foundation hosts the complete SOC stack and enables secure expansion.</a:t>
            </a:r>
            <a:endParaRPr lang="en-US" sz="1600"/>
          </a:p>
        </p:txBody>
      </p:sp>
      <p:sp>
        <p:nvSpPr>
          <p:cNvPr id="1938764289" name="Shape 14"/>
          <p:cNvSpPr/>
          <p:nvPr/>
        </p:nvSpPr>
        <p:spPr bwMode="auto">
          <a:xfrm>
            <a:off x="1016000" y="8805291"/>
            <a:ext cx="1016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29181567" name="Text 15"/>
          <p:cNvSpPr/>
          <p:nvPr/>
        </p:nvSpPr>
        <p:spPr bwMode="auto">
          <a:xfrm>
            <a:off x="894080" y="8744331"/>
            <a:ext cx="1040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NETWORK ARCHITECTURE</a:t>
            </a:r>
            <a:endParaRPr lang="en-US" sz="1600"/>
          </a:p>
        </p:txBody>
      </p:sp>
      <p:sp>
        <p:nvSpPr>
          <p:cNvPr id="2067389967" name="Shape 16"/>
          <p:cNvSpPr/>
          <p:nvPr/>
        </p:nvSpPr>
        <p:spPr bwMode="auto">
          <a:xfrm>
            <a:off x="1016000" y="93472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06215099" name="Shape 17"/>
          <p:cNvSpPr/>
          <p:nvPr/>
        </p:nvSpPr>
        <p:spPr bwMode="auto">
          <a:xfrm>
            <a:off x="1016000" y="9567291"/>
            <a:ext cx="4572000" cy="1185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12340799" name="Shape 18"/>
          <p:cNvSpPr/>
          <p:nvPr/>
        </p:nvSpPr>
        <p:spPr bwMode="auto">
          <a:xfrm>
            <a:off x="1016000" y="9567291"/>
            <a:ext cx="4572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84071361" name="Text 19"/>
          <p:cNvSpPr/>
          <p:nvPr/>
        </p:nvSpPr>
        <p:spPr bwMode="auto">
          <a:xfrm>
            <a:off x="894080" y="9506331"/>
            <a:ext cx="4815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VPC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4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Network prive isole</a:t>
            </a:r>
            <a:endParaRPr lang="en-US" sz="1600"/>
          </a:p>
        </p:txBody>
      </p:sp>
      <p:sp>
        <p:nvSpPr>
          <p:cNvPr id="1850963426" name="Shape 20"/>
          <p:cNvSpPr/>
          <p:nvPr/>
        </p:nvSpPr>
        <p:spPr bwMode="auto">
          <a:xfrm>
            <a:off x="5757291" y="1007529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521176832" name="Shape 21"/>
          <p:cNvSpPr/>
          <p:nvPr/>
        </p:nvSpPr>
        <p:spPr bwMode="auto">
          <a:xfrm>
            <a:off x="6434709" y="9567291"/>
            <a:ext cx="4572000" cy="1185291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25911058" name="Shape 22"/>
          <p:cNvSpPr/>
          <p:nvPr/>
        </p:nvSpPr>
        <p:spPr bwMode="auto">
          <a:xfrm>
            <a:off x="6434709" y="9567291"/>
            <a:ext cx="4572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6464108" name="Text 23"/>
          <p:cNvSpPr/>
          <p:nvPr/>
        </p:nvSpPr>
        <p:spPr bwMode="auto">
          <a:xfrm>
            <a:off x="6312789" y="9506331"/>
            <a:ext cx="4815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Private Subnet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Internal communication zone</a:t>
            </a:r>
            <a:endParaRPr lang="en-US" sz="1600"/>
          </a:p>
        </p:txBody>
      </p:sp>
      <p:sp>
        <p:nvSpPr>
          <p:cNvPr id="1412684706" name="Shape 24"/>
          <p:cNvSpPr/>
          <p:nvPr/>
        </p:nvSpPr>
        <p:spPr bwMode="auto">
          <a:xfrm>
            <a:off x="11176000" y="1007529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07623739" name="Shape 25"/>
          <p:cNvSpPr/>
          <p:nvPr/>
        </p:nvSpPr>
        <p:spPr bwMode="auto">
          <a:xfrm>
            <a:off x="11853291" y="9567291"/>
            <a:ext cx="4572000" cy="1185291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59972222" name="Shape 26"/>
          <p:cNvSpPr/>
          <p:nvPr/>
        </p:nvSpPr>
        <p:spPr bwMode="auto">
          <a:xfrm>
            <a:off x="11853291" y="9567291"/>
            <a:ext cx="4572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4619253" name="Text 27"/>
          <p:cNvSpPr/>
          <p:nvPr/>
        </p:nvSpPr>
        <p:spPr bwMode="auto">
          <a:xfrm>
            <a:off x="11731371" y="9506331"/>
            <a:ext cx="4815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Security Group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4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Controlled firewall rules</a:t>
            </a:r>
            <a:endParaRPr lang="en-US" sz="1600"/>
          </a:p>
        </p:txBody>
      </p:sp>
      <p:sp>
        <p:nvSpPr>
          <p:cNvPr id="673705718" name="Shape 28"/>
          <p:cNvSpPr/>
          <p:nvPr/>
        </p:nvSpPr>
        <p:spPr bwMode="auto">
          <a:xfrm>
            <a:off x="16594709" y="1007529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521862335" name="Shape 29"/>
          <p:cNvSpPr/>
          <p:nvPr/>
        </p:nvSpPr>
        <p:spPr bwMode="auto">
          <a:xfrm>
            <a:off x="17272000" y="9567291"/>
            <a:ext cx="3386709" cy="11852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549030091" name="Shape 30"/>
          <p:cNvSpPr/>
          <p:nvPr/>
        </p:nvSpPr>
        <p:spPr bwMode="auto">
          <a:xfrm>
            <a:off x="17272000" y="9567291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25944634" name="Text 31"/>
          <p:cNvSpPr/>
          <p:nvPr/>
        </p:nvSpPr>
        <p:spPr bwMode="auto">
          <a:xfrm>
            <a:off x="17150080" y="9506331"/>
            <a:ext cx="3630549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defRPr/>
            </a:pPr>
            <a:r>
              <a:rPr lang="en-US" sz="175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Elastic IP</a:t>
            </a:r>
            <a:endParaRPr lang="en-US" sz="1600"/>
          </a:p>
          <a:p>
            <a:pPr algn="ctr">
              <a:lnSpc>
                <a:spcPct val="130000"/>
              </a:lnSpc>
              <a:defRPr/>
            </a:pPr>
            <a:r>
              <a:rPr lang="en-US" sz="14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193.95.30.97</a:t>
            </a:r>
            <a:endParaRPr lang="en-US" sz="1600"/>
          </a:p>
        </p:txBody>
      </p:sp>
      <p:sp>
        <p:nvSpPr>
          <p:cNvPr id="1048782069" name="Shape 32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37933548" name="Text 33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2 — Cloud Infrastructure</a:t>
            </a:r>
            <a:endParaRPr lang="en-US" sz="1600"/>
          </a:p>
        </p:txBody>
      </p:sp>
      <p:sp>
        <p:nvSpPr>
          <p:cNvPr id="1257804920" name="Shape 34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2025951" name="Text 35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15</a:t>
            </a:r>
            <a:endParaRPr lang="en-US" sz="1600"/>
          </a:p>
        </p:txBody>
      </p:sp>
      <p:sp>
        <p:nvSpPr>
          <p:cNvPr id="1238443159" name="Text 36"/>
          <p:cNvSpPr/>
          <p:nvPr/>
        </p:nvSpPr>
        <p:spPr bwMode="auto">
          <a:xfrm>
            <a:off x="11074643" y="3076179"/>
            <a:ext cx="282218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</a:t>
            </a:r>
            <a:endParaRPr lang="en-US" sz="1600"/>
          </a:p>
        </p:txBody>
      </p:sp>
      <p:sp>
        <p:nvSpPr>
          <p:cNvPr id="1007742162" name="Text 37"/>
          <p:cNvSpPr/>
          <p:nvPr/>
        </p:nvSpPr>
        <p:spPr bwMode="auto">
          <a:xfrm>
            <a:off x="9197891" y="2102526"/>
            <a:ext cx="282218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</a:t>
            </a:r>
            <a:endParaRPr lang="en-US" sz="1600"/>
          </a:p>
        </p:txBody>
      </p:sp>
      <p:sp>
        <p:nvSpPr>
          <p:cNvPr id="1208175301" name="Text 38"/>
          <p:cNvSpPr/>
          <p:nvPr/>
        </p:nvSpPr>
        <p:spPr bwMode="auto">
          <a:xfrm>
            <a:off x="9691773" y="2328300"/>
            <a:ext cx="282218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16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</a:t>
            </a:r>
            <a:endParaRPr lang="en-US" sz="1600"/>
          </a:p>
        </p:txBody>
      </p:sp>
      <p:pic>
        <p:nvPicPr>
          <p:cNvPr id="1373665944" name="Slide Zoom 42">
            <a:hlinkClick r:id="rId3" action="ppaction://hlinksldjump"/>
          </p:cNvPr>
          <p:cNvPicPr>
            <a:picLocks noAdjustHandles="1" noChangeAspect="1" noChangeArrowheads="1" noChangeShapeType="1" noEditPoints="1" noGrp="1" noMove="1" noResize="1" noRot="1"/>
          </p:cNvPicPr>
          <p:nvPr/>
        </p:nvPicPr>
        <p:blipFill rotWithShape="1">
          <a:blip r:embed="rId4"/>
          <a:stretch/>
        </p:blipFill>
        <p:spPr bwMode="auto">
          <a:xfrm>
            <a:off x="1108098" y="2366513"/>
            <a:ext cx="9298385" cy="5229320"/>
          </a:xfrm>
          <a:prstGeom prst="rect">
            <a:avLst/>
          </a:prstGeom>
          <a:ln w="3175">
            <a:solidFill>
              <a:prstClr val="ltGray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6189775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1813" y="449704"/>
            <a:ext cx="20015274" cy="11292590"/>
          </a:xfrm>
          <a:prstGeom prst="rect">
            <a:avLst/>
          </a:prstGeom>
        </p:spPr>
      </p:pic>
      <p:sp>
        <p:nvSpPr>
          <p:cNvPr id="1057742315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16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505025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96700944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63585871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2 — SECURITY STRATEGY &amp; INTEGRATION</a:t>
            </a:r>
            <a:endParaRPr lang="en-US" sz="1600"/>
          </a:p>
        </p:txBody>
      </p:sp>
      <p:sp>
        <p:nvSpPr>
          <p:cNvPr id="765277749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04065684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016000" y="2032000"/>
          <a:ext cx="11853291" cy="5757295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555987"/>
                <a:gridCol w="1777994"/>
                <a:gridCol w="6519310"/>
              </a:tblGrid>
              <a:tr h="617303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Service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Port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Exposure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SSH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22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Admin IP only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Kibana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5601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Admin / VPN / public if required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Elasticsearch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9200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publicly exposed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Wazuh Events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1514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If external agents only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Wazuh Reg.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1515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If external agents only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Falcosidekick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2801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Internal only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Backend API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8000/8001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Reverse proxy recommended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HTTP/HTTPS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80/443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Reverse proxy + TLS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01584555" name="Shape 4"/>
          <p:cNvSpPr/>
          <p:nvPr/>
        </p:nvSpPr>
        <p:spPr bwMode="auto">
          <a:xfrm>
            <a:off x="13377291" y="2032000"/>
            <a:ext cx="7281291" cy="2201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14653694" name="Shape 5"/>
          <p:cNvSpPr/>
          <p:nvPr/>
        </p:nvSpPr>
        <p:spPr bwMode="auto">
          <a:xfrm>
            <a:off x="13716000" y="2201291"/>
            <a:ext cx="6604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2330017" name="Text 6"/>
          <p:cNvSpPr/>
          <p:nvPr/>
        </p:nvSpPr>
        <p:spPr bwMode="auto">
          <a:xfrm>
            <a:off x="13594080" y="2140331"/>
            <a:ext cx="6847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CF0A2C"/>
                </a:solidFill>
                <a:latin typeface="Liter"/>
                <a:ea typeface="Liter"/>
                <a:cs typeface="Liter"/>
              </a:rPr>
              <a:t>CRITICAL PRINCIPLE</a:t>
            </a:r>
            <a:endParaRPr lang="en-US" sz="1600"/>
          </a:p>
        </p:txBody>
      </p:sp>
      <p:sp>
        <p:nvSpPr>
          <p:cNvPr id="610489941" name="Shape 7"/>
          <p:cNvSpPr/>
          <p:nvPr/>
        </p:nvSpPr>
        <p:spPr bwMode="auto">
          <a:xfrm>
            <a:off x="13716000" y="2709291"/>
            <a:ext cx="6604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1557869" name="Text 8"/>
          <p:cNvSpPr/>
          <p:nvPr/>
        </p:nvSpPr>
        <p:spPr bwMode="auto">
          <a:xfrm>
            <a:off x="13594080" y="2648331"/>
            <a:ext cx="6847840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1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Elasticsearch must remain internal. </a:t>
            </a:r>
            <a:endParaRPr lang="en-US" sz="1600"/>
          </a:p>
        </p:txBody>
      </p:sp>
      <p:sp>
        <p:nvSpPr>
          <p:cNvPr id="1906450952" name="Shape 9"/>
          <p:cNvSpPr/>
          <p:nvPr/>
        </p:nvSpPr>
        <p:spPr bwMode="auto">
          <a:xfrm>
            <a:off x="13377291" y="4572000"/>
            <a:ext cx="7281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6369071" name="Text 10"/>
          <p:cNvSpPr/>
          <p:nvPr/>
        </p:nvSpPr>
        <p:spPr bwMode="auto">
          <a:xfrm>
            <a:off x="13255371" y="4511040"/>
            <a:ext cx="7525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PROJECT INTEGRATION</a:t>
            </a:r>
            <a:endParaRPr lang="en-US" sz="1600"/>
          </a:p>
        </p:txBody>
      </p:sp>
      <p:sp>
        <p:nvSpPr>
          <p:cNvPr id="1640010488" name="Shape 11"/>
          <p:cNvSpPr/>
          <p:nvPr/>
        </p:nvSpPr>
        <p:spPr bwMode="auto">
          <a:xfrm>
            <a:off x="13377291" y="5164709"/>
            <a:ext cx="7281291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9329724" name="Shape 12"/>
          <p:cNvSpPr/>
          <p:nvPr/>
        </p:nvSpPr>
        <p:spPr bwMode="auto">
          <a:xfrm>
            <a:off x="13716000" y="5334000"/>
            <a:ext cx="6604000" cy="237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484951" name="Text 13"/>
          <p:cNvSpPr/>
          <p:nvPr/>
        </p:nvSpPr>
        <p:spPr bwMode="auto">
          <a:xfrm>
            <a:off x="13594080" y="5273040"/>
            <a:ext cx="6847840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Connects theoretical architecture to real operations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Fully hosts the SOC stack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Enables secure expansion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ECS Ubuntu VM hosts all tools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Foundation for intelligence layer</a:t>
            </a:r>
            <a:endParaRPr lang="en-US" sz="1600"/>
          </a:p>
        </p:txBody>
      </p:sp>
      <p:sp>
        <p:nvSpPr>
          <p:cNvPr id="1906847849" name="Shape 14"/>
          <p:cNvSpPr/>
          <p:nvPr/>
        </p:nvSpPr>
        <p:spPr bwMode="auto">
          <a:xfrm>
            <a:off x="1016000" y="8297291"/>
            <a:ext cx="19642709" cy="2370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735465" name="Shape 15"/>
          <p:cNvSpPr/>
          <p:nvPr/>
        </p:nvSpPr>
        <p:spPr bwMode="auto">
          <a:xfrm>
            <a:off x="1016000" y="8297291"/>
            <a:ext cx="67691" cy="22012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166818471" name="Shape 16"/>
          <p:cNvSpPr/>
          <p:nvPr/>
        </p:nvSpPr>
        <p:spPr bwMode="auto">
          <a:xfrm>
            <a:off x="1354709" y="8466709"/>
            <a:ext cx="18965291" cy="211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78413628" name="Text 17"/>
          <p:cNvSpPr/>
          <p:nvPr/>
        </p:nvSpPr>
        <p:spPr bwMode="auto">
          <a:xfrm>
            <a:off x="1232789" y="8405749"/>
            <a:ext cx="19209131" cy="223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200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This phase supports the project by: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Providing secure and scalable cloud infrastructure for the entire SOC platform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Guaranteeing network isolation and access control via Security Groups and VPC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• Laying the groundwork for backend intelligence layer deployment (Phase 3)</a:t>
            </a:r>
            <a:endParaRPr lang="en-US" sz="1600"/>
          </a:p>
        </p:txBody>
      </p:sp>
      <p:sp>
        <p:nvSpPr>
          <p:cNvPr id="228846282" name="Shape 18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8729753" name="Text 19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2 — Cloud Infrastructure</a:t>
            </a:r>
            <a:endParaRPr lang="en-US" sz="1600"/>
          </a:p>
        </p:txBody>
      </p:sp>
      <p:sp>
        <p:nvSpPr>
          <p:cNvPr id="140991153" name="Shape 20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03357952" name="Text 21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17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460760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23601950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06</a:t>
            </a:r>
            <a:endParaRPr lang="en-US" sz="1600"/>
          </a:p>
        </p:txBody>
      </p:sp>
      <p:sp>
        <p:nvSpPr>
          <p:cNvPr id="981480417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191473271" name="Shape 3"/>
          <p:cNvSpPr/>
          <p:nvPr/>
        </p:nvSpPr>
        <p:spPr bwMode="auto">
          <a:xfrm>
            <a:off x="1693291" y="4741291"/>
            <a:ext cx="16933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4307884" name="Text 4"/>
          <p:cNvSpPr/>
          <p:nvPr/>
        </p:nvSpPr>
        <p:spPr bwMode="auto">
          <a:xfrm>
            <a:off x="1571371" y="4680331"/>
            <a:ext cx="17177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PHASE 3: BACKEND INTELLIGENCE LAYER</a:t>
            </a:r>
            <a:endParaRPr lang="en-US" sz="1600"/>
          </a:p>
        </p:txBody>
      </p:sp>
      <p:sp>
        <p:nvSpPr>
          <p:cNvPr id="1417962187" name="Shape 5"/>
          <p:cNvSpPr/>
          <p:nvPr/>
        </p:nvSpPr>
        <p:spPr bwMode="auto">
          <a:xfrm>
            <a:off x="1693291" y="5757291"/>
            <a:ext cx="15240000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21551838" name="Text 6"/>
          <p:cNvSpPr/>
          <p:nvPr/>
        </p:nvSpPr>
        <p:spPr bwMode="auto">
          <a:xfrm>
            <a:off x="1571371" y="5696331"/>
            <a:ext cx="15483840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From raw data to intelligent and verified SOC operations</a:t>
            </a:r>
            <a:endParaRPr lang="en-US" sz="1600"/>
          </a:p>
        </p:txBody>
      </p:sp>
      <p:sp>
        <p:nvSpPr>
          <p:cNvPr id="2021981390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18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603820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881560772" name="Shape 1"/>
          <p:cNvSpPr/>
          <p:nvPr/>
        </p:nvSpPr>
        <p:spPr bwMode="auto">
          <a:xfrm>
            <a:off x="1016000" y="98209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09196603" name="Text 2"/>
          <p:cNvSpPr/>
          <p:nvPr/>
        </p:nvSpPr>
        <p:spPr bwMode="auto">
          <a:xfrm>
            <a:off x="894080" y="921131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3 — GLOBAL OVERVIEW</a:t>
            </a:r>
            <a:endParaRPr lang="en-US" sz="1600"/>
          </a:p>
        </p:txBody>
      </p:sp>
      <p:sp>
        <p:nvSpPr>
          <p:cNvPr id="2002597392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12759536" name="Shape 4"/>
          <p:cNvSpPr/>
          <p:nvPr/>
        </p:nvSpPr>
        <p:spPr bwMode="auto">
          <a:xfrm>
            <a:off x="1016000" y="1947291"/>
            <a:ext cx="1016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9199255" name="Text 5"/>
          <p:cNvSpPr/>
          <p:nvPr/>
        </p:nvSpPr>
        <p:spPr bwMode="auto">
          <a:xfrm>
            <a:off x="894080" y="1886331"/>
            <a:ext cx="1040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INTELLIGENCE FLOW</a:t>
            </a:r>
            <a:endParaRPr lang="en-US" sz="1600"/>
          </a:p>
        </p:txBody>
      </p:sp>
      <p:sp>
        <p:nvSpPr>
          <p:cNvPr id="259218977" name="Shape 6"/>
          <p:cNvSpPr/>
          <p:nvPr/>
        </p:nvSpPr>
        <p:spPr bwMode="auto">
          <a:xfrm>
            <a:off x="1016000" y="2760091"/>
            <a:ext cx="2201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9068478" name="Shape 7"/>
          <p:cNvSpPr/>
          <p:nvPr/>
        </p:nvSpPr>
        <p:spPr bwMode="auto">
          <a:xfrm>
            <a:off x="1016000" y="2760091"/>
            <a:ext cx="2201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84954214" name="Text 8"/>
          <p:cNvSpPr/>
          <p:nvPr/>
        </p:nvSpPr>
        <p:spPr bwMode="auto">
          <a:xfrm>
            <a:off x="894080" y="2699131"/>
            <a:ext cx="2445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Raw data</a:t>
            </a:r>
            <a:endParaRPr lang="en-US" sz="1600"/>
          </a:p>
        </p:txBody>
      </p:sp>
      <p:sp>
        <p:nvSpPr>
          <p:cNvPr id="836508240" name="Shape 9"/>
          <p:cNvSpPr/>
          <p:nvPr/>
        </p:nvSpPr>
        <p:spPr bwMode="auto">
          <a:xfrm>
            <a:off x="3217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571127697" name="Shape 10"/>
          <p:cNvSpPr/>
          <p:nvPr/>
        </p:nvSpPr>
        <p:spPr bwMode="auto">
          <a:xfrm>
            <a:off x="3556000" y="2760091"/>
            <a:ext cx="2201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7074726" name="Shape 11"/>
          <p:cNvSpPr/>
          <p:nvPr/>
        </p:nvSpPr>
        <p:spPr bwMode="auto">
          <a:xfrm>
            <a:off x="3556000" y="2760091"/>
            <a:ext cx="2201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94770660" name="Text 12"/>
          <p:cNvSpPr/>
          <p:nvPr/>
        </p:nvSpPr>
        <p:spPr bwMode="auto">
          <a:xfrm>
            <a:off x="3434080" y="2699131"/>
            <a:ext cx="2445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Normalized alerts</a:t>
            </a:r>
            <a:endParaRPr lang="en-US" sz="1600"/>
          </a:p>
        </p:txBody>
      </p:sp>
      <p:sp>
        <p:nvSpPr>
          <p:cNvPr id="1233260806" name="Shape 13"/>
          <p:cNvSpPr/>
          <p:nvPr/>
        </p:nvSpPr>
        <p:spPr bwMode="auto">
          <a:xfrm>
            <a:off x="5757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343035095" name="Shape 14"/>
          <p:cNvSpPr/>
          <p:nvPr/>
        </p:nvSpPr>
        <p:spPr bwMode="auto">
          <a:xfrm>
            <a:off x="6096000" y="2760091"/>
            <a:ext cx="2201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7993175" name="Shape 15"/>
          <p:cNvSpPr/>
          <p:nvPr/>
        </p:nvSpPr>
        <p:spPr bwMode="auto">
          <a:xfrm>
            <a:off x="6096000" y="2760091"/>
            <a:ext cx="2201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6329992" name="Text 16"/>
          <p:cNvSpPr/>
          <p:nvPr/>
        </p:nvSpPr>
        <p:spPr bwMode="auto">
          <a:xfrm>
            <a:off x="5974080" y="2699131"/>
            <a:ext cx="2445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Correlated incidents</a:t>
            </a:r>
            <a:endParaRPr lang="en-US" sz="1600"/>
          </a:p>
        </p:txBody>
      </p:sp>
      <p:sp>
        <p:nvSpPr>
          <p:cNvPr id="1824685437" name="Shape 17"/>
          <p:cNvSpPr/>
          <p:nvPr/>
        </p:nvSpPr>
        <p:spPr bwMode="auto">
          <a:xfrm>
            <a:off x="8297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802986150" name="Shape 18"/>
          <p:cNvSpPr/>
          <p:nvPr/>
        </p:nvSpPr>
        <p:spPr bwMode="auto">
          <a:xfrm>
            <a:off x="8636000" y="2760091"/>
            <a:ext cx="1862709" cy="406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66418996" name="Shape 19"/>
          <p:cNvSpPr/>
          <p:nvPr/>
        </p:nvSpPr>
        <p:spPr bwMode="auto">
          <a:xfrm>
            <a:off x="8636000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74260622" name="Text 20"/>
          <p:cNvSpPr/>
          <p:nvPr/>
        </p:nvSpPr>
        <p:spPr bwMode="auto">
          <a:xfrm>
            <a:off x="8514080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Investigations</a:t>
            </a:r>
            <a:endParaRPr lang="en-US" sz="1600"/>
          </a:p>
        </p:txBody>
      </p:sp>
      <p:sp>
        <p:nvSpPr>
          <p:cNvPr id="937498974" name="Shape 21"/>
          <p:cNvSpPr/>
          <p:nvPr/>
        </p:nvSpPr>
        <p:spPr bwMode="auto">
          <a:xfrm>
            <a:off x="10498709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52925807" name="Shape 22"/>
          <p:cNvSpPr/>
          <p:nvPr/>
        </p:nvSpPr>
        <p:spPr bwMode="auto">
          <a:xfrm>
            <a:off x="10837291" y="2760091"/>
            <a:ext cx="1862709" cy="4064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30067960" name="Shape 23"/>
          <p:cNvSpPr/>
          <p:nvPr/>
        </p:nvSpPr>
        <p:spPr bwMode="auto">
          <a:xfrm>
            <a:off x="10837291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06889330" name="Text 24"/>
          <p:cNvSpPr/>
          <p:nvPr/>
        </p:nvSpPr>
        <p:spPr bwMode="auto">
          <a:xfrm>
            <a:off x="10715371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FFFFFF"/>
                </a:solidFill>
                <a:latin typeface="Liter"/>
                <a:ea typeface="Liter"/>
                <a:cs typeface="Liter"/>
              </a:rPr>
              <a:t>AI Analysis</a:t>
            </a:r>
            <a:endParaRPr lang="en-US" sz="1600"/>
          </a:p>
        </p:txBody>
      </p:sp>
      <p:sp>
        <p:nvSpPr>
          <p:cNvPr id="676933719" name="Shape 25"/>
          <p:cNvSpPr/>
          <p:nvPr/>
        </p:nvSpPr>
        <p:spPr bwMode="auto">
          <a:xfrm>
            <a:off x="12700000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488027423" name="Shape 26"/>
          <p:cNvSpPr/>
          <p:nvPr/>
        </p:nvSpPr>
        <p:spPr bwMode="auto">
          <a:xfrm>
            <a:off x="13038709" y="2760091"/>
            <a:ext cx="1862709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4866906" name="Shape 27"/>
          <p:cNvSpPr/>
          <p:nvPr/>
        </p:nvSpPr>
        <p:spPr bwMode="auto">
          <a:xfrm>
            <a:off x="13038709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08946928" name="Text 28"/>
          <p:cNvSpPr/>
          <p:nvPr/>
        </p:nvSpPr>
        <p:spPr bwMode="auto">
          <a:xfrm>
            <a:off x="12916789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Playbooks</a:t>
            </a:r>
            <a:endParaRPr lang="en-US" sz="1600"/>
          </a:p>
        </p:txBody>
      </p:sp>
      <p:sp>
        <p:nvSpPr>
          <p:cNvPr id="837146252" name="Shape 29"/>
          <p:cNvSpPr/>
          <p:nvPr/>
        </p:nvSpPr>
        <p:spPr bwMode="auto">
          <a:xfrm>
            <a:off x="14901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102747595" name="Shape 30"/>
          <p:cNvSpPr/>
          <p:nvPr/>
        </p:nvSpPr>
        <p:spPr bwMode="auto">
          <a:xfrm>
            <a:off x="15240000" y="2760091"/>
            <a:ext cx="1862709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83024853" name="Shape 31"/>
          <p:cNvSpPr/>
          <p:nvPr/>
        </p:nvSpPr>
        <p:spPr bwMode="auto">
          <a:xfrm>
            <a:off x="15240000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42016662" name="Text 32"/>
          <p:cNvSpPr/>
          <p:nvPr/>
        </p:nvSpPr>
        <p:spPr bwMode="auto">
          <a:xfrm>
            <a:off x="15118080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Approval</a:t>
            </a:r>
            <a:endParaRPr lang="en-US" sz="1600"/>
          </a:p>
        </p:txBody>
      </p:sp>
      <p:sp>
        <p:nvSpPr>
          <p:cNvPr id="2079569205" name="Shape 33"/>
          <p:cNvSpPr/>
          <p:nvPr/>
        </p:nvSpPr>
        <p:spPr bwMode="auto">
          <a:xfrm>
            <a:off x="17102709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89293081" name="Shape 34"/>
          <p:cNvSpPr/>
          <p:nvPr/>
        </p:nvSpPr>
        <p:spPr bwMode="auto">
          <a:xfrm>
            <a:off x="17441291" y="2760091"/>
            <a:ext cx="1693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4689417" name="Shape 35"/>
          <p:cNvSpPr/>
          <p:nvPr/>
        </p:nvSpPr>
        <p:spPr bwMode="auto">
          <a:xfrm>
            <a:off x="17441291" y="2760091"/>
            <a:ext cx="1693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320152" name="Text 36"/>
          <p:cNvSpPr/>
          <p:nvPr/>
        </p:nvSpPr>
        <p:spPr bwMode="auto">
          <a:xfrm>
            <a:off x="17319371" y="2699131"/>
            <a:ext cx="1937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Execution</a:t>
            </a:r>
            <a:endParaRPr lang="en-US" sz="1600"/>
          </a:p>
        </p:txBody>
      </p:sp>
      <p:sp>
        <p:nvSpPr>
          <p:cNvPr id="1708926870" name="Shape 37"/>
          <p:cNvSpPr/>
          <p:nvPr/>
        </p:nvSpPr>
        <p:spPr bwMode="auto">
          <a:xfrm>
            <a:off x="19134709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351043660" name="Shape 38"/>
          <p:cNvSpPr/>
          <p:nvPr/>
        </p:nvSpPr>
        <p:spPr bwMode="auto">
          <a:xfrm>
            <a:off x="19473291" y="2760091"/>
            <a:ext cx="1185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5794108" name="Shape 39"/>
          <p:cNvSpPr/>
          <p:nvPr/>
        </p:nvSpPr>
        <p:spPr bwMode="auto">
          <a:xfrm>
            <a:off x="19473291" y="2760091"/>
            <a:ext cx="1185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89143070" name="Text 40"/>
          <p:cNvSpPr/>
          <p:nvPr/>
        </p:nvSpPr>
        <p:spPr bwMode="auto">
          <a:xfrm>
            <a:off x="19351371" y="2699131"/>
            <a:ext cx="1429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Archives</a:t>
            </a:r>
            <a:endParaRPr lang="en-US" sz="1600"/>
          </a:p>
        </p:txBody>
      </p:sp>
      <p:sp>
        <p:nvSpPr>
          <p:cNvPr id="289587535" name="Shape 41"/>
          <p:cNvSpPr/>
          <p:nvPr/>
        </p:nvSpPr>
        <p:spPr bwMode="auto">
          <a:xfrm>
            <a:off x="1016000" y="3810000"/>
            <a:ext cx="1016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06701071" name="Text 42"/>
          <p:cNvSpPr/>
          <p:nvPr/>
        </p:nvSpPr>
        <p:spPr bwMode="auto">
          <a:xfrm>
            <a:off x="894080" y="3749040"/>
            <a:ext cx="1040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12 KEY STEPS</a:t>
            </a:r>
            <a:endParaRPr lang="en-US" sz="1600"/>
          </a:p>
        </p:txBody>
      </p:sp>
      <p:sp>
        <p:nvSpPr>
          <p:cNvPr id="465562276" name="Shape 43"/>
          <p:cNvSpPr/>
          <p:nvPr/>
        </p:nvSpPr>
        <p:spPr bwMode="auto">
          <a:xfrm>
            <a:off x="1016000" y="431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50097570" name="Shape 44"/>
          <p:cNvSpPr/>
          <p:nvPr/>
        </p:nvSpPr>
        <p:spPr bwMode="auto">
          <a:xfrm>
            <a:off x="1016000" y="4572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60067206" name="Shape 45"/>
          <p:cNvSpPr/>
          <p:nvPr/>
        </p:nvSpPr>
        <p:spPr bwMode="auto">
          <a:xfrm>
            <a:off x="1100709" y="4605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47782073" name="Text 46"/>
          <p:cNvSpPr/>
          <p:nvPr/>
        </p:nvSpPr>
        <p:spPr bwMode="auto">
          <a:xfrm>
            <a:off x="978789" y="4544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1</a:t>
            </a:r>
            <a:endParaRPr lang="en-US" sz="1600"/>
          </a:p>
        </p:txBody>
      </p:sp>
      <p:sp>
        <p:nvSpPr>
          <p:cNvPr id="282399707" name="Shape 47"/>
          <p:cNvSpPr/>
          <p:nvPr/>
        </p:nvSpPr>
        <p:spPr bwMode="auto">
          <a:xfrm>
            <a:off x="1693291" y="4605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708290" name="Text 48"/>
          <p:cNvSpPr/>
          <p:nvPr/>
        </p:nvSpPr>
        <p:spPr bwMode="auto">
          <a:xfrm>
            <a:off x="1571371" y="4544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Ingestion &amp; Enrichment</a:t>
            </a:r>
            <a:endParaRPr lang="en-US" sz="1600"/>
          </a:p>
        </p:txBody>
      </p:sp>
      <p:sp>
        <p:nvSpPr>
          <p:cNvPr id="685051354" name="Shape 49"/>
          <p:cNvSpPr/>
          <p:nvPr/>
        </p:nvSpPr>
        <p:spPr bwMode="auto">
          <a:xfrm>
            <a:off x="7620000" y="4572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98304395" name="Shape 50"/>
          <p:cNvSpPr/>
          <p:nvPr/>
        </p:nvSpPr>
        <p:spPr bwMode="auto">
          <a:xfrm>
            <a:off x="7704709" y="4605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5760722" name="Text 51"/>
          <p:cNvSpPr/>
          <p:nvPr/>
        </p:nvSpPr>
        <p:spPr bwMode="auto">
          <a:xfrm>
            <a:off x="7582789" y="4544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2</a:t>
            </a:r>
            <a:endParaRPr lang="en-US" sz="1600"/>
          </a:p>
        </p:txBody>
      </p:sp>
      <p:sp>
        <p:nvSpPr>
          <p:cNvPr id="675969609" name="Shape 52"/>
          <p:cNvSpPr/>
          <p:nvPr/>
        </p:nvSpPr>
        <p:spPr bwMode="auto">
          <a:xfrm>
            <a:off x="8297291" y="4605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3437170" name="Text 53"/>
          <p:cNvSpPr/>
          <p:nvPr/>
        </p:nvSpPr>
        <p:spPr bwMode="auto">
          <a:xfrm>
            <a:off x="8175370" y="4544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Alert Transformation</a:t>
            </a:r>
            <a:endParaRPr lang="en-US" sz="1600"/>
          </a:p>
        </p:txBody>
      </p:sp>
      <p:sp>
        <p:nvSpPr>
          <p:cNvPr id="1486689935" name="Shape 54"/>
          <p:cNvSpPr/>
          <p:nvPr/>
        </p:nvSpPr>
        <p:spPr bwMode="auto">
          <a:xfrm>
            <a:off x="14224000" y="4572000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8092749" name="Shape 55"/>
          <p:cNvSpPr/>
          <p:nvPr/>
        </p:nvSpPr>
        <p:spPr bwMode="auto">
          <a:xfrm>
            <a:off x="14308709" y="4605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93916032" name="Text 56"/>
          <p:cNvSpPr/>
          <p:nvPr/>
        </p:nvSpPr>
        <p:spPr bwMode="auto">
          <a:xfrm>
            <a:off x="14186789" y="4544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3</a:t>
            </a:r>
            <a:endParaRPr lang="en-US" sz="1600"/>
          </a:p>
        </p:txBody>
      </p:sp>
      <p:sp>
        <p:nvSpPr>
          <p:cNvPr id="1279977936" name="Shape 57"/>
          <p:cNvSpPr/>
          <p:nvPr/>
        </p:nvSpPr>
        <p:spPr bwMode="auto">
          <a:xfrm>
            <a:off x="14901291" y="4605909"/>
            <a:ext cx="5588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6002983" name="Text 58"/>
          <p:cNvSpPr/>
          <p:nvPr/>
        </p:nvSpPr>
        <p:spPr bwMode="auto">
          <a:xfrm>
            <a:off x="14779371" y="4544949"/>
            <a:ext cx="5831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Contextual Enrichment</a:t>
            </a:r>
            <a:endParaRPr lang="en-US" sz="1600"/>
          </a:p>
        </p:txBody>
      </p:sp>
      <p:sp>
        <p:nvSpPr>
          <p:cNvPr id="1295402802" name="Shape 59"/>
          <p:cNvSpPr/>
          <p:nvPr/>
        </p:nvSpPr>
        <p:spPr bwMode="auto">
          <a:xfrm>
            <a:off x="1016000" y="5757291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23005358" name="Shape 60"/>
          <p:cNvSpPr/>
          <p:nvPr/>
        </p:nvSpPr>
        <p:spPr bwMode="auto">
          <a:xfrm>
            <a:off x="1100709" y="5791200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1838670" name="Text 61"/>
          <p:cNvSpPr/>
          <p:nvPr/>
        </p:nvSpPr>
        <p:spPr bwMode="auto">
          <a:xfrm>
            <a:off x="978789" y="5730240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4</a:t>
            </a:r>
            <a:endParaRPr lang="en-US" sz="1600"/>
          </a:p>
        </p:txBody>
      </p:sp>
      <p:sp>
        <p:nvSpPr>
          <p:cNvPr id="571022362" name="Shape 62"/>
          <p:cNvSpPr/>
          <p:nvPr/>
        </p:nvSpPr>
        <p:spPr bwMode="auto">
          <a:xfrm>
            <a:off x="1693291" y="5791200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51723315" name="Text 63"/>
          <p:cNvSpPr/>
          <p:nvPr/>
        </p:nvSpPr>
        <p:spPr bwMode="auto">
          <a:xfrm>
            <a:off x="1571371" y="5730240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Local Storage (SQLite)</a:t>
            </a:r>
            <a:endParaRPr lang="en-US" sz="1600"/>
          </a:p>
        </p:txBody>
      </p:sp>
      <p:sp>
        <p:nvSpPr>
          <p:cNvPr id="1100497724" name="Shape 64"/>
          <p:cNvSpPr/>
          <p:nvPr/>
        </p:nvSpPr>
        <p:spPr bwMode="auto">
          <a:xfrm>
            <a:off x="7620000" y="5757291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76293320" name="Shape 65"/>
          <p:cNvSpPr/>
          <p:nvPr/>
        </p:nvSpPr>
        <p:spPr bwMode="auto">
          <a:xfrm>
            <a:off x="7704709" y="5791200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49104672" name="Text 66"/>
          <p:cNvSpPr/>
          <p:nvPr/>
        </p:nvSpPr>
        <p:spPr bwMode="auto">
          <a:xfrm>
            <a:off x="7582789" y="5730240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5</a:t>
            </a:r>
            <a:endParaRPr lang="en-US" sz="1600"/>
          </a:p>
        </p:txBody>
      </p:sp>
      <p:sp>
        <p:nvSpPr>
          <p:cNvPr id="1806829169" name="Shape 67"/>
          <p:cNvSpPr/>
          <p:nvPr/>
        </p:nvSpPr>
        <p:spPr bwMode="auto">
          <a:xfrm>
            <a:off x="8297291" y="5791200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2017447" name="Text 68"/>
          <p:cNvSpPr/>
          <p:nvPr/>
        </p:nvSpPr>
        <p:spPr bwMode="auto">
          <a:xfrm>
            <a:off x="8175370" y="5730240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Incident Correlation</a:t>
            </a:r>
            <a:endParaRPr lang="en-US" sz="1600"/>
          </a:p>
        </p:txBody>
      </p:sp>
      <p:sp>
        <p:nvSpPr>
          <p:cNvPr id="2134789673" name="Shape 69"/>
          <p:cNvSpPr/>
          <p:nvPr/>
        </p:nvSpPr>
        <p:spPr bwMode="auto">
          <a:xfrm>
            <a:off x="14224000" y="5757291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52745675" name="Shape 70"/>
          <p:cNvSpPr/>
          <p:nvPr/>
        </p:nvSpPr>
        <p:spPr bwMode="auto">
          <a:xfrm>
            <a:off x="14308709" y="5791200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44096566" name="Text 71"/>
          <p:cNvSpPr/>
          <p:nvPr/>
        </p:nvSpPr>
        <p:spPr bwMode="auto">
          <a:xfrm>
            <a:off x="14186789" y="5730240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6</a:t>
            </a:r>
            <a:endParaRPr lang="en-US" sz="1600"/>
          </a:p>
        </p:txBody>
      </p:sp>
      <p:sp>
        <p:nvSpPr>
          <p:cNvPr id="125395848" name="Shape 72"/>
          <p:cNvSpPr/>
          <p:nvPr/>
        </p:nvSpPr>
        <p:spPr bwMode="auto">
          <a:xfrm>
            <a:off x="14901291" y="5791200"/>
            <a:ext cx="5588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8373420" name="Text 73"/>
          <p:cNvSpPr/>
          <p:nvPr/>
        </p:nvSpPr>
        <p:spPr bwMode="auto">
          <a:xfrm>
            <a:off x="14779371" y="5730240"/>
            <a:ext cx="5831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Investigation Creation</a:t>
            </a:r>
            <a:endParaRPr lang="en-US" sz="1600"/>
          </a:p>
        </p:txBody>
      </p:sp>
      <p:sp>
        <p:nvSpPr>
          <p:cNvPr id="1362091723" name="Shape 74"/>
          <p:cNvSpPr/>
          <p:nvPr/>
        </p:nvSpPr>
        <p:spPr bwMode="auto">
          <a:xfrm>
            <a:off x="1016000" y="6942709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85268472" name="Shape 75"/>
          <p:cNvSpPr/>
          <p:nvPr/>
        </p:nvSpPr>
        <p:spPr bwMode="auto">
          <a:xfrm>
            <a:off x="1100709" y="6976491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11865283" name="Text 76"/>
          <p:cNvSpPr/>
          <p:nvPr/>
        </p:nvSpPr>
        <p:spPr bwMode="auto">
          <a:xfrm>
            <a:off x="978789" y="6915531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7</a:t>
            </a:r>
            <a:endParaRPr lang="en-US" sz="1600"/>
          </a:p>
        </p:txBody>
      </p:sp>
      <p:sp>
        <p:nvSpPr>
          <p:cNvPr id="1646549417" name="Shape 77"/>
          <p:cNvSpPr/>
          <p:nvPr/>
        </p:nvSpPr>
        <p:spPr bwMode="auto">
          <a:xfrm>
            <a:off x="1693291" y="6976491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94908387" name="Text 78"/>
          <p:cNvSpPr/>
          <p:nvPr/>
        </p:nvSpPr>
        <p:spPr bwMode="auto">
          <a:xfrm>
            <a:off x="1571371" y="6915531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AI Response Engine</a:t>
            </a:r>
            <a:endParaRPr lang="en-US" sz="1600"/>
          </a:p>
        </p:txBody>
      </p:sp>
      <p:sp>
        <p:nvSpPr>
          <p:cNvPr id="1883451682" name="Shape 79"/>
          <p:cNvSpPr/>
          <p:nvPr/>
        </p:nvSpPr>
        <p:spPr bwMode="auto">
          <a:xfrm>
            <a:off x="7620000" y="6942709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9834291" name="Shape 80"/>
          <p:cNvSpPr/>
          <p:nvPr/>
        </p:nvSpPr>
        <p:spPr bwMode="auto">
          <a:xfrm>
            <a:off x="7704709" y="6976491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7320278" name="Text 81"/>
          <p:cNvSpPr/>
          <p:nvPr/>
        </p:nvSpPr>
        <p:spPr bwMode="auto">
          <a:xfrm>
            <a:off x="7582789" y="6915531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8</a:t>
            </a:r>
            <a:endParaRPr lang="en-US" sz="1600"/>
          </a:p>
        </p:txBody>
      </p:sp>
      <p:sp>
        <p:nvSpPr>
          <p:cNvPr id="274736139" name="Shape 82"/>
          <p:cNvSpPr/>
          <p:nvPr/>
        </p:nvSpPr>
        <p:spPr bwMode="auto">
          <a:xfrm>
            <a:off x="8297291" y="6976491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36003471" name="Text 83"/>
          <p:cNvSpPr/>
          <p:nvPr/>
        </p:nvSpPr>
        <p:spPr bwMode="auto">
          <a:xfrm>
            <a:off x="8175370" y="6915531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Workflow d'Approval</a:t>
            </a:r>
            <a:endParaRPr lang="en-US" sz="1600"/>
          </a:p>
        </p:txBody>
      </p:sp>
      <p:sp>
        <p:nvSpPr>
          <p:cNvPr id="774662785" name="Shape 84"/>
          <p:cNvSpPr/>
          <p:nvPr/>
        </p:nvSpPr>
        <p:spPr bwMode="auto">
          <a:xfrm>
            <a:off x="14224000" y="6942709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79463977" name="Shape 85"/>
          <p:cNvSpPr/>
          <p:nvPr/>
        </p:nvSpPr>
        <p:spPr bwMode="auto">
          <a:xfrm>
            <a:off x="14308709" y="6976491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66789074" name="Text 86"/>
          <p:cNvSpPr/>
          <p:nvPr/>
        </p:nvSpPr>
        <p:spPr bwMode="auto">
          <a:xfrm>
            <a:off x="14186789" y="6915531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9</a:t>
            </a:r>
            <a:endParaRPr lang="en-US" sz="1600"/>
          </a:p>
        </p:txBody>
      </p:sp>
      <p:sp>
        <p:nvSpPr>
          <p:cNvPr id="1281424474" name="Shape 87"/>
          <p:cNvSpPr/>
          <p:nvPr/>
        </p:nvSpPr>
        <p:spPr bwMode="auto">
          <a:xfrm>
            <a:off x="14901291" y="6976491"/>
            <a:ext cx="5588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1471258" name="Text 88"/>
          <p:cNvSpPr/>
          <p:nvPr/>
        </p:nvSpPr>
        <p:spPr bwMode="auto">
          <a:xfrm>
            <a:off x="14779371" y="6915531"/>
            <a:ext cx="5831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Execution &amp; Verification</a:t>
            </a:r>
            <a:endParaRPr lang="en-US" sz="1600"/>
          </a:p>
        </p:txBody>
      </p:sp>
      <p:sp>
        <p:nvSpPr>
          <p:cNvPr id="1108317022" name="Shape 89"/>
          <p:cNvSpPr/>
          <p:nvPr/>
        </p:nvSpPr>
        <p:spPr bwMode="auto">
          <a:xfrm>
            <a:off x="1016000" y="8128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29330916" name="Shape 90"/>
          <p:cNvSpPr/>
          <p:nvPr/>
        </p:nvSpPr>
        <p:spPr bwMode="auto">
          <a:xfrm>
            <a:off x="1100709" y="8161909"/>
            <a:ext cx="7112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19306703" name="Text 91"/>
          <p:cNvSpPr/>
          <p:nvPr/>
        </p:nvSpPr>
        <p:spPr bwMode="auto">
          <a:xfrm>
            <a:off x="978789" y="8100949"/>
            <a:ext cx="955040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10</a:t>
            </a:r>
            <a:endParaRPr lang="en-US" sz="1600"/>
          </a:p>
        </p:txBody>
      </p:sp>
      <p:sp>
        <p:nvSpPr>
          <p:cNvPr id="787669125" name="Shape 92"/>
          <p:cNvSpPr/>
          <p:nvPr/>
        </p:nvSpPr>
        <p:spPr bwMode="auto">
          <a:xfrm>
            <a:off x="1862709" y="8161909"/>
            <a:ext cx="5249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5521567" name="Text 93"/>
          <p:cNvSpPr/>
          <p:nvPr/>
        </p:nvSpPr>
        <p:spPr bwMode="auto">
          <a:xfrm>
            <a:off x="1740789" y="8100949"/>
            <a:ext cx="5493131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Performance Monitoring</a:t>
            </a:r>
            <a:endParaRPr lang="en-US" sz="1600"/>
          </a:p>
        </p:txBody>
      </p:sp>
      <p:sp>
        <p:nvSpPr>
          <p:cNvPr id="579022374" name="Shape 94"/>
          <p:cNvSpPr/>
          <p:nvPr/>
        </p:nvSpPr>
        <p:spPr bwMode="auto">
          <a:xfrm>
            <a:off x="7620000" y="8128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81514872" name="Shape 95"/>
          <p:cNvSpPr/>
          <p:nvPr/>
        </p:nvSpPr>
        <p:spPr bwMode="auto">
          <a:xfrm>
            <a:off x="7704709" y="8161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59649697" name="Text 96"/>
          <p:cNvSpPr/>
          <p:nvPr/>
        </p:nvSpPr>
        <p:spPr bwMode="auto">
          <a:xfrm>
            <a:off x="7582789" y="8100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11</a:t>
            </a:r>
            <a:endParaRPr lang="en-US" sz="1600"/>
          </a:p>
        </p:txBody>
      </p:sp>
      <p:sp>
        <p:nvSpPr>
          <p:cNvPr id="381623618" name="Shape 97"/>
          <p:cNvSpPr/>
          <p:nvPr/>
        </p:nvSpPr>
        <p:spPr bwMode="auto">
          <a:xfrm>
            <a:off x="8297291" y="8161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7486606" name="Text 98"/>
          <p:cNvSpPr/>
          <p:nvPr/>
        </p:nvSpPr>
        <p:spPr bwMode="auto">
          <a:xfrm>
            <a:off x="8175370" y="8100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Visualization IPS</a:t>
            </a:r>
            <a:endParaRPr lang="en-US" sz="1600"/>
          </a:p>
        </p:txBody>
      </p:sp>
      <p:sp>
        <p:nvSpPr>
          <p:cNvPr id="1234173814" name="Shape 99"/>
          <p:cNvSpPr/>
          <p:nvPr/>
        </p:nvSpPr>
        <p:spPr bwMode="auto">
          <a:xfrm>
            <a:off x="14224000" y="8128000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6940439" name="Shape 100"/>
          <p:cNvSpPr/>
          <p:nvPr/>
        </p:nvSpPr>
        <p:spPr bwMode="auto">
          <a:xfrm>
            <a:off x="14308709" y="8161909"/>
            <a:ext cx="7112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0655215" name="Text 101"/>
          <p:cNvSpPr/>
          <p:nvPr/>
        </p:nvSpPr>
        <p:spPr bwMode="auto">
          <a:xfrm>
            <a:off x="14186789" y="8100949"/>
            <a:ext cx="955040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400">
                <a:solidFill>
                  <a:srgbClr val="CF0A2C"/>
                </a:solidFill>
                <a:latin typeface="Liter"/>
                <a:ea typeface="Liter"/>
                <a:cs typeface="Liter"/>
              </a:rPr>
              <a:t>12</a:t>
            </a:r>
            <a:endParaRPr lang="en-US" sz="1600"/>
          </a:p>
        </p:txBody>
      </p:sp>
      <p:sp>
        <p:nvSpPr>
          <p:cNvPr id="1962174928" name="Shape 102"/>
          <p:cNvSpPr/>
          <p:nvPr/>
        </p:nvSpPr>
        <p:spPr bwMode="auto">
          <a:xfrm>
            <a:off x="15070709" y="8161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05311462" name="Text 103"/>
          <p:cNvSpPr/>
          <p:nvPr/>
        </p:nvSpPr>
        <p:spPr bwMode="auto">
          <a:xfrm>
            <a:off x="14948789" y="8100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AI Assistant &amp; AI Operator</a:t>
            </a:r>
            <a:endParaRPr lang="en-US" sz="1600"/>
          </a:p>
        </p:txBody>
      </p:sp>
      <p:sp>
        <p:nvSpPr>
          <p:cNvPr id="823322672" name="Shape 104"/>
          <p:cNvSpPr/>
          <p:nvPr/>
        </p:nvSpPr>
        <p:spPr bwMode="auto">
          <a:xfrm>
            <a:off x="1016000" y="9482709"/>
            <a:ext cx="19642709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04146080" name="Shape 105"/>
          <p:cNvSpPr/>
          <p:nvPr/>
        </p:nvSpPr>
        <p:spPr bwMode="auto">
          <a:xfrm>
            <a:off x="1354709" y="9567291"/>
            <a:ext cx="18965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27353821" name="Text 106"/>
          <p:cNvSpPr/>
          <p:nvPr/>
        </p:nvSpPr>
        <p:spPr bwMode="auto">
          <a:xfrm>
            <a:off x="1232789" y="9506331"/>
            <a:ext cx="19209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Phase 3</a:t>
            </a:r>
            <a:r>
              <a:rPr lang="fr-FR" sz="200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 : </a:t>
            </a:r>
            <a:r>
              <a:rPr lang="en-US" sz="200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Transforms raw Elasticsearch data into intelligent SOC operations: normalized alerts, correlated incidents, investigations, AI analysis, playbooks, approval, Ansible execution, verification, and archiving.</a:t>
            </a:r>
            <a:endParaRPr lang="en-US" sz="1600"/>
          </a:p>
        </p:txBody>
      </p:sp>
      <p:sp>
        <p:nvSpPr>
          <p:cNvPr id="386104519" name="Shape 107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93012155" name="Text 108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3 — Backend Intelligence</a:t>
            </a:r>
            <a:endParaRPr lang="en-US" sz="1600"/>
          </a:p>
        </p:txBody>
      </p:sp>
      <p:sp>
        <p:nvSpPr>
          <p:cNvPr id="12455956" name="Shape 109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47909214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19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598013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03681952" name="Shape 1"/>
          <p:cNvSpPr/>
          <p:nvPr/>
        </p:nvSpPr>
        <p:spPr bwMode="auto">
          <a:xfrm>
            <a:off x="1016000" y="982090"/>
            <a:ext cx="1693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0113969" name="Text 2"/>
          <p:cNvSpPr/>
          <p:nvPr/>
        </p:nvSpPr>
        <p:spPr bwMode="auto">
          <a:xfrm>
            <a:off x="894080" y="921131"/>
            <a:ext cx="1717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STEP 1 — ALERT INGESTION &amp; ENRICHMENT</a:t>
            </a:r>
            <a:endParaRPr lang="en-US" sz="1600"/>
          </a:p>
        </p:txBody>
      </p:sp>
      <p:sp>
        <p:nvSpPr>
          <p:cNvPr id="64571754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0318490" name="Shape 4"/>
          <p:cNvSpPr/>
          <p:nvPr/>
        </p:nvSpPr>
        <p:spPr bwMode="auto">
          <a:xfrm>
            <a:off x="1016000" y="4707509"/>
            <a:ext cx="508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59148738" name="Text 5"/>
          <p:cNvSpPr/>
          <p:nvPr/>
        </p:nvSpPr>
        <p:spPr bwMode="auto">
          <a:xfrm>
            <a:off x="894080" y="4934595"/>
            <a:ext cx="532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ELASTICSEARCH SOURCES</a:t>
            </a:r>
            <a:endParaRPr lang="en-US" sz="1600"/>
          </a:p>
        </p:txBody>
      </p:sp>
      <p:sp>
        <p:nvSpPr>
          <p:cNvPr id="952414331" name="Shape 6"/>
          <p:cNvSpPr/>
          <p:nvPr/>
        </p:nvSpPr>
        <p:spPr bwMode="auto">
          <a:xfrm>
            <a:off x="1016000" y="5503555"/>
            <a:ext cx="9144000" cy="2336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0841940" name="Shape 7"/>
          <p:cNvSpPr/>
          <p:nvPr/>
        </p:nvSpPr>
        <p:spPr bwMode="auto">
          <a:xfrm>
            <a:off x="1354709" y="5622046"/>
            <a:ext cx="8466709" cy="211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9897735" name="Text 8"/>
          <p:cNvSpPr/>
          <p:nvPr/>
        </p:nvSpPr>
        <p:spPr bwMode="auto">
          <a:xfrm>
            <a:off x="1232789" y="5561086"/>
            <a:ext cx="8710549" cy="223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defRPr/>
            </a:pPr>
            <a:r>
              <a:rPr lang="en-US" sz="18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wazuh-alerts-*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Wazuh Alerts (HIDS)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suricata-*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Suricata Alerts (NIDS)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falco-events-*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Falco Events (runtime)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filebeat-* / telegraf-*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Logs and metrics</a:t>
            </a:r>
            <a:endParaRPr lang="en-US" sz="1600"/>
          </a:p>
        </p:txBody>
      </p:sp>
      <p:sp>
        <p:nvSpPr>
          <p:cNvPr id="1723625156" name="Shape 9"/>
          <p:cNvSpPr/>
          <p:nvPr/>
        </p:nvSpPr>
        <p:spPr bwMode="auto">
          <a:xfrm>
            <a:off x="10668000" y="4881027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77436650" name="Text 10"/>
          <p:cNvSpPr/>
          <p:nvPr/>
        </p:nvSpPr>
        <p:spPr bwMode="auto">
          <a:xfrm>
            <a:off x="10546080" y="4820067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PROCESSING PIPELINE</a:t>
            </a:r>
            <a:endParaRPr lang="en-US" sz="1600"/>
          </a:p>
        </p:txBody>
      </p:sp>
      <p:sp>
        <p:nvSpPr>
          <p:cNvPr id="665399994" name="Shape 11"/>
          <p:cNvSpPr/>
          <p:nvPr/>
        </p:nvSpPr>
        <p:spPr bwMode="auto">
          <a:xfrm>
            <a:off x="10667873" y="5421221"/>
            <a:ext cx="9990709" cy="2336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922830" name="Shape 12"/>
          <p:cNvSpPr/>
          <p:nvPr/>
        </p:nvSpPr>
        <p:spPr bwMode="auto">
          <a:xfrm>
            <a:off x="11006582" y="5539712"/>
            <a:ext cx="9313291" cy="211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51207766" name="Text 13"/>
          <p:cNvSpPr/>
          <p:nvPr/>
        </p:nvSpPr>
        <p:spPr bwMode="auto">
          <a:xfrm>
            <a:off x="10884662" y="5478752"/>
            <a:ext cx="9557131" cy="223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Poll ES →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Mappers sources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Deduplication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→ </a:t>
            </a:r>
            <a:r>
              <a:rPr lang="fr-FR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Noise Filter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→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Enrichissement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(GeoIP + MITRE)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→ Detection campagne →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Whitelist check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→ Persistance SQLite </a:t>
            </a:r>
            <a:endParaRPr lang="en-US" sz="1600"/>
          </a:p>
        </p:txBody>
      </p:sp>
      <p:sp>
        <p:nvSpPr>
          <p:cNvPr id="1235121601" name="Shape 14"/>
          <p:cNvSpPr/>
          <p:nvPr/>
        </p:nvSpPr>
        <p:spPr bwMode="auto">
          <a:xfrm>
            <a:off x="1016000" y="7789291"/>
            <a:ext cx="508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56076884" name="Text 15"/>
          <p:cNvSpPr/>
          <p:nvPr/>
        </p:nvSpPr>
        <p:spPr bwMode="auto">
          <a:xfrm>
            <a:off x="894080" y="7728331"/>
            <a:ext cx="532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RESULTAT</a:t>
            </a:r>
            <a:endParaRPr lang="en-US" sz="1600"/>
          </a:p>
        </p:txBody>
      </p:sp>
      <p:sp>
        <p:nvSpPr>
          <p:cNvPr id="538981567" name="Shape 16"/>
          <p:cNvSpPr/>
          <p:nvPr/>
        </p:nvSpPr>
        <p:spPr bwMode="auto">
          <a:xfrm>
            <a:off x="1016000" y="8297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38935983" name="Shape 17"/>
          <p:cNvSpPr/>
          <p:nvPr/>
        </p:nvSpPr>
        <p:spPr bwMode="auto">
          <a:xfrm>
            <a:off x="1016000" y="8466709"/>
            <a:ext cx="19642709" cy="2878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99599575" name="Shape 18"/>
          <p:cNvSpPr/>
          <p:nvPr/>
        </p:nvSpPr>
        <p:spPr bwMode="auto">
          <a:xfrm>
            <a:off x="1354709" y="8602091"/>
            <a:ext cx="18965291" cy="262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03226493" name="Text 19"/>
          <p:cNvSpPr/>
          <p:nvPr/>
        </p:nvSpPr>
        <p:spPr bwMode="auto">
          <a:xfrm>
            <a:off x="1232789" y="8541131"/>
            <a:ext cx="19209131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200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Normalized alerts propres</a:t>
            </a:r>
            <a:r>
              <a:rPr lang="en-US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endParaRPr lang="en-US" sz="2000" b="0" i="0" u="none" strike="noStrike" cap="none" spc="0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With: source, source ID, title, severity, category, IPs, hostname, tags, IOCs, MITRE techniques, metadata, deduplication key, and occurrence count.</a:t>
            </a:r>
            <a:endParaRPr lang="en-US" sz="2000" b="0" i="0" u="none" strike="noStrike" cap="none" spc="0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rgbClr val="FFFFFF"/>
              </a:solidFill>
              <a:latin typeface="Quattrocento Sans"/>
              <a:cs typeface="Quattrocento San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Visible in /alerts and /ips</a:t>
            </a:r>
            <a:endParaRPr lang="en-US" sz="2000" b="0" i="0" u="none" strike="noStrike" cap="none" spc="0">
              <a:solidFill>
                <a:srgbClr val="FFFFFF"/>
              </a:solidFill>
              <a:latin typeface="Quattrocento Sans"/>
              <a:cs typeface="Quattrocento Sans"/>
            </a:endParaRPr>
          </a:p>
          <a:p>
            <a:pPr>
              <a:defRPr/>
            </a:pPr>
            <a:r>
              <a:rPr lang="en-US" sz="200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Ready for incident correlation</a:t>
            </a:r>
            <a:endParaRPr lang="en-US" sz="2000" b="0" i="0" u="none" strike="noStrike" cap="none" spc="0">
              <a:solidFill>
                <a:srgbClr val="FFFFFF"/>
              </a:solidFill>
              <a:latin typeface="Quattrocento Sans"/>
              <a:cs typeface="Quattrocento Sans"/>
            </a:endParaRPr>
          </a:p>
          <a:p>
            <a:pPr>
              <a:lnSpc>
                <a:spcPct val="160000"/>
              </a:lnSpc>
              <a:defRPr/>
            </a:pPr>
            <a:r>
              <a:rPr lang="en-US" sz="200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• Real-time updates via WebSocket</a:t>
            </a:r>
            <a:endParaRPr lang="en-US" sz="1600"/>
          </a:p>
        </p:txBody>
      </p:sp>
      <p:sp>
        <p:nvSpPr>
          <p:cNvPr id="1080532077" name="Shape 20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1718678" name="Text 21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3 — Backend Intelligence</a:t>
            </a:r>
            <a:endParaRPr lang="en-US" sz="1600"/>
          </a:p>
        </p:txBody>
      </p:sp>
      <p:sp>
        <p:nvSpPr>
          <p:cNvPr id="376422455" name="Shape 22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17795210" name="Text 23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20</a:t>
            </a:r>
            <a:endParaRPr lang="en-US" sz="1600"/>
          </a:p>
        </p:txBody>
      </p:sp>
      <p:pic>
        <p:nvPicPr>
          <p:cNvPr id="1183673252" name="Slide Zoom 29">
            <a:hlinkClick r:id="rId3" action="ppaction://hlinksldjump"/>
          </p:cNvPr>
          <p:cNvPicPr>
            <a:picLocks noAdjustHandles="1" noChangeAspect="1" noChangeArrowheads="1" noChangeShapeType="1" noEditPoints="1" noGrp="1" noMove="1" noResize="1" noRot="1"/>
          </p:cNvPicPr>
          <p:nvPr/>
        </p:nvPicPr>
        <p:blipFill rotWithShape="1">
          <a:blip r:embed="rId4"/>
          <a:stretch/>
        </p:blipFill>
        <p:spPr bwMode="auto">
          <a:xfrm>
            <a:off x="5021943" y="1903223"/>
            <a:ext cx="10276114" cy="2756915"/>
          </a:xfrm>
          <a:prstGeom prst="rect">
            <a:avLst/>
          </a:prstGeom>
          <a:ln w="3175">
            <a:solidFill>
              <a:prstClr val="ltGray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8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7855411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683169"/>
            <a:ext cx="21678900" cy="825661"/>
          </a:xfrm>
          <a:prstGeom prst="rect">
            <a:avLst/>
          </a:prstGeom>
        </p:spPr>
      </p:pic>
      <p:sp>
        <p:nvSpPr>
          <p:cNvPr id="1034847422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21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484417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95725380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3702524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STEP 2 — INCIDENT CORRELATION</a:t>
            </a:r>
            <a:endParaRPr lang="en-US" sz="1600"/>
          </a:p>
        </p:txBody>
      </p:sp>
      <p:sp>
        <p:nvSpPr>
          <p:cNvPr id="436978589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1075906" name="Shape 4"/>
          <p:cNvSpPr/>
          <p:nvPr/>
        </p:nvSpPr>
        <p:spPr bwMode="auto">
          <a:xfrm>
            <a:off x="11006709" y="19980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4964025" name="Text 5"/>
          <p:cNvSpPr/>
          <p:nvPr/>
        </p:nvSpPr>
        <p:spPr bwMode="auto">
          <a:xfrm>
            <a:off x="10884789" y="19371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CORRELATION SIGNALS</a:t>
            </a:r>
            <a:endParaRPr lang="en-US" sz="1600"/>
          </a:p>
        </p:txBody>
      </p:sp>
      <p:sp>
        <p:nvSpPr>
          <p:cNvPr id="693071548" name="Shape 6"/>
          <p:cNvSpPr/>
          <p:nvPr/>
        </p:nvSpPr>
        <p:spPr bwMode="auto">
          <a:xfrm>
            <a:off x="11006709" y="2540000"/>
            <a:ext cx="9652000" cy="41995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44030051" name="Shape 7"/>
          <p:cNvSpPr/>
          <p:nvPr/>
        </p:nvSpPr>
        <p:spPr bwMode="auto">
          <a:xfrm>
            <a:off x="11345291" y="2709291"/>
            <a:ext cx="8974709" cy="389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09532846" name="Text 8"/>
          <p:cNvSpPr/>
          <p:nvPr/>
        </p:nvSpPr>
        <p:spPr bwMode="auto">
          <a:xfrm>
            <a:off x="11223371" y="2648331"/>
            <a:ext cx="9218549" cy="401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IP Source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</a:t>
            </a:r>
            <a:r>
              <a:rPr lang="fr-FR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same attack 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origin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Hostname / Container ID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</a:t>
            </a:r>
            <a:r>
              <a:rPr lang="fr-FR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same </a:t>
            </a:r>
            <a:r>
              <a:rPr lang="fr-FR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target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attaque</a:t>
            </a:r>
            <a:r>
              <a:rPr lang="fr-FR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Pattern 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tactiques MITRE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Kill-chain progression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</a:t>
            </a:r>
            <a:r>
              <a:rPr lang="fr-FR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steps of 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attaque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fr-FR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Time Window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— </a:t>
            </a:r>
            <a:r>
              <a:rPr lang="fr-FR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repeted </a:t>
            </a:r>
            <a:r>
              <a:rPr lang="en-US" sz="18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alertes </a:t>
            </a:r>
            <a:endParaRPr lang="en-US" sz="1600"/>
          </a:p>
          <a:p>
            <a:pPr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Observable Extraction: IP, host, container, MITRE → Correlation Engine: time window + IOC + MITRE overlap</a:t>
            </a:r>
            <a:endParaRPr lang="en-US" sz="1600"/>
          </a:p>
        </p:txBody>
      </p:sp>
      <p:sp>
        <p:nvSpPr>
          <p:cNvPr id="1916373241" name="Shape 9"/>
          <p:cNvSpPr/>
          <p:nvPr/>
        </p:nvSpPr>
        <p:spPr bwMode="auto">
          <a:xfrm>
            <a:off x="1016000" y="7112000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3404467" name="Text 10"/>
          <p:cNvSpPr/>
          <p:nvPr/>
        </p:nvSpPr>
        <p:spPr bwMode="auto">
          <a:xfrm>
            <a:off x="894080" y="7051040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CORRELATION EXAMPLE</a:t>
            </a:r>
            <a:endParaRPr lang="en-US" sz="1600"/>
          </a:p>
        </p:txBody>
      </p:sp>
      <p:sp>
        <p:nvSpPr>
          <p:cNvPr id="727821634" name="Shape 11"/>
          <p:cNvSpPr/>
          <p:nvPr/>
        </p:nvSpPr>
        <p:spPr bwMode="auto">
          <a:xfrm>
            <a:off x="1016000" y="7620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73620217" name="Shape 12"/>
          <p:cNvSpPr/>
          <p:nvPr/>
        </p:nvSpPr>
        <p:spPr bwMode="auto">
          <a:xfrm>
            <a:off x="1016000" y="7874000"/>
            <a:ext cx="6096000" cy="135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4779371" name="Shape 13"/>
          <p:cNvSpPr/>
          <p:nvPr/>
        </p:nvSpPr>
        <p:spPr bwMode="auto">
          <a:xfrm>
            <a:off x="1270000" y="7958709"/>
            <a:ext cx="558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09463926" name="Text 14"/>
          <p:cNvSpPr/>
          <p:nvPr/>
        </p:nvSpPr>
        <p:spPr bwMode="auto">
          <a:xfrm>
            <a:off x="1148080" y="7897749"/>
            <a:ext cx="583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defRPr/>
            </a:pPr>
            <a:r>
              <a:rPr lang="en-US" sz="17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Suricata</a:t>
            </a: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detecte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 port scan</a:t>
            </a:r>
            <a:endParaRPr lang="en-US" sz="1600"/>
          </a:p>
        </p:txBody>
      </p:sp>
      <p:sp>
        <p:nvSpPr>
          <p:cNvPr id="1965225078" name="Shape 15"/>
          <p:cNvSpPr/>
          <p:nvPr/>
        </p:nvSpPr>
        <p:spPr bwMode="auto">
          <a:xfrm>
            <a:off x="7196709" y="82127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7180862" name="Text 16"/>
          <p:cNvSpPr/>
          <p:nvPr/>
        </p:nvSpPr>
        <p:spPr bwMode="auto">
          <a:xfrm>
            <a:off x="7074789" y="8151749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3200">
                <a:solidFill>
                  <a:srgbClr val="64748B"/>
                </a:solidFill>
                <a:latin typeface="Liter"/>
                <a:ea typeface="Liter"/>
                <a:cs typeface="Liter"/>
              </a:rPr>
              <a:t>+</a:t>
            </a:r>
            <a:endParaRPr lang="en-US" sz="1600"/>
          </a:p>
        </p:txBody>
      </p:sp>
      <p:sp>
        <p:nvSpPr>
          <p:cNvPr id="1320553295" name="Shape 17"/>
          <p:cNvSpPr/>
          <p:nvPr/>
        </p:nvSpPr>
        <p:spPr bwMode="auto">
          <a:xfrm>
            <a:off x="7958709" y="7874000"/>
            <a:ext cx="6096000" cy="135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60370207" name="Shape 18"/>
          <p:cNvSpPr/>
          <p:nvPr/>
        </p:nvSpPr>
        <p:spPr bwMode="auto">
          <a:xfrm>
            <a:off x="8212709" y="7958709"/>
            <a:ext cx="558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18896940" name="Text 19"/>
          <p:cNvSpPr/>
          <p:nvPr/>
        </p:nvSpPr>
        <p:spPr bwMode="auto">
          <a:xfrm>
            <a:off x="8090789" y="7897749"/>
            <a:ext cx="583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defRPr/>
            </a:pPr>
            <a:r>
              <a:rPr lang="en-US" sz="17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Wazuh</a:t>
            </a: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detecte SSH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brute force (same IP)</a:t>
            </a:r>
            <a:endParaRPr lang="en-US" sz="1600"/>
          </a:p>
        </p:txBody>
      </p:sp>
      <p:sp>
        <p:nvSpPr>
          <p:cNvPr id="1514741123" name="Shape 20"/>
          <p:cNvSpPr/>
          <p:nvPr/>
        </p:nvSpPr>
        <p:spPr bwMode="auto">
          <a:xfrm>
            <a:off x="14139291" y="82127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0306956" name="Text 21"/>
          <p:cNvSpPr/>
          <p:nvPr/>
        </p:nvSpPr>
        <p:spPr bwMode="auto">
          <a:xfrm>
            <a:off x="14017371" y="8151749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3200">
                <a:solidFill>
                  <a:srgbClr val="64748B"/>
                </a:solidFill>
                <a:latin typeface="Liter"/>
                <a:ea typeface="Liter"/>
                <a:cs typeface="Liter"/>
              </a:rPr>
              <a:t>+</a:t>
            </a:r>
            <a:endParaRPr lang="en-US" sz="1600"/>
          </a:p>
        </p:txBody>
      </p:sp>
      <p:sp>
        <p:nvSpPr>
          <p:cNvPr id="486417185" name="Shape 22"/>
          <p:cNvSpPr/>
          <p:nvPr/>
        </p:nvSpPr>
        <p:spPr bwMode="auto">
          <a:xfrm>
            <a:off x="14901291" y="7874000"/>
            <a:ext cx="5757291" cy="135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4538505" name="Shape 23"/>
          <p:cNvSpPr/>
          <p:nvPr/>
        </p:nvSpPr>
        <p:spPr bwMode="auto">
          <a:xfrm>
            <a:off x="15155291" y="7958709"/>
            <a:ext cx="5249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11625795" name="Text 24"/>
          <p:cNvSpPr/>
          <p:nvPr/>
        </p:nvSpPr>
        <p:spPr bwMode="auto">
          <a:xfrm>
            <a:off x="15033371" y="7897749"/>
            <a:ext cx="5493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defRPr/>
            </a:pPr>
            <a:r>
              <a:rPr lang="en-US" sz="17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Falco</a:t>
            </a: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detecte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17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shell activity</a:t>
            </a:r>
            <a:endParaRPr lang="en-US" sz="1600"/>
          </a:p>
        </p:txBody>
      </p:sp>
      <p:sp>
        <p:nvSpPr>
          <p:cNvPr id="372142828" name="Shape 25"/>
          <p:cNvSpPr/>
          <p:nvPr/>
        </p:nvSpPr>
        <p:spPr bwMode="auto">
          <a:xfrm>
            <a:off x="1016000" y="9482709"/>
            <a:ext cx="19642709" cy="711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2469884" name="Shape 26"/>
          <p:cNvSpPr/>
          <p:nvPr/>
        </p:nvSpPr>
        <p:spPr bwMode="auto">
          <a:xfrm>
            <a:off x="1354709" y="9482709"/>
            <a:ext cx="18965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2802144" name="Text 27"/>
          <p:cNvSpPr/>
          <p:nvPr/>
        </p:nvSpPr>
        <p:spPr bwMode="auto">
          <a:xfrm>
            <a:off x="1232789" y="9421749"/>
            <a:ext cx="19209131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1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=</a:t>
            </a:r>
            <a:r>
              <a:rPr lang="en-US" sz="21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215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A </a:t>
            </a:r>
            <a:r>
              <a:rPr lang="en-US" sz="2150" b="1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high-severity incide</a:t>
            </a:r>
            <a:r>
              <a:rPr lang="en-US" sz="2150" b="1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n</a:t>
            </a:r>
            <a:r>
              <a:rPr lang="en-US" sz="2150" b="1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t</a:t>
            </a:r>
            <a:r>
              <a:rPr lang="en-US" sz="215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with </a:t>
            </a:r>
            <a:r>
              <a:rPr lang="en-US" sz="2150" b="1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high confidence</a:t>
            </a:r>
            <a:r>
              <a:rPr lang="en-US" sz="2150" b="0" i="0" u="none" strike="noStrike" cap="none" spc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: "SSH Brute Force &amp; Port Scan Campaign from 185.220.101.4"</a:t>
            </a:r>
            <a:endParaRPr lang="en-US" sz="1600"/>
          </a:p>
        </p:txBody>
      </p:sp>
      <p:sp>
        <p:nvSpPr>
          <p:cNvPr id="2131563998" name="Shape 28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41311357" name="Text 29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3 — Backend Intelligence</a:t>
            </a:r>
            <a:endParaRPr lang="en-US" sz="1600"/>
          </a:p>
        </p:txBody>
      </p:sp>
      <p:sp>
        <p:nvSpPr>
          <p:cNvPr id="1467596427" name="Shape 30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39199358" name="Text 31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22</a:t>
            </a:r>
            <a:endParaRPr lang="en-US" sz="1600"/>
          </a:p>
        </p:txBody>
      </p:sp>
      <p:pic>
        <p:nvPicPr>
          <p:cNvPr id="643400885" name="Slide Zoom 35">
            <a:hlinkClick r:id="rId3" action="ppaction://hlinksldjump"/>
          </p:cNvPr>
          <p:cNvPicPr>
            <a:picLocks noAdjustHandles="1" noChangeAspect="1" noChangeArrowheads="1" noChangeShapeType="1" noEditPoints="1" noGrp="1" noMove="1" noResize="1" noRot="1"/>
          </p:cNvPicPr>
          <p:nvPr/>
        </p:nvPicPr>
        <p:blipFill rotWithShape="1">
          <a:blip r:embed="rId4"/>
          <a:stretch/>
        </p:blipFill>
        <p:spPr bwMode="auto">
          <a:xfrm>
            <a:off x="1354645" y="2043977"/>
            <a:ext cx="8204961" cy="4614389"/>
          </a:xfrm>
          <a:prstGeom prst="rect">
            <a:avLst/>
          </a:prstGeom>
          <a:ln w="3175">
            <a:solidFill>
              <a:prstClr val="ltGray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961071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5850" y="4276725"/>
            <a:ext cx="19507200" cy="3638550"/>
          </a:xfrm>
          <a:prstGeom prst="rect">
            <a:avLst/>
          </a:prstGeom>
        </p:spPr>
      </p:pic>
      <p:sp>
        <p:nvSpPr>
          <p:cNvPr id="630663050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23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543963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71589286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23001698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STEP 3 — INVESTIGATION &amp; AI ENGINE</a:t>
            </a:r>
            <a:endParaRPr lang="en-US" sz="1600"/>
          </a:p>
        </p:txBody>
      </p:sp>
      <p:sp>
        <p:nvSpPr>
          <p:cNvPr id="1153037728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72789399" name="Shape 4"/>
          <p:cNvSpPr/>
          <p:nvPr/>
        </p:nvSpPr>
        <p:spPr bwMode="auto">
          <a:xfrm>
            <a:off x="1016000" y="4148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34152137" name="Text 5"/>
          <p:cNvSpPr/>
          <p:nvPr/>
        </p:nvSpPr>
        <p:spPr bwMode="auto">
          <a:xfrm>
            <a:off x="894080" y="4087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AUTOMATIC INVESTIGATION</a:t>
            </a:r>
            <a:endParaRPr lang="en-US" sz="1600"/>
          </a:p>
        </p:txBody>
      </p:sp>
      <p:sp>
        <p:nvSpPr>
          <p:cNvPr id="196786527" name="Shape 6"/>
          <p:cNvSpPr/>
          <p:nvPr/>
        </p:nvSpPr>
        <p:spPr bwMode="auto">
          <a:xfrm>
            <a:off x="1016000" y="4656709"/>
            <a:ext cx="9482709" cy="355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02659354" name="Shape 7"/>
          <p:cNvSpPr/>
          <p:nvPr/>
        </p:nvSpPr>
        <p:spPr bwMode="auto">
          <a:xfrm>
            <a:off x="1354709" y="4775200"/>
            <a:ext cx="8805291" cy="335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2553659" name="Text 8"/>
          <p:cNvSpPr/>
          <p:nvPr/>
        </p:nvSpPr>
        <p:spPr bwMode="auto">
          <a:xfrm>
            <a:off x="1232789" y="4714240"/>
            <a:ext cx="9049131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The </a:t>
            </a: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watcher </a:t>
            </a:r>
            <a:r>
              <a:rPr lang="en-US" sz="18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monitors </a:t>
            </a: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open incidents</a:t>
            </a:r>
            <a:r>
              <a:rPr lang="en-US" sz="18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and automatically creates investigations with rich context:</a:t>
            </a:r>
            <a:endParaRPr lang="en-US" sz="1600"/>
          </a:p>
          <a:p>
            <a:pPr>
              <a:lnSpc>
                <a:spcPct val="160000"/>
              </a:lnSpc>
              <a:spcBef>
                <a:spcPts val="500"/>
              </a:spcBef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Complete timeline of related alerts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IOCs: IPs, ports, services, domains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MITRE tactics and techniques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Behavioral &amp; auth patterns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Dynamic risk score</a:t>
            </a:r>
            <a:endParaRPr lang="en-US" sz="1600"/>
          </a:p>
        </p:txBody>
      </p:sp>
      <p:sp>
        <p:nvSpPr>
          <p:cNvPr id="1423608077" name="Shape 9"/>
          <p:cNvSpPr/>
          <p:nvPr/>
        </p:nvSpPr>
        <p:spPr bwMode="auto">
          <a:xfrm>
            <a:off x="11006709" y="4148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18588107" name="Text 10"/>
          <p:cNvSpPr/>
          <p:nvPr/>
        </p:nvSpPr>
        <p:spPr bwMode="auto">
          <a:xfrm>
            <a:off x="10884789" y="4087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AI RESPONSE ENGINE</a:t>
            </a:r>
            <a:endParaRPr lang="en-US" sz="1600"/>
          </a:p>
        </p:txBody>
      </p:sp>
      <p:sp>
        <p:nvSpPr>
          <p:cNvPr id="1026201613" name="Shape 11"/>
          <p:cNvSpPr/>
          <p:nvPr/>
        </p:nvSpPr>
        <p:spPr bwMode="auto">
          <a:xfrm>
            <a:off x="11006709" y="4656709"/>
            <a:ext cx="9652000" cy="355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5796575" name="Shape 12"/>
          <p:cNvSpPr/>
          <p:nvPr/>
        </p:nvSpPr>
        <p:spPr bwMode="auto">
          <a:xfrm>
            <a:off x="11345291" y="4775200"/>
            <a:ext cx="8974709" cy="335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21992525" name="Text 13"/>
          <p:cNvSpPr/>
          <p:nvPr/>
        </p:nvSpPr>
        <p:spPr bwMode="auto">
          <a:xfrm>
            <a:off x="11223371" y="4714240"/>
            <a:ext cx="921854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Automatically generates:</a:t>
            </a:r>
            <a:endParaRPr lang="en-US" sz="1600"/>
          </a:p>
          <a:p>
            <a:pPr>
              <a:lnSpc>
                <a:spcPct val="160000"/>
              </a:lnSpc>
              <a:spcBef>
                <a:spcPts val="500"/>
              </a:spcBef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Investigation summary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Attack chain narrative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Risk assessment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Playbook YAML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remediation</a:t>
            </a:r>
            <a:endParaRPr lang="en-US" sz="1600"/>
          </a:p>
          <a:p>
            <a:pPr>
              <a:lnSpc>
                <a:spcPct val="160000"/>
              </a:lnSpc>
              <a:spcBef>
                <a:spcPts val="500"/>
              </a:spcBef>
              <a:defRPr/>
            </a:pPr>
            <a:r>
              <a:rPr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YAML syntax validation + auto-approval check</a:t>
            </a:r>
            <a:endParaRPr lang="en-US" sz="1600"/>
          </a:p>
        </p:txBody>
      </p:sp>
      <p:sp>
        <p:nvSpPr>
          <p:cNvPr id="1531200827" name="Shape 14"/>
          <p:cNvSpPr/>
          <p:nvPr/>
        </p:nvSpPr>
        <p:spPr bwMode="auto">
          <a:xfrm>
            <a:off x="1016000" y="8297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36544930" name="Text 15"/>
          <p:cNvSpPr/>
          <p:nvPr/>
        </p:nvSpPr>
        <p:spPr bwMode="auto">
          <a:xfrm>
            <a:off x="894080" y="8236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SUPPORTED LLM PROVIDERS</a:t>
            </a:r>
            <a:endParaRPr lang="en-US" sz="1600"/>
          </a:p>
        </p:txBody>
      </p:sp>
      <p:sp>
        <p:nvSpPr>
          <p:cNvPr id="1761808104" name="Shape 16"/>
          <p:cNvSpPr/>
          <p:nvPr/>
        </p:nvSpPr>
        <p:spPr bwMode="auto">
          <a:xfrm>
            <a:off x="1016000" y="8805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10402732" name="Shape 17"/>
          <p:cNvSpPr/>
          <p:nvPr/>
        </p:nvSpPr>
        <p:spPr bwMode="auto">
          <a:xfrm>
            <a:off x="1016000" y="9296400"/>
            <a:ext cx="4572000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0997077" name="Shape 18"/>
          <p:cNvSpPr/>
          <p:nvPr/>
        </p:nvSpPr>
        <p:spPr bwMode="auto">
          <a:xfrm>
            <a:off x="1016000" y="9296400"/>
            <a:ext cx="4572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44788144" name="Text 19"/>
          <p:cNvSpPr/>
          <p:nvPr/>
        </p:nvSpPr>
        <p:spPr bwMode="auto">
          <a:xfrm>
            <a:off x="894080" y="9235440"/>
            <a:ext cx="4815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FFFFFF"/>
                </a:solidFill>
                <a:latin typeface="Liter"/>
                <a:ea typeface="Liter"/>
                <a:cs typeface="Liter"/>
              </a:rPr>
              <a:t>Ollama (Local)</a:t>
            </a:r>
            <a:endParaRPr lang="en-US" sz="1600"/>
          </a:p>
        </p:txBody>
      </p:sp>
      <p:sp>
        <p:nvSpPr>
          <p:cNvPr id="850958441" name="Shape 20"/>
          <p:cNvSpPr/>
          <p:nvPr/>
        </p:nvSpPr>
        <p:spPr bwMode="auto">
          <a:xfrm>
            <a:off x="5926709" y="9296400"/>
            <a:ext cx="4572000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14465181" name="Shape 21"/>
          <p:cNvSpPr/>
          <p:nvPr/>
        </p:nvSpPr>
        <p:spPr bwMode="auto">
          <a:xfrm>
            <a:off x="5926709" y="9296400"/>
            <a:ext cx="4572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47863147" name="Text 22"/>
          <p:cNvSpPr/>
          <p:nvPr/>
        </p:nvSpPr>
        <p:spPr bwMode="auto">
          <a:xfrm>
            <a:off x="5804789" y="9235440"/>
            <a:ext cx="4815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FFFFFF"/>
                </a:solidFill>
                <a:latin typeface="Liter"/>
                <a:ea typeface="Liter"/>
                <a:cs typeface="Liter"/>
              </a:rPr>
              <a:t>Google Gemini</a:t>
            </a:r>
            <a:endParaRPr lang="en-US" sz="1600"/>
          </a:p>
        </p:txBody>
      </p:sp>
      <p:sp>
        <p:nvSpPr>
          <p:cNvPr id="516359406" name="Shape 23"/>
          <p:cNvSpPr/>
          <p:nvPr/>
        </p:nvSpPr>
        <p:spPr bwMode="auto">
          <a:xfrm>
            <a:off x="10837291" y="9296400"/>
            <a:ext cx="4572000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85915972" name="Shape 24"/>
          <p:cNvSpPr/>
          <p:nvPr/>
        </p:nvSpPr>
        <p:spPr bwMode="auto">
          <a:xfrm>
            <a:off x="10837291" y="9296400"/>
            <a:ext cx="4572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7948386" name="Text 25"/>
          <p:cNvSpPr/>
          <p:nvPr/>
        </p:nvSpPr>
        <p:spPr bwMode="auto">
          <a:xfrm>
            <a:off x="10715371" y="9235440"/>
            <a:ext cx="4815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FFFFFF"/>
                </a:solidFill>
                <a:latin typeface="Liter"/>
                <a:ea typeface="Liter"/>
                <a:cs typeface="Liter"/>
              </a:rPr>
              <a:t>OpenRouter</a:t>
            </a:r>
            <a:endParaRPr lang="en-US" sz="1600"/>
          </a:p>
        </p:txBody>
      </p:sp>
      <p:sp>
        <p:nvSpPr>
          <p:cNvPr id="1042756499" name="Shape 26"/>
          <p:cNvSpPr/>
          <p:nvPr/>
        </p:nvSpPr>
        <p:spPr bwMode="auto">
          <a:xfrm>
            <a:off x="15748000" y="9296400"/>
            <a:ext cx="4910709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69064920" name="Shape 27"/>
          <p:cNvSpPr/>
          <p:nvPr/>
        </p:nvSpPr>
        <p:spPr bwMode="auto">
          <a:xfrm>
            <a:off x="15748000" y="9296400"/>
            <a:ext cx="4910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57425845" name="Text 28"/>
          <p:cNvSpPr/>
          <p:nvPr/>
        </p:nvSpPr>
        <p:spPr bwMode="auto">
          <a:xfrm>
            <a:off x="15626080" y="9235440"/>
            <a:ext cx="5154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FFFFFF"/>
                </a:solidFill>
                <a:latin typeface="Liter"/>
                <a:ea typeface="Liter"/>
                <a:cs typeface="Liter"/>
              </a:rPr>
              <a:t>NVIDIA NIM</a:t>
            </a:r>
            <a:endParaRPr lang="en-US" sz="1600"/>
          </a:p>
        </p:txBody>
      </p:sp>
      <p:sp>
        <p:nvSpPr>
          <p:cNvPr id="927650430" name="Shape 29"/>
          <p:cNvSpPr/>
          <p:nvPr/>
        </p:nvSpPr>
        <p:spPr bwMode="auto">
          <a:xfrm>
            <a:off x="1016000" y="10244709"/>
            <a:ext cx="19642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80978782" name="Text 30"/>
          <p:cNvSpPr/>
          <p:nvPr/>
        </p:nvSpPr>
        <p:spPr bwMode="auto">
          <a:xfrm>
            <a:off x="894080" y="10183749"/>
            <a:ext cx="19886549" cy="968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defRPr/>
            </a:pPr>
            <a:r>
              <a:rPr lang="en-US" sz="1850" i="1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Important: The system does not execute blindly — output goes through approval and validation before any action.</a:t>
            </a:r>
            <a:endParaRPr lang="en-US" sz="1600"/>
          </a:p>
        </p:txBody>
      </p:sp>
      <p:sp>
        <p:nvSpPr>
          <p:cNvPr id="176101015" name="Shape 31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9230599" name="Text 32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3 — Backend Intelligence</a:t>
            </a:r>
            <a:endParaRPr lang="en-US" sz="1600"/>
          </a:p>
        </p:txBody>
      </p:sp>
      <p:sp>
        <p:nvSpPr>
          <p:cNvPr id="1519485599" name="Text 34"/>
          <p:cNvSpPr/>
          <p:nvPr/>
        </p:nvSpPr>
        <p:spPr bwMode="auto">
          <a:xfrm>
            <a:off x="19859498" y="1147737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24</a:t>
            </a:r>
            <a:endParaRPr lang="en-US" sz="1600"/>
          </a:p>
        </p:txBody>
      </p:sp>
      <p:pic>
        <p:nvPicPr>
          <p:cNvPr id="280624096" name="Slide Zoom 38">
            <a:hlinkClick r:id="rId3" action="ppaction://hlinksldjump"/>
          </p:cNvPr>
          <p:cNvPicPr>
            <a:picLocks noAdjustHandles="1" noChangeAspect="1" noChangeArrowheads="1" noChangeShapeType="1" noEditPoints="1" noGrp="1" noMove="1" noResize="1" noRot="1"/>
          </p:cNvPicPr>
          <p:nvPr/>
        </p:nvPicPr>
        <p:blipFill rotWithShape="1">
          <a:blip r:embed="rId4"/>
          <a:stretch/>
        </p:blipFill>
        <p:spPr bwMode="auto">
          <a:xfrm>
            <a:off x="3374934" y="2032762"/>
            <a:ext cx="13813971" cy="1757970"/>
          </a:xfrm>
          <a:prstGeom prst="rect">
            <a:avLst/>
          </a:prstGeom>
          <a:ln w="3175">
            <a:solidFill>
              <a:prstClr val="ltGray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970272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5850" y="5562600"/>
            <a:ext cx="19507200" cy="1066800"/>
          </a:xfrm>
          <a:prstGeom prst="rect">
            <a:avLst/>
          </a:prstGeom>
        </p:spPr>
      </p:pic>
      <p:sp>
        <p:nvSpPr>
          <p:cNvPr id="852935054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25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263537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759236866" name="Shape 1"/>
          <p:cNvSpPr/>
          <p:nvPr/>
        </p:nvSpPr>
        <p:spPr bwMode="auto">
          <a:xfrm>
            <a:off x="1016000" y="982090"/>
            <a:ext cx="1693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40690515" name="Text 2"/>
          <p:cNvSpPr/>
          <p:nvPr/>
        </p:nvSpPr>
        <p:spPr bwMode="auto">
          <a:xfrm>
            <a:off x="894080" y="921131"/>
            <a:ext cx="1717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STEP 4 — APPROVAL, EXECUTION &amp; VERIFICATION</a:t>
            </a:r>
            <a:endParaRPr lang="en-US" sz="1600"/>
          </a:p>
        </p:txBody>
      </p:sp>
      <p:sp>
        <p:nvSpPr>
          <p:cNvPr id="317827447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3194360" name="Shape 4"/>
          <p:cNvSpPr/>
          <p:nvPr/>
        </p:nvSpPr>
        <p:spPr bwMode="auto">
          <a:xfrm>
            <a:off x="1016000" y="3979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68658275" name="Text 5"/>
          <p:cNvSpPr/>
          <p:nvPr/>
        </p:nvSpPr>
        <p:spPr bwMode="auto">
          <a:xfrm>
            <a:off x="894080" y="3918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APPROVAL TYPES</a:t>
            </a:r>
            <a:endParaRPr lang="en-US" sz="1600"/>
          </a:p>
        </p:txBody>
      </p:sp>
      <p:sp>
        <p:nvSpPr>
          <p:cNvPr id="1562361787" name="Shape 6"/>
          <p:cNvSpPr/>
          <p:nvPr/>
        </p:nvSpPr>
        <p:spPr bwMode="auto">
          <a:xfrm>
            <a:off x="1016000" y="4538091"/>
            <a:ext cx="6265291" cy="121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56396825" name="Shape 7"/>
          <p:cNvSpPr/>
          <p:nvPr/>
        </p:nvSpPr>
        <p:spPr bwMode="auto">
          <a:xfrm>
            <a:off x="1016000" y="4538091"/>
            <a:ext cx="67691" cy="152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83469608" name="Shape 8"/>
          <p:cNvSpPr/>
          <p:nvPr/>
        </p:nvSpPr>
        <p:spPr bwMode="auto">
          <a:xfrm>
            <a:off x="1320800" y="4656709"/>
            <a:ext cx="5757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280828" name="Text 9"/>
          <p:cNvSpPr/>
          <p:nvPr/>
        </p:nvSpPr>
        <p:spPr bwMode="auto">
          <a:xfrm>
            <a:off x="1198880" y="4595749"/>
            <a:ext cx="6001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MANUAL</a:t>
            </a:r>
            <a:endParaRPr lang="en-US" sz="1600"/>
          </a:p>
        </p:txBody>
      </p:sp>
      <p:sp>
        <p:nvSpPr>
          <p:cNvPr id="982759861" name="Shape 10"/>
          <p:cNvSpPr/>
          <p:nvPr/>
        </p:nvSpPr>
        <p:spPr bwMode="auto">
          <a:xfrm>
            <a:off x="1320800" y="5130800"/>
            <a:ext cx="5757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4389400" name="Text 11"/>
          <p:cNvSpPr/>
          <p:nvPr/>
        </p:nvSpPr>
        <p:spPr bwMode="auto">
          <a:xfrm>
            <a:off x="1198880" y="5069840"/>
            <a:ext cx="6001131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The analyst examines and decides on the action</a:t>
            </a:r>
            <a:endParaRPr lang="en-US" sz="1600"/>
          </a:p>
        </p:txBody>
      </p:sp>
      <p:sp>
        <p:nvSpPr>
          <p:cNvPr id="169741710" name="Shape 12"/>
          <p:cNvSpPr/>
          <p:nvPr/>
        </p:nvSpPr>
        <p:spPr bwMode="auto">
          <a:xfrm>
            <a:off x="7620000" y="4538091"/>
            <a:ext cx="6265291" cy="121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9948533" name="Shape 13"/>
          <p:cNvSpPr/>
          <p:nvPr/>
        </p:nvSpPr>
        <p:spPr bwMode="auto">
          <a:xfrm>
            <a:off x="7620000" y="4538091"/>
            <a:ext cx="67691" cy="152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8214695" name="Shape 14"/>
          <p:cNvSpPr/>
          <p:nvPr/>
        </p:nvSpPr>
        <p:spPr bwMode="auto">
          <a:xfrm>
            <a:off x="7924800" y="4656709"/>
            <a:ext cx="5757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64659126" name="Text 15"/>
          <p:cNvSpPr/>
          <p:nvPr/>
        </p:nvSpPr>
        <p:spPr bwMode="auto">
          <a:xfrm>
            <a:off x="7802880" y="4595749"/>
            <a:ext cx="6001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AUTO-APPROVED</a:t>
            </a:r>
            <a:endParaRPr lang="en-US" sz="1600"/>
          </a:p>
        </p:txBody>
      </p:sp>
      <p:sp>
        <p:nvSpPr>
          <p:cNvPr id="75187198" name="Shape 16"/>
          <p:cNvSpPr/>
          <p:nvPr/>
        </p:nvSpPr>
        <p:spPr bwMode="auto">
          <a:xfrm>
            <a:off x="7924800" y="5130800"/>
            <a:ext cx="5757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9454342" name="Text 17"/>
          <p:cNvSpPr/>
          <p:nvPr/>
        </p:nvSpPr>
        <p:spPr bwMode="auto">
          <a:xfrm>
            <a:off x="7802880" y="5069840"/>
            <a:ext cx="6001131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Low-risk cases only</a:t>
            </a:r>
            <a:endParaRPr lang="en-US" sz="1600"/>
          </a:p>
        </p:txBody>
      </p:sp>
      <p:sp>
        <p:nvSpPr>
          <p:cNvPr id="2023284165" name="Shape 18"/>
          <p:cNvSpPr/>
          <p:nvPr/>
        </p:nvSpPr>
        <p:spPr bwMode="auto">
          <a:xfrm>
            <a:off x="14224000" y="4538091"/>
            <a:ext cx="6434709" cy="121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60204410" name="Shape 19"/>
          <p:cNvSpPr/>
          <p:nvPr/>
        </p:nvSpPr>
        <p:spPr bwMode="auto">
          <a:xfrm>
            <a:off x="14224000" y="4538091"/>
            <a:ext cx="67691" cy="1524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146214131" name="Shape 20"/>
          <p:cNvSpPr/>
          <p:nvPr/>
        </p:nvSpPr>
        <p:spPr bwMode="auto">
          <a:xfrm>
            <a:off x="14528800" y="4656709"/>
            <a:ext cx="5926709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26939711" name="Text 21"/>
          <p:cNvSpPr/>
          <p:nvPr/>
        </p:nvSpPr>
        <p:spPr bwMode="auto">
          <a:xfrm>
            <a:off x="14406880" y="4595749"/>
            <a:ext cx="6170549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150">
                <a:solidFill>
                  <a:srgbClr val="1B2A4A"/>
                </a:solidFill>
                <a:latin typeface="Liter"/>
                <a:ea typeface="Liter"/>
                <a:cs typeface="Liter"/>
              </a:rPr>
              <a:t>BLOCKED</a:t>
            </a:r>
            <a:endParaRPr lang="en-US" sz="1600"/>
          </a:p>
        </p:txBody>
      </p:sp>
      <p:sp>
        <p:nvSpPr>
          <p:cNvPr id="1459051018" name="Shape 22"/>
          <p:cNvSpPr/>
          <p:nvPr/>
        </p:nvSpPr>
        <p:spPr bwMode="auto">
          <a:xfrm>
            <a:off x="14528800" y="5130800"/>
            <a:ext cx="5926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0976526" name="Text 23"/>
          <p:cNvSpPr/>
          <p:nvPr/>
        </p:nvSpPr>
        <p:spPr bwMode="auto">
          <a:xfrm>
            <a:off x="14406880" y="5069840"/>
            <a:ext cx="6170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Critical / high-risk cases</a:t>
            </a:r>
            <a:endParaRPr lang="en-US" sz="1600"/>
          </a:p>
        </p:txBody>
      </p:sp>
      <p:sp>
        <p:nvSpPr>
          <p:cNvPr id="846934782" name="Shape 24"/>
          <p:cNvSpPr/>
          <p:nvPr/>
        </p:nvSpPr>
        <p:spPr bwMode="auto">
          <a:xfrm>
            <a:off x="1016000" y="6434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65668820" name="Text 25"/>
          <p:cNvSpPr/>
          <p:nvPr/>
        </p:nvSpPr>
        <p:spPr bwMode="auto">
          <a:xfrm>
            <a:off x="894080" y="6373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EXECUTION CONTROLS</a:t>
            </a:r>
            <a:endParaRPr lang="en-US" sz="1600"/>
          </a:p>
        </p:txBody>
      </p:sp>
      <p:sp>
        <p:nvSpPr>
          <p:cNvPr id="695155468" name="Shape 26"/>
          <p:cNvSpPr/>
          <p:nvPr/>
        </p:nvSpPr>
        <p:spPr bwMode="auto">
          <a:xfrm>
            <a:off x="1016000" y="6942709"/>
            <a:ext cx="9482709" cy="2032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98763055" name="Shape 27"/>
          <p:cNvSpPr/>
          <p:nvPr/>
        </p:nvSpPr>
        <p:spPr bwMode="auto">
          <a:xfrm>
            <a:off x="1354709" y="7027291"/>
            <a:ext cx="8805291" cy="1896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4250355" name="Text 28"/>
          <p:cNvSpPr/>
          <p:nvPr/>
        </p:nvSpPr>
        <p:spPr bwMode="auto">
          <a:xfrm>
            <a:off x="1232789" y="6966331"/>
            <a:ext cx="9049131" cy="2018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YAML playbook syntax validation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Pre-execution SSH connectivity verification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Target whitelist protection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Complete execution logging</a:t>
            </a:r>
            <a:endParaRPr lang="en-US" sz="1600"/>
          </a:p>
        </p:txBody>
      </p:sp>
      <p:sp>
        <p:nvSpPr>
          <p:cNvPr id="2017527473" name="Shape 29"/>
          <p:cNvSpPr/>
          <p:nvPr/>
        </p:nvSpPr>
        <p:spPr bwMode="auto">
          <a:xfrm>
            <a:off x="11006709" y="6434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68457529" name="Text 30"/>
          <p:cNvSpPr/>
          <p:nvPr/>
        </p:nvSpPr>
        <p:spPr bwMode="auto">
          <a:xfrm>
            <a:off x="10884789" y="6373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VERIFICATION RESULTS</a:t>
            </a:r>
            <a:endParaRPr lang="en-US" sz="1600"/>
          </a:p>
        </p:txBody>
      </p:sp>
      <p:graphicFrame>
        <p:nvGraphicFramePr>
          <p:cNvPr id="2142382836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1006709" y="6942709"/>
          <a:ext cx="9652000" cy="1862708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860800"/>
                <a:gridCol w="5791200"/>
              </a:tblGrid>
              <a:tr h="46567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Status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Meaning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46567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likely_fixed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Success, no new alerts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567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not_fixed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Alerts continue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6567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inconclusive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Remaining ambiguous signals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9696861" name="Shape 31"/>
          <p:cNvSpPr/>
          <p:nvPr/>
        </p:nvSpPr>
        <p:spPr bwMode="auto">
          <a:xfrm>
            <a:off x="1016000" y="9228709"/>
            <a:ext cx="19642709" cy="1693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31096875" name="Shape 32"/>
          <p:cNvSpPr/>
          <p:nvPr/>
        </p:nvSpPr>
        <p:spPr bwMode="auto">
          <a:xfrm>
            <a:off x="1354709" y="9398000"/>
            <a:ext cx="18965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14916033" name="Text 33"/>
          <p:cNvSpPr/>
          <p:nvPr/>
        </p:nvSpPr>
        <p:spPr bwMode="auto">
          <a:xfrm>
            <a:off x="1232789" y="9337040"/>
            <a:ext cx="19209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200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Fundamental principle:</a:t>
            </a:r>
            <a:r>
              <a:rPr lang="en-US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</a:rPr>
              <a:t> The backend never executes blindly. Every remediation action goes through a controlled approval workflow with complete audit — from detection to archiving.</a:t>
            </a:r>
            <a:endParaRPr lang="en-US" sz="1600"/>
          </a:p>
        </p:txBody>
      </p:sp>
      <p:sp>
        <p:nvSpPr>
          <p:cNvPr id="1232949847" name="Shape 34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97548149" name="Text 35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3 — Backend Intelligence</a:t>
            </a:r>
            <a:endParaRPr lang="en-US" sz="1600"/>
          </a:p>
        </p:txBody>
      </p:sp>
      <p:sp>
        <p:nvSpPr>
          <p:cNvPr id="1475428282" name="Shape 36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72447966" name="Text 37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26</a:t>
            </a:r>
            <a:endParaRPr lang="en-US" sz="1600"/>
          </a:p>
        </p:txBody>
      </p:sp>
      <p:pic>
        <p:nvPicPr>
          <p:cNvPr id="1089741715" name="Slide Zoom 42">
            <a:hlinkClick r:id="rId3" action="ppaction://hlinksldjump"/>
          </p:cNvPr>
          <p:cNvPicPr>
            <a:picLocks noAdjustHandles="1" noChangeAspect="1" noChangeArrowheads="1" noChangeShapeType="1" noEditPoints="1" noGrp="1" noMove="1" noResize="1" noRot="1"/>
          </p:cNvPicPr>
          <p:nvPr/>
        </p:nvPicPr>
        <p:blipFill rotWithShape="1">
          <a:blip r:embed="rId4"/>
          <a:stretch/>
        </p:blipFill>
        <p:spPr bwMode="auto">
          <a:xfrm>
            <a:off x="3217354" y="1970913"/>
            <a:ext cx="15240000" cy="1839087"/>
          </a:xfrm>
          <a:prstGeom prst="rect">
            <a:avLst/>
          </a:prstGeom>
          <a:ln w="3175">
            <a:solidFill>
              <a:prstClr val="ltGray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6532045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250" y="5445472"/>
            <a:ext cx="21488400" cy="1301056"/>
          </a:xfrm>
          <a:prstGeom prst="rect">
            <a:avLst/>
          </a:prstGeom>
        </p:spPr>
      </p:pic>
      <p:sp>
        <p:nvSpPr>
          <p:cNvPr id="2023630302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27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860305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36502404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96637204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3 — OPERATIONAL MODULES</a:t>
            </a:r>
            <a:endParaRPr lang="en-US" sz="1600"/>
          </a:p>
        </p:txBody>
      </p:sp>
      <p:sp>
        <p:nvSpPr>
          <p:cNvPr id="1646301797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16180569" name="Shape 4"/>
          <p:cNvSpPr/>
          <p:nvPr/>
        </p:nvSpPr>
        <p:spPr bwMode="auto">
          <a:xfrm>
            <a:off x="1016000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53839790" name="Shape 5"/>
          <p:cNvSpPr/>
          <p:nvPr/>
        </p:nvSpPr>
        <p:spPr bwMode="auto">
          <a:xfrm>
            <a:off x="1016000" y="2032000"/>
            <a:ext cx="9567291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9629946" name="Shape 6"/>
          <p:cNvSpPr/>
          <p:nvPr/>
        </p:nvSpPr>
        <p:spPr bwMode="auto">
          <a:xfrm>
            <a:off x="1354709" y="2370709"/>
            <a:ext cx="474091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92845999" name="Shape 7"/>
          <p:cNvSpPr/>
          <p:nvPr/>
        </p:nvSpPr>
        <p:spPr bwMode="auto">
          <a:xfrm>
            <a:off x="1998091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11956455" name="Text 8"/>
          <p:cNvSpPr/>
          <p:nvPr/>
        </p:nvSpPr>
        <p:spPr bwMode="auto">
          <a:xfrm>
            <a:off x="1876171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PERFORMANCE MONITORING</a:t>
            </a:r>
            <a:endParaRPr lang="en-US" sz="1600"/>
          </a:p>
        </p:txBody>
      </p:sp>
      <p:sp>
        <p:nvSpPr>
          <p:cNvPr id="428647978" name="Shape 9"/>
          <p:cNvSpPr/>
          <p:nvPr/>
        </p:nvSpPr>
        <p:spPr bwMode="auto">
          <a:xfrm>
            <a:off x="1354709" y="3014091"/>
            <a:ext cx="8974709" cy="2743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1376779" name="Text 10"/>
          <p:cNvSpPr/>
          <p:nvPr/>
        </p:nvSpPr>
        <p:spPr bwMode="auto">
          <a:xfrm>
            <a:off x="1232789" y="2953131"/>
            <a:ext cx="9218549" cy="286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Continuous polling of metrics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telegraf-*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Anomaly detection by thresholds and statistical baselines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Performance investigation creation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Generation of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playbooks de remediation dynamiques</a:t>
            </a:r>
            <a:endParaRPr lang="en-US" sz="1600"/>
          </a:p>
          <a:p>
            <a:pPr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Metrics: CPU, RAM, disk, network, load, processes, TCP</a:t>
            </a:r>
            <a:endParaRPr lang="en-US" sz="1600"/>
          </a:p>
        </p:txBody>
      </p:sp>
      <p:sp>
        <p:nvSpPr>
          <p:cNvPr id="1564794246" name="Shape 11"/>
          <p:cNvSpPr/>
          <p:nvPr/>
        </p:nvSpPr>
        <p:spPr bwMode="auto">
          <a:xfrm>
            <a:off x="11091291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4135094" name="Shape 12"/>
          <p:cNvSpPr/>
          <p:nvPr/>
        </p:nvSpPr>
        <p:spPr bwMode="auto">
          <a:xfrm>
            <a:off x="11091291" y="2032000"/>
            <a:ext cx="9567291" cy="676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59912961" name="Shape 13"/>
          <p:cNvSpPr/>
          <p:nvPr/>
        </p:nvSpPr>
        <p:spPr bwMode="auto">
          <a:xfrm>
            <a:off x="11430000" y="2370709"/>
            <a:ext cx="474091" cy="4740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6499618" name="Shape 14"/>
          <p:cNvSpPr/>
          <p:nvPr/>
        </p:nvSpPr>
        <p:spPr bwMode="auto">
          <a:xfrm>
            <a:off x="12073509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4515904" name="Text 15"/>
          <p:cNvSpPr/>
          <p:nvPr/>
        </p:nvSpPr>
        <p:spPr bwMode="auto">
          <a:xfrm>
            <a:off x="11951589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IPS ATTACK VISUALIZATION</a:t>
            </a:r>
            <a:endParaRPr lang="en-US" sz="1600"/>
          </a:p>
        </p:txBody>
      </p:sp>
      <p:sp>
        <p:nvSpPr>
          <p:cNvPr id="869280548" name="Shape 16"/>
          <p:cNvSpPr/>
          <p:nvPr/>
        </p:nvSpPr>
        <p:spPr bwMode="auto">
          <a:xfrm>
            <a:off x="11430000" y="3014091"/>
            <a:ext cx="8974709" cy="2743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39996700" name="Text 17"/>
          <p:cNvSpPr/>
          <p:nvPr/>
        </p:nvSpPr>
        <p:spPr bwMode="auto">
          <a:xfrm>
            <a:off x="11308080" y="2953131"/>
            <a:ext cx="9218549" cy="286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Geo-enriched </a:t>
            </a:r>
            <a:r>
              <a:rPr lang="en-US" sz="18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global map of attacks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Attack paths with lifecycle status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Real-time events on the map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Attack statistics and categories</a:t>
            </a:r>
            <a:endParaRPr lang="en-US" sz="1600"/>
          </a:p>
          <a:p>
            <a:pPr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Categorys: brute-force, web attack, recon, malware, DoS, </a:t>
            </a:r>
            <a:endParaRPr lang="en-US" sz="1600"/>
          </a:p>
        </p:txBody>
      </p:sp>
      <p:sp>
        <p:nvSpPr>
          <p:cNvPr id="819555690" name="Shape 18"/>
          <p:cNvSpPr/>
          <p:nvPr/>
        </p:nvSpPr>
        <p:spPr bwMode="auto">
          <a:xfrm>
            <a:off x="1016000" y="6773291"/>
            <a:ext cx="9567291" cy="406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13086110" name="Shape 19"/>
          <p:cNvSpPr/>
          <p:nvPr/>
        </p:nvSpPr>
        <p:spPr bwMode="auto">
          <a:xfrm>
            <a:off x="1016000" y="6773291"/>
            <a:ext cx="9567291" cy="676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2903918" name="Shape 20"/>
          <p:cNvSpPr/>
          <p:nvPr/>
        </p:nvSpPr>
        <p:spPr bwMode="auto">
          <a:xfrm>
            <a:off x="1324991" y="7112000"/>
            <a:ext cx="533400" cy="474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41891059" name="Shape 21"/>
          <p:cNvSpPr/>
          <p:nvPr/>
        </p:nvSpPr>
        <p:spPr bwMode="auto">
          <a:xfrm>
            <a:off x="1998091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69356899" name="Text 22"/>
          <p:cNvSpPr/>
          <p:nvPr/>
        </p:nvSpPr>
        <p:spPr bwMode="auto">
          <a:xfrm>
            <a:off x="1876171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AI ASSISTANT</a:t>
            </a:r>
            <a:endParaRPr lang="en-US" sz="1600"/>
          </a:p>
        </p:txBody>
      </p:sp>
      <p:sp>
        <p:nvSpPr>
          <p:cNvPr id="1667851478" name="Shape 23"/>
          <p:cNvSpPr/>
          <p:nvPr/>
        </p:nvSpPr>
        <p:spPr bwMode="auto">
          <a:xfrm>
            <a:off x="1354709" y="7755509"/>
            <a:ext cx="8974709" cy="245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91076257" name="Text 24"/>
          <p:cNvSpPr/>
          <p:nvPr/>
        </p:nvSpPr>
        <p:spPr bwMode="auto">
          <a:xfrm>
            <a:off x="1232789" y="7694548"/>
            <a:ext cx="9218549" cy="257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Interface conversationnelle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pour les analystes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Contextual questions with enriched answers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Answers based on real SOC data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Approved actions: approve, decline, execute, archive</a:t>
            </a:r>
            <a:endParaRPr lang="en-US" sz="1600"/>
          </a:p>
          <a:p>
            <a:pPr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Flow: Question → Keyword extraction → Deep entity fetch → Context prompt → LLM Answer</a:t>
            </a:r>
            <a:endParaRPr lang="en-US" sz="1600"/>
          </a:p>
        </p:txBody>
      </p:sp>
      <p:sp>
        <p:nvSpPr>
          <p:cNvPr id="589976231" name="Shape 25"/>
          <p:cNvSpPr/>
          <p:nvPr/>
        </p:nvSpPr>
        <p:spPr bwMode="auto">
          <a:xfrm>
            <a:off x="11091291" y="6773291"/>
            <a:ext cx="9567291" cy="406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3721539" name="Shape 26"/>
          <p:cNvSpPr/>
          <p:nvPr/>
        </p:nvSpPr>
        <p:spPr bwMode="auto">
          <a:xfrm>
            <a:off x="11091291" y="6773291"/>
            <a:ext cx="9567291" cy="676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2255489" name="Shape 27"/>
          <p:cNvSpPr/>
          <p:nvPr/>
        </p:nvSpPr>
        <p:spPr bwMode="auto">
          <a:xfrm>
            <a:off x="11430000" y="7112000"/>
            <a:ext cx="474091" cy="4740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11746883" name="Shape 28"/>
          <p:cNvSpPr/>
          <p:nvPr/>
        </p:nvSpPr>
        <p:spPr bwMode="auto">
          <a:xfrm>
            <a:off x="12073509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47054340" name="Text 29"/>
          <p:cNvSpPr/>
          <p:nvPr/>
        </p:nvSpPr>
        <p:spPr bwMode="auto">
          <a:xfrm>
            <a:off x="11951589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AI OPERATOR</a:t>
            </a:r>
            <a:endParaRPr lang="en-US" sz="1600"/>
          </a:p>
        </p:txBody>
      </p:sp>
      <p:sp>
        <p:nvSpPr>
          <p:cNvPr id="394550625" name="Shape 30"/>
          <p:cNvSpPr/>
          <p:nvPr/>
        </p:nvSpPr>
        <p:spPr bwMode="auto">
          <a:xfrm>
            <a:off x="11430000" y="7755509"/>
            <a:ext cx="8974709" cy="245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46917762" name="Text 31"/>
          <p:cNvSpPr/>
          <p:nvPr/>
        </p:nvSpPr>
        <p:spPr bwMode="auto">
          <a:xfrm>
            <a:off x="11308080" y="7694548"/>
            <a:ext cx="9218549" cy="257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Natural language → Ansible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Translation of operational queries into playbooks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Controlled execution with approval gate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Structured results and analysis</a:t>
            </a:r>
            <a:endParaRPr lang="en-US" sz="1600"/>
          </a:p>
          <a:p>
            <a:pPr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60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Templates: RAM, disk, CPU, ports, services, Docker, packages</a:t>
            </a:r>
            <a:endParaRPr lang="en-US" sz="1600"/>
          </a:p>
        </p:txBody>
      </p:sp>
      <p:sp>
        <p:nvSpPr>
          <p:cNvPr id="1361324783" name="Shape 32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818600" name="Text 33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Phase 3 — Backend Intelligence</a:t>
            </a:r>
            <a:endParaRPr lang="en-US" sz="1600"/>
          </a:p>
        </p:txBody>
      </p:sp>
      <p:sp>
        <p:nvSpPr>
          <p:cNvPr id="44692128" name="Shape 34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06692120" name="Text 35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28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59531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19042003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07</a:t>
            </a:r>
            <a:endParaRPr lang="en-US" sz="1600"/>
          </a:p>
        </p:txBody>
      </p:sp>
      <p:sp>
        <p:nvSpPr>
          <p:cNvPr id="679157901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66874144" name="Shape 3"/>
          <p:cNvSpPr/>
          <p:nvPr/>
        </p:nvSpPr>
        <p:spPr bwMode="auto">
          <a:xfrm>
            <a:off x="1693291" y="4741291"/>
            <a:ext cx="1778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5539833" name="Text 4"/>
          <p:cNvSpPr/>
          <p:nvPr/>
        </p:nvSpPr>
        <p:spPr bwMode="auto">
          <a:xfrm>
            <a:off x="1571371" y="4680331"/>
            <a:ext cx="1802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FUNCTIONAL &amp; NON-FUNCTIONAL REQUIREMENTS</a:t>
            </a:r>
            <a:endParaRPr lang="en-US" sz="1600"/>
          </a:p>
        </p:txBody>
      </p:sp>
      <p:sp>
        <p:nvSpPr>
          <p:cNvPr id="338089688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25942037" name="Text 6"/>
          <p:cNvSpPr/>
          <p:nvPr/>
        </p:nvSpPr>
        <p:spPr bwMode="auto"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Complete specification of SOC platform requirements</a:t>
            </a:r>
            <a:endParaRPr lang="en-US" sz="1600"/>
          </a:p>
        </p:txBody>
      </p:sp>
      <p:sp>
        <p:nvSpPr>
          <p:cNvPr id="128076994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29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311409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864246785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1822241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FUNCTIONAL REQUIREMENTS</a:t>
            </a:r>
            <a:endParaRPr lang="en-US" sz="1600"/>
          </a:p>
        </p:txBody>
      </p:sp>
      <p:sp>
        <p:nvSpPr>
          <p:cNvPr id="933759107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2335318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1016000" y="2032000"/>
          <a:ext cx="19642709" cy="8128001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982135"/>
                <a:gridCol w="5892812"/>
                <a:gridCol w="12767761"/>
              </a:tblGrid>
              <a:tr h="61151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#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Requirement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FFFFFF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Description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12700" algn="ctr">
                      <a:solidFill>
                        <a:srgbClr val="E2E8F0"/>
                      </a:solidFill>
                    </a:lnL>
                    <a:lnR w="12700" algn="ctr">
                      <a:solidFill>
                        <a:srgbClr val="E2E8F0"/>
                      </a:solidFill>
                    </a:lnR>
                    <a:lnT w="12700" algn="ctr">
                      <a:solidFill>
                        <a:srgbClr val="E2E8F0"/>
                      </a:solidFill>
                    </a:lnT>
                    <a:lnB w="12700" algn="ctr">
                      <a:solidFill>
                        <a:srgbClr val="E2E8F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1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Architecture &amp; Cloud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Global architecture definition, secure Cloud infrastructure setup (VPC, SG, EIP)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12700" algn="ctr">
                      <a:solidFill>
                        <a:srgbClr val="E2E8F0"/>
                      </a:solidFill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2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Automated Deployment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Centralized installation scripts for all SOC components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3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Elasticsearch &amp; Kibana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Secure storage backend (TLS, auth), index patterns, dashboards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4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Layer Logs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Filebeat for system and security logs to Elasticsearch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5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Metrics Monitoring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Telegraf for CPU, RAM, disk, network with dashboards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6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NIDS/HIDS Detection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Suricata (network) + Wazuh (host) with detection rules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7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Runtime Detection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Falco for system calls and abnormal behaviors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8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Dashboards &amp; Alerts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Structured dashboards, detection rules, visualizations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9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Layer IA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Automatic analysis, summaries, corrective actions with LLM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CF0A2C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10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Ansible Automation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2000" u="none">
                          <a:solidFill>
                            <a:srgbClr val="0F172A"/>
                          </a:solidFill>
                          <a:latin typeface="QuattrocentoSans"/>
                          <a:ea typeface="QuattrocentoSans"/>
                          <a:cs typeface="QuattrocentoSans"/>
                        </a:rPr>
                        <a:t>Playbooks for system/infrastructure corrective actions</a:t>
                      </a:r>
                      <a:endParaRPr lang="en-US" sz="2000">
                        <a:latin typeface="QuattrocentoSans"/>
                        <a:ea typeface="QuattrocentoSans"/>
                        <a:cs typeface="QuattrocentoSans"/>
                      </a:endParaRPr>
                    </a:p>
                  </a:txBody>
                  <a:tcPr marT="0" marB="0" anchor="ctr">
                    <a:lnL w="0" algn="ctr">
                      <a:noFill/>
                    </a:lnL>
                    <a:lnR w="0" algn="ctr">
                      <a:noFill/>
                    </a:lnR>
                    <a:lnT w="0" algn="ctr">
                      <a:noFill/>
                    </a:lnT>
                    <a:lnB w="0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14281501" name="Shape 4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1464119" name="Text 5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Requirements</a:t>
            </a:r>
            <a:endParaRPr lang="en-US" sz="1600"/>
          </a:p>
        </p:txBody>
      </p:sp>
      <p:sp>
        <p:nvSpPr>
          <p:cNvPr id="96201383" name="Shape 6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0532378" name="Text 7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30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551500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54948434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71012822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NON-FUNCTIONAL REQUIREMENTS</a:t>
            </a:r>
            <a:endParaRPr lang="en-US" sz="1600"/>
          </a:p>
        </p:txBody>
      </p:sp>
      <p:sp>
        <p:nvSpPr>
          <p:cNvPr id="1414085146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5782848" name="Shape 4"/>
          <p:cNvSpPr/>
          <p:nvPr/>
        </p:nvSpPr>
        <p:spPr bwMode="auto">
          <a:xfrm>
            <a:off x="1016000" y="2032000"/>
            <a:ext cx="9567291" cy="279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04836880" name="Shape 5"/>
          <p:cNvSpPr/>
          <p:nvPr/>
        </p:nvSpPr>
        <p:spPr bwMode="auto">
          <a:xfrm>
            <a:off x="1016000" y="2032000"/>
            <a:ext cx="67691" cy="2794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831314147" name="Shape 6"/>
          <p:cNvSpPr/>
          <p:nvPr/>
        </p:nvSpPr>
        <p:spPr bwMode="auto">
          <a:xfrm>
            <a:off x="1380109" y="2235200"/>
            <a:ext cx="355600" cy="4064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063428898" name="Shape 7"/>
          <p:cNvSpPr/>
          <p:nvPr/>
        </p:nvSpPr>
        <p:spPr bwMode="auto">
          <a:xfrm>
            <a:off x="1930400" y="22012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17709867" name="Text 8"/>
          <p:cNvSpPr/>
          <p:nvPr/>
        </p:nvSpPr>
        <p:spPr bwMode="auto">
          <a:xfrm>
            <a:off x="1808480" y="21403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250">
                <a:solidFill>
                  <a:srgbClr val="1B2A4A"/>
                </a:solidFill>
                <a:latin typeface="Liter"/>
                <a:ea typeface="Liter"/>
                <a:cs typeface="Liter"/>
              </a:rPr>
              <a:t>PERFORMANCE</a:t>
            </a:r>
            <a:endParaRPr lang="en-US" sz="1600"/>
          </a:p>
        </p:txBody>
      </p:sp>
      <p:sp>
        <p:nvSpPr>
          <p:cNvPr id="1766188713" name="Shape 9"/>
          <p:cNvSpPr/>
          <p:nvPr/>
        </p:nvSpPr>
        <p:spPr bwMode="auto">
          <a:xfrm>
            <a:off x="1354709" y="2794000"/>
            <a:ext cx="8974709" cy="177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8090145" name="Text 10"/>
          <p:cNvSpPr/>
          <p:nvPr/>
        </p:nvSpPr>
        <p:spPr bwMode="auto">
          <a:xfrm>
            <a:off x="1232789" y="2733040"/>
            <a:ext cx="9218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Dashboard response time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&lt; 2s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Ingestion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&gt; 1000 events/second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Availability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99.9%</a:t>
            </a:r>
            <a:endParaRPr lang="en-US" sz="1600"/>
          </a:p>
        </p:txBody>
      </p:sp>
      <p:sp>
        <p:nvSpPr>
          <p:cNvPr id="1981246123" name="Shape 11"/>
          <p:cNvSpPr/>
          <p:nvPr/>
        </p:nvSpPr>
        <p:spPr bwMode="auto">
          <a:xfrm>
            <a:off x="11091291" y="2032000"/>
            <a:ext cx="9567291" cy="2963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8570835" name="Shape 12"/>
          <p:cNvSpPr/>
          <p:nvPr/>
        </p:nvSpPr>
        <p:spPr bwMode="auto">
          <a:xfrm>
            <a:off x="11091291" y="2032000"/>
            <a:ext cx="67691" cy="279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762688" name="Shape 13"/>
          <p:cNvSpPr/>
          <p:nvPr/>
        </p:nvSpPr>
        <p:spPr bwMode="auto">
          <a:xfrm>
            <a:off x="11430000" y="2235200"/>
            <a:ext cx="406400" cy="406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97572425" name="Shape 14"/>
          <p:cNvSpPr/>
          <p:nvPr/>
        </p:nvSpPr>
        <p:spPr bwMode="auto">
          <a:xfrm>
            <a:off x="12005691" y="22012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21019553" name="Text 15"/>
          <p:cNvSpPr/>
          <p:nvPr/>
        </p:nvSpPr>
        <p:spPr bwMode="auto">
          <a:xfrm>
            <a:off x="11883771" y="21403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250">
                <a:solidFill>
                  <a:srgbClr val="1B2A4A"/>
                </a:solidFill>
                <a:latin typeface="Liter"/>
                <a:ea typeface="Liter"/>
                <a:cs typeface="Liter"/>
              </a:rPr>
              <a:t>SECURITE</a:t>
            </a:r>
            <a:endParaRPr lang="en-US" sz="1600"/>
          </a:p>
        </p:txBody>
      </p:sp>
      <p:sp>
        <p:nvSpPr>
          <p:cNvPr id="145363579" name="Shape 16"/>
          <p:cNvSpPr/>
          <p:nvPr/>
        </p:nvSpPr>
        <p:spPr bwMode="auto">
          <a:xfrm>
            <a:off x="11430000" y="2794000"/>
            <a:ext cx="8974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13107905" name="Text 17"/>
          <p:cNvSpPr/>
          <p:nvPr/>
        </p:nvSpPr>
        <p:spPr bwMode="auto">
          <a:xfrm>
            <a:off x="11308080" y="2733040"/>
            <a:ext cx="9218549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TLS for all communications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Authentication required on all services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Elasticsearch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expose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publiquement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Complete audit of actions</a:t>
            </a:r>
            <a:endParaRPr lang="en-US" sz="1600"/>
          </a:p>
        </p:txBody>
      </p:sp>
      <p:sp>
        <p:nvSpPr>
          <p:cNvPr id="939163789" name="Shape 18"/>
          <p:cNvSpPr/>
          <p:nvPr/>
        </p:nvSpPr>
        <p:spPr bwMode="auto">
          <a:xfrm>
            <a:off x="1016000" y="5164709"/>
            <a:ext cx="9567291" cy="279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10629488" name="Shape 19"/>
          <p:cNvSpPr/>
          <p:nvPr/>
        </p:nvSpPr>
        <p:spPr bwMode="auto">
          <a:xfrm>
            <a:off x="1016000" y="5164709"/>
            <a:ext cx="67691" cy="279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71899084" name="Shape 20"/>
          <p:cNvSpPr/>
          <p:nvPr/>
        </p:nvSpPr>
        <p:spPr bwMode="auto">
          <a:xfrm>
            <a:off x="1380109" y="5367909"/>
            <a:ext cx="355600" cy="406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07823251" name="Shape 21"/>
          <p:cNvSpPr/>
          <p:nvPr/>
        </p:nvSpPr>
        <p:spPr bwMode="auto">
          <a:xfrm>
            <a:off x="1930400" y="53340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88734492" name="Text 22"/>
          <p:cNvSpPr/>
          <p:nvPr/>
        </p:nvSpPr>
        <p:spPr bwMode="auto">
          <a:xfrm>
            <a:off x="1808480" y="52730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250">
                <a:solidFill>
                  <a:srgbClr val="1B2A4A"/>
                </a:solidFill>
                <a:latin typeface="Liter"/>
                <a:ea typeface="Liter"/>
                <a:cs typeface="Liter"/>
              </a:rPr>
              <a:t>SCALABILITY</a:t>
            </a:r>
            <a:endParaRPr lang="en-US" sz="1600"/>
          </a:p>
        </p:txBody>
      </p:sp>
      <p:sp>
        <p:nvSpPr>
          <p:cNvPr id="647317020" name="Shape 23"/>
          <p:cNvSpPr/>
          <p:nvPr/>
        </p:nvSpPr>
        <p:spPr bwMode="auto">
          <a:xfrm>
            <a:off x="1354709" y="5926709"/>
            <a:ext cx="8974709" cy="177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7599360" name="Text 24"/>
          <p:cNvSpPr/>
          <p:nvPr/>
        </p:nvSpPr>
        <p:spPr bwMode="auto">
          <a:xfrm>
            <a:off x="1232789" y="5865749"/>
            <a:ext cx="9218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Modular architecture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Horizontal scaling support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Adaptive cursor-based polling</a:t>
            </a:r>
            <a:endParaRPr lang="en-US" sz="1600"/>
          </a:p>
        </p:txBody>
      </p:sp>
      <p:sp>
        <p:nvSpPr>
          <p:cNvPr id="334685767" name="Shape 25"/>
          <p:cNvSpPr/>
          <p:nvPr/>
        </p:nvSpPr>
        <p:spPr bwMode="auto">
          <a:xfrm>
            <a:off x="11091291" y="5164709"/>
            <a:ext cx="9567291" cy="279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53127163" name="Shape 26"/>
          <p:cNvSpPr/>
          <p:nvPr/>
        </p:nvSpPr>
        <p:spPr bwMode="auto">
          <a:xfrm>
            <a:off x="11091291" y="5164709"/>
            <a:ext cx="67691" cy="279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1392721" name="Shape 27"/>
          <p:cNvSpPr/>
          <p:nvPr/>
        </p:nvSpPr>
        <p:spPr bwMode="auto">
          <a:xfrm>
            <a:off x="11430000" y="5367909"/>
            <a:ext cx="4064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38155420" name="Shape 28"/>
          <p:cNvSpPr/>
          <p:nvPr/>
        </p:nvSpPr>
        <p:spPr bwMode="auto">
          <a:xfrm>
            <a:off x="12005691" y="53340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48770342" name="Text 29"/>
          <p:cNvSpPr/>
          <p:nvPr/>
        </p:nvSpPr>
        <p:spPr bwMode="auto">
          <a:xfrm>
            <a:off x="11883771" y="52730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250">
                <a:solidFill>
                  <a:srgbClr val="1B2A4A"/>
                </a:solidFill>
                <a:latin typeface="Liter"/>
                <a:ea typeface="Liter"/>
                <a:cs typeface="Liter"/>
              </a:rPr>
              <a:t>RELIABILITY</a:t>
            </a:r>
            <a:endParaRPr lang="en-US" sz="1600"/>
          </a:p>
        </p:txBody>
      </p:sp>
      <p:sp>
        <p:nvSpPr>
          <p:cNvPr id="1463401080" name="Shape 30"/>
          <p:cNvSpPr/>
          <p:nvPr/>
        </p:nvSpPr>
        <p:spPr bwMode="auto">
          <a:xfrm>
            <a:off x="11430000" y="5926709"/>
            <a:ext cx="8974709" cy="177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29737887" name="Text 31"/>
          <p:cNvSpPr/>
          <p:nvPr/>
        </p:nvSpPr>
        <p:spPr bwMode="auto">
          <a:xfrm>
            <a:off x="11308080" y="5865749"/>
            <a:ext cx="9218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SQLite for local persistence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Circuit breaker on LLM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Graceful error handling</a:t>
            </a:r>
            <a:endParaRPr lang="en-US" sz="1600"/>
          </a:p>
        </p:txBody>
      </p:sp>
      <p:sp>
        <p:nvSpPr>
          <p:cNvPr id="280910108" name="Shape 32"/>
          <p:cNvSpPr/>
          <p:nvPr/>
        </p:nvSpPr>
        <p:spPr bwMode="auto">
          <a:xfrm>
            <a:off x="1016000" y="8297291"/>
            <a:ext cx="9567291" cy="2455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85913303" name="Shape 33"/>
          <p:cNvSpPr/>
          <p:nvPr/>
        </p:nvSpPr>
        <p:spPr bwMode="auto">
          <a:xfrm>
            <a:off x="1016000" y="8297291"/>
            <a:ext cx="67691" cy="2455291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4311249" name="Shape 34"/>
          <p:cNvSpPr/>
          <p:nvPr/>
        </p:nvSpPr>
        <p:spPr bwMode="auto">
          <a:xfrm>
            <a:off x="1329309" y="8500491"/>
            <a:ext cx="457200" cy="406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09015123" name="Shape 35"/>
          <p:cNvSpPr/>
          <p:nvPr/>
        </p:nvSpPr>
        <p:spPr bwMode="auto">
          <a:xfrm>
            <a:off x="1930400" y="8466709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4596515" name="Text 36"/>
          <p:cNvSpPr/>
          <p:nvPr/>
        </p:nvSpPr>
        <p:spPr bwMode="auto">
          <a:xfrm>
            <a:off x="1808480" y="8405749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250">
                <a:solidFill>
                  <a:srgbClr val="1B2A4A"/>
                </a:solidFill>
                <a:latin typeface="Liter"/>
                <a:ea typeface="Liter"/>
                <a:cs typeface="Liter"/>
              </a:rPr>
              <a:t>MAINTAINABILITY</a:t>
            </a:r>
            <a:endParaRPr lang="en-US" sz="1600"/>
          </a:p>
        </p:txBody>
      </p:sp>
      <p:sp>
        <p:nvSpPr>
          <p:cNvPr id="999611975" name="Shape 37"/>
          <p:cNvSpPr/>
          <p:nvPr/>
        </p:nvSpPr>
        <p:spPr bwMode="auto">
          <a:xfrm>
            <a:off x="1354709" y="9059291"/>
            <a:ext cx="8974709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31494475" name="Text 38"/>
          <p:cNvSpPr/>
          <p:nvPr/>
        </p:nvSpPr>
        <p:spPr bwMode="auto">
          <a:xfrm>
            <a:off x="1232789" y="8998331"/>
            <a:ext cx="9218549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Centralized installation scripts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Configuration via YAML files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Complete logging</a:t>
            </a:r>
            <a:endParaRPr lang="en-US" sz="1600"/>
          </a:p>
        </p:txBody>
      </p:sp>
      <p:sp>
        <p:nvSpPr>
          <p:cNvPr id="1521324851" name="Shape 39"/>
          <p:cNvSpPr/>
          <p:nvPr/>
        </p:nvSpPr>
        <p:spPr bwMode="auto">
          <a:xfrm>
            <a:off x="11091291" y="8297291"/>
            <a:ext cx="9567291" cy="2455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84609509" name="Shape 40"/>
          <p:cNvSpPr/>
          <p:nvPr/>
        </p:nvSpPr>
        <p:spPr bwMode="auto">
          <a:xfrm>
            <a:off x="11091291" y="8297291"/>
            <a:ext cx="67691" cy="245529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21073860" name="Shape 41"/>
          <p:cNvSpPr/>
          <p:nvPr/>
        </p:nvSpPr>
        <p:spPr bwMode="auto">
          <a:xfrm>
            <a:off x="11455400" y="8500491"/>
            <a:ext cx="355600" cy="406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35488592" name="Shape 42"/>
          <p:cNvSpPr/>
          <p:nvPr/>
        </p:nvSpPr>
        <p:spPr bwMode="auto">
          <a:xfrm>
            <a:off x="12005691" y="8466709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1815484" name="Text 43"/>
          <p:cNvSpPr/>
          <p:nvPr/>
        </p:nvSpPr>
        <p:spPr bwMode="auto">
          <a:xfrm>
            <a:off x="11883771" y="8405749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250">
                <a:solidFill>
                  <a:srgbClr val="1B2A4A"/>
                </a:solidFill>
                <a:latin typeface="Liter"/>
                <a:ea typeface="Liter"/>
                <a:cs typeface="Liter"/>
              </a:rPr>
              <a:t>INTEROPERABILITY</a:t>
            </a:r>
            <a:endParaRPr lang="en-US" sz="1600"/>
          </a:p>
        </p:txBody>
      </p:sp>
      <p:sp>
        <p:nvSpPr>
          <p:cNvPr id="116033826" name="Shape 44"/>
          <p:cNvSpPr/>
          <p:nvPr/>
        </p:nvSpPr>
        <p:spPr bwMode="auto">
          <a:xfrm>
            <a:off x="11430000" y="9059291"/>
            <a:ext cx="8974709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7905801" name="Text 45"/>
          <p:cNvSpPr/>
          <p:nvPr/>
        </p:nvSpPr>
        <p:spPr bwMode="auto">
          <a:xfrm>
            <a:off x="11308080" y="8998331"/>
            <a:ext cx="9218549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REST APIs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Real-time WebSocket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Multi-vendor LLM integration</a:t>
            </a:r>
            <a:endParaRPr lang="en-US" sz="1600"/>
          </a:p>
        </p:txBody>
      </p:sp>
      <p:sp>
        <p:nvSpPr>
          <p:cNvPr id="2052953113" name="Shape 46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8175179" name="Text 47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Requirements</a:t>
            </a:r>
            <a:endParaRPr lang="en-US" sz="1600"/>
          </a:p>
        </p:txBody>
      </p:sp>
      <p:sp>
        <p:nvSpPr>
          <p:cNvPr id="1997034997" name="Shape 48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02546210" name="Text 49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31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7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80484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78289309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08</a:t>
            </a:r>
            <a:endParaRPr lang="en-US" sz="1600"/>
          </a:p>
        </p:txBody>
      </p:sp>
      <p:sp>
        <p:nvSpPr>
          <p:cNvPr id="862928429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20760918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22365710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TESTING STRATEGY</a:t>
            </a:r>
            <a:endParaRPr lang="en-US" sz="1600"/>
          </a:p>
        </p:txBody>
      </p:sp>
      <p:sp>
        <p:nvSpPr>
          <p:cNvPr id="1204747532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92792429" name="Text 6"/>
          <p:cNvSpPr/>
          <p:nvPr/>
        </p:nvSpPr>
        <p:spPr bwMode="auto"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Platform validation and verification approach</a:t>
            </a:r>
            <a:endParaRPr lang="en-US" sz="1600"/>
          </a:p>
        </p:txBody>
      </p:sp>
      <p:sp>
        <p:nvSpPr>
          <p:cNvPr id="495407950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32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676168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016994353" name="Shape 1"/>
          <p:cNvSpPr/>
          <p:nvPr/>
        </p:nvSpPr>
        <p:spPr bwMode="auto">
          <a:xfrm>
            <a:off x="1016000" y="98209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5871073" name="Text 2"/>
          <p:cNvSpPr/>
          <p:nvPr/>
        </p:nvSpPr>
        <p:spPr bwMode="auto">
          <a:xfrm>
            <a:off x="894080" y="921131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TESTING STRATEGY</a:t>
            </a:r>
            <a:endParaRPr lang="en-US" sz="1600"/>
          </a:p>
        </p:txBody>
      </p:sp>
      <p:sp>
        <p:nvSpPr>
          <p:cNvPr id="1894137272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13212565" name="Shape 4"/>
          <p:cNvSpPr/>
          <p:nvPr/>
        </p:nvSpPr>
        <p:spPr bwMode="auto">
          <a:xfrm>
            <a:off x="1016000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7135731" name="Shape 5"/>
          <p:cNvSpPr/>
          <p:nvPr/>
        </p:nvSpPr>
        <p:spPr bwMode="auto">
          <a:xfrm>
            <a:off x="1016000" y="2032000"/>
            <a:ext cx="9567291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23668109" name="Shape 6"/>
          <p:cNvSpPr/>
          <p:nvPr/>
        </p:nvSpPr>
        <p:spPr bwMode="auto">
          <a:xfrm>
            <a:off x="1354709" y="2370709"/>
            <a:ext cx="474091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85168843" name="Shape 7"/>
          <p:cNvSpPr/>
          <p:nvPr/>
        </p:nvSpPr>
        <p:spPr bwMode="auto">
          <a:xfrm>
            <a:off x="1998091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15278725" name="Text 8"/>
          <p:cNvSpPr/>
          <p:nvPr/>
        </p:nvSpPr>
        <p:spPr bwMode="auto">
          <a:xfrm>
            <a:off x="1876171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UNIT TESTS</a:t>
            </a:r>
            <a:endParaRPr lang="en-US" sz="1600"/>
          </a:p>
        </p:txBody>
      </p:sp>
      <p:sp>
        <p:nvSpPr>
          <p:cNvPr id="1139907459" name="Shape 9"/>
          <p:cNvSpPr/>
          <p:nvPr/>
        </p:nvSpPr>
        <p:spPr bwMode="auto">
          <a:xfrm>
            <a:off x="1354709" y="3014091"/>
            <a:ext cx="8974709" cy="313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3467203" name="Text 10"/>
          <p:cNvSpPr/>
          <p:nvPr/>
        </p:nvSpPr>
        <p:spPr bwMode="auto">
          <a:xfrm>
            <a:off x="1232789" y="2953131"/>
            <a:ext cx="9218549" cy="325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Alert mapper validation (Wazuh, Suricata, Falco)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Incident correlation logic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Enrichment engine (GeoIP, MITRE)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Ansible playbook generation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YAML parsing and validation</a:t>
            </a:r>
            <a:endParaRPr lang="en-US" sz="1600"/>
          </a:p>
        </p:txBody>
      </p:sp>
      <p:sp>
        <p:nvSpPr>
          <p:cNvPr id="496292128" name="Shape 11"/>
          <p:cNvSpPr/>
          <p:nvPr/>
        </p:nvSpPr>
        <p:spPr bwMode="auto">
          <a:xfrm>
            <a:off x="11091291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25817549" name="Shape 12"/>
          <p:cNvSpPr/>
          <p:nvPr/>
        </p:nvSpPr>
        <p:spPr bwMode="auto">
          <a:xfrm>
            <a:off x="11091291" y="2032000"/>
            <a:ext cx="9567291" cy="676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1645478" name="Shape 13"/>
          <p:cNvSpPr/>
          <p:nvPr/>
        </p:nvSpPr>
        <p:spPr bwMode="auto">
          <a:xfrm>
            <a:off x="11400409" y="2370709"/>
            <a:ext cx="533400" cy="4740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85816343" name="Shape 14"/>
          <p:cNvSpPr/>
          <p:nvPr/>
        </p:nvSpPr>
        <p:spPr bwMode="auto">
          <a:xfrm>
            <a:off x="12073509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84967853" name="Text 15"/>
          <p:cNvSpPr/>
          <p:nvPr/>
        </p:nvSpPr>
        <p:spPr bwMode="auto">
          <a:xfrm>
            <a:off x="11951589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INTEGRATION TESTS</a:t>
            </a:r>
            <a:endParaRPr lang="en-US" sz="1600"/>
          </a:p>
        </p:txBody>
      </p:sp>
      <p:sp>
        <p:nvSpPr>
          <p:cNvPr id="1589784119" name="Shape 16"/>
          <p:cNvSpPr/>
          <p:nvPr/>
        </p:nvSpPr>
        <p:spPr bwMode="auto">
          <a:xfrm>
            <a:off x="11430000" y="3014091"/>
            <a:ext cx="8974709" cy="313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78422932" name="Text 17"/>
          <p:cNvSpPr/>
          <p:nvPr/>
        </p:nvSpPr>
        <p:spPr bwMode="auto">
          <a:xfrm>
            <a:off x="11308080" y="2953131"/>
            <a:ext cx="9218549" cy="325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Full flow ES → Pipeline → SQLite → API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Inter-service communication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LLM integration (Ollama, Gemini)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WebSocket broadcast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End-to-end alert lifecycle</a:t>
            </a:r>
            <a:endParaRPr lang="en-US" sz="1600"/>
          </a:p>
        </p:txBody>
      </p:sp>
      <p:sp>
        <p:nvSpPr>
          <p:cNvPr id="532215673" name="Shape 18"/>
          <p:cNvSpPr/>
          <p:nvPr/>
        </p:nvSpPr>
        <p:spPr bwMode="auto">
          <a:xfrm>
            <a:off x="1016000" y="6773291"/>
            <a:ext cx="9567291" cy="406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06493439" name="Shape 19"/>
          <p:cNvSpPr/>
          <p:nvPr/>
        </p:nvSpPr>
        <p:spPr bwMode="auto">
          <a:xfrm>
            <a:off x="1016000" y="6773291"/>
            <a:ext cx="9567291" cy="676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63719849" name="Shape 20"/>
          <p:cNvSpPr/>
          <p:nvPr/>
        </p:nvSpPr>
        <p:spPr bwMode="auto">
          <a:xfrm>
            <a:off x="1384300" y="7112000"/>
            <a:ext cx="414909" cy="474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1108393" name="Shape 21"/>
          <p:cNvSpPr/>
          <p:nvPr/>
        </p:nvSpPr>
        <p:spPr bwMode="auto">
          <a:xfrm>
            <a:off x="1998091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82264788" name="Text 22"/>
          <p:cNvSpPr/>
          <p:nvPr/>
        </p:nvSpPr>
        <p:spPr bwMode="auto">
          <a:xfrm>
            <a:off x="1876171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FUNCTIONAL TESTS</a:t>
            </a:r>
            <a:endParaRPr lang="en-US" sz="1600"/>
          </a:p>
        </p:txBody>
      </p:sp>
      <p:sp>
        <p:nvSpPr>
          <p:cNvPr id="589585905" name="Shape 23"/>
          <p:cNvSpPr/>
          <p:nvPr/>
        </p:nvSpPr>
        <p:spPr bwMode="auto">
          <a:xfrm>
            <a:off x="1354709" y="7755509"/>
            <a:ext cx="8974709" cy="279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1752772" name="Text 24"/>
          <p:cNvSpPr/>
          <p:nvPr/>
        </p:nvSpPr>
        <p:spPr bwMode="auto">
          <a:xfrm>
            <a:off x="1232789" y="7694548"/>
            <a:ext cx="9218549" cy="291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Simulated attack scenarios (brute-force, port scan, malware)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Verification of generated alerts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Validation of investigations and playbooks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Approval workflow tests</a:t>
            </a:r>
            <a:endParaRPr lang="en-US" sz="1600"/>
          </a:p>
        </p:txBody>
      </p:sp>
      <p:sp>
        <p:nvSpPr>
          <p:cNvPr id="1335981809" name="Shape 25"/>
          <p:cNvSpPr/>
          <p:nvPr/>
        </p:nvSpPr>
        <p:spPr bwMode="auto">
          <a:xfrm>
            <a:off x="11091291" y="6773291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7682120" name="Shape 26"/>
          <p:cNvSpPr/>
          <p:nvPr/>
        </p:nvSpPr>
        <p:spPr bwMode="auto">
          <a:xfrm>
            <a:off x="11091291" y="6773291"/>
            <a:ext cx="9567291" cy="676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6075517" name="Shape 27"/>
          <p:cNvSpPr/>
          <p:nvPr/>
        </p:nvSpPr>
        <p:spPr bwMode="auto">
          <a:xfrm>
            <a:off x="11430000" y="7112000"/>
            <a:ext cx="474091" cy="4740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0839733" name="Shape 28"/>
          <p:cNvSpPr/>
          <p:nvPr/>
        </p:nvSpPr>
        <p:spPr bwMode="auto">
          <a:xfrm>
            <a:off x="12073509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8589530" name="Text 29"/>
          <p:cNvSpPr/>
          <p:nvPr/>
        </p:nvSpPr>
        <p:spPr bwMode="auto">
          <a:xfrm>
            <a:off x="11951589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PERFORMANCE &amp; SECURITY TESTS</a:t>
            </a:r>
            <a:endParaRPr lang="en-US" sz="1600"/>
          </a:p>
        </p:txBody>
      </p:sp>
      <p:sp>
        <p:nvSpPr>
          <p:cNvPr id="146626155" name="Shape 30"/>
          <p:cNvSpPr/>
          <p:nvPr/>
        </p:nvSpPr>
        <p:spPr bwMode="auto">
          <a:xfrm>
            <a:off x="11430000" y="7755509"/>
            <a:ext cx="8974709" cy="304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47493329" name="Text 31"/>
          <p:cNvSpPr/>
          <p:nvPr/>
        </p:nvSpPr>
        <p:spPr bwMode="auto">
          <a:xfrm>
            <a:off x="11308080" y="7694548"/>
            <a:ext cx="9218549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Performance: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Event load, dashboard latency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Continuous polling stability</a:t>
            </a:r>
            <a:endParaRPr lang="en-US" sz="1600"/>
          </a:p>
          <a:p>
            <a:pPr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Security: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Penetration testing, firewall rules</a:t>
            </a:r>
            <a:endParaRPr lang="en-US" sz="1600"/>
          </a:p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TLS/authentication, audit trails</a:t>
            </a:r>
            <a:endParaRPr lang="en-US" sz="1600"/>
          </a:p>
        </p:txBody>
      </p:sp>
      <p:sp>
        <p:nvSpPr>
          <p:cNvPr id="78926019" name="Shape 32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77021040" name="Text 33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Testing Strategy</a:t>
            </a:r>
            <a:endParaRPr lang="en-US" sz="1600"/>
          </a:p>
        </p:txBody>
      </p:sp>
      <p:sp>
        <p:nvSpPr>
          <p:cNvPr id="2093317785" name="Shape 34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4960733" name="Text 35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33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9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000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29194598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09</a:t>
            </a:r>
            <a:endParaRPr lang="en-US" sz="1600"/>
          </a:p>
        </p:txBody>
      </p:sp>
      <p:sp>
        <p:nvSpPr>
          <p:cNvPr id="2135867733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07859833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05612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METHODOLOGY</a:t>
            </a:r>
            <a:endParaRPr lang="en-US" sz="1600"/>
          </a:p>
        </p:txBody>
      </p:sp>
      <p:sp>
        <p:nvSpPr>
          <p:cNvPr id="519318632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0492602" name="Text 6"/>
          <p:cNvSpPr/>
          <p:nvPr/>
        </p:nvSpPr>
        <p:spPr bwMode="auto"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Development approach and project management</a:t>
            </a:r>
            <a:endParaRPr lang="en-US" sz="1600"/>
          </a:p>
        </p:txBody>
      </p:sp>
      <p:sp>
        <p:nvSpPr>
          <p:cNvPr id="532522872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34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560489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385916579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14024510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METHODOLOGY DE DEVELOPPEMENT</a:t>
            </a:r>
            <a:endParaRPr lang="en-US" sz="1600"/>
          </a:p>
        </p:txBody>
      </p:sp>
      <p:sp>
        <p:nvSpPr>
          <p:cNvPr id="1174249284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28422140" name="Shape 4"/>
          <p:cNvSpPr/>
          <p:nvPr/>
        </p:nvSpPr>
        <p:spPr bwMode="auto">
          <a:xfrm>
            <a:off x="1016000" y="19980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82026793" name="Text 5"/>
          <p:cNvSpPr/>
          <p:nvPr/>
        </p:nvSpPr>
        <p:spPr bwMode="auto">
          <a:xfrm>
            <a:off x="894080" y="19371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AGILE ITERATIVE APPROACH</a:t>
            </a:r>
            <a:endParaRPr lang="en-US" sz="1600"/>
          </a:p>
        </p:txBody>
      </p:sp>
      <p:sp>
        <p:nvSpPr>
          <p:cNvPr id="958776789" name="Shape 6"/>
          <p:cNvSpPr/>
          <p:nvPr/>
        </p:nvSpPr>
        <p:spPr bwMode="auto">
          <a:xfrm>
            <a:off x="1016000" y="2506091"/>
            <a:ext cx="19642709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849898" name="Shape 7"/>
          <p:cNvSpPr/>
          <p:nvPr/>
        </p:nvSpPr>
        <p:spPr bwMode="auto">
          <a:xfrm>
            <a:off x="1354709" y="2590800"/>
            <a:ext cx="18965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09515860" name="Text 8"/>
          <p:cNvSpPr/>
          <p:nvPr/>
        </p:nvSpPr>
        <p:spPr bwMode="auto">
          <a:xfrm>
            <a:off x="1232789" y="2529839"/>
            <a:ext cx="19209131" cy="968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defRPr/>
            </a:pP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Methodology agile </a:t>
            </a:r>
            <a:r>
              <a:rPr lang="fr-FR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with </a:t>
            </a:r>
            <a:r>
              <a:rPr lang="en-US" sz="200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3 major phases</a:t>
            </a:r>
            <a:r>
              <a:rPr lang="en-US" sz="20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corresponding to functional deliverables. Each phase produces an operational increment of the SOC platform.</a:t>
            </a:r>
            <a:endParaRPr lang="en-US" sz="1600"/>
          </a:p>
        </p:txBody>
      </p:sp>
      <p:sp>
        <p:nvSpPr>
          <p:cNvPr id="2005076198" name="Shape 9"/>
          <p:cNvSpPr/>
          <p:nvPr/>
        </p:nvSpPr>
        <p:spPr bwMode="auto">
          <a:xfrm>
            <a:off x="1016000" y="3894709"/>
            <a:ext cx="19642709" cy="508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2642252" name="Shape 10"/>
          <p:cNvSpPr/>
          <p:nvPr/>
        </p:nvSpPr>
        <p:spPr bwMode="auto">
          <a:xfrm>
            <a:off x="3302000" y="3759200"/>
            <a:ext cx="304800" cy="304800"/>
          </a:xfrm>
          <a:prstGeom prst="ellipse">
            <a:avLst/>
          </a:prstGeom>
          <a:solidFill>
            <a:srgbClr val="CF0A2C"/>
          </a:solidFill>
          <a:ln/>
        </p:spPr>
      </p:sp>
      <p:sp>
        <p:nvSpPr>
          <p:cNvPr id="28959482" name="Shape 11"/>
          <p:cNvSpPr/>
          <p:nvPr/>
        </p:nvSpPr>
        <p:spPr bwMode="auto">
          <a:xfrm>
            <a:off x="1016000" y="4233291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15161989" name="Text 12"/>
          <p:cNvSpPr/>
          <p:nvPr/>
        </p:nvSpPr>
        <p:spPr bwMode="auto">
          <a:xfrm>
            <a:off x="894080" y="4172331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Liter"/>
                <a:ea typeface="Liter"/>
                <a:cs typeface="Liter"/>
              </a:rPr>
              <a:t>PHASE 1</a:t>
            </a:r>
            <a:endParaRPr lang="en-US" sz="1600"/>
          </a:p>
        </p:txBody>
      </p:sp>
      <p:sp>
        <p:nvSpPr>
          <p:cNvPr id="1956318886" name="Shape 13"/>
          <p:cNvSpPr/>
          <p:nvPr/>
        </p:nvSpPr>
        <p:spPr bwMode="auto">
          <a:xfrm>
            <a:off x="1016000" y="4656709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0668426" name="Text 14"/>
          <p:cNvSpPr/>
          <p:nvPr/>
        </p:nvSpPr>
        <p:spPr bwMode="auto">
          <a:xfrm>
            <a:off x="894080" y="4595749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5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Monitoring Foundation</a:t>
            </a:r>
            <a:endParaRPr lang="en-US" sz="1600"/>
          </a:p>
        </p:txBody>
      </p:sp>
      <p:sp>
        <p:nvSpPr>
          <p:cNvPr id="1278201612" name="Shape 15"/>
          <p:cNvSpPr/>
          <p:nvPr/>
        </p:nvSpPr>
        <p:spPr bwMode="auto">
          <a:xfrm>
            <a:off x="1016000" y="5080000"/>
            <a:ext cx="5080000" cy="1557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00363895" name="Text 16"/>
          <p:cNvSpPr/>
          <p:nvPr/>
        </p:nvSpPr>
        <p:spPr bwMode="auto">
          <a:xfrm>
            <a:off x="894080" y="5019040"/>
            <a:ext cx="5323840" cy="167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Visibility setup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Security tools integration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Data flow validation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Elasticsearch + Kibana</a:t>
            </a:r>
            <a:endParaRPr lang="en-US" sz="1600"/>
          </a:p>
        </p:txBody>
      </p:sp>
      <p:sp>
        <p:nvSpPr>
          <p:cNvPr id="86505067" name="Shape 17"/>
          <p:cNvSpPr/>
          <p:nvPr/>
        </p:nvSpPr>
        <p:spPr bwMode="auto">
          <a:xfrm>
            <a:off x="10414000" y="3759200"/>
            <a:ext cx="304800" cy="30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67749246" name="Shape 18"/>
          <p:cNvSpPr/>
          <p:nvPr/>
        </p:nvSpPr>
        <p:spPr bwMode="auto">
          <a:xfrm>
            <a:off x="8128000" y="4233291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55533755" name="Text 19"/>
          <p:cNvSpPr/>
          <p:nvPr/>
        </p:nvSpPr>
        <p:spPr bwMode="auto">
          <a:xfrm>
            <a:off x="8006080" y="4172331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1B2A4A"/>
                </a:solidFill>
                <a:latin typeface="Liter"/>
                <a:ea typeface="Liter"/>
                <a:cs typeface="Liter"/>
              </a:rPr>
              <a:t>PHASE 2</a:t>
            </a:r>
            <a:endParaRPr lang="en-US" sz="1600"/>
          </a:p>
        </p:txBody>
      </p:sp>
      <p:sp>
        <p:nvSpPr>
          <p:cNvPr id="1505678788" name="Shape 20"/>
          <p:cNvSpPr/>
          <p:nvPr/>
        </p:nvSpPr>
        <p:spPr bwMode="auto">
          <a:xfrm>
            <a:off x="8128000" y="4656709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1132620" name="Text 21"/>
          <p:cNvSpPr/>
          <p:nvPr/>
        </p:nvSpPr>
        <p:spPr bwMode="auto">
          <a:xfrm>
            <a:off x="8006080" y="4595749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5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Cloud Infrastructure</a:t>
            </a:r>
            <a:endParaRPr lang="en-US" sz="1600"/>
          </a:p>
        </p:txBody>
      </p:sp>
      <p:sp>
        <p:nvSpPr>
          <p:cNvPr id="1238745523" name="Shape 22"/>
          <p:cNvSpPr/>
          <p:nvPr/>
        </p:nvSpPr>
        <p:spPr bwMode="auto">
          <a:xfrm>
            <a:off x="8128000" y="5080000"/>
            <a:ext cx="5080000" cy="1557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4707763" name="Text 23"/>
          <p:cNvSpPr/>
          <p:nvPr/>
        </p:nvSpPr>
        <p:spPr bwMode="auto">
          <a:xfrm>
            <a:off x="8006080" y="5019040"/>
            <a:ext cx="5323840" cy="167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Huawei Cloud deployment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VPC/SG securing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Resource optimization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ECS VM 64vCPU/128GB</a:t>
            </a:r>
            <a:endParaRPr lang="en-US" sz="1600"/>
          </a:p>
        </p:txBody>
      </p:sp>
      <p:sp>
        <p:nvSpPr>
          <p:cNvPr id="146945679" name="Shape 24"/>
          <p:cNvSpPr/>
          <p:nvPr/>
        </p:nvSpPr>
        <p:spPr bwMode="auto">
          <a:xfrm>
            <a:off x="17526000" y="3759200"/>
            <a:ext cx="304800" cy="304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57941140" name="Shape 25"/>
          <p:cNvSpPr/>
          <p:nvPr/>
        </p:nvSpPr>
        <p:spPr bwMode="auto">
          <a:xfrm>
            <a:off x="15240000" y="4233291"/>
            <a:ext cx="5418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75903105" name="Text 26"/>
          <p:cNvSpPr/>
          <p:nvPr/>
        </p:nvSpPr>
        <p:spPr bwMode="auto">
          <a:xfrm>
            <a:off x="15118080" y="4172331"/>
            <a:ext cx="5662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50">
                <a:solidFill>
                  <a:srgbClr val="10B981"/>
                </a:solidFill>
                <a:latin typeface="Liter"/>
                <a:ea typeface="Liter"/>
                <a:cs typeface="Liter"/>
              </a:rPr>
              <a:t>PHASE 3</a:t>
            </a:r>
            <a:endParaRPr lang="en-US" sz="1600"/>
          </a:p>
        </p:txBody>
      </p:sp>
      <p:sp>
        <p:nvSpPr>
          <p:cNvPr id="1419993828" name="Shape 27"/>
          <p:cNvSpPr/>
          <p:nvPr/>
        </p:nvSpPr>
        <p:spPr bwMode="auto">
          <a:xfrm>
            <a:off x="15240000" y="4656709"/>
            <a:ext cx="5418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664940" name="Text 28"/>
          <p:cNvSpPr/>
          <p:nvPr/>
        </p:nvSpPr>
        <p:spPr bwMode="auto">
          <a:xfrm>
            <a:off x="15118080" y="4595749"/>
            <a:ext cx="5662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50" b="1">
                <a:solidFill>
                  <a:srgbClr val="1B2A4A"/>
                </a:solidFill>
                <a:latin typeface="Quattrocento Sans"/>
                <a:ea typeface="Quattrocento Sans"/>
                <a:cs typeface="Quattrocento Sans"/>
              </a:rPr>
              <a:t>Backend Intelligence</a:t>
            </a:r>
            <a:endParaRPr lang="en-US" sz="1600"/>
          </a:p>
        </p:txBody>
      </p:sp>
      <p:sp>
        <p:nvSpPr>
          <p:cNvPr id="556274448" name="Shape 29"/>
          <p:cNvSpPr/>
          <p:nvPr/>
        </p:nvSpPr>
        <p:spPr bwMode="auto">
          <a:xfrm>
            <a:off x="15240000" y="5080000"/>
            <a:ext cx="5418709" cy="1557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11927761" name="Text 30"/>
          <p:cNvSpPr/>
          <p:nvPr/>
        </p:nvSpPr>
        <p:spPr bwMode="auto">
          <a:xfrm>
            <a:off x="15118080" y="5019040"/>
            <a:ext cx="5662549" cy="167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Alert pipeline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Incident correlation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AI Engine + Ansible</a:t>
            </a:r>
            <a:endParaRPr lang="en-US" sz="1600"/>
          </a:p>
          <a:p>
            <a:pPr algn="ctr">
              <a:lnSpc>
                <a:spcPct val="150000"/>
              </a:lnSpc>
              <a:defRPr/>
            </a:pPr>
            <a:r>
              <a:rPr lang="en-US" sz="16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Operational modules</a:t>
            </a:r>
            <a:endParaRPr lang="en-US" sz="1600"/>
          </a:p>
        </p:txBody>
      </p:sp>
      <p:sp>
        <p:nvSpPr>
          <p:cNvPr id="995976579" name="Shape 31"/>
          <p:cNvSpPr/>
          <p:nvPr/>
        </p:nvSpPr>
        <p:spPr bwMode="auto">
          <a:xfrm>
            <a:off x="1016000" y="7281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91986687" name="Text 32"/>
          <p:cNvSpPr/>
          <p:nvPr/>
        </p:nvSpPr>
        <p:spPr bwMode="auto">
          <a:xfrm>
            <a:off x="894080" y="7220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PROJECT MANAGEMENT</a:t>
            </a:r>
            <a:endParaRPr lang="en-US" sz="1600"/>
          </a:p>
        </p:txBody>
      </p:sp>
      <p:sp>
        <p:nvSpPr>
          <p:cNvPr id="1358755600" name="Shape 33"/>
          <p:cNvSpPr/>
          <p:nvPr/>
        </p:nvSpPr>
        <p:spPr bwMode="auto">
          <a:xfrm>
            <a:off x="1016000" y="7789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0584641" name="Shape 34"/>
          <p:cNvSpPr/>
          <p:nvPr/>
        </p:nvSpPr>
        <p:spPr bwMode="auto">
          <a:xfrm>
            <a:off x="1016000" y="7992491"/>
            <a:ext cx="9482709" cy="2878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41162191" name="Shape 35"/>
          <p:cNvSpPr/>
          <p:nvPr/>
        </p:nvSpPr>
        <p:spPr bwMode="auto">
          <a:xfrm>
            <a:off x="1354709" y="8161909"/>
            <a:ext cx="8805291" cy="254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0543351" name="Text 36"/>
          <p:cNvSpPr/>
          <p:nvPr/>
        </p:nvSpPr>
        <p:spPr bwMode="auto">
          <a:xfrm>
            <a:off x="1232789" y="8100949"/>
            <a:ext cx="9049131" cy="26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Sprints of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2 weeks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Continuous code reviews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Documentation in parallel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Automated tests at each sprint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Continuous component integration</a:t>
            </a:r>
            <a:endParaRPr lang="en-US" sz="1600"/>
          </a:p>
        </p:txBody>
      </p:sp>
      <p:sp>
        <p:nvSpPr>
          <p:cNvPr id="1272789891" name="Shape 37"/>
          <p:cNvSpPr/>
          <p:nvPr/>
        </p:nvSpPr>
        <p:spPr bwMode="auto">
          <a:xfrm>
            <a:off x="11006709" y="7281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62802163" name="Text 38"/>
          <p:cNvSpPr/>
          <p:nvPr/>
        </p:nvSpPr>
        <p:spPr bwMode="auto">
          <a:xfrm>
            <a:off x="10884789" y="7220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000">
                <a:solidFill>
                  <a:srgbClr val="1B2A4A"/>
                </a:solidFill>
                <a:latin typeface="Liter"/>
                <a:ea typeface="Liter"/>
                <a:cs typeface="Liter"/>
              </a:rPr>
              <a:t>DELIVERABLES BY PHASE</a:t>
            </a:r>
            <a:endParaRPr lang="en-US" sz="1600"/>
          </a:p>
        </p:txBody>
      </p:sp>
      <p:sp>
        <p:nvSpPr>
          <p:cNvPr id="1066421486" name="Shape 39"/>
          <p:cNvSpPr/>
          <p:nvPr/>
        </p:nvSpPr>
        <p:spPr bwMode="auto">
          <a:xfrm>
            <a:off x="11006709" y="7992491"/>
            <a:ext cx="9652000" cy="2878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1046458" name="Shape 40"/>
          <p:cNvSpPr/>
          <p:nvPr/>
        </p:nvSpPr>
        <p:spPr bwMode="auto">
          <a:xfrm>
            <a:off x="11345291" y="8161909"/>
            <a:ext cx="8974709" cy="254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91724065" name="Text 41"/>
          <p:cNvSpPr/>
          <p:nvPr/>
        </p:nvSpPr>
        <p:spPr bwMode="auto">
          <a:xfrm>
            <a:off x="11223371" y="8100949"/>
            <a:ext cx="9218549" cy="26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Documented architecture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Deployment scripts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Operational dashboards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Backend intelligence with API</a:t>
            </a:r>
            <a:endParaRPr lang="en-US" sz="1600"/>
          </a:p>
          <a:p>
            <a:pPr>
              <a:lnSpc>
                <a:spcPct val="170000"/>
              </a:lnSpc>
              <a:defRPr/>
            </a:pPr>
            <a:r>
              <a:rPr lang="en-US" sz="1850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▸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Tests and documentation</a:t>
            </a:r>
            <a:endParaRPr lang="en-US" sz="1600"/>
          </a:p>
        </p:txBody>
      </p:sp>
      <p:sp>
        <p:nvSpPr>
          <p:cNvPr id="151955429" name="Shape 42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83452841" name="Text 43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Methodology</a:t>
            </a:r>
            <a:endParaRPr lang="en-US" sz="1600"/>
          </a:p>
        </p:txBody>
      </p:sp>
      <p:sp>
        <p:nvSpPr>
          <p:cNvPr id="1062734629" name="Shape 44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45223938" name="Text 45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35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1">
    <p:bg>
      <p:bgPr shadeToTitle="0">
        <a:gradFill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681422" name="Shape 0"/>
          <p:cNvSpPr/>
          <p:nvPr/>
        </p:nvSpPr>
        <p:spPr bwMode="auto"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73141379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10</a:t>
            </a:r>
            <a:endParaRPr lang="en-US" sz="1600"/>
          </a:p>
        </p:txBody>
      </p:sp>
      <p:sp>
        <p:nvSpPr>
          <p:cNvPr id="415294727" name="Shape 2"/>
          <p:cNvSpPr/>
          <p:nvPr/>
        </p:nvSpPr>
        <p:spPr bwMode="auto"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10122360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2304856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CONCLUSION</a:t>
            </a:r>
            <a:endParaRPr lang="en-US" sz="1600"/>
          </a:p>
        </p:txBody>
      </p:sp>
      <p:sp>
        <p:nvSpPr>
          <p:cNvPr id="1460168791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9539336" name="Text 6"/>
          <p:cNvSpPr/>
          <p:nvPr/>
        </p:nvSpPr>
        <p:spPr bwMode="auto"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2650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</a:rPr>
              <a:t>Project review, results obtained and perspectives</a:t>
            </a:r>
            <a:endParaRPr lang="en-US" sz="1600"/>
          </a:p>
        </p:txBody>
      </p:sp>
      <p:sp>
        <p:nvSpPr>
          <p:cNvPr id="1860286661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36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208555" name="Shape 0"/>
          <p:cNvSpPr/>
          <p:nvPr/>
        </p:nvSpPr>
        <p:spPr bwMode="auto"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158687202" name="Shape 1"/>
          <p:cNvSpPr/>
          <p:nvPr/>
        </p:nvSpPr>
        <p:spPr bwMode="auto">
          <a:xfrm>
            <a:off x="1016000" y="982090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72893494" name="Text 2"/>
          <p:cNvSpPr/>
          <p:nvPr/>
        </p:nvSpPr>
        <p:spPr bwMode="auto"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000" spc="267">
                <a:solidFill>
                  <a:srgbClr val="1B2A4A"/>
                </a:solidFill>
                <a:latin typeface="Liter"/>
                <a:ea typeface="Liter"/>
                <a:cs typeface="Liter"/>
              </a:rPr>
              <a:t>RESULTS &amp; ACHIEVEMENTS</a:t>
            </a:r>
            <a:endParaRPr lang="en-US" sz="1600"/>
          </a:p>
        </p:txBody>
      </p:sp>
      <p:sp>
        <p:nvSpPr>
          <p:cNvPr id="1573998456" name="Shape 3"/>
          <p:cNvSpPr/>
          <p:nvPr/>
        </p:nvSpPr>
        <p:spPr bwMode="auto"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74878724" name="Shape 4"/>
          <p:cNvSpPr/>
          <p:nvPr/>
        </p:nvSpPr>
        <p:spPr bwMode="auto">
          <a:xfrm>
            <a:off x="1016000" y="2032000"/>
            <a:ext cx="9567291" cy="262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97020232" name="Shape 5"/>
          <p:cNvSpPr/>
          <p:nvPr/>
        </p:nvSpPr>
        <p:spPr bwMode="auto">
          <a:xfrm>
            <a:off x="1384300" y="2286000"/>
            <a:ext cx="414909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613122414" name="Shape 6"/>
          <p:cNvSpPr/>
          <p:nvPr/>
        </p:nvSpPr>
        <p:spPr bwMode="auto">
          <a:xfrm>
            <a:off x="1998091" y="2252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67012038" name="Text 7"/>
          <p:cNvSpPr/>
          <p:nvPr/>
        </p:nvSpPr>
        <p:spPr bwMode="auto">
          <a:xfrm>
            <a:off x="1876171" y="2191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Liter"/>
                <a:ea typeface="Liter"/>
                <a:cs typeface="Liter"/>
              </a:rPr>
              <a:t>COMPLETE SOC PLATFORM</a:t>
            </a:r>
            <a:endParaRPr lang="en-US" sz="1600"/>
          </a:p>
        </p:txBody>
      </p:sp>
      <p:sp>
        <p:nvSpPr>
          <p:cNvPr id="1886311391" name="Shape 8"/>
          <p:cNvSpPr/>
          <p:nvPr/>
        </p:nvSpPr>
        <p:spPr bwMode="auto">
          <a:xfrm>
            <a:off x="1354709" y="2878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2000125" name="Text 9"/>
          <p:cNvSpPr/>
          <p:nvPr/>
        </p:nvSpPr>
        <p:spPr bwMode="auto">
          <a:xfrm>
            <a:off x="1232789" y="2817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Multi-layer monitoring (network, host, runtime, infrastructure) deployed on </a:t>
            </a:r>
            <a:r>
              <a:rPr lang="en-US" sz="1850" b="1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Huawei Cloud</a:t>
            </a:r>
            <a:r>
              <a:rPr lang="en-US" sz="185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 with secure stack.</a:t>
            </a:r>
            <a:endParaRPr lang="en-US" sz="1600"/>
          </a:p>
        </p:txBody>
      </p:sp>
      <p:sp>
        <p:nvSpPr>
          <p:cNvPr id="467974344" name="Shape 10"/>
          <p:cNvSpPr/>
          <p:nvPr/>
        </p:nvSpPr>
        <p:spPr bwMode="auto">
          <a:xfrm>
            <a:off x="11091291" y="2032000"/>
            <a:ext cx="9567291" cy="262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87877246" name="Shape 11"/>
          <p:cNvSpPr/>
          <p:nvPr/>
        </p:nvSpPr>
        <p:spPr bwMode="auto">
          <a:xfrm>
            <a:off x="11430000" y="2286000"/>
            <a:ext cx="474091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392093541" name="Shape 12"/>
          <p:cNvSpPr/>
          <p:nvPr/>
        </p:nvSpPr>
        <p:spPr bwMode="auto">
          <a:xfrm>
            <a:off x="12073509" y="2252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04837436" name="Text 13"/>
          <p:cNvSpPr/>
          <p:nvPr/>
        </p:nvSpPr>
        <p:spPr bwMode="auto">
          <a:xfrm>
            <a:off x="11951589" y="2191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FFFFFF"/>
                </a:solidFill>
                <a:latin typeface="Liter"/>
                <a:ea typeface="Liter"/>
                <a:cs typeface="Liter"/>
              </a:rPr>
              <a:t>INTELLIGENCE PIPELINE</a:t>
            </a:r>
            <a:endParaRPr lang="en-US" sz="1600"/>
          </a:p>
        </p:txBody>
      </p:sp>
      <p:sp>
        <p:nvSpPr>
          <p:cNvPr id="1659583686" name="Shape 14"/>
          <p:cNvSpPr/>
          <p:nvPr/>
        </p:nvSpPr>
        <p:spPr bwMode="auto">
          <a:xfrm>
            <a:off x="11430000" y="2878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1151391" name="Text 15"/>
          <p:cNvSpPr/>
          <p:nvPr/>
        </p:nvSpPr>
        <p:spPr bwMode="auto">
          <a:xfrm>
            <a:off x="11308080" y="2817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1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12 steps</a:t>
            </a:r>
            <a:r>
              <a:rPr lang="en-US" sz="185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</a:rPr>
              <a:t> from raw data ingestion to correction verification, with automatic correlation and AI analysis.</a:t>
            </a:r>
            <a:endParaRPr lang="en-US" sz="1600"/>
          </a:p>
        </p:txBody>
      </p:sp>
      <p:sp>
        <p:nvSpPr>
          <p:cNvPr id="704747518" name="Shape 16"/>
          <p:cNvSpPr/>
          <p:nvPr/>
        </p:nvSpPr>
        <p:spPr bwMode="auto">
          <a:xfrm>
            <a:off x="1016000" y="5080000"/>
            <a:ext cx="9567291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57452704" name="Shape 17"/>
          <p:cNvSpPr/>
          <p:nvPr/>
        </p:nvSpPr>
        <p:spPr bwMode="auto">
          <a:xfrm>
            <a:off x="1016000" y="5080000"/>
            <a:ext cx="67691" cy="2624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3903541" name="Shape 18"/>
          <p:cNvSpPr/>
          <p:nvPr/>
        </p:nvSpPr>
        <p:spPr bwMode="auto">
          <a:xfrm>
            <a:off x="1295400" y="5334000"/>
            <a:ext cx="592709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260398467" name="Shape 19"/>
          <p:cNvSpPr/>
          <p:nvPr/>
        </p:nvSpPr>
        <p:spPr bwMode="auto">
          <a:xfrm>
            <a:off x="1998091" y="5300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54142604" name="Text 20"/>
          <p:cNvSpPr/>
          <p:nvPr/>
        </p:nvSpPr>
        <p:spPr bwMode="auto">
          <a:xfrm>
            <a:off x="1876171" y="5239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CONTROLLED AUTOMATION</a:t>
            </a:r>
            <a:endParaRPr lang="en-US" sz="1600"/>
          </a:p>
        </p:txBody>
      </p:sp>
      <p:sp>
        <p:nvSpPr>
          <p:cNvPr id="672168532" name="Shape 21"/>
          <p:cNvSpPr/>
          <p:nvPr/>
        </p:nvSpPr>
        <p:spPr bwMode="auto">
          <a:xfrm>
            <a:off x="1354709" y="5926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7102572" name="Text 22"/>
          <p:cNvSpPr/>
          <p:nvPr/>
        </p:nvSpPr>
        <p:spPr bwMode="auto">
          <a:xfrm>
            <a:off x="1232789" y="5865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Generation of </a:t>
            </a: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Ansible playbooks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, approval workflows, secure execution with complete action audit.</a:t>
            </a:r>
            <a:endParaRPr lang="en-US" sz="1600"/>
          </a:p>
        </p:txBody>
      </p:sp>
      <p:sp>
        <p:nvSpPr>
          <p:cNvPr id="524208145" name="Shape 23"/>
          <p:cNvSpPr/>
          <p:nvPr/>
        </p:nvSpPr>
        <p:spPr bwMode="auto">
          <a:xfrm>
            <a:off x="11091291" y="5080000"/>
            <a:ext cx="9567291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41705996" name="Shape 24"/>
          <p:cNvSpPr/>
          <p:nvPr/>
        </p:nvSpPr>
        <p:spPr bwMode="auto">
          <a:xfrm>
            <a:off x="11091291" y="5080000"/>
            <a:ext cx="67691" cy="262470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4430381" name="Shape 25"/>
          <p:cNvSpPr/>
          <p:nvPr/>
        </p:nvSpPr>
        <p:spPr bwMode="auto">
          <a:xfrm>
            <a:off x="11430000" y="5334000"/>
            <a:ext cx="474091" cy="474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47079695" name="Shape 26"/>
          <p:cNvSpPr/>
          <p:nvPr/>
        </p:nvSpPr>
        <p:spPr bwMode="auto">
          <a:xfrm>
            <a:off x="12073509" y="5300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51768109" name="Text 27"/>
          <p:cNvSpPr/>
          <p:nvPr/>
        </p:nvSpPr>
        <p:spPr bwMode="auto">
          <a:xfrm>
            <a:off x="11951589" y="5239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ADVANCED AI MODULES</a:t>
            </a:r>
            <a:endParaRPr lang="en-US" sz="1600"/>
          </a:p>
        </p:txBody>
      </p:sp>
      <p:sp>
        <p:nvSpPr>
          <p:cNvPr id="1483234132" name="Shape 28"/>
          <p:cNvSpPr/>
          <p:nvPr/>
        </p:nvSpPr>
        <p:spPr bwMode="auto">
          <a:xfrm>
            <a:off x="11430000" y="5926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46991998" name="Text 29"/>
          <p:cNvSpPr/>
          <p:nvPr/>
        </p:nvSpPr>
        <p:spPr bwMode="auto">
          <a:xfrm>
            <a:off x="11308080" y="5865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1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Conversational assistant</a:t>
            </a:r>
            <a:r>
              <a:rPr lang="en-US" sz="18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, natural language operator, geo-attack visualization with world mapping.</a:t>
            </a:r>
            <a:endParaRPr lang="en-US" sz="1600"/>
          </a:p>
        </p:txBody>
      </p:sp>
      <p:sp>
        <p:nvSpPr>
          <p:cNvPr id="178341586" name="Shape 30"/>
          <p:cNvSpPr/>
          <p:nvPr/>
        </p:nvSpPr>
        <p:spPr bwMode="auto">
          <a:xfrm>
            <a:off x="1016000" y="8128000"/>
            <a:ext cx="19642709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3555896" name="Shape 31"/>
          <p:cNvSpPr/>
          <p:nvPr/>
        </p:nvSpPr>
        <p:spPr bwMode="auto">
          <a:xfrm>
            <a:off x="1016000" y="8128000"/>
            <a:ext cx="67691" cy="262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14422565" name="Shape 32"/>
          <p:cNvSpPr/>
          <p:nvPr/>
        </p:nvSpPr>
        <p:spPr bwMode="auto">
          <a:xfrm>
            <a:off x="1324991" y="8382000"/>
            <a:ext cx="533400" cy="4740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25963563" name="Shape 33"/>
          <p:cNvSpPr/>
          <p:nvPr/>
        </p:nvSpPr>
        <p:spPr bwMode="auto">
          <a:xfrm>
            <a:off x="1998091" y="834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83096803" name="Text 34"/>
          <p:cNvSpPr/>
          <p:nvPr/>
        </p:nvSpPr>
        <p:spPr bwMode="auto">
          <a:xfrm>
            <a:off x="1876171" y="828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400">
                <a:solidFill>
                  <a:srgbClr val="1B2A4A"/>
                </a:solidFill>
                <a:latin typeface="Liter"/>
                <a:ea typeface="Liter"/>
                <a:cs typeface="Liter"/>
              </a:rPr>
              <a:t>SCALABLE ARCHITECTURE</a:t>
            </a:r>
            <a:endParaRPr lang="en-US" sz="1600"/>
          </a:p>
        </p:txBody>
      </p:sp>
      <p:sp>
        <p:nvSpPr>
          <p:cNvPr id="1990401955" name="Shape 35"/>
          <p:cNvSpPr/>
          <p:nvPr/>
        </p:nvSpPr>
        <p:spPr bwMode="auto">
          <a:xfrm>
            <a:off x="1354709" y="8974709"/>
            <a:ext cx="18965291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46254046" name="Text 36"/>
          <p:cNvSpPr/>
          <p:nvPr/>
        </p:nvSpPr>
        <p:spPr bwMode="auto">
          <a:xfrm>
            <a:off x="1232789" y="8913749"/>
            <a:ext cx="1920913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  <a:defRPr/>
            </a:pPr>
            <a:r>
              <a:rPr lang="en-US" sz="18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Cloud deployment with </a:t>
            </a:r>
            <a:r>
              <a:rPr lang="en-US" sz="1850" b="1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64 vCPU / 128 GB RAM,</a:t>
            </a:r>
            <a:r>
              <a:rPr lang="en-US" sz="1850" b="0" i="0" u="none" strike="noStrike" cap="none" spc="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</a:rPr>
              <a:t> secured with VPC, Security Groups, and TLS. Modular architecture supporting horizontal scaling.</a:t>
            </a:r>
            <a:endParaRPr lang="en-US" sz="1600"/>
          </a:p>
          <a:p>
            <a:pPr>
              <a:lnSpc>
                <a:spcPct val="160000"/>
              </a:lnSpc>
              <a:spcBef>
                <a:spcPts val="800"/>
              </a:spcBef>
              <a:defRPr/>
            </a:pPr>
            <a:r>
              <a:rPr lang="en-US" sz="1850" b="1">
                <a:solidFill>
                  <a:srgbClr val="CF0A2C"/>
                </a:solidFill>
                <a:latin typeface="Quattrocento Sans"/>
                <a:ea typeface="Quattrocento Sans"/>
                <a:cs typeface="Quattrocento Sans"/>
              </a:rPr>
              <a:t>The platform transforms raw monitoring data into actionable SOC intelligence, operational visibility and controlled response workflows.</a:t>
            </a:r>
            <a:endParaRPr lang="en-US" sz="1600"/>
          </a:p>
        </p:txBody>
      </p:sp>
      <p:sp>
        <p:nvSpPr>
          <p:cNvPr id="1462626666" name="Shape 37"/>
          <p:cNvSpPr/>
          <p:nvPr/>
        </p:nvSpPr>
        <p:spPr bwMode="auto"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91199696" name="Text 38"/>
          <p:cNvSpPr/>
          <p:nvPr/>
        </p:nvSpPr>
        <p:spPr bwMode="auto"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Conclusion</a:t>
            </a:r>
            <a:endParaRPr lang="en-US" sz="1600"/>
          </a:p>
        </p:txBody>
      </p:sp>
      <p:sp>
        <p:nvSpPr>
          <p:cNvPr id="1098984159" name="Shape 39"/>
          <p:cNvSpPr/>
          <p:nvPr/>
        </p:nvSpPr>
        <p:spPr bwMode="auto"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68336046" name="Text 4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37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3">
    <p:bg>
      <p:bgPr shadeToTitle="0">
        <a:gradFill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614339" name="Shape 0"/>
          <p:cNvSpPr/>
          <p:nvPr/>
        </p:nvSpPr>
        <p:spPr bwMode="auto">
          <a:xfrm>
            <a:off x="9144000" y="3048000"/>
            <a:ext cx="3386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531928893" name="Shape 1"/>
          <p:cNvSpPr/>
          <p:nvPr/>
        </p:nvSpPr>
        <p:spPr bwMode="auto">
          <a:xfrm>
            <a:off x="3386709" y="3556000"/>
            <a:ext cx="14901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5327063" name="Text 2"/>
          <p:cNvSpPr/>
          <p:nvPr/>
        </p:nvSpPr>
        <p:spPr bwMode="auto">
          <a:xfrm>
            <a:off x="3264788" y="3495040"/>
            <a:ext cx="15145131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6950" spc="800">
                <a:solidFill>
                  <a:srgbClr val="FFFFFF"/>
                </a:solidFill>
                <a:latin typeface="Liter"/>
                <a:ea typeface="Liter"/>
                <a:cs typeface="Liter"/>
              </a:rPr>
              <a:t>THANK YOU</a:t>
            </a:r>
            <a:endParaRPr lang="en-US" sz="1600"/>
          </a:p>
        </p:txBody>
      </p:sp>
      <p:sp>
        <p:nvSpPr>
          <p:cNvPr id="131244019" name="Shape 3"/>
          <p:cNvSpPr/>
          <p:nvPr/>
        </p:nvSpPr>
        <p:spPr bwMode="auto">
          <a:xfrm>
            <a:off x="3386709" y="4910709"/>
            <a:ext cx="1490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59171614" name="Text 4"/>
          <p:cNvSpPr/>
          <p:nvPr/>
        </p:nvSpPr>
        <p:spPr bwMode="auto">
          <a:xfrm>
            <a:off x="3264788" y="4849749"/>
            <a:ext cx="1514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650">
                <a:solidFill>
                  <a:srgbClr val="FFFFFF">
                    <a:alpha val="66667"/>
                  </a:srgbClr>
                </a:solidFill>
                <a:latin typeface="Quattrocento Sans"/>
                <a:ea typeface="Quattrocento Sans"/>
                <a:cs typeface="Quattrocento Sans"/>
              </a:rPr>
              <a:t>The platform thinks before acting.</a:t>
            </a:r>
            <a:endParaRPr lang="en-US" sz="1600"/>
          </a:p>
        </p:txBody>
      </p:sp>
      <p:sp>
        <p:nvSpPr>
          <p:cNvPr id="1053473449" name="Shape 5"/>
          <p:cNvSpPr/>
          <p:nvPr/>
        </p:nvSpPr>
        <p:spPr bwMode="auto">
          <a:xfrm>
            <a:off x="3386709" y="5757291"/>
            <a:ext cx="14901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73925548" name="Text 6"/>
          <p:cNvSpPr/>
          <p:nvPr/>
        </p:nvSpPr>
        <p:spPr bwMode="auto">
          <a:xfrm>
            <a:off x="3264788" y="5696331"/>
            <a:ext cx="15145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150">
                <a:solidFill>
                  <a:srgbClr val="FFFFFF">
                    <a:alpha val="46667"/>
                  </a:srgbClr>
                </a:solidFill>
                <a:latin typeface="Quattrocento Sans"/>
                <a:ea typeface="Quattrocento Sans"/>
                <a:cs typeface="Quattrocento Sans"/>
              </a:rPr>
              <a:t>From raw data to intelligent SOC operations.</a:t>
            </a:r>
            <a:endParaRPr lang="en-US" sz="1600"/>
          </a:p>
        </p:txBody>
      </p:sp>
      <p:sp>
        <p:nvSpPr>
          <p:cNvPr id="1398040829" name="Shape 7"/>
          <p:cNvSpPr/>
          <p:nvPr/>
        </p:nvSpPr>
        <p:spPr bwMode="auto">
          <a:xfrm>
            <a:off x="8297291" y="6773291"/>
            <a:ext cx="5080000" cy="33909"/>
          </a:xfrm>
          <a:prstGeom prst="rect">
            <a:avLst/>
          </a:prstGeom>
          <a:solidFill>
            <a:srgbClr val="FFFFFF">
              <a:alpha val="3576"/>
            </a:srgbClr>
          </a:solidFill>
          <a:ln/>
        </p:spPr>
      </p:sp>
      <p:sp>
        <p:nvSpPr>
          <p:cNvPr id="2012435898" name="Shape 8"/>
          <p:cNvSpPr/>
          <p:nvPr/>
        </p:nvSpPr>
        <p:spPr bwMode="auto">
          <a:xfrm>
            <a:off x="3386709" y="7112000"/>
            <a:ext cx="14901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99687245" name="Text 9"/>
          <p:cNvSpPr/>
          <p:nvPr/>
        </p:nvSpPr>
        <p:spPr bwMode="auto">
          <a:xfrm>
            <a:off x="3264788" y="7051040"/>
            <a:ext cx="15145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950">
                <a:solidFill>
                  <a:srgbClr val="FFFFFF"/>
                </a:solidFill>
                <a:latin typeface="Liter"/>
                <a:ea typeface="Liter"/>
                <a:cs typeface="Liter"/>
              </a:rPr>
              <a:t>GHAZI MABROUKI</a:t>
            </a:r>
            <a:endParaRPr lang="en-US" sz="1600"/>
          </a:p>
        </p:txBody>
      </p:sp>
      <p:sp>
        <p:nvSpPr>
          <p:cNvPr id="911797616" name="Shape 10"/>
          <p:cNvSpPr/>
          <p:nvPr/>
        </p:nvSpPr>
        <p:spPr bwMode="auto">
          <a:xfrm>
            <a:off x="3386709" y="7789291"/>
            <a:ext cx="14901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17244692" name="Text 11"/>
          <p:cNvSpPr/>
          <p:nvPr/>
        </p:nvSpPr>
        <p:spPr bwMode="auto">
          <a:xfrm>
            <a:off x="3264788" y="7728331"/>
            <a:ext cx="15145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  <a:defRPr/>
            </a:pPr>
            <a:r>
              <a:rPr lang="en-US" sz="2150">
                <a:solidFill>
                  <a:srgbClr val="FFFFFF">
                    <a:alpha val="66667"/>
                  </a:srgbClr>
                </a:solidFill>
                <a:latin typeface="Quattrocento Sans"/>
                <a:ea typeface="Quattrocento Sans"/>
                <a:cs typeface="Quattrocento Sans"/>
              </a:rPr>
              <a:t>ArcTic 3 | Huawei Enterprise</a:t>
            </a:r>
            <a:endParaRPr lang="en-US" sz="1600"/>
          </a:p>
          <a:p>
            <a:pPr algn="ctr">
              <a:lnSpc>
                <a:spcPct val="160000"/>
              </a:lnSpc>
              <a:defRPr/>
            </a:pPr>
            <a:r>
              <a:rPr lang="en-US" sz="2150">
                <a:solidFill>
                  <a:srgbClr val="FFFFFF">
                    <a:alpha val="66667"/>
                  </a:srgbClr>
                </a:solidFill>
                <a:latin typeface="Quattrocento Sans"/>
                <a:ea typeface="Quattrocento Sans"/>
                <a:cs typeface="Quattrocento Sans"/>
              </a:rPr>
              <a:t>Cloud Department — Innovation Department</a:t>
            </a:r>
            <a:endParaRPr lang="en-US" sz="1600"/>
          </a:p>
        </p:txBody>
      </p:sp>
      <p:sp>
        <p:nvSpPr>
          <p:cNvPr id="1872189296" name="Shape 12"/>
          <p:cNvSpPr/>
          <p:nvPr/>
        </p:nvSpPr>
        <p:spPr bwMode="auto">
          <a:xfrm>
            <a:off x="3386709" y="9313291"/>
            <a:ext cx="14901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92373830" name="Text 13"/>
          <p:cNvSpPr/>
          <p:nvPr/>
        </p:nvSpPr>
        <p:spPr bwMode="auto">
          <a:xfrm>
            <a:off x="3264788" y="9252331"/>
            <a:ext cx="15145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150" spc="533">
                <a:solidFill>
                  <a:srgbClr val="CF0A2C"/>
                </a:solidFill>
                <a:latin typeface="Liter"/>
                <a:ea typeface="Liter"/>
                <a:cs typeface="Liter"/>
              </a:rPr>
              <a:t>2026</a:t>
            </a:r>
            <a:endParaRPr lang="en-US" sz="1600"/>
          </a:p>
        </p:txBody>
      </p:sp>
      <p:sp>
        <p:nvSpPr>
          <p:cNvPr id="1258882054" name="Shape 14"/>
          <p:cNvSpPr/>
          <p:nvPr/>
        </p:nvSpPr>
        <p:spPr bwMode="auto">
          <a:xfrm>
            <a:off x="2540000" y="1693291"/>
            <a:ext cx="1693291" cy="1693291"/>
          </a:xfrm>
          <a:prstGeom prst="ellipse">
            <a:avLst/>
          </a:prstGeom>
          <a:solidFill>
            <a:srgbClr val="FFFFFF">
              <a:alpha val="47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974739843" name="Shape 15"/>
          <p:cNvSpPr/>
          <p:nvPr/>
        </p:nvSpPr>
        <p:spPr bwMode="auto">
          <a:xfrm>
            <a:off x="18626709" y="10160000"/>
            <a:ext cx="2032000" cy="2032000"/>
          </a:xfrm>
          <a:prstGeom prst="ellipse">
            <a:avLst/>
          </a:prstGeom>
          <a:solidFill>
            <a:srgbClr val="FFFFFF">
              <a:alpha val="39"/>
            </a:srgbClr>
          </a:solidFill>
          <a:ln w="12700">
            <a:solidFill>
              <a:srgbClr val="FFFFFF">
                <a:alpha val="2745"/>
              </a:srgbClr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4156659" name="Text 110"/>
          <p:cNvSpPr/>
          <p:nvPr/>
        </p:nvSpPr>
        <p:spPr bwMode="auto"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  <a:defRPr/>
            </a:pPr>
            <a:r>
              <a:rPr lang="en-US" sz="1750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</a:rPr>
              <a:t>38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814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232005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Phase 1</a:t>
            </a:r>
            <a:endParaRPr lang="en-US" sz="1600"/>
          </a:p>
        </p:txBody>
      </p:sp>
      <p:sp>
        <p:nvSpPr>
          <p:cNvPr id="1447783518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2352790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Architecture</a:t>
            </a:r>
            <a:endParaRPr lang="en-US" sz="1600"/>
          </a:p>
        </p:txBody>
      </p:sp>
      <p:sp>
        <p:nvSpPr>
          <p:cNvPr id="2133989548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5683957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21678900" cy="12192000"/>
          </a:xfrm>
          <a:prstGeom prst="rect">
            <a:avLst/>
          </a:prstGeom>
        </p:spPr>
      </p:pic>
      <p:sp>
        <p:nvSpPr>
          <p:cNvPr id="850713441" name="Text 4"/>
          <p:cNvSpPr/>
          <p:nvPr/>
        </p:nvSpPr>
        <p:spPr bwMode="auto">
          <a:xfrm>
            <a:off x="3167743" y="10619014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1-GLOBAL ARCHITECTURE &amp; DATA FLOW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9815055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821851"/>
            <a:ext cx="21678900" cy="8548297"/>
          </a:xfrm>
          <a:prstGeom prst="rect">
            <a:avLst/>
          </a:prstGeom>
        </p:spPr>
      </p:pic>
      <p:sp>
        <p:nvSpPr>
          <p:cNvPr id="977506764" name="Text 4"/>
          <p:cNvSpPr/>
          <p:nvPr/>
        </p:nvSpPr>
        <p:spPr bwMode="auto">
          <a:xfrm>
            <a:off x="3167743" y="10619014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2-DEPLOYMENT, TECHNICAL SETUP &amp; REQUIREMENTS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9178739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797006"/>
            <a:ext cx="21678900" cy="9822008"/>
          </a:xfrm>
          <a:prstGeom prst="rect">
            <a:avLst/>
          </a:prstGeom>
        </p:spPr>
      </p:pic>
      <p:sp>
        <p:nvSpPr>
          <p:cNvPr id="1576474335" name="Text 4"/>
          <p:cNvSpPr/>
          <p:nvPr/>
        </p:nvSpPr>
        <p:spPr bwMode="auto">
          <a:xfrm>
            <a:off x="3167743" y="10891529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3-VISIBILITY LAYERS, TOOL ROLES &amp; FINAL OUTCOME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489950" name="Text 1"/>
          <p:cNvSpPr/>
          <p:nvPr/>
        </p:nvSpPr>
        <p:spPr bwMode="auto"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7450">
                <a:solidFill>
                  <a:srgbClr val="CF0A2C"/>
                </a:solidFill>
                <a:latin typeface="Liter"/>
                <a:ea typeface="Liter"/>
                <a:cs typeface="Liter"/>
              </a:rPr>
              <a:t>Phase 3</a:t>
            </a:r>
            <a:endParaRPr lang="en-US" sz="1600"/>
          </a:p>
        </p:txBody>
      </p:sp>
      <p:sp>
        <p:nvSpPr>
          <p:cNvPr id="387858716" name="Shape 3"/>
          <p:cNvSpPr/>
          <p:nvPr/>
        </p:nvSpPr>
        <p:spPr bwMode="auto"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3179709" name="Text 4"/>
          <p:cNvSpPr/>
          <p:nvPr/>
        </p:nvSpPr>
        <p:spPr bwMode="auto"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455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Architecture</a:t>
            </a:r>
            <a:endParaRPr lang="en-US" sz="1600"/>
          </a:p>
        </p:txBody>
      </p:sp>
      <p:sp>
        <p:nvSpPr>
          <p:cNvPr id="1776440179" name="Shape 5"/>
          <p:cNvSpPr/>
          <p:nvPr/>
        </p:nvSpPr>
        <p:spPr bwMode="auto"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906309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96110" y="0"/>
            <a:ext cx="15686679" cy="12192000"/>
          </a:xfrm>
          <a:prstGeom prst="rect">
            <a:avLst/>
          </a:prstGeom>
        </p:spPr>
      </p:pic>
      <p:sp>
        <p:nvSpPr>
          <p:cNvPr id="1076960312" name="Text 4"/>
          <p:cNvSpPr/>
          <p:nvPr/>
        </p:nvSpPr>
        <p:spPr bwMode="auto">
          <a:xfrm>
            <a:off x="11234057" y="299356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1 — Global Phase 3 Backend Intelligence Layer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72923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684132"/>
            <a:ext cx="21678900" cy="823735"/>
          </a:xfrm>
          <a:prstGeom prst="rect">
            <a:avLst/>
          </a:prstGeom>
        </p:spPr>
      </p:pic>
      <p:sp>
        <p:nvSpPr>
          <p:cNvPr id="1371983217" name="Text 4"/>
          <p:cNvSpPr/>
          <p:nvPr/>
        </p:nvSpPr>
        <p:spPr bwMode="auto">
          <a:xfrm>
            <a:off x="11234057" y="299356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de-DE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2 — Alert Ingestion &amp; Enrichment Pipeline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2752295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3852245"/>
            <a:ext cx="21678900" cy="4487509"/>
          </a:xfrm>
          <a:prstGeom prst="rect">
            <a:avLst/>
          </a:prstGeom>
        </p:spPr>
      </p:pic>
      <p:sp>
        <p:nvSpPr>
          <p:cNvPr id="664378359" name="Text 4"/>
          <p:cNvSpPr/>
          <p:nvPr/>
        </p:nvSpPr>
        <p:spPr bwMode="auto">
          <a:xfrm>
            <a:off x="11234057" y="299356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3 — Cursor-Based Elasticsearch Polling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0740980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396408"/>
            <a:ext cx="21678900" cy="1399183"/>
          </a:xfrm>
          <a:prstGeom prst="rect">
            <a:avLst/>
          </a:prstGeom>
        </p:spPr>
      </p:pic>
      <p:sp>
        <p:nvSpPr>
          <p:cNvPr id="1039398254" name="Text 4"/>
          <p:cNvSpPr/>
          <p:nvPr/>
        </p:nvSpPr>
        <p:spPr bwMode="auto">
          <a:xfrm>
            <a:off x="11234057" y="299356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4 — Raw Document to Clean SOC Alert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9390158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3818192"/>
            <a:ext cx="21678900" cy="4555615"/>
          </a:xfrm>
          <a:prstGeom prst="rect">
            <a:avLst/>
          </a:prstGeom>
        </p:spPr>
      </p:pic>
      <p:sp>
        <p:nvSpPr>
          <p:cNvPr id="1461463928" name="Text 4"/>
          <p:cNvSpPr/>
          <p:nvPr/>
        </p:nvSpPr>
        <p:spPr bwMode="auto">
          <a:xfrm>
            <a:off x="11234057" y="299356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5 — Enrichment and Context Building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108010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720042" y="0"/>
            <a:ext cx="6238816" cy="12192000"/>
          </a:xfrm>
          <a:prstGeom prst="rect">
            <a:avLst/>
          </a:prstGeom>
        </p:spPr>
      </p:pic>
      <p:sp>
        <p:nvSpPr>
          <p:cNvPr id="97107138" name="Text 4"/>
          <p:cNvSpPr/>
          <p:nvPr/>
        </p:nvSpPr>
        <p:spPr bwMode="auto">
          <a:xfrm>
            <a:off x="13079186" y="234041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6 — Local Storage and SOC Data Model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9915852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4071708"/>
            <a:ext cx="21678900" cy="4048584"/>
          </a:xfrm>
          <a:prstGeom prst="rect">
            <a:avLst/>
          </a:prstGeom>
        </p:spPr>
      </p:pic>
      <p:sp>
        <p:nvSpPr>
          <p:cNvPr id="522604625" name="Text 4"/>
          <p:cNvSpPr/>
          <p:nvPr/>
        </p:nvSpPr>
        <p:spPr bwMode="auto">
          <a:xfrm>
            <a:off x="13079186" y="234041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7 — Incident Correlation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8870548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78515" y="0"/>
            <a:ext cx="20921869" cy="12192000"/>
          </a:xfrm>
          <a:prstGeom prst="rect">
            <a:avLst/>
          </a:prstGeom>
        </p:spPr>
      </p:pic>
      <p:sp>
        <p:nvSpPr>
          <p:cNvPr id="1948853839" name="Text 4"/>
          <p:cNvSpPr/>
          <p:nvPr/>
        </p:nvSpPr>
        <p:spPr bwMode="auto">
          <a:xfrm>
            <a:off x="13079186" y="234041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8 — Watcher and Investigation Creation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9297207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503296"/>
            <a:ext cx="21678900" cy="1185408"/>
          </a:xfrm>
          <a:prstGeom prst="rect">
            <a:avLst/>
          </a:prstGeom>
        </p:spPr>
      </p:pic>
      <p:sp>
        <p:nvSpPr>
          <p:cNvPr id="1408607164" name="Text 4"/>
          <p:cNvSpPr/>
          <p:nvPr/>
        </p:nvSpPr>
        <p:spPr bwMode="auto">
          <a:xfrm>
            <a:off x="13079186" y="234041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9 — AI Response Engine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1199094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440410"/>
            <a:ext cx="21678900" cy="1311179"/>
          </a:xfrm>
          <a:prstGeom prst="rect">
            <a:avLst/>
          </a:prstGeom>
        </p:spPr>
      </p:pic>
      <p:sp>
        <p:nvSpPr>
          <p:cNvPr id="1614500576" name="Text 4"/>
          <p:cNvSpPr/>
          <p:nvPr/>
        </p:nvSpPr>
        <p:spPr bwMode="auto">
          <a:xfrm>
            <a:off x="10839450" y="250368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10 — Approval, Execution, Verification and Archive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6508913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638130"/>
            <a:ext cx="21678900" cy="915737"/>
          </a:xfrm>
          <a:prstGeom prst="rect">
            <a:avLst/>
          </a:prstGeom>
        </p:spPr>
      </p:pic>
      <p:sp>
        <p:nvSpPr>
          <p:cNvPr id="1607283732" name="Text 4"/>
          <p:cNvSpPr/>
          <p:nvPr/>
        </p:nvSpPr>
        <p:spPr bwMode="auto">
          <a:xfrm>
            <a:off x="10839450" y="250368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11 — Performance Monitoring and Remediation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9630462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456152"/>
            <a:ext cx="21678900" cy="1279695"/>
          </a:xfrm>
          <a:prstGeom prst="rect">
            <a:avLst/>
          </a:prstGeom>
        </p:spPr>
      </p:pic>
      <p:sp>
        <p:nvSpPr>
          <p:cNvPr id="727147083" name="Text 4"/>
          <p:cNvSpPr/>
          <p:nvPr/>
        </p:nvSpPr>
        <p:spPr bwMode="auto">
          <a:xfrm>
            <a:off x="10839450" y="250368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12 — IPS Attack Visualization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40A1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1191146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259482"/>
            <a:ext cx="21678900" cy="1673035"/>
          </a:xfrm>
          <a:prstGeom prst="rect">
            <a:avLst/>
          </a:prstGeom>
        </p:spPr>
      </p:pic>
      <p:sp>
        <p:nvSpPr>
          <p:cNvPr id="1104248496" name="Text 4"/>
          <p:cNvSpPr/>
          <p:nvPr/>
        </p:nvSpPr>
        <p:spPr bwMode="auto">
          <a:xfrm>
            <a:off x="10839450" y="250368"/>
            <a:ext cx="13846629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13 — AI Assistant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08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8189953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237737"/>
            <a:ext cx="21678900" cy="1716526"/>
          </a:xfrm>
          <a:prstGeom prst="rect">
            <a:avLst/>
          </a:prstGeom>
        </p:spPr>
      </p:pic>
      <p:sp>
        <p:nvSpPr>
          <p:cNvPr id="1009555221" name="Text 4"/>
          <p:cNvSpPr/>
          <p:nvPr/>
        </p:nvSpPr>
        <p:spPr bwMode="auto">
          <a:xfrm>
            <a:off x="15933966" y="250368"/>
            <a:ext cx="10839450" cy="10069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  <a:defRPr/>
            </a:pPr>
            <a:r>
              <a:rPr lang="en-US" sz="2800" spc="267">
                <a:solidFill>
                  <a:srgbClr val="FFFFFF"/>
                </a:solidFill>
                <a:latin typeface="Liter"/>
                <a:ea typeface="Liter"/>
                <a:cs typeface="Liter"/>
              </a:rPr>
              <a:t>Diagram 14 — AI Operator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57</Slides>
  <Notes>57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Moonshot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/>
  <cp:revision>15</cp:revision>
  <dcterms:created xsi:type="dcterms:W3CDTF">2026-04-30T10:37:55Z</dcterms:created>
  <dcterms:modified xsi:type="dcterms:W3CDTF">2026-04-30T13:33:30Z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{"Label":"Untitled","ContentProducer":"001191110108MACG2KBH8F10000","ProduceID":"19dd9ab0-8b02-8ba7-8000-0000f0e6de56","ReservedCode1":"","ContentPropagator":"001191110108MACG2KBH8F20000","PropagateID":"19dd9ab0-8b02-8ba7-8000-0000f0e6de56","ReservedCode2":""}</vt:lpwstr>
  </property>
</Properties>
</file>